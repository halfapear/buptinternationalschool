
<file path=[Content_Types].xml><?xml version="1.0" encoding="utf-8"?>
<Types xmlns="http://schemas.openxmlformats.org/package/2006/content-types">
  <Default Extension="jpeg" ContentType="image/jpeg"/>
  <Default Extension="JPG" ContentType="image/.jpg"/>
  <Default Extension="wav" ContentType="audio/x-wav"/>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86" r:id="rId3"/>
    <p:sldId id="415" r:id="rId4"/>
    <p:sldId id="256" r:id="rId5"/>
    <p:sldId id="257" r:id="rId6"/>
    <p:sldId id="287" r:id="rId7"/>
    <p:sldId id="296" r:id="rId8"/>
    <p:sldId id="410" r:id="rId9"/>
    <p:sldId id="258" r:id="rId10"/>
    <p:sldId id="298" r:id="rId11"/>
    <p:sldId id="294" r:id="rId12"/>
    <p:sldId id="300" r:id="rId13"/>
    <p:sldId id="259" r:id="rId14"/>
    <p:sldId id="260" r:id="rId15"/>
    <p:sldId id="261" r:id="rId16"/>
    <p:sldId id="498" r:id="rId17"/>
    <p:sldId id="262" r:id="rId18"/>
    <p:sldId id="263" r:id="rId19"/>
    <p:sldId id="302" r:id="rId20"/>
    <p:sldId id="340" r:id="rId21"/>
    <p:sldId id="341" r:id="rId22"/>
    <p:sldId id="342" r:id="rId23"/>
    <p:sldId id="343" r:id="rId24"/>
    <p:sldId id="264" r:id="rId25"/>
    <p:sldId id="265" r:id="rId26"/>
    <p:sldId id="266" r:id="rId27"/>
    <p:sldId id="303" r:id="rId28"/>
    <p:sldId id="304" r:id="rId29"/>
    <p:sldId id="267" r:id="rId30"/>
    <p:sldId id="344" r:id="rId31"/>
    <p:sldId id="345" r:id="rId32"/>
    <p:sldId id="268" r:id="rId33"/>
    <p:sldId id="413" r:id="rId34"/>
    <p:sldId id="305" r:id="rId35"/>
    <p:sldId id="307" r:id="rId36"/>
    <p:sldId id="308" r:id="rId37"/>
    <p:sldId id="269" r:id="rId38"/>
    <p:sldId id="411" r:id="rId39"/>
    <p:sldId id="412" r:id="rId40"/>
    <p:sldId id="309" r:id="rId41"/>
    <p:sldId id="271" r:id="rId42"/>
    <p:sldId id="332" r:id="rId43"/>
    <p:sldId id="333" r:id="rId44"/>
    <p:sldId id="334" r:id="rId45"/>
    <p:sldId id="335" r:id="rId46"/>
    <p:sldId id="336" r:id="rId47"/>
    <p:sldId id="337" r:id="rId48"/>
    <p:sldId id="338" r:id="rId49"/>
    <p:sldId id="272" r:id="rId50"/>
    <p:sldId id="273" r:id="rId51"/>
    <p:sldId id="275" r:id="rId52"/>
    <p:sldId id="276" r:id="rId53"/>
    <p:sldId id="277" r:id="rId54"/>
    <p:sldId id="414" r:id="rId55"/>
    <p:sldId id="278" r:id="rId56"/>
    <p:sldId id="279" r:id="rId57"/>
    <p:sldId id="280" r:id="rId58"/>
    <p:sldId id="281" r:id="rId59"/>
    <p:sldId id="324" r:id="rId60"/>
    <p:sldId id="325" r:id="rId61"/>
    <p:sldId id="326" r:id="rId62"/>
    <p:sldId id="282" r:id="rId63"/>
    <p:sldId id="283" r:id="rId64"/>
    <p:sldId id="284" r:id="rId65"/>
    <p:sldId id="327" r:id="rId66"/>
    <p:sldId id="328" r:id="rId67"/>
    <p:sldId id="329" r:id="rId68"/>
    <p:sldId id="330" r:id="rId69"/>
    <p:sldId id="331" r:id="rId70"/>
    <p:sldId id="285" r:id="rId71"/>
    <p:sldId id="339" r:id="rId72"/>
    <p:sldId id="310" r:id="rId73"/>
    <p:sldId id="295" r:id="rId74"/>
    <p:sldId id="347" r:id="rId75"/>
    <p:sldId id="312" r:id="rId76"/>
    <p:sldId id="348" r:id="rId77"/>
    <p:sldId id="313" r:id="rId78"/>
    <p:sldId id="349" r:id="rId79"/>
    <p:sldId id="350" r:id="rId80"/>
    <p:sldId id="314" r:id="rId81"/>
    <p:sldId id="316" r:id="rId82"/>
    <p:sldId id="317" r:id="rId83"/>
    <p:sldId id="318" r:id="rId84"/>
    <p:sldId id="319" r:id="rId85"/>
    <p:sldId id="320" r:id="rId86"/>
    <p:sldId id="321" r:id="rId87"/>
  </p:sldIdLst>
  <p:sldSz cx="12192000" cy="6858000"/>
  <p:notesSz cx="6858000" cy="9144000"/>
  <p:custDataLst>
    <p:tags r:id="rId9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114" d="100"/>
          <a:sy n="114" d="100"/>
        </p:scale>
        <p:origin x="24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1" Type="http://schemas.openxmlformats.org/officeDocument/2006/relationships/tags" Target="tags/tag3.xml"/><Relationship Id="rId90" Type="http://schemas.openxmlformats.org/officeDocument/2006/relationships/tableStyles" Target="tableStyles.xml"/><Relationship Id="rId9" Type="http://schemas.openxmlformats.org/officeDocument/2006/relationships/slide" Target="slides/slide7.xml"/><Relationship Id="rId89" Type="http://schemas.openxmlformats.org/officeDocument/2006/relationships/viewProps" Target="viewProps.xml"/><Relationship Id="rId88" Type="http://schemas.openxmlformats.org/officeDocument/2006/relationships/presProps" Target="presProps.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EFA92F3C-C104-4948-8E5D-3B7DDD1F3D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D44BC7-6802-4FF7-91B5-CB01B5482A2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FA92F3C-C104-4948-8E5D-3B7DDD1F3D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D44BC7-6802-4FF7-91B5-CB01B5482A2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EFA92F3C-C104-4948-8E5D-3B7DDD1F3D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D44BC7-6802-4FF7-91B5-CB01B5482A2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EFA92F3C-C104-4948-8E5D-3B7DDD1F3D6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1D44BC7-6802-4FF7-91B5-CB01B5482A2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EFA92F3C-C104-4948-8E5D-3B7DDD1F3D6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1D44BC7-6802-4FF7-91B5-CB01B5482A2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FA92F3C-C104-4948-8E5D-3B7DDD1F3D6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1D44BC7-6802-4FF7-91B5-CB01B5482A2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FA92F3C-C104-4948-8E5D-3B7DDD1F3D6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1D44BC7-6802-4FF7-91B5-CB01B5482A2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FA92F3C-C104-4948-8E5D-3B7DDD1F3D6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1D44BC7-6802-4FF7-91B5-CB01B5482A2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FA92F3C-C104-4948-8E5D-3B7DDD1F3D6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1D44BC7-6802-4FF7-91B5-CB01B5482A2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FA92F3C-C104-4948-8E5D-3B7DDD1F3D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D44BC7-6802-4FF7-91B5-CB01B5482A2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EFA92F3C-C104-4948-8E5D-3B7DDD1F3D6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D44BC7-6802-4FF7-91B5-CB01B5482A2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92F3C-C104-4948-8E5D-3B7DDD1F3D6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D44BC7-6802-4FF7-91B5-CB01B5482A2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custDataLst>
              <p:tags r:id="rId1"/>
            </p:custDataLst>
          </p:nvPr>
        </p:nvPicPr>
        <p:blipFill>
          <a:blip r:embed="rId2"/>
          <a:stretch>
            <a:fillRect/>
          </a:stretch>
        </p:blipFill>
        <p:spPr>
          <a:xfrm>
            <a:off x="5906135" y="1570990"/>
            <a:ext cx="5075555" cy="3450590"/>
          </a:xfrm>
          <a:prstGeom prst="rect">
            <a:avLst/>
          </a:prstGeom>
        </p:spPr>
      </p:pic>
      <p:sp>
        <p:nvSpPr>
          <p:cNvPr id="2" name="标题 1"/>
          <p:cNvSpPr>
            <a:spLocks noGrp="1"/>
          </p:cNvSpPr>
          <p:nvPr>
            <p:ph type="title"/>
          </p:nvPr>
        </p:nvSpPr>
        <p:spPr>
          <a:xfrm>
            <a:off x="247973" y="635430"/>
            <a:ext cx="10733868" cy="667800"/>
          </a:xfrm>
        </p:spPr>
        <p:txBody>
          <a:bodyPr>
            <a:noAutofit/>
          </a:bodyPr>
          <a:lstStyle/>
          <a:p>
            <a:r>
              <a:rPr lang="en-US" altLang="zh-CN" sz="2800" dirty="0">
                <a:ea typeface="宋体" panose="02010600030101010101" pitchFamily="2" charset="-122"/>
              </a:rPr>
              <a:t>Reading makes a full man</a:t>
            </a:r>
            <a:br>
              <a:rPr lang="en-US" altLang="zh-CN" sz="2800" dirty="0">
                <a:ea typeface="宋体" panose="02010600030101010101" pitchFamily="2" charset="-122"/>
              </a:rPr>
            </a:br>
            <a:r>
              <a:rPr lang="en-US" altLang="zh-CN" sz="2800" dirty="0">
                <a:ea typeface="宋体" panose="02010600030101010101" pitchFamily="2" charset="-122"/>
              </a:rPr>
              <a:t>conference a ready man</a:t>
            </a:r>
            <a:br>
              <a:rPr lang="en-US" altLang="zh-CN" sz="2800" dirty="0">
                <a:ea typeface="宋体" panose="02010600030101010101" pitchFamily="2" charset="-122"/>
              </a:rPr>
            </a:br>
            <a:r>
              <a:rPr lang="en-US" altLang="zh-CN" sz="2800" dirty="0">
                <a:ea typeface="宋体" panose="02010600030101010101" pitchFamily="2" charset="-122"/>
              </a:rPr>
              <a:t>and writing an exact man </a:t>
            </a:r>
            <a:br>
              <a:rPr lang="en-US" altLang="zh-CN" sz="2800" dirty="0">
                <a:ea typeface="宋体" panose="02010600030101010101" pitchFamily="2" charset="-122"/>
              </a:rPr>
            </a:br>
            <a:r>
              <a:rPr lang="en-US" altLang="zh-CN" sz="2800" dirty="0">
                <a:ea typeface="宋体" panose="02010600030101010101" pitchFamily="2" charset="-122"/>
              </a:rPr>
              <a:t>		--- Francis Bacon </a:t>
            </a:r>
            <a:endParaRPr lang="zh-CN" altLang="en-US" sz="2800" dirty="0"/>
          </a:p>
        </p:txBody>
      </p:sp>
      <p:sp>
        <p:nvSpPr>
          <p:cNvPr id="3" name="内容占位符 2"/>
          <p:cNvSpPr>
            <a:spLocks noGrp="1"/>
          </p:cNvSpPr>
          <p:nvPr>
            <p:ph idx="1"/>
          </p:nvPr>
        </p:nvSpPr>
        <p:spPr>
          <a:xfrm>
            <a:off x="2136775" y="2181860"/>
            <a:ext cx="4566920" cy="2684780"/>
          </a:xfrm>
        </p:spPr>
        <p:txBody>
          <a:bodyPr/>
          <a:lstStyle/>
          <a:p>
            <a:pPr marL="0" indent="0">
              <a:buNone/>
            </a:pPr>
            <a:r>
              <a:rPr lang="en-US" altLang="zh-CN" sz="4800" dirty="0"/>
              <a:t>Research&amp;</a:t>
            </a:r>
            <a:endParaRPr lang="en-US" altLang="zh-CN" sz="4800" dirty="0"/>
          </a:p>
          <a:p>
            <a:pPr marL="0" indent="0">
              <a:buNone/>
            </a:pPr>
            <a:r>
              <a:rPr lang="en-US" altLang="zh-CN" sz="4800"/>
              <a:t>Paper </a:t>
            </a:r>
            <a:r>
              <a:rPr lang="en-US" altLang="zh-CN" sz="4800" dirty="0"/>
              <a:t>Writing</a:t>
            </a:r>
            <a:endParaRPr lang="en-US" altLang="zh-CN" sz="4800" dirty="0"/>
          </a:p>
          <a:p>
            <a:pPr marL="0" indent="0">
              <a:buNone/>
            </a:pPr>
            <a:r>
              <a:rPr lang="en-US" altLang="zh-CN" dirty="0"/>
              <a:t> LWD </a:t>
            </a:r>
            <a:endParaRPr lang="en-US" altLang="zh-CN" dirty="0"/>
          </a:p>
          <a:p>
            <a:r>
              <a:rPr lang="en-US" altLang="zh-CN" dirty="0"/>
              <a:t>2025-3</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04675" y="1140903"/>
            <a:ext cx="8439325" cy="3693319"/>
          </a:xfrm>
          <a:prstGeom prst="rect">
            <a:avLst/>
          </a:prstGeom>
        </p:spPr>
        <p:txBody>
          <a:bodyPr wrap="square">
            <a:spAutoFit/>
          </a:bodyPr>
          <a:lstStyle/>
          <a:p>
            <a:pPr>
              <a:buFont typeface="Arial" panose="020B0604020202020204" pitchFamily="34" charset="0"/>
              <a:buChar char="•"/>
            </a:pPr>
            <a:r>
              <a:rPr lang="en-US" altLang="zh-CN" b="1" dirty="0">
                <a:solidFill>
                  <a:srgbClr val="000000"/>
                </a:solidFill>
                <a:latin typeface="Inter"/>
              </a:rPr>
              <a:t>Purpose</a:t>
            </a:r>
            <a:r>
              <a:rPr lang="en-US" altLang="zh-CN" dirty="0">
                <a:solidFill>
                  <a:srgbClr val="000000"/>
                </a:solidFill>
                <a:latin typeface="Inter"/>
              </a:rPr>
              <a:t>:</a:t>
            </a:r>
            <a:endParaRPr lang="en-US" altLang="zh-CN" dirty="0">
              <a:solidFill>
                <a:srgbClr val="000000"/>
              </a:solidFill>
              <a:latin typeface="Inter"/>
            </a:endParaRPr>
          </a:p>
          <a:p>
            <a:r>
              <a:rPr lang="en-US" altLang="zh-CN" dirty="0">
                <a:solidFill>
                  <a:srgbClr val="000000"/>
                </a:solidFill>
                <a:latin typeface="Inter"/>
              </a:rPr>
              <a:t> Share your own original research work with other scientists or review the research conducted by others, </a:t>
            </a:r>
            <a:endParaRPr lang="en-US" altLang="zh-CN" dirty="0">
              <a:solidFill>
                <a:srgbClr val="000000"/>
              </a:solidFill>
              <a:latin typeface="Inter"/>
            </a:endParaRPr>
          </a:p>
          <a:p>
            <a:r>
              <a:rPr lang="en-US" altLang="zh-CN" dirty="0">
                <a:solidFill>
                  <a:srgbClr val="000000"/>
                </a:solidFill>
                <a:latin typeface="Inter"/>
              </a:rPr>
              <a:t>promoting the development of modern science.​</a:t>
            </a:r>
            <a:endParaRPr lang="en-US" altLang="zh-CN" dirty="0">
              <a:solidFill>
                <a:srgbClr val="000000"/>
              </a:solidFill>
              <a:latin typeface="Inter"/>
            </a:endParaRPr>
          </a:p>
          <a:p>
            <a:endParaRPr lang="en-US" altLang="zh-CN" dirty="0">
              <a:solidFill>
                <a:srgbClr val="000000"/>
              </a:solidFill>
              <a:latin typeface="Inter"/>
            </a:endParaRPr>
          </a:p>
          <a:p>
            <a:pPr>
              <a:buFont typeface="Arial" panose="020B0604020202020204" pitchFamily="34" charset="0"/>
              <a:buChar char="•"/>
            </a:pPr>
            <a:r>
              <a:rPr lang="en-US" altLang="zh-CN" b="1" dirty="0">
                <a:solidFill>
                  <a:srgbClr val="000000"/>
                </a:solidFill>
                <a:latin typeface="Inter"/>
              </a:rPr>
              <a:t>Characteristics</a:t>
            </a:r>
            <a:r>
              <a:rPr lang="en-US" altLang="zh-CN" dirty="0">
                <a:solidFill>
                  <a:srgbClr val="000000"/>
                </a:solidFill>
                <a:latin typeface="Inter"/>
              </a:rPr>
              <a:t>: </a:t>
            </a:r>
            <a:endParaRPr lang="en-US" altLang="zh-CN" dirty="0">
              <a:solidFill>
                <a:srgbClr val="000000"/>
              </a:solidFill>
              <a:latin typeface="Inter"/>
            </a:endParaRPr>
          </a:p>
          <a:p>
            <a:r>
              <a:rPr lang="en-US" altLang="zh-CN" dirty="0">
                <a:solidFill>
                  <a:srgbClr val="000000"/>
                </a:solidFill>
                <a:latin typeface="Inter"/>
              </a:rPr>
              <a:t>Need to be highly readable, that is, clear, accurate, and concise. </a:t>
            </a:r>
            <a:endParaRPr lang="en-US" altLang="zh-CN" dirty="0">
              <a:solidFill>
                <a:srgbClr val="000000"/>
              </a:solidFill>
              <a:latin typeface="Inter"/>
            </a:endParaRPr>
          </a:p>
          <a:p>
            <a:r>
              <a:rPr lang="en-US" altLang="zh-CN" dirty="0">
                <a:solidFill>
                  <a:srgbClr val="000000"/>
                </a:solidFill>
                <a:latin typeface="Inter"/>
              </a:rPr>
              <a:t>Aim to inform, not impress.​</a:t>
            </a:r>
            <a:endParaRPr lang="en-US" altLang="zh-CN" dirty="0">
              <a:solidFill>
                <a:srgbClr val="000000"/>
              </a:solidFill>
              <a:latin typeface="Inter"/>
            </a:endParaRPr>
          </a:p>
          <a:p>
            <a:endParaRPr lang="en-US" altLang="zh-CN" dirty="0">
              <a:solidFill>
                <a:srgbClr val="000000"/>
              </a:solidFill>
              <a:latin typeface="Inter"/>
            </a:endParaRPr>
          </a:p>
          <a:p>
            <a:endParaRPr lang="en-US" altLang="zh-CN" dirty="0">
              <a:solidFill>
                <a:srgbClr val="000000"/>
              </a:solidFill>
              <a:latin typeface="Inter"/>
            </a:endParaRPr>
          </a:p>
          <a:p>
            <a:pPr>
              <a:buFont typeface="Arial" panose="020B0604020202020204" pitchFamily="34" charset="0"/>
              <a:buChar char="•"/>
            </a:pPr>
            <a:r>
              <a:rPr lang="en-US" altLang="zh-CN" b="1" dirty="0">
                <a:solidFill>
                  <a:srgbClr val="000000"/>
                </a:solidFill>
                <a:latin typeface="Inter"/>
              </a:rPr>
              <a:t>Audiences</a:t>
            </a:r>
            <a:r>
              <a:rPr lang="en-US" altLang="zh-CN" dirty="0">
                <a:solidFill>
                  <a:srgbClr val="000000"/>
                </a:solidFill>
                <a:latin typeface="Inter"/>
              </a:rPr>
              <a:t>: </a:t>
            </a:r>
            <a:endParaRPr lang="en-US" altLang="zh-CN" dirty="0">
              <a:solidFill>
                <a:srgbClr val="000000"/>
              </a:solidFill>
              <a:latin typeface="Inter"/>
            </a:endParaRPr>
          </a:p>
          <a:p>
            <a:r>
              <a:rPr lang="en-US" altLang="zh-CN" dirty="0">
                <a:solidFill>
                  <a:srgbClr val="000000"/>
                </a:solidFill>
                <a:latin typeface="Inter"/>
              </a:rPr>
              <a:t>Referees (help the journal editor decide whether a paper is suitable for publication), </a:t>
            </a:r>
            <a:endParaRPr lang="en-US" altLang="zh-CN" dirty="0">
              <a:solidFill>
                <a:srgbClr val="000000"/>
              </a:solidFill>
              <a:latin typeface="Inter"/>
            </a:endParaRPr>
          </a:p>
          <a:p>
            <a:r>
              <a:rPr lang="en-US" altLang="zh-CN" dirty="0">
                <a:solidFill>
                  <a:srgbClr val="000000"/>
                </a:solidFill>
                <a:latin typeface="Inter"/>
              </a:rPr>
              <a:t>and journal readers (with different levels of knowledge about the topic).</a:t>
            </a:r>
            <a:endParaRPr lang="en-US" altLang="zh-CN" b="0" i="0" dirty="0">
              <a:solidFill>
                <a:srgbClr val="000000"/>
              </a:solidFill>
              <a:effectLst/>
              <a:latin typeface="Inter"/>
            </a:endParaRPr>
          </a:p>
        </p:txBody>
      </p:sp>
      <p:sp>
        <p:nvSpPr>
          <p:cNvPr id="3" name="副标题 6"/>
          <p:cNvSpPr>
            <a:spLocks noChangeArrowheads="1"/>
          </p:cNvSpPr>
          <p:nvPr/>
        </p:nvSpPr>
        <p:spPr bwMode="auto">
          <a:xfrm>
            <a:off x="704675" y="295654"/>
            <a:ext cx="6337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zh-CN" altLang="zh-CN" sz="4000" b="1" dirty="0">
                <a:solidFill>
                  <a:schemeClr val="tx1"/>
                </a:solidFill>
                <a:effectLst>
                  <a:outerShdw blurRad="38100" dist="19050" dir="2700000" algn="tl" rotWithShape="0">
                    <a:schemeClr val="dk1">
                      <a:alpha val="40000"/>
                    </a:schemeClr>
                  </a:outerShdw>
                </a:effectLst>
              </a:rPr>
              <a:t>What</a:t>
            </a:r>
            <a:r>
              <a:rPr lang="zh-CN" altLang="zh-CN" sz="2800" dirty="0"/>
              <a:t> is a Scientific Paper?</a:t>
            </a:r>
            <a:endParaRPr lang="zh-CN" altLang="zh-C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55725" y="1615440"/>
            <a:ext cx="9144000" cy="1244600"/>
          </a:xfrm>
        </p:spPr>
        <p:txBody>
          <a:bodyPr/>
          <a:lstStyle/>
          <a:p>
            <a:pPr algn="l"/>
            <a:r>
              <a:rPr lang="en-US" altLang="zh-CN" b="1" dirty="0"/>
              <a:t>Why paper?</a:t>
            </a:r>
            <a:endParaRPr lang="zh-CN" altLang="en-US" b="1" dirty="0"/>
          </a:p>
        </p:txBody>
      </p:sp>
      <p:sp>
        <p:nvSpPr>
          <p:cNvPr id="3" name="副标题 2"/>
          <p:cNvSpPr>
            <a:spLocks noGrp="1"/>
          </p:cNvSpPr>
          <p:nvPr>
            <p:ph type="subTitle" idx="1"/>
          </p:nvPr>
        </p:nvSpPr>
        <p:spPr>
          <a:xfrm>
            <a:off x="3820795" y="3602355"/>
            <a:ext cx="5010150" cy="389255"/>
          </a:xfrm>
        </p:spPr>
        <p:txBody>
          <a:bodyPr>
            <a:normAutofit fontScale="87500"/>
          </a:bodyPr>
          <a:lstStyle/>
          <a:p>
            <a:r>
              <a:rPr lang="en-US" altLang="zh-CN" dirty="0"/>
              <a:t>motivations for writing a science paper. </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normAutofit/>
          </a:bodyPr>
          <a:lstStyle/>
          <a:p>
            <a:r>
              <a:rPr lang="en-US" altLang="zh-CN" dirty="0"/>
              <a:t>Why Write and Publish a Paper? </a:t>
            </a:r>
            <a:endParaRPr lang="en-US" altLang="zh-CN" dirty="0"/>
          </a:p>
          <a:p>
            <a:pPr marL="0" indent="0">
              <a:buNone/>
            </a:pPr>
            <a:r>
              <a:rPr lang="en-US" altLang="zh-CN" dirty="0"/>
              <a:t>      two kinds of motivations, </a:t>
            </a:r>
            <a:endParaRPr lang="en-US" altLang="zh-CN" dirty="0"/>
          </a:p>
          <a:p>
            <a:pPr marL="0" indent="0">
              <a:buNone/>
            </a:pPr>
            <a:r>
              <a:rPr lang="en-US" altLang="zh-CN" dirty="0"/>
              <a:t>      altruism and self-interest, </a:t>
            </a:r>
            <a:endParaRPr lang="en-US" altLang="zh-CN" dirty="0"/>
          </a:p>
          <a:p>
            <a:r>
              <a:rPr lang="en-US" altLang="zh-CN" dirty="0"/>
              <a:t>Publication is usually the most straightforward way to make such a contribution.</a:t>
            </a:r>
            <a:endParaRPr lang="en-US" altLang="zh-CN" dirty="0"/>
          </a:p>
          <a:p>
            <a:endParaRPr lang="en-US" altLang="zh-CN" dirty="0"/>
          </a:p>
          <a:p>
            <a:endParaRPr lang="en-US" altLang="zh-CN" dirty="0"/>
          </a:p>
          <a:p>
            <a:endParaRPr lang="en-US"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How start?</a:t>
            </a:r>
            <a:endParaRPr lang="zh-CN" altLang="en-US" b="1" dirty="0"/>
          </a:p>
        </p:txBody>
      </p:sp>
      <p:sp>
        <p:nvSpPr>
          <p:cNvPr id="3" name="内容占位符 2"/>
          <p:cNvSpPr>
            <a:spLocks noGrp="1"/>
          </p:cNvSpPr>
          <p:nvPr>
            <p:ph idx="1"/>
          </p:nvPr>
        </p:nvSpPr>
        <p:spPr>
          <a:xfrm>
            <a:off x="838200" y="1583573"/>
            <a:ext cx="10515600" cy="4351338"/>
          </a:xfrm>
        </p:spPr>
        <p:txBody>
          <a:bodyPr>
            <a:normAutofit fontScale="92500"/>
          </a:bodyPr>
          <a:lstStyle/>
          <a:p>
            <a:pPr marL="0" indent="0">
              <a:buNone/>
            </a:pPr>
            <a:endParaRPr lang="en-US" altLang="zh-CN" dirty="0"/>
          </a:p>
          <a:p>
            <a:pPr marL="0" indent="0">
              <a:buNone/>
            </a:pPr>
            <a:r>
              <a:rPr lang="en-US" altLang="zh-CN" dirty="0"/>
              <a:t>The Literature Search </a:t>
            </a:r>
            <a:endParaRPr lang="en-US" altLang="zh-CN" dirty="0"/>
          </a:p>
          <a:p>
            <a:r>
              <a:rPr lang="en-US" altLang="zh-CN" dirty="0"/>
              <a:t>The goal of the search is to evaluate the state of our communal knowledge on a topic before embarking on a quest of adding to that knowledge. </a:t>
            </a:r>
            <a:endParaRPr lang="en-US" altLang="zh-CN" dirty="0"/>
          </a:p>
          <a:p>
            <a:pPr marL="0" indent="0">
              <a:buNone/>
            </a:pPr>
            <a:endParaRPr lang="en-US" altLang="zh-CN" dirty="0"/>
          </a:p>
          <a:p>
            <a:pPr marL="0" indent="0">
              <a:buNone/>
            </a:pPr>
            <a:r>
              <a:rPr lang="en-US" altLang="zh-CN" dirty="0"/>
              <a:t>Because science is about either confirming or refuting existing knowledge or developing new knowledge, </a:t>
            </a:r>
            <a:endParaRPr lang="en-US" altLang="zh-CN" dirty="0"/>
          </a:p>
          <a:p>
            <a:pPr marL="0" indent="0">
              <a:buNone/>
            </a:pPr>
            <a:endParaRPr lang="en-US" altLang="zh-CN" dirty="0"/>
          </a:p>
          <a:p>
            <a:pPr marL="0" indent="0">
              <a:buNone/>
            </a:pPr>
            <a:r>
              <a:rPr lang="en-US" altLang="zh-CN" dirty="0"/>
              <a:t>a thorough understanding of the current state of communal knowledge is essential.</a:t>
            </a:r>
            <a:endParaRPr lang="en-US" altLang="zh-CN" dirty="0"/>
          </a:p>
          <a:p>
            <a:endParaRPr lang="en-US" altLang="zh-CN" dirty="0"/>
          </a:p>
          <a:p>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10" descr="b2"/>
          <p:cNvPicPr>
            <a:picLocks noChangeAspect="1" noChangeArrowheads="1"/>
          </p:cNvPicPr>
          <p:nvPr/>
        </p:nvPicPr>
        <p:blipFill>
          <a:blip r:embed="rId1">
            <a:lum bright="6000" contrast="6000"/>
            <a:extLst>
              <a:ext uri="{28A0092B-C50C-407E-A947-70E740481C1C}">
                <a14:useLocalDpi xmlns:a14="http://schemas.microsoft.com/office/drawing/2010/main" val="0"/>
              </a:ext>
            </a:extLst>
          </a:blip>
          <a:srcRect/>
          <a:stretch>
            <a:fillRect/>
          </a:stretch>
        </p:blipFill>
        <p:spPr bwMode="auto">
          <a:xfrm>
            <a:off x="9625014" y="5953126"/>
            <a:ext cx="8159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8" name="副标题 6"/>
          <p:cNvSpPr>
            <a:spLocks noChangeArrowheads="1"/>
          </p:cNvSpPr>
          <p:nvPr/>
        </p:nvSpPr>
        <p:spPr bwMode="auto">
          <a:xfrm>
            <a:off x="841693" y="1052513"/>
            <a:ext cx="817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800" dirty="0"/>
              <a:t>Are your results new? </a:t>
            </a:r>
            <a:endParaRPr lang="en-US" altLang="zh-CN" sz="2800" dirty="0"/>
          </a:p>
        </p:txBody>
      </p:sp>
      <p:sp>
        <p:nvSpPr>
          <p:cNvPr id="9219" name="副标题 6"/>
          <p:cNvSpPr>
            <a:spLocks noChangeArrowheads="1"/>
          </p:cNvSpPr>
          <p:nvPr/>
        </p:nvSpPr>
        <p:spPr bwMode="auto">
          <a:xfrm>
            <a:off x="2208213" y="1700214"/>
            <a:ext cx="817245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400" b="1" i="1" dirty="0">
                <a:solidFill>
                  <a:srgbClr val="FF5DFF"/>
                </a:solidFill>
                <a:ea typeface="宋体" panose="02010600030101010101" pitchFamily="2" charset="-122"/>
              </a:rPr>
              <a:t>Literature studies</a:t>
            </a:r>
            <a:r>
              <a:rPr lang="en-US" altLang="zh-CN" sz="2400" b="1" dirty="0">
                <a:ea typeface="宋体" panose="02010600030101010101" pitchFamily="2" charset="-122"/>
              </a:rPr>
              <a:t> are essential before you start the research program and writing.</a:t>
            </a:r>
            <a:endParaRPr lang="zh-CN" altLang="en-US" sz="2400" b="1" dirty="0">
              <a:ea typeface="宋体" panose="02010600030101010101" pitchFamily="2" charset="-122"/>
            </a:endParaRPr>
          </a:p>
        </p:txBody>
      </p:sp>
      <p:sp>
        <p:nvSpPr>
          <p:cNvPr id="9220" name="副标题 6"/>
          <p:cNvSpPr>
            <a:spLocks noChangeArrowheads="1"/>
          </p:cNvSpPr>
          <p:nvPr/>
        </p:nvSpPr>
        <p:spPr bwMode="auto">
          <a:xfrm>
            <a:off x="2173289" y="2565401"/>
            <a:ext cx="82438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There are hundreds of years of scientific research and millions of papers.</a:t>
            </a:r>
            <a:endParaRPr lang="zh-CN" altLang="en-US" sz="2800" b="1">
              <a:latin typeface="Verdana" panose="020B0604030504040204" pitchFamily="34" charset="0"/>
              <a:ea typeface="宋体" panose="02010600030101010101" pitchFamily="2" charset="-122"/>
            </a:endParaRPr>
          </a:p>
        </p:txBody>
      </p:sp>
      <p:sp>
        <p:nvSpPr>
          <p:cNvPr id="9221" name="副标题 6"/>
          <p:cNvSpPr>
            <a:spLocks noChangeArrowheads="1"/>
          </p:cNvSpPr>
          <p:nvPr/>
        </p:nvSpPr>
        <p:spPr bwMode="auto">
          <a:xfrm>
            <a:off x="2173289" y="3429001"/>
            <a:ext cx="82438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To publish a paper you must be at the </a:t>
            </a:r>
            <a:r>
              <a:rPr lang="en-US" altLang="zh-CN" sz="2400" b="1" i="1">
                <a:solidFill>
                  <a:srgbClr val="FF5DFF"/>
                </a:solidFill>
                <a:ea typeface="宋体" panose="02010600030101010101" pitchFamily="2" charset="-122"/>
              </a:rPr>
              <a:t>research frontier</a:t>
            </a:r>
            <a:r>
              <a:rPr lang="en-US" altLang="zh-CN" sz="2400" b="1" i="1">
                <a:ea typeface="宋体" panose="02010600030101010101" pitchFamily="2" charset="-122"/>
              </a:rPr>
              <a:t>.</a:t>
            </a:r>
            <a:endParaRPr lang="zh-CN" altLang="en-US" sz="2800" b="1" i="1">
              <a:latin typeface="Verdana" panose="020B0604030504040204" pitchFamily="34" charset="0"/>
              <a:ea typeface="宋体" panose="02010600030101010101" pitchFamily="2" charset="-122"/>
            </a:endParaRPr>
          </a:p>
        </p:txBody>
      </p:sp>
      <p:sp>
        <p:nvSpPr>
          <p:cNvPr id="9222" name="副标题 6"/>
          <p:cNvSpPr>
            <a:spLocks noChangeArrowheads="1"/>
          </p:cNvSpPr>
          <p:nvPr/>
        </p:nvSpPr>
        <p:spPr bwMode="auto">
          <a:xfrm>
            <a:off x="2208214" y="4292601"/>
            <a:ext cx="82438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You must know </a:t>
            </a:r>
            <a:r>
              <a:rPr lang="en-US" altLang="zh-CN" sz="2400" b="1" i="1">
                <a:solidFill>
                  <a:srgbClr val="FF5DFF"/>
                </a:solidFill>
                <a:ea typeface="宋体" panose="02010600030101010101" pitchFamily="2" charset="-122"/>
              </a:rPr>
              <a:t>where the research frontier is</a:t>
            </a:r>
            <a:r>
              <a:rPr lang="en-US" altLang="zh-CN" sz="2400" b="1" i="1">
                <a:ea typeface="宋体" panose="02010600030101010101" pitchFamily="2" charset="-122"/>
              </a:rPr>
              <a:t>.</a:t>
            </a:r>
            <a:endParaRPr lang="zh-CN" altLang="en-US" sz="2800" b="1" i="1">
              <a:latin typeface="Verdana" panose="020B0604030504040204" pitchFamily="34" charset="0"/>
              <a:ea typeface="宋体" panose="02010600030101010101" pitchFamily="2" charset="-122"/>
            </a:endParaRPr>
          </a:p>
        </p:txBody>
      </p:sp>
      <p:sp>
        <p:nvSpPr>
          <p:cNvPr id="9223" name="副标题 6"/>
          <p:cNvSpPr>
            <a:spLocks noChangeArrowheads="1"/>
          </p:cNvSpPr>
          <p:nvPr/>
        </p:nvSpPr>
        <p:spPr bwMode="auto">
          <a:xfrm>
            <a:off x="2219325" y="4797426"/>
            <a:ext cx="824388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You must continually check the </a:t>
            </a:r>
            <a:r>
              <a:rPr lang="en-US" altLang="zh-CN" sz="2400" b="1" i="1">
                <a:solidFill>
                  <a:srgbClr val="FF5DFF"/>
                </a:solidFill>
                <a:ea typeface="宋体" panose="02010600030101010101" pitchFamily="2" charset="-122"/>
              </a:rPr>
              <a:t>most recent literature</a:t>
            </a:r>
            <a:r>
              <a:rPr lang="en-US" altLang="zh-CN" sz="2400" b="1">
                <a:ea typeface="宋体" panose="02010600030101010101" pitchFamily="2" charset="-122"/>
              </a:rPr>
              <a:t> to make sure what others are doing.</a:t>
            </a:r>
            <a:endParaRPr lang="zh-CN" altLang="en-US" sz="2800" b="1">
              <a:latin typeface="Verdana" panose="020B0604030504040204" pitchFamily="34" charset="0"/>
              <a:ea typeface="宋体" panose="02010600030101010101" pitchFamily="2" charset="-122"/>
            </a:endParaRPr>
          </a:p>
        </p:txBody>
      </p:sp>
      <p:sp>
        <p:nvSpPr>
          <p:cNvPr id="9224" name="副标题 6"/>
          <p:cNvSpPr>
            <a:spLocks noChangeArrowheads="1"/>
          </p:cNvSpPr>
          <p:nvPr/>
        </p:nvSpPr>
        <p:spPr bwMode="auto">
          <a:xfrm>
            <a:off x="2495550" y="379413"/>
            <a:ext cx="817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endParaRPr lang="en-US" altLang="zh-CN" sz="2800" b="1" dirty="0">
              <a:latin typeface="Verdan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fade">
                                      <p:cBhvr>
                                        <p:cTn id="7" dur="1000"/>
                                        <p:tgtEl>
                                          <p:spTgt spid="12290"/>
                                        </p:tgtEl>
                                      </p:cBhvr>
                                    </p:animEffect>
                                    <p:anim calcmode="lin" valueType="num">
                                      <p:cBhvr>
                                        <p:cTn id="8" dur="1000" fill="hold"/>
                                        <p:tgtEl>
                                          <p:spTgt spid="12290"/>
                                        </p:tgtEl>
                                        <p:attrNameLst>
                                          <p:attrName>ppt_x</p:attrName>
                                        </p:attrNameLst>
                                      </p:cBhvr>
                                      <p:tavLst>
                                        <p:tav tm="0">
                                          <p:val>
                                            <p:strVal val="#ppt_x"/>
                                          </p:val>
                                        </p:tav>
                                        <p:tav tm="100000">
                                          <p:val>
                                            <p:strVal val="#ppt_x"/>
                                          </p:val>
                                        </p:tav>
                                      </p:tavLst>
                                    </p:anim>
                                    <p:anim calcmode="lin" valueType="num">
                                      <p:cBhvr>
                                        <p:cTn id="9" dur="1000" fill="hold"/>
                                        <p:tgtEl>
                                          <p:spTgt spid="1229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33095" y="1275080"/>
            <a:ext cx="8072755" cy="2624455"/>
          </a:xfrm>
          <a:prstGeom prst="rect">
            <a:avLst/>
          </a:prstGeom>
          <a:noFill/>
        </p:spPr>
        <p:txBody>
          <a:bodyPr wrap="square" rtlCol="0" anchor="t">
            <a:noAutofit/>
          </a:bodyPr>
          <a:lstStyle/>
          <a:p>
            <a:r>
              <a:rPr lang="en-US" altLang="zh-CN" sz="2800" dirty="0">
                <a:sym typeface="+mn-ea"/>
              </a:rPr>
              <a:t>Plan and Execute Research with Publication in Mind</a:t>
            </a:r>
            <a:endParaRPr lang="en-US" altLang="zh-CN" sz="2800" dirty="0">
              <a:sym typeface="+mn-ea"/>
            </a:endParaRPr>
          </a:p>
          <a:p>
            <a:endParaRPr lang="en-US" altLang="zh-CN" sz="2800" dirty="0"/>
          </a:p>
          <a:p>
            <a:r>
              <a:rPr lang="en-US" altLang="zh-CN" sz="2800" dirty="0">
                <a:sym typeface="+mn-ea"/>
              </a:rPr>
              <a:t>document the work in sufficient detail so that </a:t>
            </a:r>
            <a:endParaRPr lang="en-US" altLang="zh-CN" sz="2800" dirty="0">
              <a:sym typeface="+mn-ea"/>
            </a:endParaRPr>
          </a:p>
          <a:p>
            <a:pPr marL="457200" indent="-457200">
              <a:buFont typeface="Arial" panose="020B0604020202020204" pitchFamily="34" charset="0"/>
              <a:buChar char="•"/>
            </a:pPr>
            <a:r>
              <a:rPr lang="en-US" altLang="zh-CN" sz="2800" dirty="0">
                <a:sym typeface="+mn-ea"/>
              </a:rPr>
              <a:t>the reader can follow the reasoning presented and validate the conclusions drawn, </a:t>
            </a:r>
            <a:endParaRPr lang="en-US" altLang="zh-CN" sz="2800" dirty="0">
              <a:sym typeface="+mn-ea"/>
            </a:endParaRPr>
          </a:p>
          <a:p>
            <a:pPr marL="457200" indent="-457200">
              <a:buFont typeface="Arial" panose="020B0604020202020204" pitchFamily="34" charset="0"/>
              <a:buChar char="•"/>
            </a:pPr>
            <a:r>
              <a:rPr lang="en-US" altLang="zh-CN" sz="2800" dirty="0">
                <a:sym typeface="+mn-ea"/>
              </a:rPr>
              <a:t>to defend the work against criticism</a:t>
            </a:r>
            <a:endParaRPr lang="en-US" altLang="zh-CN" sz="2800" dirty="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Why format? structure and organize?</a:t>
            </a:r>
            <a:endParaRPr lang="zh-CN" altLang="en-US" dirty="0"/>
          </a:p>
        </p:txBody>
      </p:sp>
      <p:sp>
        <p:nvSpPr>
          <p:cNvPr id="3" name="内容占位符 2"/>
          <p:cNvSpPr>
            <a:spLocks noGrp="1"/>
          </p:cNvSpPr>
          <p:nvPr>
            <p:ph idx="1"/>
          </p:nvPr>
        </p:nvSpPr>
        <p:spPr/>
        <p:txBody>
          <a:bodyPr/>
          <a:lstStyle/>
          <a:p>
            <a:r>
              <a:rPr lang="en-US" altLang="zh-CN" dirty="0"/>
              <a:t>Over the last 350 years, scientific journals have evolved a distinctive style, structure, and organization that make it easy for both the writer and the reader to get what they need from the paper: effective communication of scientific ideas</a:t>
            </a:r>
            <a:endParaRPr lang="en-US" altLang="zh-CN" dirty="0"/>
          </a:p>
          <a:p>
            <a:r>
              <a:rPr lang="en-US" altLang="zh-CN" dirty="0"/>
              <a:t>By following the standard structure and organization of a science research article, the author is constrained in many respects. But these constraints free the author and the reader to focus on the content, which often results in a better paper.</a:t>
            </a:r>
            <a:endParaRPr lang="en-US" altLang="zh-C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10" descr="b2"/>
          <p:cNvPicPr>
            <a:picLocks noChangeAspect="1" noChangeArrowheads="1"/>
          </p:cNvPicPr>
          <p:nvPr/>
        </p:nvPicPr>
        <p:blipFill>
          <a:blip r:embed="rId1">
            <a:lum bright="6000" contrast="6000"/>
            <a:extLst>
              <a:ext uri="{28A0092B-C50C-407E-A947-70E740481C1C}">
                <a14:useLocalDpi xmlns:a14="http://schemas.microsoft.com/office/drawing/2010/main" val="0"/>
              </a:ext>
            </a:extLst>
          </a:blip>
          <a:srcRect/>
          <a:stretch>
            <a:fillRect/>
          </a:stretch>
        </p:blipFill>
        <p:spPr bwMode="auto">
          <a:xfrm>
            <a:off x="9625014" y="5953126"/>
            <a:ext cx="8159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2" name="副标题 6"/>
          <p:cNvSpPr>
            <a:spLocks noChangeArrowheads="1"/>
          </p:cNvSpPr>
          <p:nvPr/>
        </p:nvSpPr>
        <p:spPr bwMode="auto">
          <a:xfrm>
            <a:off x="2208213" y="1244600"/>
            <a:ext cx="817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800" b="1" i="1">
                <a:solidFill>
                  <a:srgbClr val="FF6600"/>
                </a:solidFill>
                <a:latin typeface="Verdana" panose="020B0604030504040204" pitchFamily="34" charset="0"/>
                <a:ea typeface="宋体" panose="02010600030101010101" pitchFamily="2" charset="-122"/>
              </a:rPr>
              <a:t>Outline</a:t>
            </a:r>
            <a:r>
              <a:rPr lang="en-US" altLang="zh-CN" sz="2800" b="1">
                <a:latin typeface="Verdana" panose="020B0604030504040204" pitchFamily="34" charset="0"/>
                <a:ea typeface="宋体" panose="02010600030101010101" pitchFamily="2" charset="-122"/>
              </a:rPr>
              <a:t> </a:t>
            </a:r>
            <a:endParaRPr lang="en-US" altLang="zh-CN" sz="2800" b="1">
              <a:latin typeface="Verdana" panose="020B0604030504040204" pitchFamily="34" charset="0"/>
              <a:ea typeface="宋体" panose="02010600030101010101" pitchFamily="2" charset="-122"/>
            </a:endParaRPr>
          </a:p>
        </p:txBody>
      </p:sp>
      <p:sp>
        <p:nvSpPr>
          <p:cNvPr id="10243" name="副标题 6"/>
          <p:cNvSpPr>
            <a:spLocks noChangeArrowheads="1"/>
          </p:cNvSpPr>
          <p:nvPr/>
        </p:nvSpPr>
        <p:spPr bwMode="auto">
          <a:xfrm>
            <a:off x="2208213" y="1844675"/>
            <a:ext cx="8172450"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A good outline for the paper is </a:t>
            </a:r>
            <a:r>
              <a:rPr lang="en-US" altLang="zh-CN" sz="2400" b="1" i="1">
                <a:solidFill>
                  <a:srgbClr val="FF5DFF"/>
                </a:solidFill>
                <a:ea typeface="宋体" panose="02010600030101010101" pitchFamily="2" charset="-122"/>
              </a:rPr>
              <a:t>a good plan</a:t>
            </a:r>
            <a:r>
              <a:rPr lang="en-US" altLang="zh-CN" sz="2400" b="1">
                <a:ea typeface="宋体" panose="02010600030101010101" pitchFamily="2" charset="-122"/>
              </a:rPr>
              <a:t> for the research program. </a:t>
            </a:r>
            <a:endParaRPr lang="zh-CN" altLang="en-US" sz="2800" b="1">
              <a:latin typeface="Verdana" panose="020B0604030504040204" pitchFamily="34" charset="0"/>
              <a:ea typeface="宋体" panose="02010600030101010101" pitchFamily="2" charset="-122"/>
            </a:endParaRPr>
          </a:p>
        </p:txBody>
      </p:sp>
      <p:sp>
        <p:nvSpPr>
          <p:cNvPr id="10244" name="副标题 6"/>
          <p:cNvSpPr>
            <a:spLocks noChangeArrowheads="1"/>
          </p:cNvSpPr>
          <p:nvPr/>
        </p:nvSpPr>
        <p:spPr bwMode="auto">
          <a:xfrm>
            <a:off x="2219325" y="2781301"/>
            <a:ext cx="824388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800" b="1">
                <a:latin typeface="Verdana" panose="020B0604030504040204" pitchFamily="34" charset="0"/>
                <a:ea typeface="宋体" panose="02010600030101010101" pitchFamily="2" charset="-122"/>
              </a:rPr>
              <a:t> </a:t>
            </a:r>
            <a:endParaRPr lang="zh-CN" altLang="en-US" sz="2800" b="1">
              <a:latin typeface="Verdana" panose="020B0604030504040204" pitchFamily="34" charset="0"/>
              <a:ea typeface="宋体" panose="02010600030101010101" pitchFamily="2" charset="-122"/>
            </a:endParaRPr>
          </a:p>
        </p:txBody>
      </p:sp>
      <p:sp>
        <p:nvSpPr>
          <p:cNvPr id="10245" name="副标题 6"/>
          <p:cNvSpPr>
            <a:spLocks noChangeArrowheads="1"/>
          </p:cNvSpPr>
          <p:nvPr/>
        </p:nvSpPr>
        <p:spPr bwMode="auto">
          <a:xfrm>
            <a:off x="2193925" y="3357564"/>
            <a:ext cx="824388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An outline is a </a:t>
            </a:r>
            <a:r>
              <a:rPr lang="en-US" altLang="zh-CN" sz="2400" b="1" i="1">
                <a:solidFill>
                  <a:srgbClr val="FF5DFF"/>
                </a:solidFill>
                <a:ea typeface="宋体" panose="02010600030101010101" pitchFamily="2" charset="-122"/>
              </a:rPr>
              <a:t>written plan of the organization</a:t>
            </a:r>
            <a:r>
              <a:rPr lang="en-US" altLang="zh-CN" sz="2400" b="1">
                <a:ea typeface="宋体" panose="02010600030101010101" pitchFamily="2" charset="-122"/>
              </a:rPr>
              <a:t> of a paper, including the data on which it rests. </a:t>
            </a:r>
            <a:r>
              <a:rPr lang="en-US" altLang="zh-CN" sz="2800" b="1">
                <a:latin typeface="Verdana" panose="020B0604030504040204" pitchFamily="34" charset="0"/>
                <a:ea typeface="宋体" panose="02010600030101010101" pitchFamily="2" charset="-122"/>
              </a:rPr>
              <a:t> </a:t>
            </a:r>
            <a:endParaRPr lang="zh-CN" altLang="en-US" sz="2800" b="1">
              <a:latin typeface="Verdana" panose="020B0604030504040204" pitchFamily="34" charset="0"/>
              <a:ea typeface="宋体" panose="02010600030101010101" pitchFamily="2" charset="-122"/>
            </a:endParaRPr>
          </a:p>
        </p:txBody>
      </p:sp>
      <p:sp>
        <p:nvSpPr>
          <p:cNvPr id="10246" name="副标题 6"/>
          <p:cNvSpPr>
            <a:spLocks noChangeArrowheads="1"/>
          </p:cNvSpPr>
          <p:nvPr/>
        </p:nvSpPr>
        <p:spPr bwMode="auto">
          <a:xfrm>
            <a:off x="2046289" y="4789489"/>
            <a:ext cx="82438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It can be relatively efficient to </a:t>
            </a:r>
            <a:r>
              <a:rPr lang="en-US" altLang="zh-CN" sz="2400" b="1" i="1">
                <a:solidFill>
                  <a:srgbClr val="FF5DFF"/>
                </a:solidFill>
                <a:ea typeface="宋体" panose="02010600030101010101" pitchFamily="2" charset="-122"/>
              </a:rPr>
              <a:t>go through several (even many) cycles</a:t>
            </a:r>
            <a:r>
              <a:rPr lang="en-US" altLang="zh-CN" sz="2400" b="1">
                <a:ea typeface="宋体" panose="02010600030101010101" pitchFamily="2" charset="-122"/>
              </a:rPr>
              <a:t> of an outline before beginning to write text. </a:t>
            </a:r>
            <a:endParaRPr lang="zh-CN" altLang="en-US" sz="2400" b="1">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314"/>
                                        </p:tgtEl>
                                        <p:attrNameLst>
                                          <p:attrName>style.visibility</p:attrName>
                                        </p:attrNameLst>
                                      </p:cBhvr>
                                      <p:to>
                                        <p:strVal val="visible"/>
                                      </p:to>
                                    </p:set>
                                    <p:animEffect transition="in" filter="fade">
                                      <p:cBhvr>
                                        <p:cTn id="7" dur="1000"/>
                                        <p:tgtEl>
                                          <p:spTgt spid="13314"/>
                                        </p:tgtEl>
                                      </p:cBhvr>
                                    </p:animEffect>
                                    <p:anim calcmode="lin" valueType="num">
                                      <p:cBhvr>
                                        <p:cTn id="8" dur="1000" fill="hold"/>
                                        <p:tgtEl>
                                          <p:spTgt spid="13314"/>
                                        </p:tgtEl>
                                        <p:attrNameLst>
                                          <p:attrName>ppt_x</p:attrName>
                                        </p:attrNameLst>
                                      </p:cBhvr>
                                      <p:tavLst>
                                        <p:tav tm="0">
                                          <p:val>
                                            <p:strVal val="#ppt_x"/>
                                          </p:val>
                                        </p:tav>
                                        <p:tav tm="100000">
                                          <p:val>
                                            <p:strVal val="#ppt_x"/>
                                          </p:val>
                                        </p:tav>
                                      </p:tavLst>
                                    </p:anim>
                                    <p:anim calcmode="lin" valueType="num">
                                      <p:cBhvr>
                                        <p:cTn id="9" dur="1000" fill="hold"/>
                                        <p:tgtEl>
                                          <p:spTgt spid="133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10" descr="b2"/>
          <p:cNvPicPr>
            <a:picLocks noChangeAspect="1" noChangeArrowheads="1"/>
          </p:cNvPicPr>
          <p:nvPr/>
        </p:nvPicPr>
        <p:blipFill>
          <a:blip r:embed="rId1">
            <a:lum bright="6000" contrast="6000"/>
            <a:extLst>
              <a:ext uri="{28A0092B-C50C-407E-A947-70E740481C1C}">
                <a14:useLocalDpi xmlns:a14="http://schemas.microsoft.com/office/drawing/2010/main" val="0"/>
              </a:ext>
            </a:extLst>
          </a:blip>
          <a:srcRect/>
          <a:stretch>
            <a:fillRect/>
          </a:stretch>
        </p:blipFill>
        <p:spPr bwMode="auto">
          <a:xfrm>
            <a:off x="9625014" y="5953126"/>
            <a:ext cx="8159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副标题 6"/>
          <p:cNvSpPr>
            <a:spLocks noChangeArrowheads="1"/>
          </p:cNvSpPr>
          <p:nvPr/>
        </p:nvSpPr>
        <p:spPr bwMode="auto">
          <a:xfrm>
            <a:off x="2424114" y="1484314"/>
            <a:ext cx="82438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400">
                <a:ea typeface="宋体" panose="02010600030101010101" pitchFamily="2" charset="-122"/>
              </a:rPr>
              <a:t>The purpose of your paper is</a:t>
            </a:r>
            <a:r>
              <a:rPr lang="en-US" altLang="zh-CN" sz="2400" b="1">
                <a:ea typeface="宋体" panose="02010600030101010101" pitchFamily="2" charset="-122"/>
              </a:rPr>
              <a:t> to convey the idea</a:t>
            </a:r>
            <a:r>
              <a:rPr lang="en-US" altLang="zh-CN" sz="2800">
                <a:latin typeface="Verdana" panose="020B0604030504040204" pitchFamily="34" charset="0"/>
                <a:ea typeface="宋体" panose="02010600030101010101" pitchFamily="2" charset="-122"/>
              </a:rPr>
              <a:t> </a:t>
            </a:r>
            <a:r>
              <a:rPr lang="en-US" altLang="zh-CN" sz="2800" b="1">
                <a:latin typeface="Verdana" panose="020B0604030504040204" pitchFamily="34" charset="0"/>
                <a:ea typeface="宋体" panose="02010600030101010101" pitchFamily="2" charset="-122"/>
              </a:rPr>
              <a:t> </a:t>
            </a:r>
            <a:endParaRPr lang="zh-CN" altLang="en-US" sz="2800" b="1">
              <a:latin typeface="Verdana" panose="020B0604030504040204" pitchFamily="34" charset="0"/>
              <a:ea typeface="宋体" panose="02010600030101010101" pitchFamily="2" charset="-122"/>
            </a:endParaRPr>
          </a:p>
        </p:txBody>
      </p:sp>
      <p:sp>
        <p:nvSpPr>
          <p:cNvPr id="11268" name="副标题 6"/>
          <p:cNvSpPr>
            <a:spLocks noChangeArrowheads="1"/>
          </p:cNvSpPr>
          <p:nvPr/>
        </p:nvSpPr>
        <p:spPr bwMode="auto">
          <a:xfrm>
            <a:off x="2424114" y="2133601"/>
            <a:ext cx="82438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Here is </a:t>
            </a:r>
            <a:r>
              <a:rPr lang="en-US" altLang="zh-CN" sz="2400" b="1" i="1">
                <a:solidFill>
                  <a:srgbClr val="FF5DFF"/>
                </a:solidFill>
                <a:ea typeface="宋体" panose="02010600030101010101" pitchFamily="2" charset="-122"/>
              </a:rPr>
              <a:t>a problem</a:t>
            </a:r>
            <a:endParaRPr lang="en-US" altLang="zh-CN" sz="2400" b="1" i="1">
              <a:solidFill>
                <a:srgbClr val="FF5DFF"/>
              </a:solidFill>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It’s an </a:t>
            </a:r>
            <a:r>
              <a:rPr lang="en-US" altLang="zh-CN" sz="2400" b="1" i="1">
                <a:solidFill>
                  <a:srgbClr val="FF5DFF"/>
                </a:solidFill>
                <a:ea typeface="宋体" panose="02010600030101010101" pitchFamily="2" charset="-122"/>
              </a:rPr>
              <a:t>important problem</a:t>
            </a:r>
            <a:endParaRPr lang="en-US" altLang="zh-CN" sz="2400" b="1" i="1">
              <a:solidFill>
                <a:srgbClr val="FF5DFF"/>
              </a:solidFill>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It’s an </a:t>
            </a:r>
            <a:r>
              <a:rPr lang="en-US" altLang="zh-CN" sz="2400" b="1" i="1">
                <a:solidFill>
                  <a:srgbClr val="FF5DFF"/>
                </a:solidFill>
                <a:ea typeface="宋体" panose="02010600030101010101" pitchFamily="2" charset="-122"/>
              </a:rPr>
              <a:t>unsolved problem</a:t>
            </a:r>
            <a:endParaRPr lang="en-US" altLang="zh-CN" sz="2400" b="1" i="1">
              <a:solidFill>
                <a:srgbClr val="FF5DFF"/>
              </a:solidFill>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Here is </a:t>
            </a:r>
            <a:r>
              <a:rPr lang="en-US" altLang="zh-CN" sz="2400" b="1" i="1">
                <a:solidFill>
                  <a:srgbClr val="FF5DFF"/>
                </a:solidFill>
                <a:ea typeface="宋体" panose="02010600030101010101" pitchFamily="2" charset="-122"/>
              </a:rPr>
              <a:t>my idea</a:t>
            </a:r>
            <a:endParaRPr lang="en-US" altLang="zh-CN" sz="2400" b="1" i="1">
              <a:solidFill>
                <a:srgbClr val="FF5DFF"/>
              </a:solidFill>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My </a:t>
            </a:r>
            <a:r>
              <a:rPr lang="en-US" altLang="zh-CN" sz="2400" b="1" i="1">
                <a:solidFill>
                  <a:srgbClr val="FF5DFF"/>
                </a:solidFill>
                <a:ea typeface="宋体" panose="02010600030101010101" pitchFamily="2" charset="-122"/>
              </a:rPr>
              <a:t>idea works</a:t>
            </a:r>
            <a:r>
              <a:rPr lang="en-US" altLang="zh-CN" sz="2400" b="1">
                <a:ea typeface="宋体" panose="02010600030101010101" pitchFamily="2" charset="-122"/>
              </a:rPr>
              <a:t> (details, data)</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Here’s how my idea </a:t>
            </a:r>
            <a:r>
              <a:rPr lang="en-US" altLang="zh-CN" sz="2400" b="1" i="1">
                <a:solidFill>
                  <a:srgbClr val="FF5DFF"/>
                </a:solidFill>
                <a:ea typeface="宋体" panose="02010600030101010101" pitchFamily="2" charset="-122"/>
              </a:rPr>
              <a:t>compares to</a:t>
            </a:r>
            <a:r>
              <a:rPr lang="en-US" altLang="zh-CN" sz="2400" b="1">
                <a:ea typeface="宋体" panose="02010600030101010101" pitchFamily="2" charset="-122"/>
              </a:rPr>
              <a:t> other people’s</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  approaches</a:t>
            </a:r>
            <a:endParaRPr lang="zh-CN" altLang="en-US" sz="2400" b="1">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fade">
                                      <p:cBhvr>
                                        <p:cTn id="7" dur="1000"/>
                                        <p:tgtEl>
                                          <p:spTgt spid="14338"/>
                                        </p:tgtEl>
                                      </p:cBhvr>
                                    </p:animEffect>
                                    <p:anim calcmode="lin" valueType="num">
                                      <p:cBhvr>
                                        <p:cTn id="8" dur="1000" fill="hold"/>
                                        <p:tgtEl>
                                          <p:spTgt spid="14338"/>
                                        </p:tgtEl>
                                        <p:attrNameLst>
                                          <p:attrName>ppt_x</p:attrName>
                                        </p:attrNameLst>
                                      </p:cBhvr>
                                      <p:tavLst>
                                        <p:tav tm="0">
                                          <p:val>
                                            <p:strVal val="#ppt_x"/>
                                          </p:val>
                                        </p:tav>
                                        <p:tav tm="100000">
                                          <p:val>
                                            <p:strVal val="#ppt_x"/>
                                          </p:val>
                                        </p:tav>
                                      </p:tavLst>
                                    </p:anim>
                                    <p:anim calcmode="lin" valueType="num">
                                      <p:cBhvr>
                                        <p:cTn id="9" dur="1000" fill="hold"/>
                                        <p:tgtEl>
                                          <p:spTgt spid="143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10" descr="b2"/>
          <p:cNvPicPr>
            <a:picLocks noChangeAspect="1" noChangeArrowheads="1"/>
          </p:cNvPicPr>
          <p:nvPr/>
        </p:nvPicPr>
        <p:blipFill>
          <a:blip r:embed="rId1">
            <a:lum bright="6000" contrast="6000"/>
            <a:extLst>
              <a:ext uri="{28A0092B-C50C-407E-A947-70E740481C1C}">
                <a14:useLocalDpi xmlns:a14="http://schemas.microsoft.com/office/drawing/2010/main" val="0"/>
              </a:ext>
            </a:extLst>
          </a:blip>
          <a:srcRect/>
          <a:stretch>
            <a:fillRect/>
          </a:stretch>
        </p:blipFill>
        <p:spPr bwMode="auto">
          <a:xfrm>
            <a:off x="9625014" y="5953126"/>
            <a:ext cx="8159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0" name="副标题 6"/>
          <p:cNvSpPr>
            <a:spLocks noChangeArrowheads="1"/>
          </p:cNvSpPr>
          <p:nvPr/>
        </p:nvSpPr>
        <p:spPr bwMode="auto">
          <a:xfrm>
            <a:off x="2208213" y="1125538"/>
            <a:ext cx="817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800" b="1" i="1">
                <a:solidFill>
                  <a:srgbClr val="FF6600"/>
                </a:solidFill>
                <a:latin typeface="Verdana" panose="020B0604030504040204" pitchFamily="34" charset="0"/>
                <a:ea typeface="宋体" panose="02010600030101010101" pitchFamily="2" charset="-122"/>
              </a:rPr>
              <a:t>Basic parts of a paper</a:t>
            </a:r>
            <a:r>
              <a:rPr lang="en-US" altLang="zh-CN" sz="2800" b="1">
                <a:latin typeface="Verdana" panose="020B0604030504040204" pitchFamily="34" charset="0"/>
                <a:ea typeface="宋体" panose="02010600030101010101" pitchFamily="2" charset="-122"/>
              </a:rPr>
              <a:t> </a:t>
            </a:r>
            <a:endParaRPr lang="en-US" altLang="zh-CN" sz="2800" b="1">
              <a:latin typeface="Verdana" panose="020B0604030504040204" pitchFamily="34" charset="0"/>
              <a:ea typeface="宋体" panose="02010600030101010101" pitchFamily="2" charset="-122"/>
            </a:endParaRPr>
          </a:p>
        </p:txBody>
      </p:sp>
      <p:sp>
        <p:nvSpPr>
          <p:cNvPr id="12292" name="副标题 6"/>
          <p:cNvSpPr>
            <a:spLocks noChangeArrowheads="1"/>
          </p:cNvSpPr>
          <p:nvPr/>
        </p:nvSpPr>
        <p:spPr bwMode="auto">
          <a:xfrm>
            <a:off x="2292350" y="1916114"/>
            <a:ext cx="8243888" cy="367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Title</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Abstract</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Introduction</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Support (theoretical and experimental)</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Results and discussions</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Conclusions</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References-plagiarize, plagiarism, misconduct</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Acknowledgements</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Appendix</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fade">
                                      <p:cBhvr>
                                        <p:cTn id="7" dur="1000"/>
                                        <p:tgtEl>
                                          <p:spTgt spid="15362"/>
                                        </p:tgtEl>
                                      </p:cBhvr>
                                    </p:animEffect>
                                    <p:anim calcmode="lin" valueType="num">
                                      <p:cBhvr>
                                        <p:cTn id="8" dur="1000" fill="hold"/>
                                        <p:tgtEl>
                                          <p:spTgt spid="15362"/>
                                        </p:tgtEl>
                                        <p:attrNameLst>
                                          <p:attrName>ppt_x</p:attrName>
                                        </p:attrNameLst>
                                      </p:cBhvr>
                                      <p:tavLst>
                                        <p:tav tm="0">
                                          <p:val>
                                            <p:strVal val="#ppt_x"/>
                                          </p:val>
                                        </p:tav>
                                        <p:tav tm="100000">
                                          <p:val>
                                            <p:strVal val="#ppt_x"/>
                                          </p:val>
                                        </p:tav>
                                      </p:tavLst>
                                    </p:anim>
                                    <p:anim calcmode="lin" valueType="num">
                                      <p:cBhvr>
                                        <p:cTn id="9" dur="1000" fill="hold"/>
                                        <p:tgtEl>
                                          <p:spTgt spid="1536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0000" lnSpcReduction="20000"/>
          </a:bodyPr>
          <a:lstStyle/>
          <a:p>
            <a:r>
              <a:rPr lang="en-US" altLang="zh-CN" dirty="0"/>
              <a:t>most papers use an “</a:t>
            </a:r>
            <a:r>
              <a:rPr lang="en-US" altLang="zh-CN" dirty="0" err="1"/>
              <a:t>IMRaD</a:t>
            </a:r>
            <a:r>
              <a:rPr lang="en-US" altLang="zh-CN" dirty="0"/>
              <a:t>” format:</a:t>
            </a:r>
            <a:endParaRPr lang="en-US" altLang="zh-CN" dirty="0"/>
          </a:p>
          <a:p>
            <a:endParaRPr lang="en-US" altLang="zh-CN" dirty="0"/>
          </a:p>
          <a:p>
            <a:pPr marL="0" indent="0">
              <a:buNone/>
            </a:pPr>
            <a:r>
              <a:rPr lang="en-US" altLang="zh-CN" dirty="0"/>
              <a:t>Introduction </a:t>
            </a:r>
            <a:endParaRPr lang="en-US" altLang="zh-CN" dirty="0"/>
          </a:p>
          <a:p>
            <a:pPr marL="0" indent="0">
              <a:buNone/>
            </a:pPr>
            <a:r>
              <a:rPr lang="en-US" altLang="zh-CN" dirty="0"/>
              <a:t>Method (experiment, theory, design, model) </a:t>
            </a:r>
            <a:endParaRPr lang="en-US" altLang="zh-CN" dirty="0"/>
          </a:p>
          <a:p>
            <a:pPr marL="0" indent="0">
              <a:buNone/>
            </a:pPr>
            <a:r>
              <a:rPr lang="en-US" altLang="zh-CN" dirty="0"/>
              <a:t>Results </a:t>
            </a:r>
            <a:endParaRPr lang="en-US" altLang="zh-CN" dirty="0"/>
          </a:p>
          <a:p>
            <a:pPr marL="0" indent="0">
              <a:buNone/>
            </a:pPr>
            <a:r>
              <a:rPr lang="en-US" altLang="zh-CN" dirty="0"/>
              <a:t>and Discussion </a:t>
            </a:r>
            <a:endParaRPr lang="en-US" altLang="zh-CN" dirty="0"/>
          </a:p>
          <a:p>
            <a:pPr marL="0" indent="0">
              <a:buNone/>
            </a:pPr>
            <a:r>
              <a:rPr lang="en-US" altLang="zh-CN" dirty="0"/>
              <a:t>Conclusions</a:t>
            </a:r>
            <a:endParaRPr lang="en-US" altLang="zh-CN" dirty="0"/>
          </a:p>
          <a:p>
            <a:endParaRPr lang="en-US" altLang="zh-CN" dirty="0"/>
          </a:p>
          <a:p>
            <a:r>
              <a:rPr lang="en-US" altLang="zh-CN" dirty="0"/>
              <a:t>it makes it easier for the writer to organize the content of the paper, and it makes it easier for the reader to opportunistically find the information they seek. T</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Introduction</a:t>
            </a:r>
            <a:endParaRPr lang="zh-CN" altLang="en-US" dirty="0"/>
          </a:p>
        </p:txBody>
      </p:sp>
      <p:sp>
        <p:nvSpPr>
          <p:cNvPr id="3" name="内容占位符 2"/>
          <p:cNvSpPr>
            <a:spLocks noGrp="1"/>
          </p:cNvSpPr>
          <p:nvPr>
            <p:ph idx="1"/>
          </p:nvPr>
        </p:nvSpPr>
        <p:spPr/>
        <p:txBody>
          <a:bodyPr/>
          <a:lstStyle/>
          <a:p>
            <a:pPr marL="0" indent="0">
              <a:buNone/>
            </a:pPr>
            <a:r>
              <a:rPr lang="en-US" altLang="zh-CN" dirty="0"/>
              <a:t>the Introduction section should answer two questions: “</a:t>
            </a:r>
            <a:endParaRPr lang="en-US" altLang="zh-CN" dirty="0"/>
          </a:p>
          <a:p>
            <a:r>
              <a:rPr lang="en-US" altLang="zh-CN" dirty="0"/>
              <a:t>What?” and “So what?” </a:t>
            </a:r>
            <a:endParaRPr lang="en-US" altLang="zh-CN" dirty="0"/>
          </a:p>
          <a:p>
            <a:r>
              <a:rPr lang="en-US" altLang="zh-CN" dirty="0"/>
              <a:t>What is the paper about, and why should the reader care?</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a:t>scope, novelty, and significance</a:t>
            </a:r>
            <a:endParaRPr lang="en-US" altLang="zh-CN" dirty="0"/>
          </a:p>
          <a:p>
            <a:r>
              <a:rPr lang="en-US" altLang="zh-CN" dirty="0"/>
              <a:t>Quality is implied and should be demonstrated, not explicitly claimed.</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en-US" altLang="zh-CN" dirty="0"/>
              <a:t>As Swales has described it, the research-article introduction moves through three phases:</a:t>
            </a:r>
            <a:endParaRPr lang="en-US" altLang="zh-CN" dirty="0"/>
          </a:p>
          <a:p>
            <a:r>
              <a:rPr lang="en-US" altLang="zh-CN" dirty="0"/>
              <a:t>Establish a territory (what is the field of the work, why is this field important, what has already been done?),  </a:t>
            </a:r>
            <a:endParaRPr lang="en-US" altLang="zh-CN" dirty="0"/>
          </a:p>
          <a:p>
            <a:r>
              <a:rPr lang="en-US" altLang="zh-CN" dirty="0"/>
              <a:t>Establish a niche (indicate a gap, raise a question, or challenge prior work in this territory), </a:t>
            </a:r>
            <a:endParaRPr lang="en-US" altLang="zh-CN" dirty="0"/>
          </a:p>
          <a:p>
            <a:r>
              <a:rPr lang="en-US" altLang="zh-CN" dirty="0"/>
              <a:t>and Occupy that niche (outline the purpose and announce the present research; optionally summarize the results). </a:t>
            </a:r>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en-US" altLang="zh-CN" dirty="0"/>
              <a:t>three parts of the introduction uses </a:t>
            </a:r>
            <a:endParaRPr lang="en-US" altLang="zh-CN" dirty="0"/>
          </a:p>
          <a:p>
            <a:r>
              <a:rPr lang="en-US" altLang="zh-CN" dirty="0"/>
              <a:t>topic, problem, solution (for engineering); </a:t>
            </a:r>
            <a:endParaRPr lang="en-US" altLang="zh-CN" dirty="0"/>
          </a:p>
          <a:p>
            <a:r>
              <a:rPr lang="en-US" altLang="zh-CN" dirty="0"/>
              <a:t>or topic, observation/discovery, explanation (for science). </a:t>
            </a:r>
            <a:endParaRPr lang="en-US" altLang="zh-CN" dirty="0"/>
          </a:p>
          <a:p>
            <a:r>
              <a:rPr lang="en-US" altLang="zh-CN" dirty="0"/>
              <a:t>Some articles finish the introduction by presenting an outline of the article</a:t>
            </a:r>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10" descr="b2"/>
          <p:cNvPicPr>
            <a:picLocks noChangeAspect="1" noChangeArrowheads="1"/>
          </p:cNvPicPr>
          <p:nvPr/>
        </p:nvPicPr>
        <p:blipFill>
          <a:blip r:embed="rId1">
            <a:lum bright="6000" contrast="6000"/>
            <a:extLst>
              <a:ext uri="{28A0092B-C50C-407E-A947-70E740481C1C}">
                <a14:useLocalDpi xmlns:a14="http://schemas.microsoft.com/office/drawing/2010/main" val="0"/>
              </a:ext>
            </a:extLst>
          </a:blip>
          <a:srcRect/>
          <a:stretch>
            <a:fillRect/>
          </a:stretch>
        </p:blipFill>
        <p:spPr bwMode="auto">
          <a:xfrm>
            <a:off x="9625014" y="5953126"/>
            <a:ext cx="8159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6" name="副标题 6"/>
          <p:cNvSpPr>
            <a:spLocks noChangeArrowheads="1"/>
          </p:cNvSpPr>
          <p:nvPr/>
        </p:nvSpPr>
        <p:spPr bwMode="auto">
          <a:xfrm>
            <a:off x="2135188" y="1171575"/>
            <a:ext cx="817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800" b="1" i="1">
                <a:solidFill>
                  <a:srgbClr val="FF6600"/>
                </a:solidFill>
                <a:latin typeface="Verdana" panose="020B0604030504040204" pitchFamily="34" charset="0"/>
                <a:ea typeface="宋体" panose="02010600030101010101" pitchFamily="2" charset="-122"/>
              </a:rPr>
              <a:t>Introduction</a:t>
            </a:r>
            <a:endParaRPr lang="en-US" altLang="zh-CN" sz="2800" b="1">
              <a:latin typeface="Verdana" panose="020B0604030504040204" pitchFamily="34" charset="0"/>
              <a:ea typeface="宋体" panose="02010600030101010101" pitchFamily="2" charset="-122"/>
            </a:endParaRPr>
          </a:p>
        </p:txBody>
      </p:sp>
      <p:sp>
        <p:nvSpPr>
          <p:cNvPr id="16388" name="副标题 6"/>
          <p:cNvSpPr>
            <a:spLocks noChangeArrowheads="1"/>
          </p:cNvSpPr>
          <p:nvPr/>
        </p:nvSpPr>
        <p:spPr bwMode="auto">
          <a:xfrm>
            <a:off x="2135189" y="1844676"/>
            <a:ext cx="82438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3600" b="1" baseline="25000">
                <a:solidFill>
                  <a:srgbClr val="0000FF"/>
                </a:solidFill>
                <a:ea typeface="宋体" panose="02010600030101010101" pitchFamily="2" charset="-122"/>
              </a:rPr>
              <a:t>  Style</a:t>
            </a:r>
            <a:endParaRPr lang="en-US" altLang="zh-CN" sz="3600" b="1" baseline="25000">
              <a:solidFill>
                <a:srgbClr val="0000FF"/>
              </a:solidFill>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Problem X is important</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A, B, and C have been done</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A, B, and C have their weakness (don’t over criticize)</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Our work D</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Features and advantages of D</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Results</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Organization of the paper</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ea typeface="宋体" panose="02010600030101010101" pitchFamily="2" charset="-122"/>
            </a:endParaRPr>
          </a:p>
        </p:txBody>
      </p:sp>
      <p:sp>
        <p:nvSpPr>
          <p:cNvPr id="16389" name="副标题 6"/>
          <p:cNvSpPr>
            <a:spLocks noChangeArrowheads="1"/>
          </p:cNvSpPr>
          <p:nvPr/>
        </p:nvSpPr>
        <p:spPr bwMode="auto">
          <a:xfrm>
            <a:off x="2135189" y="5445126"/>
            <a:ext cx="82438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400" b="1" i="1">
                <a:solidFill>
                  <a:srgbClr val="D961C2"/>
                </a:solidFill>
                <a:ea typeface="宋体" panose="02010600030101010101" pitchFamily="2" charset="-122"/>
              </a:rPr>
              <a:t>As you finish each section, go back to the introduction to revise corresponding contents.</a:t>
            </a:r>
            <a:r>
              <a:rPr lang="en-US" altLang="zh-CN" sz="2400" b="1">
                <a:ea typeface="宋体" panose="02010600030101010101" pitchFamily="2" charset="-122"/>
              </a:rPr>
              <a:t> </a:t>
            </a:r>
            <a:endParaRPr lang="en-US" altLang="zh-CN" sz="2400" b="1">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9458"/>
                                        </p:tgtEl>
                                        <p:attrNameLst>
                                          <p:attrName>style.visibility</p:attrName>
                                        </p:attrNameLst>
                                      </p:cBhvr>
                                      <p:to>
                                        <p:strVal val="visible"/>
                                      </p:to>
                                    </p:set>
                                    <p:animEffect transition="in" filter="fade">
                                      <p:cBhvr>
                                        <p:cTn id="7" dur="1000"/>
                                        <p:tgtEl>
                                          <p:spTgt spid="19458"/>
                                        </p:tgtEl>
                                      </p:cBhvr>
                                    </p:animEffect>
                                    <p:anim calcmode="lin" valueType="num">
                                      <p:cBhvr>
                                        <p:cTn id="8" dur="1000" fill="hold"/>
                                        <p:tgtEl>
                                          <p:spTgt spid="19458"/>
                                        </p:tgtEl>
                                        <p:attrNameLst>
                                          <p:attrName>ppt_x</p:attrName>
                                        </p:attrNameLst>
                                      </p:cBhvr>
                                      <p:tavLst>
                                        <p:tav tm="0">
                                          <p:val>
                                            <p:strVal val="#ppt_x"/>
                                          </p:val>
                                        </p:tav>
                                        <p:tav tm="100000">
                                          <p:val>
                                            <p:strVal val="#ppt_x"/>
                                          </p:val>
                                        </p:tav>
                                      </p:tavLst>
                                    </p:anim>
                                    <p:anim calcmode="lin" valueType="num">
                                      <p:cBhvr>
                                        <p:cTn id="9" dur="1000" fill="hold"/>
                                        <p:tgtEl>
                                          <p:spTgt spid="1945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zh-CN" altLang="zh-CN"/>
              <a:t>Introduction </a:t>
            </a:r>
            <a:r>
              <a:rPr lang="zh-CN" altLang="zh-CN">
                <a:latin typeface="Times New Roman" panose="02020603050405020304" pitchFamily="18" charset="0"/>
              </a:rPr>
              <a:t>–</a:t>
            </a:r>
            <a:r>
              <a:rPr lang="zh-CN" altLang="zh-CN"/>
              <a:t> function </a:t>
            </a:r>
            <a:endParaRPr lang="zh-CN" altLang="zh-CN"/>
          </a:p>
        </p:txBody>
      </p:sp>
      <p:sp>
        <p:nvSpPr>
          <p:cNvPr id="6147" name="Rectangle 3"/>
          <p:cNvSpPr>
            <a:spLocks noGrp="1" noChangeArrowheads="1"/>
          </p:cNvSpPr>
          <p:nvPr>
            <p:ph type="body" idx="1"/>
          </p:nvPr>
        </p:nvSpPr>
        <p:spPr/>
        <p:txBody>
          <a:bodyPr/>
          <a:lstStyle/>
          <a:p>
            <a:r>
              <a:rPr lang="zh-CN" altLang="zh-CN"/>
              <a:t>Introduce the subject: what is it about </a:t>
            </a:r>
            <a:endParaRPr lang="zh-CN" altLang="zh-CN"/>
          </a:p>
          <a:p>
            <a:r>
              <a:rPr lang="zh-CN" altLang="zh-CN"/>
              <a:t>Limit the research scope: where to start</a:t>
            </a:r>
            <a:endParaRPr lang="zh-CN" altLang="zh-CN"/>
          </a:p>
          <a:p>
            <a:r>
              <a:rPr lang="zh-CN" altLang="zh-CN"/>
              <a:t>Stating the general purpose: where to go</a:t>
            </a:r>
            <a:endParaRPr lang="zh-CN" altLang="zh-CN"/>
          </a:p>
          <a:p>
            <a:r>
              <a:rPr lang="zh-CN" altLang="zh-CN"/>
              <a:t>Explain the writing arrangement: how to go</a:t>
            </a:r>
            <a:endParaRPr lang="zh-CN" altLang="zh-CN"/>
          </a:p>
          <a:p>
            <a:endParaRPr lang="zh-CN"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zh-CN" altLang="zh-CN"/>
              <a:t>Introduction </a:t>
            </a:r>
            <a:r>
              <a:rPr lang="zh-CN" altLang="zh-CN">
                <a:latin typeface="Times New Roman" panose="02020603050405020304" pitchFamily="18" charset="0"/>
              </a:rPr>
              <a:t>–</a:t>
            </a:r>
            <a:r>
              <a:rPr lang="zh-CN" altLang="zh-CN"/>
              <a:t> function </a:t>
            </a:r>
            <a:endParaRPr lang="zh-CN" altLang="zh-CN"/>
          </a:p>
        </p:txBody>
      </p:sp>
      <p:sp>
        <p:nvSpPr>
          <p:cNvPr id="6147" name="Rectangle 3"/>
          <p:cNvSpPr>
            <a:spLocks noGrp="1" noChangeArrowheads="1"/>
          </p:cNvSpPr>
          <p:nvPr>
            <p:ph type="body" idx="1"/>
          </p:nvPr>
        </p:nvSpPr>
        <p:spPr/>
        <p:txBody>
          <a:bodyPr/>
          <a:lstStyle/>
          <a:p>
            <a:r>
              <a:rPr lang="zh-CN" altLang="zh-CN"/>
              <a:t>Introduce the subject: what is it about </a:t>
            </a:r>
            <a:endParaRPr lang="zh-CN" altLang="zh-CN"/>
          </a:p>
          <a:p>
            <a:r>
              <a:rPr lang="zh-CN" altLang="zh-CN"/>
              <a:t>Limit the research scope: where to start</a:t>
            </a:r>
            <a:endParaRPr lang="zh-CN" altLang="zh-CN"/>
          </a:p>
          <a:p>
            <a:r>
              <a:rPr lang="zh-CN" altLang="zh-CN"/>
              <a:t>Stating the general purpose: where to go</a:t>
            </a:r>
            <a:endParaRPr lang="zh-CN" altLang="zh-CN"/>
          </a:p>
          <a:p>
            <a:r>
              <a:rPr lang="zh-CN" altLang="zh-CN"/>
              <a:t>Explain the writing arrangement: how to go</a:t>
            </a:r>
            <a:endParaRPr lang="zh-CN" altLang="zh-CN"/>
          </a:p>
          <a:p>
            <a:endParaRPr lang="zh-CN"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zh-CN" altLang="zh-CN"/>
              <a:t>Introduction </a:t>
            </a:r>
            <a:r>
              <a:rPr lang="zh-CN" altLang="zh-CN">
                <a:latin typeface="Times New Roman" panose="02020603050405020304" pitchFamily="18" charset="0"/>
              </a:rPr>
              <a:t>–</a:t>
            </a:r>
            <a:r>
              <a:rPr lang="zh-CN" altLang="zh-CN"/>
              <a:t> writing process</a:t>
            </a:r>
            <a:endParaRPr lang="zh-CN" altLang="zh-CN"/>
          </a:p>
        </p:txBody>
      </p:sp>
      <p:sp>
        <p:nvSpPr>
          <p:cNvPr id="7171" name="Rectangle 3"/>
          <p:cNvSpPr>
            <a:spLocks noGrp="1" noChangeArrowheads="1"/>
          </p:cNvSpPr>
          <p:nvPr>
            <p:ph type="body" idx="1"/>
          </p:nvPr>
        </p:nvSpPr>
        <p:spPr/>
        <p:txBody>
          <a:bodyPr/>
          <a:lstStyle/>
          <a:p>
            <a:r>
              <a:rPr lang="zh-CN" altLang="zh-CN"/>
              <a:t>Start with the research background: literature review</a:t>
            </a:r>
            <a:endParaRPr lang="zh-CN" altLang="zh-CN"/>
          </a:p>
          <a:p>
            <a:r>
              <a:rPr lang="zh-CN" altLang="zh-CN"/>
              <a:t>Move towards the existing problem: new / unsolved</a:t>
            </a:r>
            <a:endParaRPr lang="zh-CN" altLang="zh-CN"/>
          </a:p>
          <a:p>
            <a:r>
              <a:rPr lang="zh-CN" altLang="zh-CN"/>
              <a:t>Focus on the present research: objectives, novel ideas, advanced methods, new materials, research scope</a:t>
            </a:r>
            <a:endParaRPr lang="zh-CN"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zh-CN" altLang="zh-CN"/>
              <a:t>Textual development</a:t>
            </a:r>
            <a:endParaRPr lang="zh-CN" altLang="zh-CN"/>
          </a:p>
        </p:txBody>
      </p:sp>
      <p:sp>
        <p:nvSpPr>
          <p:cNvPr id="8195" name="Rectangle 3"/>
          <p:cNvSpPr>
            <a:spLocks noGrp="1" noChangeArrowheads="1"/>
          </p:cNvSpPr>
          <p:nvPr>
            <p:ph type="body" idx="1"/>
          </p:nvPr>
        </p:nvSpPr>
        <p:spPr/>
        <p:txBody>
          <a:bodyPr/>
          <a:lstStyle/>
          <a:p>
            <a:r>
              <a:rPr lang="zh-CN" altLang="zh-CN" dirty="0"/>
              <a:t>Papers of theoretical nature: </a:t>
            </a:r>
            <a:endParaRPr lang="en-US" altLang="zh-CN" dirty="0"/>
          </a:p>
          <a:p>
            <a:pPr marL="0" indent="0">
              <a:buNone/>
            </a:pPr>
            <a:r>
              <a:rPr lang="en-US" altLang="zh-CN" dirty="0"/>
              <a:t>     </a:t>
            </a:r>
            <a:r>
              <a:rPr lang="zh-CN" altLang="zh-CN" dirty="0"/>
              <a:t>textual description, logical development, </a:t>
            </a:r>
            <a:r>
              <a:rPr lang="en-US" altLang="zh-CN" dirty="0"/>
              <a:t> </a:t>
            </a:r>
            <a:endParaRPr lang="en-US" altLang="zh-CN" dirty="0"/>
          </a:p>
          <a:p>
            <a:pPr marL="0" indent="0">
              <a:buNone/>
            </a:pPr>
            <a:r>
              <a:rPr lang="en-US" altLang="zh-CN" dirty="0"/>
              <a:t>     </a:t>
            </a:r>
            <a:r>
              <a:rPr lang="zh-CN" altLang="zh-CN" dirty="0"/>
              <a:t>reasoning</a:t>
            </a:r>
            <a:endParaRPr lang="zh-CN" altLang="zh-CN" dirty="0"/>
          </a:p>
          <a:p>
            <a:r>
              <a:rPr lang="zh-CN" altLang="zh-CN" dirty="0"/>
              <a:t>Papers of experimental nature: </a:t>
            </a:r>
            <a:endParaRPr lang="en-US" altLang="zh-CN" dirty="0"/>
          </a:p>
          <a:p>
            <a:pPr marL="0" indent="0">
              <a:buNone/>
            </a:pPr>
            <a:r>
              <a:rPr lang="en-US" altLang="zh-CN" dirty="0"/>
              <a:t>     </a:t>
            </a:r>
            <a:r>
              <a:rPr lang="zh-CN" altLang="zh-CN" dirty="0"/>
              <a:t>experiment process, technology, materials,</a:t>
            </a:r>
            <a:endParaRPr lang="en-US" altLang="zh-CN" dirty="0"/>
          </a:p>
          <a:p>
            <a:pPr marL="0" indent="0">
              <a:buNone/>
            </a:pPr>
            <a:r>
              <a:rPr lang="en-US" altLang="zh-CN" dirty="0"/>
              <a:t>    </a:t>
            </a:r>
            <a:r>
              <a:rPr lang="zh-CN" altLang="zh-CN" dirty="0"/>
              <a:t> equipment, conditions, result analyses </a:t>
            </a:r>
            <a:endParaRPr lang="zh-CN" altLang="zh-CN" dirty="0"/>
          </a:p>
          <a:p>
            <a:r>
              <a:rPr lang="zh-CN" altLang="zh-CN" dirty="0"/>
              <a:t>Papers of combined nature: </a:t>
            </a:r>
            <a:endParaRPr lang="zh-CN" altLang="zh-C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en-US" altLang="zh-CN" dirty="0"/>
              <a:t>Some common pitfalls in writing an introduction include </a:t>
            </a:r>
            <a:endParaRPr lang="en-US" altLang="zh-CN" dirty="0"/>
          </a:p>
          <a:p>
            <a:r>
              <a:rPr lang="en-US" altLang="zh-CN" dirty="0"/>
              <a:t>providing unnecessary background information (telling the reader what they already know or what they do not need to know),</a:t>
            </a:r>
            <a:endParaRPr lang="en-US" altLang="zh-CN" dirty="0"/>
          </a:p>
          <a:p>
            <a:r>
              <a:rPr lang="en-US" altLang="zh-CN" dirty="0"/>
              <a:t> exaggerating the importance of the work,</a:t>
            </a:r>
            <a:endParaRPr lang="en-US" altLang="zh-CN" dirty="0"/>
          </a:p>
          <a:p>
            <a:r>
              <a:rPr lang="en-US" altLang="zh-CN" dirty="0"/>
              <a:t> or failing to make clear what research questions this paper is trying to answer.</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Method</a:t>
            </a:r>
            <a:endParaRPr lang="zh-CN" altLang="en-US" dirty="0"/>
          </a:p>
        </p:txBody>
      </p:sp>
      <p:sp>
        <p:nvSpPr>
          <p:cNvPr id="3" name="内容占位符 2"/>
          <p:cNvSpPr>
            <a:spLocks noGrp="1"/>
          </p:cNvSpPr>
          <p:nvPr>
            <p:ph idx="1"/>
          </p:nvPr>
        </p:nvSpPr>
        <p:spPr/>
        <p:txBody>
          <a:bodyPr>
            <a:normAutofit fontScale="92500" lnSpcReduction="20000"/>
          </a:bodyPr>
          <a:lstStyle/>
          <a:p>
            <a:r>
              <a:rPr lang="en-US" altLang="zh-CN" dirty="0"/>
              <a:t>describes how the results were generated. It should be sufficiently detailed so that an independent researcher working in the same field could reproduce the results sufficiently to allow validation of the conclusions. </a:t>
            </a:r>
            <a:endParaRPr lang="en-US" altLang="zh-CN" dirty="0"/>
          </a:p>
          <a:p>
            <a:endParaRPr lang="en-US" altLang="zh-CN" dirty="0"/>
          </a:p>
          <a:p>
            <a:r>
              <a:rPr lang="en-US" altLang="zh-CN" dirty="0"/>
              <a:t>A good method section should not only describe what was done and how it was done, but it should justify the experimental design as well. Of the many options available, why was this method chosen? Statistical considerations, such as sampling plans and analysis methods used, should be explained. If the raw results are not going to be presented, then a description of the data-reduction procedures is required. Also, consider how a figure or diagram might be used to illustrate or summarize the methods.</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a:t>A common shortcoming of method sections in many papers today is </a:t>
            </a:r>
            <a:r>
              <a:rPr lang="en-US" altLang="zh-CN" u="sng" dirty="0"/>
              <a:t>the abandonment of the goal of reproducibility. </a:t>
            </a:r>
            <a:endParaRPr lang="en-US" altLang="zh-CN" dirty="0"/>
          </a:p>
          <a:p>
            <a:r>
              <a:rPr lang="en-US" altLang="zh-CN" dirty="0"/>
              <a:t>Other common pitfalls when writing the Method section: including results in the Method section,</a:t>
            </a:r>
            <a:r>
              <a:rPr lang="en-US" altLang="zh-CN" u="sng" dirty="0"/>
              <a:t> including extraneous details (unnecessary to enable reproducibility or judge validity)</a:t>
            </a:r>
            <a:r>
              <a:rPr lang="en-US" altLang="zh-CN" dirty="0"/>
              <a:t>, or </a:t>
            </a:r>
            <a:r>
              <a:rPr lang="en-US" altLang="zh-CN" u="sng" dirty="0"/>
              <a:t>treating the method as a chronological history of what happened</a:t>
            </a:r>
            <a:r>
              <a:rPr lang="en-US" altLang="zh-CN" dirty="0"/>
              <a:t>.</a:t>
            </a:r>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10" descr="b2"/>
          <p:cNvPicPr>
            <a:picLocks noChangeAspect="1" noChangeArrowheads="1"/>
          </p:cNvPicPr>
          <p:nvPr/>
        </p:nvPicPr>
        <p:blipFill>
          <a:blip r:embed="rId1">
            <a:lum bright="6000" contrast="6000"/>
            <a:extLst>
              <a:ext uri="{28A0092B-C50C-407E-A947-70E740481C1C}">
                <a14:useLocalDpi xmlns:a14="http://schemas.microsoft.com/office/drawing/2010/main" val="0"/>
              </a:ext>
            </a:extLst>
          </a:blip>
          <a:srcRect/>
          <a:stretch>
            <a:fillRect/>
          </a:stretch>
        </p:blipFill>
        <p:spPr bwMode="auto">
          <a:xfrm>
            <a:off x="9625014" y="5953126"/>
            <a:ext cx="8159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0" name="副标题 6"/>
          <p:cNvSpPr>
            <a:spLocks noChangeArrowheads="1"/>
          </p:cNvSpPr>
          <p:nvPr/>
        </p:nvSpPr>
        <p:spPr bwMode="auto">
          <a:xfrm>
            <a:off x="2135188" y="1171575"/>
            <a:ext cx="817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800" b="1" i="1">
                <a:solidFill>
                  <a:srgbClr val="FF6600"/>
                </a:solidFill>
                <a:latin typeface="Verdana" panose="020B0604030504040204" pitchFamily="34" charset="0"/>
                <a:ea typeface="宋体" panose="02010600030101010101" pitchFamily="2" charset="-122"/>
              </a:rPr>
              <a:t>Support (theoretical and experimental)</a:t>
            </a:r>
            <a:endParaRPr lang="en-US" altLang="zh-CN" sz="2800" b="1">
              <a:latin typeface="Verdana" panose="020B0604030504040204" pitchFamily="34" charset="0"/>
              <a:ea typeface="宋体" panose="02010600030101010101" pitchFamily="2" charset="-122"/>
            </a:endParaRPr>
          </a:p>
        </p:txBody>
      </p:sp>
      <p:sp>
        <p:nvSpPr>
          <p:cNvPr id="17412" name="副标题 6"/>
          <p:cNvSpPr>
            <a:spLocks noChangeArrowheads="1"/>
          </p:cNvSpPr>
          <p:nvPr/>
        </p:nvSpPr>
        <p:spPr bwMode="auto">
          <a:xfrm>
            <a:off x="2135189" y="1700214"/>
            <a:ext cx="824388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3600" b="1" i="1" baseline="25000">
                <a:solidFill>
                  <a:srgbClr val="D961C2"/>
                </a:solidFill>
                <a:ea typeface="宋体" panose="02010600030101010101" pitchFamily="2" charset="-122"/>
              </a:rPr>
              <a:t>Purpose</a:t>
            </a:r>
            <a:r>
              <a:rPr lang="en-US" altLang="zh-CN" sz="3600" b="1" baseline="25000">
                <a:ea typeface="宋体" panose="02010600030101010101" pitchFamily="2" charset="-122"/>
              </a:rPr>
              <a:t>: Introduce your work</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ea typeface="宋体" panose="02010600030101010101" pitchFamily="2" charset="-122"/>
            </a:endParaRPr>
          </a:p>
        </p:txBody>
      </p:sp>
      <p:sp>
        <p:nvSpPr>
          <p:cNvPr id="17413" name="副标题 6"/>
          <p:cNvSpPr>
            <a:spLocks noChangeArrowheads="1"/>
          </p:cNvSpPr>
          <p:nvPr/>
        </p:nvSpPr>
        <p:spPr bwMode="auto">
          <a:xfrm>
            <a:off x="2063750" y="2420939"/>
            <a:ext cx="824388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 </a:t>
            </a:r>
            <a:r>
              <a:rPr lang="en-US" altLang="zh-CN" sz="3600" b="1" baseline="25000">
                <a:solidFill>
                  <a:srgbClr val="0000FF"/>
                </a:solidFill>
                <a:ea typeface="宋体" panose="02010600030101010101" pitchFamily="2" charset="-122"/>
              </a:rPr>
              <a:t>Theoretical analysis</a:t>
            </a:r>
            <a:endParaRPr lang="en-US" altLang="zh-CN" sz="3600" b="1" baseline="25000">
              <a:solidFill>
                <a:srgbClr val="0000FF"/>
              </a:solidFill>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ea typeface="宋体" panose="02010600030101010101" pitchFamily="2" charset="-122"/>
            </a:endParaRPr>
          </a:p>
        </p:txBody>
      </p:sp>
      <p:sp>
        <p:nvSpPr>
          <p:cNvPr id="17414" name="副标题 6"/>
          <p:cNvSpPr>
            <a:spLocks noChangeArrowheads="1"/>
          </p:cNvSpPr>
          <p:nvPr/>
        </p:nvSpPr>
        <p:spPr bwMode="auto">
          <a:xfrm>
            <a:off x="2173289" y="2924176"/>
            <a:ext cx="824388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The methods must be described in such a way that another researcher can </a:t>
            </a:r>
            <a:r>
              <a:rPr lang="en-US" altLang="zh-CN" sz="3600" b="1" i="1" baseline="25000">
                <a:solidFill>
                  <a:srgbClr val="D961C2"/>
                </a:solidFill>
                <a:ea typeface="宋体" panose="02010600030101010101" pitchFamily="2" charset="-122"/>
              </a:rPr>
              <a:t>repeat </a:t>
            </a:r>
            <a:r>
              <a:rPr lang="en-US" altLang="zh-CN" sz="3600" b="1" baseline="25000">
                <a:ea typeface="宋体" panose="02010600030101010101" pitchFamily="2" charset="-122"/>
              </a:rPr>
              <a:t>exactly what is done.</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ea typeface="宋体" panose="02010600030101010101" pitchFamily="2" charset="-122"/>
            </a:endParaRPr>
          </a:p>
        </p:txBody>
      </p:sp>
      <p:sp>
        <p:nvSpPr>
          <p:cNvPr id="17415" name="副标题 6"/>
          <p:cNvSpPr>
            <a:spLocks noChangeArrowheads="1"/>
          </p:cNvSpPr>
          <p:nvPr/>
        </p:nvSpPr>
        <p:spPr bwMode="auto">
          <a:xfrm>
            <a:off x="2460625" y="3860801"/>
            <a:ext cx="824388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i="1">
                <a:ea typeface="宋体" panose="02010600030101010101" pitchFamily="2" charset="-122"/>
              </a:rPr>
              <a:t>Use references to describe standard or published </a:t>
            </a:r>
            <a:endParaRPr lang="en-US" altLang="zh-CN" sz="2400" b="1" i="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400" b="1" i="1">
                <a:ea typeface="宋体" panose="02010600030101010101" pitchFamily="2" charset="-122"/>
              </a:rPr>
              <a:t>  methods</a:t>
            </a:r>
            <a:r>
              <a:rPr lang="en-US" altLang="zh-CN" sz="2400" b="1">
                <a:ea typeface="宋体" panose="02010600030101010101" pitchFamily="2" charset="-122"/>
              </a:rPr>
              <a:t>.</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i="1">
                <a:ea typeface="宋体" panose="02010600030101010101" pitchFamily="2" charset="-122"/>
              </a:rPr>
              <a:t>Note any deviations that you have introduced in this</a:t>
            </a:r>
            <a:endParaRPr lang="en-US" altLang="zh-CN" sz="2400" b="1" i="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400" b="1" i="1">
                <a:ea typeface="宋体" panose="02010600030101010101" pitchFamily="2" charset="-122"/>
              </a:rPr>
              <a:t>  work</a:t>
            </a:r>
            <a:r>
              <a:rPr lang="en-US" altLang="zh-CN" sz="2400" b="1">
                <a:ea typeface="宋体" panose="02010600030101010101" pitchFamily="2" charset="-122"/>
              </a:rPr>
              <a:t>.</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fade">
                                      <p:cBhvr>
                                        <p:cTn id="7" dur="1000"/>
                                        <p:tgtEl>
                                          <p:spTgt spid="20482"/>
                                        </p:tgtEl>
                                      </p:cBhvr>
                                    </p:animEffect>
                                    <p:anim calcmode="lin" valueType="num">
                                      <p:cBhvr>
                                        <p:cTn id="8" dur="1000" fill="hold"/>
                                        <p:tgtEl>
                                          <p:spTgt spid="20482"/>
                                        </p:tgtEl>
                                        <p:attrNameLst>
                                          <p:attrName>ppt_x</p:attrName>
                                        </p:attrNameLst>
                                      </p:cBhvr>
                                      <p:tavLst>
                                        <p:tav tm="0">
                                          <p:val>
                                            <p:strVal val="#ppt_x"/>
                                          </p:val>
                                        </p:tav>
                                        <p:tav tm="100000">
                                          <p:val>
                                            <p:strVal val="#ppt_x"/>
                                          </p:val>
                                        </p:tav>
                                      </p:tavLst>
                                    </p:anim>
                                    <p:anim calcmode="lin" valueType="num">
                                      <p:cBhvr>
                                        <p:cTn id="9" dur="1000" fill="hold"/>
                                        <p:tgtEl>
                                          <p:spTgt spid="2048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10" descr="b2"/>
          <p:cNvPicPr>
            <a:picLocks noChangeAspect="1" noChangeArrowheads="1"/>
          </p:cNvPicPr>
          <p:nvPr/>
        </p:nvPicPr>
        <p:blipFill>
          <a:blip r:embed="rId1">
            <a:lum bright="6000" contrast="6000"/>
            <a:extLst>
              <a:ext uri="{28A0092B-C50C-407E-A947-70E740481C1C}">
                <a14:useLocalDpi xmlns:a14="http://schemas.microsoft.com/office/drawing/2010/main" val="0"/>
              </a:ext>
            </a:extLst>
          </a:blip>
          <a:srcRect/>
          <a:stretch>
            <a:fillRect/>
          </a:stretch>
        </p:blipFill>
        <p:spPr bwMode="auto">
          <a:xfrm>
            <a:off x="9625014" y="5953126"/>
            <a:ext cx="8159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4" name="副标题 6"/>
          <p:cNvSpPr>
            <a:spLocks noChangeArrowheads="1"/>
          </p:cNvSpPr>
          <p:nvPr/>
        </p:nvSpPr>
        <p:spPr bwMode="auto">
          <a:xfrm>
            <a:off x="2135188" y="1171575"/>
            <a:ext cx="817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800" b="1" i="1">
                <a:solidFill>
                  <a:srgbClr val="FF6600"/>
                </a:solidFill>
                <a:latin typeface="Verdana" panose="020B0604030504040204" pitchFamily="34" charset="0"/>
                <a:ea typeface="宋体" panose="02010600030101010101" pitchFamily="2" charset="-122"/>
              </a:rPr>
              <a:t>Support (theoretical and experimental)</a:t>
            </a:r>
            <a:endParaRPr lang="en-US" altLang="zh-CN" sz="2800" b="1">
              <a:latin typeface="Verdana" panose="020B0604030504040204" pitchFamily="34" charset="0"/>
              <a:ea typeface="宋体" panose="02010600030101010101" pitchFamily="2" charset="-122"/>
            </a:endParaRPr>
          </a:p>
        </p:txBody>
      </p:sp>
      <p:sp>
        <p:nvSpPr>
          <p:cNvPr id="18436" name="副标题 6"/>
          <p:cNvSpPr>
            <a:spLocks noChangeArrowheads="1"/>
          </p:cNvSpPr>
          <p:nvPr/>
        </p:nvSpPr>
        <p:spPr bwMode="auto">
          <a:xfrm>
            <a:off x="2063750" y="1916114"/>
            <a:ext cx="824388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3600" b="1" baseline="25000">
                <a:solidFill>
                  <a:srgbClr val="0000FF"/>
                </a:solidFill>
                <a:ea typeface="宋体" panose="02010600030101010101" pitchFamily="2" charset="-122"/>
              </a:rPr>
              <a:t> Experiments</a:t>
            </a:r>
            <a:endParaRPr lang="en-US" altLang="zh-CN" sz="3600" b="1" baseline="25000">
              <a:solidFill>
                <a:srgbClr val="0000FF"/>
              </a:solidFill>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ea typeface="宋体" panose="02010600030101010101" pitchFamily="2" charset="-122"/>
            </a:endParaRPr>
          </a:p>
        </p:txBody>
      </p:sp>
      <p:sp>
        <p:nvSpPr>
          <p:cNvPr id="18437" name="副标题 6"/>
          <p:cNvSpPr>
            <a:spLocks noChangeArrowheads="1"/>
          </p:cNvSpPr>
          <p:nvPr/>
        </p:nvSpPr>
        <p:spPr bwMode="auto">
          <a:xfrm>
            <a:off x="3108325" y="5229226"/>
            <a:ext cx="824388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Put tedious details in Appendix.</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ea typeface="宋体" panose="02010600030101010101" pitchFamily="2" charset="-122"/>
            </a:endParaRPr>
          </a:p>
        </p:txBody>
      </p:sp>
      <p:sp>
        <p:nvSpPr>
          <p:cNvPr id="18438" name="副标题 6"/>
          <p:cNvSpPr>
            <a:spLocks noChangeArrowheads="1"/>
          </p:cNvSpPr>
          <p:nvPr/>
        </p:nvSpPr>
        <p:spPr bwMode="auto">
          <a:xfrm>
            <a:off x="1992314" y="2419351"/>
            <a:ext cx="82438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  Style</a:t>
            </a:r>
            <a:endParaRPr lang="en-US" altLang="zh-CN" sz="3600" b="1" baseline="25000">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i="1">
                <a:solidFill>
                  <a:srgbClr val="D961C2"/>
                </a:solidFill>
                <a:ea typeface="宋体" panose="02010600030101010101" pitchFamily="2" charset="-122"/>
              </a:rPr>
              <a:t>Experimental design</a:t>
            </a:r>
            <a:endParaRPr lang="en-US" altLang="zh-CN" sz="2400" b="1" i="1">
              <a:solidFill>
                <a:srgbClr val="D961C2"/>
              </a:solidFill>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         Be sure that other researchers can repeat your</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  experiments according to your descriptions.</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i="1">
                <a:solidFill>
                  <a:srgbClr val="D961C2"/>
                </a:solidFill>
                <a:ea typeface="宋体" panose="02010600030101010101" pitchFamily="2" charset="-122"/>
              </a:rPr>
              <a:t>Analysis of the results</a:t>
            </a:r>
            <a:endParaRPr lang="en-US" altLang="zh-CN" sz="2400" b="1" i="1">
              <a:solidFill>
                <a:srgbClr val="D961C2"/>
              </a:solidFill>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i="1">
                <a:solidFill>
                  <a:srgbClr val="D961C2"/>
                </a:solidFill>
                <a:ea typeface="宋体" panose="02010600030101010101" pitchFamily="2" charset="-122"/>
              </a:rPr>
              <a:t>Comparisons</a:t>
            </a:r>
            <a:endParaRPr lang="en-US" altLang="zh-CN" sz="2400" b="1" i="1">
              <a:solidFill>
                <a:srgbClr val="D961C2"/>
              </a:solidFill>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fade">
                                      <p:cBhvr>
                                        <p:cTn id="7" dur="1000"/>
                                        <p:tgtEl>
                                          <p:spTgt spid="21506"/>
                                        </p:tgtEl>
                                      </p:cBhvr>
                                    </p:animEffect>
                                    <p:anim calcmode="lin" valueType="num">
                                      <p:cBhvr>
                                        <p:cTn id="8" dur="1000" fill="hold"/>
                                        <p:tgtEl>
                                          <p:spTgt spid="21506"/>
                                        </p:tgtEl>
                                        <p:attrNameLst>
                                          <p:attrName>ppt_x</p:attrName>
                                        </p:attrNameLst>
                                      </p:cBhvr>
                                      <p:tavLst>
                                        <p:tav tm="0">
                                          <p:val>
                                            <p:strVal val="#ppt_x"/>
                                          </p:val>
                                        </p:tav>
                                        <p:tav tm="100000">
                                          <p:val>
                                            <p:strVal val="#ppt_x"/>
                                          </p:val>
                                        </p:tav>
                                      </p:tavLst>
                                    </p:anim>
                                    <p:anim calcmode="lin" valueType="num">
                                      <p:cBhvr>
                                        <p:cTn id="9" dur="1000" fill="hold"/>
                                        <p:tgtEl>
                                          <p:spTgt spid="2150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Results and Discussion</a:t>
            </a:r>
            <a:endParaRPr lang="zh-CN" altLang="en-US" dirty="0"/>
          </a:p>
        </p:txBody>
      </p:sp>
      <p:sp>
        <p:nvSpPr>
          <p:cNvPr id="3" name="内容占位符 2"/>
          <p:cNvSpPr>
            <a:spLocks noGrp="1"/>
          </p:cNvSpPr>
          <p:nvPr>
            <p:ph idx="1"/>
          </p:nvPr>
        </p:nvSpPr>
        <p:spPr/>
        <p:txBody>
          <a:bodyPr/>
          <a:lstStyle/>
          <a:p>
            <a:r>
              <a:rPr lang="en-US" altLang="zh-CN" dirty="0"/>
              <a:t>Often, these results are presented in tables and/or graphs</a:t>
            </a:r>
            <a:endParaRPr lang="en-US" altLang="zh-CN" dirty="0"/>
          </a:p>
          <a:p>
            <a:endParaRPr lang="en-US" altLang="zh-CN" dirty="0"/>
          </a:p>
          <a:p>
            <a:r>
              <a:rPr lang="en-US" altLang="zh-CN" dirty="0"/>
              <a:t>An important goal when presenting results is to clearly designate those results that are new (never before published), while properly citing results that have been previously published</a:t>
            </a:r>
            <a:endParaRPr lang="en-US" altLang="zh-CN" dirty="0"/>
          </a:p>
          <a:p>
            <a:endParaRPr lang="en-US" altLang="zh-CN" dirty="0"/>
          </a:p>
          <a:p>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zh-CN" altLang="zh-CN"/>
              <a:t>Results </a:t>
            </a:r>
            <a:endParaRPr lang="zh-CN" altLang="zh-CN"/>
          </a:p>
        </p:txBody>
      </p:sp>
      <p:sp>
        <p:nvSpPr>
          <p:cNvPr id="9219" name="Rectangle 3"/>
          <p:cNvSpPr>
            <a:spLocks noGrp="1" noChangeArrowheads="1"/>
          </p:cNvSpPr>
          <p:nvPr>
            <p:ph type="body" idx="1"/>
          </p:nvPr>
        </p:nvSpPr>
        <p:spPr/>
        <p:txBody>
          <a:bodyPr/>
          <a:lstStyle/>
          <a:p>
            <a:r>
              <a:rPr lang="zh-CN" altLang="zh-CN" sz="2400" dirty="0"/>
              <a:t>Choosing only meaningful data: classifying and selecting</a:t>
            </a:r>
            <a:endParaRPr lang="zh-CN" altLang="zh-CN" sz="2400" dirty="0"/>
          </a:p>
          <a:p>
            <a:r>
              <a:rPr lang="zh-CN" altLang="zh-CN" sz="2400" dirty="0"/>
              <a:t>Short and clear: most important but shortest between experiment and discussion</a:t>
            </a:r>
            <a:endParaRPr lang="zh-CN" altLang="zh-CN" sz="2400" dirty="0"/>
          </a:p>
          <a:p>
            <a:r>
              <a:rPr lang="zh-CN" altLang="zh-CN" sz="2400" dirty="0"/>
              <a:t>Avoid redundancy in citing figures:</a:t>
            </a:r>
            <a:endParaRPr lang="zh-CN" altLang="zh-CN" sz="2400" dirty="0"/>
          </a:p>
          <a:p>
            <a:pPr lvl="1"/>
            <a:r>
              <a:rPr lang="zh-CN" altLang="zh-CN" sz="2000" dirty="0"/>
              <a:t>Poor: </a:t>
            </a:r>
            <a:r>
              <a:rPr lang="zh-CN" altLang="zh-CN" sz="2000" dirty="0">
                <a:latin typeface="Times New Roman" panose="02020603050405020304" pitchFamily="18" charset="0"/>
              </a:rPr>
              <a:t>“</a:t>
            </a:r>
            <a:r>
              <a:rPr lang="zh-CN" altLang="zh-CN" sz="2000" dirty="0"/>
              <a:t>It is clearly shown in Table 1 that the information desire grows with the development of industry.</a:t>
            </a:r>
            <a:r>
              <a:rPr lang="zh-CN" altLang="zh-CN" sz="2000" dirty="0">
                <a:latin typeface="Times New Roman" panose="02020603050405020304" pitchFamily="18" charset="0"/>
              </a:rPr>
              <a:t>”</a:t>
            </a:r>
            <a:endParaRPr lang="zh-CN" altLang="zh-CN" sz="2000" dirty="0"/>
          </a:p>
          <a:p>
            <a:pPr lvl="1"/>
            <a:r>
              <a:rPr lang="zh-CN" altLang="zh-CN" sz="2000" dirty="0"/>
              <a:t>Improved: </a:t>
            </a:r>
            <a:r>
              <a:rPr lang="zh-CN" altLang="zh-CN" sz="2000" dirty="0">
                <a:latin typeface="Times New Roman" panose="02020603050405020304" pitchFamily="18" charset="0"/>
              </a:rPr>
              <a:t>“</a:t>
            </a:r>
            <a:r>
              <a:rPr lang="zh-CN" altLang="zh-CN" sz="2000" dirty="0"/>
              <a:t>The information desire grows with the development of industry (Table 1).</a:t>
            </a:r>
            <a:r>
              <a:rPr lang="zh-CN" altLang="zh-CN" sz="2000" dirty="0">
                <a:latin typeface="Times New Roman" panose="02020603050405020304" pitchFamily="18" charset="0"/>
              </a:rPr>
              <a:t>”</a:t>
            </a:r>
            <a:endParaRPr lang="zh-CN" altLang="zh-CN"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zh-CN" altLang="zh-CN"/>
              <a:t>Discussion </a:t>
            </a:r>
            <a:endParaRPr lang="zh-CN" altLang="zh-CN"/>
          </a:p>
        </p:txBody>
      </p:sp>
      <p:sp>
        <p:nvSpPr>
          <p:cNvPr id="10243" name="Rectangle 3"/>
          <p:cNvSpPr>
            <a:spLocks noGrp="1" noChangeArrowheads="1"/>
          </p:cNvSpPr>
          <p:nvPr>
            <p:ph type="body" idx="1"/>
          </p:nvPr>
        </p:nvSpPr>
        <p:spPr/>
        <p:txBody>
          <a:bodyPr/>
          <a:lstStyle/>
          <a:p>
            <a:r>
              <a:rPr lang="zh-CN" altLang="zh-CN" dirty="0"/>
              <a:t>Analyze data: factual relation, generalization</a:t>
            </a:r>
            <a:endParaRPr lang="zh-CN" altLang="zh-CN" dirty="0"/>
          </a:p>
          <a:p>
            <a:r>
              <a:rPr lang="zh-CN" altLang="zh-CN" dirty="0"/>
              <a:t>Point out doubts: failures, points for attention</a:t>
            </a:r>
            <a:endParaRPr lang="zh-CN" altLang="zh-CN" dirty="0"/>
          </a:p>
          <a:p>
            <a:r>
              <a:rPr lang="zh-CN" altLang="zh-CN" dirty="0"/>
              <a:t>Expound the viewpoint: judgment, evaluation, analysis </a:t>
            </a:r>
            <a:endParaRPr lang="zh-CN" altLang="zh-CN" dirty="0"/>
          </a:p>
          <a:p>
            <a:r>
              <a:rPr lang="zh-CN" altLang="zh-CN" dirty="0"/>
              <a:t>Come to the conclusion: summary of end-result </a:t>
            </a:r>
            <a:endParaRPr lang="zh-CN" altLang="zh-C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87500" lnSpcReduction="20000"/>
          </a:bodyPr>
          <a:lstStyle/>
          <a:p>
            <a:r>
              <a:rPr lang="en-US" altLang="zh-CN" dirty="0"/>
              <a:t>The purpose of the Discussion section is to explain the results and show how they help to answer the research questions posed in the introduction. </a:t>
            </a:r>
            <a:endParaRPr lang="en-US" altLang="zh-CN" dirty="0"/>
          </a:p>
          <a:p>
            <a:r>
              <a:rPr lang="en-US" altLang="zh-CN" dirty="0"/>
              <a:t>This discussion generally passes through the stages of </a:t>
            </a:r>
            <a:endParaRPr lang="en-US" altLang="zh-CN" dirty="0"/>
          </a:p>
          <a:p>
            <a:pPr marL="914400" lvl="1" indent="-457200">
              <a:buAutoNum type="arabicPeriod"/>
            </a:pPr>
            <a:r>
              <a:rPr lang="en-US" altLang="zh-CN" dirty="0"/>
              <a:t>summarizing the results, discussing whether results are expected or unexpected, </a:t>
            </a:r>
            <a:endParaRPr lang="en-US" altLang="zh-CN" dirty="0"/>
          </a:p>
          <a:p>
            <a:pPr marL="914400" lvl="1" indent="-457200">
              <a:buAutoNum type="arabicPeriod"/>
            </a:pPr>
            <a:r>
              <a:rPr lang="en-US" altLang="zh-CN" dirty="0"/>
              <a:t>comparing these results to previous work, </a:t>
            </a:r>
            <a:endParaRPr lang="en-US" altLang="zh-CN" dirty="0"/>
          </a:p>
          <a:p>
            <a:pPr marL="914400" lvl="1" indent="-457200">
              <a:buAutoNum type="arabicPeriod"/>
            </a:pPr>
            <a:r>
              <a:rPr lang="en-US" altLang="zh-CN" dirty="0"/>
              <a:t>interpreting and explaining the results (often by comparison to a theory or model), and hypothesizing about their generality. </a:t>
            </a:r>
            <a:endParaRPr lang="en-US" altLang="zh-CN" dirty="0"/>
          </a:p>
          <a:p>
            <a:r>
              <a:rPr lang="en-US" altLang="zh-CN" dirty="0"/>
              <a:t>The Discussion section inverts the format of the introduction, moving from the specific (the results generated in this work) to the general (how these results demonstrate a general principle that is more widely applicable). </a:t>
            </a:r>
            <a:endParaRPr lang="en-US" altLang="zh-CN" dirty="0"/>
          </a:p>
          <a:p>
            <a:r>
              <a:rPr lang="en-US" altLang="zh-CN" dirty="0"/>
              <a:t>Any problems or shortcomings encountered during the course of the work should also be discussed, especially if they might influence how results are to be interpreted. </a:t>
            </a:r>
            <a:endParaRPr lang="en-US" altLang="zh-CN" dirty="0"/>
          </a:p>
          <a:p>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10000"/>
          </a:bodyPr>
          <a:lstStyle/>
          <a:p>
            <a:pPr marL="0" indent="0">
              <a:buNone/>
            </a:pPr>
            <a:r>
              <a:rPr lang="en-US" altLang="zh-CN" dirty="0">
                <a:sym typeface="+mn-ea"/>
              </a:rPr>
              <a:t>Some common pitfalls when writing the results and discussion section are </a:t>
            </a:r>
            <a:endParaRPr lang="en-US" altLang="zh-CN" dirty="0"/>
          </a:p>
          <a:p>
            <a:r>
              <a:rPr lang="en-US" altLang="zh-CN" dirty="0">
                <a:sym typeface="+mn-ea"/>
              </a:rPr>
              <a:t>a lack of organization, </a:t>
            </a:r>
            <a:endParaRPr lang="en-US" altLang="zh-CN" dirty="0">
              <a:sym typeface="+mn-ea"/>
            </a:endParaRPr>
          </a:p>
          <a:p>
            <a:r>
              <a:rPr lang="en-US" altLang="zh-CN" dirty="0">
                <a:sym typeface="+mn-ea"/>
              </a:rPr>
              <a:t>presenting results that are never discussed, presenting discussion that does not relate to any of the results, </a:t>
            </a:r>
            <a:endParaRPr lang="en-US" altLang="zh-CN" dirty="0">
              <a:sym typeface="+mn-ea"/>
            </a:endParaRPr>
          </a:p>
          <a:p>
            <a:r>
              <a:rPr lang="en-US" altLang="zh-CN" dirty="0">
                <a:sym typeface="+mn-ea"/>
              </a:rPr>
              <a:t>presenting results and discussion in chronological order rather than logical order, </a:t>
            </a:r>
            <a:endParaRPr lang="en-US" altLang="zh-CN" dirty="0">
              <a:sym typeface="+mn-ea"/>
            </a:endParaRPr>
          </a:p>
          <a:p>
            <a:r>
              <a:rPr lang="en-US" altLang="zh-CN" dirty="0">
                <a:sym typeface="+mn-ea"/>
              </a:rPr>
              <a:t>ignoring results that do not support the conclusions, </a:t>
            </a:r>
            <a:endParaRPr lang="en-US" altLang="zh-CN" dirty="0">
              <a:sym typeface="+mn-ea"/>
            </a:endParaRPr>
          </a:p>
          <a:p>
            <a:r>
              <a:rPr lang="en-US" altLang="zh-CN" dirty="0">
                <a:sym typeface="+mn-ea"/>
              </a:rPr>
              <a:t>or drawing conclusions from results without sound logical arguments to back them up</a:t>
            </a:r>
            <a:endParaRPr lang="zh-CN" altLang="en-US" dirty="0"/>
          </a:p>
          <a:p>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10" descr="b2"/>
          <p:cNvPicPr>
            <a:picLocks noChangeAspect="1" noChangeArrowheads="1"/>
          </p:cNvPicPr>
          <p:nvPr/>
        </p:nvPicPr>
        <p:blipFill>
          <a:blip r:embed="rId1">
            <a:lum bright="6000" contrast="6000"/>
            <a:extLst>
              <a:ext uri="{28A0092B-C50C-407E-A947-70E740481C1C}">
                <a14:useLocalDpi xmlns:a14="http://schemas.microsoft.com/office/drawing/2010/main" val="0"/>
              </a:ext>
            </a:extLst>
          </a:blip>
          <a:srcRect/>
          <a:stretch>
            <a:fillRect/>
          </a:stretch>
        </p:blipFill>
        <p:spPr bwMode="auto">
          <a:xfrm>
            <a:off x="9625014" y="5953126"/>
            <a:ext cx="8159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8" name="副标题 6"/>
          <p:cNvSpPr>
            <a:spLocks noChangeArrowheads="1"/>
          </p:cNvSpPr>
          <p:nvPr/>
        </p:nvSpPr>
        <p:spPr bwMode="auto">
          <a:xfrm>
            <a:off x="2135188" y="1243013"/>
            <a:ext cx="817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800" b="1" i="1">
                <a:solidFill>
                  <a:srgbClr val="FF6600"/>
                </a:solidFill>
                <a:latin typeface="Verdana" panose="020B0604030504040204" pitchFamily="34" charset="0"/>
                <a:ea typeface="宋体" panose="02010600030101010101" pitchFamily="2" charset="-122"/>
              </a:rPr>
              <a:t>Results and Discussion</a:t>
            </a:r>
            <a:endParaRPr lang="en-US" altLang="zh-CN" sz="2800" b="1">
              <a:latin typeface="Verdana" panose="020B0604030504040204" pitchFamily="34" charset="0"/>
              <a:ea typeface="宋体" panose="02010600030101010101" pitchFamily="2" charset="-122"/>
            </a:endParaRPr>
          </a:p>
        </p:txBody>
      </p:sp>
      <p:sp>
        <p:nvSpPr>
          <p:cNvPr id="19460" name="副标题 6"/>
          <p:cNvSpPr>
            <a:spLocks noChangeArrowheads="1"/>
          </p:cNvSpPr>
          <p:nvPr/>
        </p:nvSpPr>
        <p:spPr bwMode="auto">
          <a:xfrm>
            <a:off x="2173289" y="2060576"/>
            <a:ext cx="82438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3600" b="1" baseline="25000">
                <a:solidFill>
                  <a:srgbClr val="0000FF"/>
                </a:solidFill>
                <a:ea typeface="宋体" panose="02010600030101010101" pitchFamily="2" charset="-122"/>
              </a:rPr>
              <a:t>Results</a:t>
            </a:r>
            <a:endParaRPr lang="en-US" altLang="zh-CN" sz="3600" b="1" baseline="25000">
              <a:solidFill>
                <a:srgbClr val="0000FF"/>
              </a:solidFill>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solidFill>
                <a:srgbClr val="0000FF"/>
              </a:solidFill>
              <a:ea typeface="宋体" panose="02010600030101010101" pitchFamily="2" charset="-122"/>
            </a:endParaRPr>
          </a:p>
        </p:txBody>
      </p:sp>
      <p:sp>
        <p:nvSpPr>
          <p:cNvPr id="19461" name="副标题 6"/>
          <p:cNvSpPr>
            <a:spLocks noChangeArrowheads="1"/>
          </p:cNvSpPr>
          <p:nvPr/>
        </p:nvSpPr>
        <p:spPr bwMode="auto">
          <a:xfrm>
            <a:off x="2208214" y="2419351"/>
            <a:ext cx="82438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This section should simply</a:t>
            </a:r>
            <a:r>
              <a:rPr lang="en-US" altLang="zh-CN" sz="2400" b="1" i="1">
                <a:solidFill>
                  <a:srgbClr val="D961C2"/>
                </a:solidFill>
                <a:ea typeface="宋体" panose="02010600030101010101" pitchFamily="2" charset="-122"/>
              </a:rPr>
              <a:t> state </a:t>
            </a:r>
            <a:r>
              <a:rPr lang="en-US" altLang="zh-CN" sz="2400" b="1">
                <a:ea typeface="宋体" panose="02010600030101010101" pitchFamily="2" charset="-122"/>
              </a:rPr>
              <a:t>all results of the experiment. </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Do not include information on what you believe should </a:t>
            </a:r>
            <a:r>
              <a:rPr lang="en-US" altLang="zh-CN" sz="2400" b="1" i="1">
                <a:solidFill>
                  <a:srgbClr val="D961C2"/>
                </a:solidFill>
                <a:ea typeface="宋体" panose="02010600030101010101" pitchFamily="2" charset="-122"/>
              </a:rPr>
              <a:t>have happened</a:t>
            </a:r>
            <a:r>
              <a:rPr lang="en-US" altLang="zh-CN" sz="2400" b="1">
                <a:ea typeface="宋体" panose="02010600030101010101" pitchFamily="2" charset="-122"/>
              </a:rPr>
              <a:t> or </a:t>
            </a:r>
            <a:r>
              <a:rPr lang="en-US" altLang="zh-CN" sz="2400" b="1" i="1">
                <a:solidFill>
                  <a:srgbClr val="D961C2"/>
                </a:solidFill>
                <a:ea typeface="宋体" panose="02010600030101010101" pitchFamily="2" charset="-122"/>
              </a:rPr>
              <a:t>any analysis</a:t>
            </a:r>
            <a:r>
              <a:rPr lang="en-US" altLang="zh-CN" sz="2400" b="1">
                <a:ea typeface="宋体" panose="02010600030101010101" pitchFamily="2" charset="-122"/>
              </a:rPr>
              <a:t> of the results. </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The results section can include any </a:t>
            </a:r>
            <a:r>
              <a:rPr lang="en-US" altLang="zh-CN" sz="2400" b="1" i="1">
                <a:solidFill>
                  <a:srgbClr val="D961C2"/>
                </a:solidFill>
                <a:ea typeface="宋体" panose="02010600030101010101" pitchFamily="2" charset="-122"/>
              </a:rPr>
              <a:t>graphs</a:t>
            </a:r>
            <a:r>
              <a:rPr lang="en-US" altLang="zh-CN" sz="2400" b="1">
                <a:ea typeface="宋体" panose="02010600030101010101" pitchFamily="2" charset="-122"/>
              </a:rPr>
              <a:t> and </a:t>
            </a:r>
            <a:r>
              <a:rPr lang="en-US" altLang="zh-CN" sz="2400" b="1" i="1">
                <a:solidFill>
                  <a:srgbClr val="D961C2"/>
                </a:solidFill>
                <a:ea typeface="宋体" panose="02010600030101010101" pitchFamily="2" charset="-122"/>
              </a:rPr>
              <a:t>data tables</a:t>
            </a:r>
            <a:r>
              <a:rPr lang="en-US" altLang="zh-CN" sz="2400" b="1">
                <a:ea typeface="宋体" panose="02010600030101010101" pitchFamily="2" charset="-122"/>
              </a:rPr>
              <a:t>.          </a:t>
            </a:r>
            <a:endParaRPr lang="en-US" altLang="zh-CN" sz="2400" b="1">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fade">
                                      <p:cBhvr>
                                        <p:cTn id="7" dur="1000"/>
                                        <p:tgtEl>
                                          <p:spTgt spid="22530"/>
                                        </p:tgtEl>
                                      </p:cBhvr>
                                    </p:animEffect>
                                    <p:anim calcmode="lin" valueType="num">
                                      <p:cBhvr>
                                        <p:cTn id="8" dur="1000" fill="hold"/>
                                        <p:tgtEl>
                                          <p:spTgt spid="22530"/>
                                        </p:tgtEl>
                                        <p:attrNameLst>
                                          <p:attrName>ppt_x</p:attrName>
                                        </p:attrNameLst>
                                      </p:cBhvr>
                                      <p:tavLst>
                                        <p:tav tm="0">
                                          <p:val>
                                            <p:strVal val="#ppt_x"/>
                                          </p:val>
                                        </p:tav>
                                        <p:tav tm="100000">
                                          <p:val>
                                            <p:strVal val="#ppt_x"/>
                                          </p:val>
                                        </p:tav>
                                      </p:tavLst>
                                    </p:anim>
                                    <p:anim calcmode="lin" valueType="num">
                                      <p:cBhvr>
                                        <p:cTn id="9" dur="1000" fill="hold"/>
                                        <p:tgtEl>
                                          <p:spTgt spid="225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10" descr="b2"/>
          <p:cNvPicPr>
            <a:picLocks noChangeAspect="1" noChangeArrowheads="1"/>
          </p:cNvPicPr>
          <p:nvPr/>
        </p:nvPicPr>
        <p:blipFill>
          <a:blip r:embed="rId1">
            <a:lum bright="6000" contrast="6000"/>
            <a:extLst>
              <a:ext uri="{28A0092B-C50C-407E-A947-70E740481C1C}">
                <a14:useLocalDpi xmlns:a14="http://schemas.microsoft.com/office/drawing/2010/main" val="0"/>
              </a:ext>
            </a:extLst>
          </a:blip>
          <a:srcRect/>
          <a:stretch>
            <a:fillRect/>
          </a:stretch>
        </p:blipFill>
        <p:spPr bwMode="auto">
          <a:xfrm>
            <a:off x="9625014" y="5953126"/>
            <a:ext cx="8159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副标题 6"/>
          <p:cNvSpPr>
            <a:spLocks noChangeArrowheads="1"/>
          </p:cNvSpPr>
          <p:nvPr/>
        </p:nvSpPr>
        <p:spPr bwMode="auto">
          <a:xfrm>
            <a:off x="2279650" y="1989139"/>
            <a:ext cx="824388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Organize results neatly if </a:t>
            </a:r>
            <a:r>
              <a:rPr lang="en-US" altLang="zh-CN" sz="2400" b="1" i="1">
                <a:solidFill>
                  <a:srgbClr val="D961C2"/>
                </a:solidFill>
                <a:ea typeface="宋体" panose="02010600030101010101" pitchFamily="2" charset="-122"/>
              </a:rPr>
              <a:t>graphs</a:t>
            </a:r>
            <a:r>
              <a:rPr lang="en-US" altLang="zh-CN" sz="2400" b="1">
                <a:ea typeface="宋体" panose="02010600030101010101" pitchFamily="2" charset="-122"/>
              </a:rPr>
              <a:t> can be neatly</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  placed within the text, you may do so.</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If not, </a:t>
            </a:r>
            <a:r>
              <a:rPr lang="en-US" altLang="zh-CN" sz="2400" b="1" i="1">
                <a:solidFill>
                  <a:srgbClr val="D961C2"/>
                </a:solidFill>
                <a:ea typeface="宋体" panose="02010600030101010101" pitchFamily="2" charset="-122"/>
              </a:rPr>
              <a:t>appendices should be used</a:t>
            </a:r>
            <a:r>
              <a:rPr lang="en-US" altLang="zh-CN" sz="2400" b="1">
                <a:ea typeface="宋体" panose="02010600030101010101" pitchFamily="2" charset="-122"/>
              </a:rPr>
              <a:t> and referred to in</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  the Results section.</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Be sure to</a:t>
            </a:r>
            <a:r>
              <a:rPr lang="en-US" altLang="zh-CN" sz="2400" b="1" i="1">
                <a:solidFill>
                  <a:srgbClr val="D961C2"/>
                </a:solidFill>
                <a:ea typeface="宋体" panose="02010600030101010101" pitchFamily="2" charset="-122"/>
              </a:rPr>
              <a:t> state </a:t>
            </a:r>
            <a:r>
              <a:rPr lang="en-US" altLang="zh-CN" sz="2400" b="1">
                <a:ea typeface="宋体" panose="02010600030101010101" pitchFamily="2" charset="-122"/>
              </a:rPr>
              <a:t>what happened…not what was</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  supposed to happen.</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You should </a:t>
            </a:r>
            <a:r>
              <a:rPr lang="en-US" altLang="zh-CN" sz="2400" b="1" i="1">
                <a:solidFill>
                  <a:srgbClr val="D961C2"/>
                </a:solidFill>
                <a:ea typeface="宋体" panose="02010600030101010101" pitchFamily="2" charset="-122"/>
              </a:rPr>
              <a:t>not draw any conclusions</a:t>
            </a:r>
            <a:r>
              <a:rPr lang="en-US" altLang="zh-CN" sz="2400" b="1">
                <a:ea typeface="宋体" panose="02010600030101010101" pitchFamily="2" charset="-122"/>
              </a:rPr>
              <a:t> in the results</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  section.</a:t>
            </a:r>
            <a:endParaRPr lang="en-US" altLang="zh-CN" sz="2400" b="1">
              <a:ea typeface="宋体" panose="02010600030101010101" pitchFamily="2" charset="-122"/>
            </a:endParaRPr>
          </a:p>
        </p:txBody>
      </p:sp>
      <p:sp>
        <p:nvSpPr>
          <p:cNvPr id="20484" name="副标题 6"/>
          <p:cNvSpPr>
            <a:spLocks noChangeArrowheads="1"/>
          </p:cNvSpPr>
          <p:nvPr/>
        </p:nvSpPr>
        <p:spPr bwMode="auto">
          <a:xfrm>
            <a:off x="2279650" y="1555751"/>
            <a:ext cx="824388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3600" b="1" baseline="25000">
                <a:solidFill>
                  <a:srgbClr val="0000FF"/>
                </a:solidFill>
                <a:ea typeface="宋体" panose="02010600030101010101" pitchFamily="2" charset="-122"/>
              </a:rPr>
              <a:t>Results</a:t>
            </a:r>
            <a:endParaRPr lang="en-US" altLang="zh-CN" sz="3600" b="1" baseline="25000">
              <a:solidFill>
                <a:srgbClr val="0000FF"/>
              </a:solidFill>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solidFill>
                <a:srgbClr val="0000FF"/>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3554"/>
                                        </p:tgtEl>
                                        <p:attrNameLst>
                                          <p:attrName>style.visibility</p:attrName>
                                        </p:attrNameLst>
                                      </p:cBhvr>
                                      <p:to>
                                        <p:strVal val="visible"/>
                                      </p:to>
                                    </p:set>
                                    <p:animEffect transition="in" filter="fade">
                                      <p:cBhvr>
                                        <p:cTn id="7" dur="1000"/>
                                        <p:tgtEl>
                                          <p:spTgt spid="23554"/>
                                        </p:tgtEl>
                                      </p:cBhvr>
                                    </p:animEffect>
                                    <p:anim calcmode="lin" valueType="num">
                                      <p:cBhvr>
                                        <p:cTn id="8" dur="1000" fill="hold"/>
                                        <p:tgtEl>
                                          <p:spTgt spid="23554"/>
                                        </p:tgtEl>
                                        <p:attrNameLst>
                                          <p:attrName>ppt_x</p:attrName>
                                        </p:attrNameLst>
                                      </p:cBhvr>
                                      <p:tavLst>
                                        <p:tav tm="0">
                                          <p:val>
                                            <p:strVal val="#ppt_x"/>
                                          </p:val>
                                        </p:tav>
                                        <p:tav tm="100000">
                                          <p:val>
                                            <p:strVal val="#ppt_x"/>
                                          </p:val>
                                        </p:tav>
                                      </p:tavLst>
                                    </p:anim>
                                    <p:anim calcmode="lin" valueType="num">
                                      <p:cBhvr>
                                        <p:cTn id="9" dur="1000" fill="hold"/>
                                        <p:tgtEl>
                                          <p:spTgt spid="235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10" descr="b2"/>
          <p:cNvPicPr>
            <a:picLocks noChangeAspect="1" noChangeArrowheads="1"/>
          </p:cNvPicPr>
          <p:nvPr/>
        </p:nvPicPr>
        <p:blipFill>
          <a:blip r:embed="rId1">
            <a:lum bright="6000" contrast="6000"/>
            <a:extLst>
              <a:ext uri="{28A0092B-C50C-407E-A947-70E740481C1C}">
                <a14:useLocalDpi xmlns:a14="http://schemas.microsoft.com/office/drawing/2010/main" val="0"/>
              </a:ext>
            </a:extLst>
          </a:blip>
          <a:srcRect/>
          <a:stretch>
            <a:fillRect/>
          </a:stretch>
        </p:blipFill>
        <p:spPr bwMode="auto">
          <a:xfrm>
            <a:off x="9625014" y="5953126"/>
            <a:ext cx="8159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6" name="副标题 6"/>
          <p:cNvSpPr>
            <a:spLocks noChangeArrowheads="1"/>
          </p:cNvSpPr>
          <p:nvPr/>
        </p:nvSpPr>
        <p:spPr bwMode="auto">
          <a:xfrm>
            <a:off x="2135188" y="1171575"/>
            <a:ext cx="817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800" b="1" i="1">
                <a:solidFill>
                  <a:srgbClr val="FF6600"/>
                </a:solidFill>
                <a:latin typeface="Verdana" panose="020B0604030504040204" pitchFamily="34" charset="0"/>
                <a:ea typeface="宋体" panose="02010600030101010101" pitchFamily="2" charset="-122"/>
              </a:rPr>
              <a:t>Discussion</a:t>
            </a:r>
            <a:endParaRPr lang="en-US" altLang="zh-CN" sz="2800" b="1">
              <a:latin typeface="Verdana" panose="020B0604030504040204" pitchFamily="34" charset="0"/>
              <a:ea typeface="宋体" panose="02010600030101010101" pitchFamily="2" charset="-122"/>
            </a:endParaRPr>
          </a:p>
        </p:txBody>
      </p:sp>
      <p:sp>
        <p:nvSpPr>
          <p:cNvPr id="21508" name="副标题 6"/>
          <p:cNvSpPr>
            <a:spLocks noChangeArrowheads="1"/>
          </p:cNvSpPr>
          <p:nvPr/>
        </p:nvSpPr>
        <p:spPr bwMode="auto">
          <a:xfrm>
            <a:off x="2208214" y="1916114"/>
            <a:ext cx="82438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It is used to </a:t>
            </a:r>
            <a:r>
              <a:rPr lang="en-US" altLang="zh-CN" sz="3600" b="1" i="1" baseline="25000">
                <a:solidFill>
                  <a:srgbClr val="D961C2"/>
                </a:solidFill>
                <a:ea typeface="宋体" panose="02010600030101010101" pitchFamily="2" charset="-122"/>
              </a:rPr>
              <a:t>explain</a:t>
            </a:r>
            <a:r>
              <a:rPr lang="en-US" altLang="zh-CN" sz="3600" b="1" baseline="25000">
                <a:ea typeface="宋体" panose="02010600030101010101" pitchFamily="2" charset="-122"/>
              </a:rPr>
              <a:t>, </a:t>
            </a:r>
            <a:r>
              <a:rPr lang="en-US" altLang="zh-CN" sz="3600" b="1" i="1" baseline="25000">
                <a:solidFill>
                  <a:srgbClr val="D961C2"/>
                </a:solidFill>
                <a:ea typeface="宋体" panose="02010600030101010101" pitchFamily="2" charset="-122"/>
              </a:rPr>
              <a:t>interpret</a:t>
            </a:r>
            <a:r>
              <a:rPr lang="en-US" altLang="zh-CN" sz="3600" b="1" baseline="25000">
                <a:ea typeface="宋体" panose="02010600030101010101" pitchFamily="2" charset="-122"/>
              </a:rPr>
              <a:t>, and </a:t>
            </a:r>
            <a:r>
              <a:rPr lang="en-US" altLang="zh-CN" sz="3600" b="1" i="1" baseline="25000">
                <a:solidFill>
                  <a:srgbClr val="D961C2"/>
                </a:solidFill>
                <a:ea typeface="宋体" panose="02010600030101010101" pitchFamily="2" charset="-122"/>
              </a:rPr>
              <a:t>analyze</a:t>
            </a:r>
            <a:r>
              <a:rPr lang="en-US" altLang="zh-CN" sz="3600" b="1" baseline="25000">
                <a:ea typeface="宋体" panose="02010600030101010101" pitchFamily="2" charset="-122"/>
              </a:rPr>
              <a:t> your results. You should explain </a:t>
            </a:r>
            <a:r>
              <a:rPr lang="en-US" altLang="zh-CN" sz="3600" b="1" i="1" baseline="25000">
                <a:solidFill>
                  <a:srgbClr val="D961C2"/>
                </a:solidFill>
                <a:ea typeface="宋体" panose="02010600030101010101" pitchFamily="2" charset="-122"/>
              </a:rPr>
              <a:t>errors</a:t>
            </a:r>
            <a:r>
              <a:rPr lang="en-US" altLang="zh-CN" sz="3600" b="1" baseline="25000">
                <a:ea typeface="宋体" panose="02010600030101010101" pitchFamily="2" charset="-122"/>
              </a:rPr>
              <a:t> or </a:t>
            </a:r>
            <a:r>
              <a:rPr lang="en-US" altLang="zh-CN" sz="3600" b="1" i="1" baseline="25000">
                <a:solidFill>
                  <a:srgbClr val="D961C2"/>
                </a:solidFill>
                <a:ea typeface="宋体" panose="02010600030101010101" pitchFamily="2" charset="-122"/>
              </a:rPr>
              <a:t>problems</a:t>
            </a:r>
            <a:r>
              <a:rPr lang="en-US" altLang="zh-CN" sz="3600" b="1" baseline="25000">
                <a:ea typeface="宋体" panose="02010600030101010101" pitchFamily="2" charset="-122"/>
              </a:rPr>
              <a:t> with the experiment of data and can </a:t>
            </a:r>
            <a:r>
              <a:rPr lang="en-US" altLang="zh-CN" sz="3600" b="1" i="1" baseline="25000">
                <a:solidFill>
                  <a:srgbClr val="D961C2"/>
                </a:solidFill>
                <a:ea typeface="宋体" panose="02010600030101010101" pitchFamily="2" charset="-122"/>
              </a:rPr>
              <a:t>compare</a:t>
            </a:r>
            <a:r>
              <a:rPr lang="en-US" altLang="zh-CN" sz="3600" b="1" baseline="25000">
                <a:ea typeface="宋体" panose="02010600030101010101" pitchFamily="2" charset="-122"/>
              </a:rPr>
              <a:t> your results to previous research and theory.</a:t>
            </a:r>
            <a:endParaRPr lang="en-US" altLang="zh-CN" sz="3600" b="1" baseline="25000">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ea typeface="宋体" panose="02010600030101010101" pitchFamily="2" charset="-122"/>
            </a:endParaRPr>
          </a:p>
        </p:txBody>
      </p:sp>
      <p:sp>
        <p:nvSpPr>
          <p:cNvPr id="21509" name="副标题 6"/>
          <p:cNvSpPr>
            <a:spLocks noChangeArrowheads="1"/>
          </p:cNvSpPr>
          <p:nvPr/>
        </p:nvSpPr>
        <p:spPr bwMode="auto">
          <a:xfrm>
            <a:off x="2208214" y="3429001"/>
            <a:ext cx="82438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Don’t merely analyze the results, also discuss the </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  </a:t>
            </a:r>
            <a:r>
              <a:rPr lang="en-US" altLang="zh-CN" sz="2400" b="1" i="1">
                <a:solidFill>
                  <a:srgbClr val="D961C2"/>
                </a:solidFill>
                <a:ea typeface="宋体" panose="02010600030101010101" pitchFamily="2" charset="-122"/>
              </a:rPr>
              <a:t>implications </a:t>
            </a:r>
            <a:r>
              <a:rPr lang="en-US" altLang="zh-CN" sz="2400" b="1">
                <a:ea typeface="宋体" panose="02010600030101010101" pitchFamily="2" charset="-122"/>
              </a:rPr>
              <a:t>of those results.</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Pay attention to the</a:t>
            </a:r>
            <a:r>
              <a:rPr lang="en-US" altLang="zh-CN" sz="2400" b="1" i="1">
                <a:solidFill>
                  <a:srgbClr val="D961C2"/>
                </a:solidFill>
                <a:ea typeface="宋体" panose="02010600030101010101" pitchFamily="2" charset="-122"/>
              </a:rPr>
              <a:t> errors</a:t>
            </a:r>
            <a:r>
              <a:rPr lang="en-US" altLang="zh-CN" sz="2400" b="1">
                <a:ea typeface="宋体" panose="02010600030101010101" pitchFamily="2" charset="-122"/>
              </a:rPr>
              <a:t> that existed in the</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  experiment.</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Differs from the Results section in that you now </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  </a:t>
            </a:r>
            <a:r>
              <a:rPr lang="en-US" altLang="zh-CN" sz="2400" b="1" i="1">
                <a:solidFill>
                  <a:srgbClr val="D961C2"/>
                </a:solidFill>
                <a:ea typeface="宋体" panose="02010600030101010101" pitchFamily="2" charset="-122"/>
              </a:rPr>
              <a:t>manipulate the data to defend</a:t>
            </a:r>
            <a:r>
              <a:rPr lang="en-US" altLang="zh-CN" sz="2400" b="1">
                <a:ea typeface="宋体" panose="02010600030101010101" pitchFamily="2" charset="-122"/>
              </a:rPr>
              <a:t> your theories.</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        </a:t>
            </a:r>
            <a:endParaRPr lang="en-US" altLang="zh-CN" sz="3600" b="1" baseline="250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4578"/>
                                        </p:tgtEl>
                                        <p:attrNameLst>
                                          <p:attrName>style.visibility</p:attrName>
                                        </p:attrNameLst>
                                      </p:cBhvr>
                                      <p:to>
                                        <p:strVal val="visible"/>
                                      </p:to>
                                    </p:set>
                                    <p:animEffect transition="in" filter="fade">
                                      <p:cBhvr>
                                        <p:cTn id="7" dur="1000"/>
                                        <p:tgtEl>
                                          <p:spTgt spid="24578"/>
                                        </p:tgtEl>
                                      </p:cBhvr>
                                    </p:animEffect>
                                    <p:anim calcmode="lin" valueType="num">
                                      <p:cBhvr>
                                        <p:cTn id="8" dur="1000" fill="hold"/>
                                        <p:tgtEl>
                                          <p:spTgt spid="24578"/>
                                        </p:tgtEl>
                                        <p:attrNameLst>
                                          <p:attrName>ppt_x</p:attrName>
                                        </p:attrNameLst>
                                      </p:cBhvr>
                                      <p:tavLst>
                                        <p:tav tm="0">
                                          <p:val>
                                            <p:strVal val="#ppt_x"/>
                                          </p:val>
                                        </p:tav>
                                        <p:tav tm="100000">
                                          <p:val>
                                            <p:strVal val="#ppt_x"/>
                                          </p:val>
                                        </p:tav>
                                      </p:tavLst>
                                    </p:anim>
                                    <p:anim calcmode="lin" valueType="num">
                                      <p:cBhvr>
                                        <p:cTn id="9" dur="1000" fill="hold"/>
                                        <p:tgtEl>
                                          <p:spTgt spid="245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Conclusions</a:t>
            </a:r>
            <a:endParaRPr lang="zh-CN" altLang="en-US" dirty="0"/>
          </a:p>
        </p:txBody>
      </p:sp>
      <p:sp>
        <p:nvSpPr>
          <p:cNvPr id="3" name="内容占位符 2"/>
          <p:cNvSpPr>
            <a:spLocks noGrp="1"/>
          </p:cNvSpPr>
          <p:nvPr>
            <p:ph idx="1"/>
          </p:nvPr>
        </p:nvSpPr>
        <p:spPr/>
        <p:txBody>
          <a:bodyPr>
            <a:normAutofit/>
          </a:bodyPr>
          <a:lstStyle/>
          <a:p>
            <a:r>
              <a:rPr lang="en-US" altLang="zh-CN" dirty="0"/>
              <a:t>The Conclusions section provides a brief summary of the results and discussion, but it should be more than a summary. </a:t>
            </a:r>
            <a:endParaRPr lang="en-US" altLang="zh-CN" dirty="0"/>
          </a:p>
          <a:p>
            <a:r>
              <a:rPr lang="en-US" altLang="zh-CN" dirty="0"/>
              <a:t>After showing how each research question posed in the introduction has been addressed, the implications of the findings should be emphasized, explaining how the work is significant. </a:t>
            </a:r>
            <a:endParaRPr lang="en-US" altLang="zh-CN" dirty="0"/>
          </a:p>
          <a:p>
            <a:r>
              <a:rPr lang="en-US" altLang="zh-CN" dirty="0"/>
              <a:t>The goal here is to provide the </a:t>
            </a:r>
            <a:r>
              <a:rPr lang="en-US" altLang="zh-CN" dirty="0">
                <a:solidFill>
                  <a:schemeClr val="tx1"/>
                </a:solidFill>
                <a:effectLst>
                  <a:outerShdw blurRad="38100" dist="19050" dir="2700000" algn="tl" rotWithShape="0">
                    <a:schemeClr val="dk1">
                      <a:alpha val="40000"/>
                    </a:schemeClr>
                  </a:outerShdw>
                </a:effectLst>
              </a:rPr>
              <a:t>most general claims</a:t>
            </a:r>
            <a:r>
              <a:rPr lang="en-US" altLang="zh-CN" dirty="0"/>
              <a:t> that can be supported by the evidence. </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87500" lnSpcReduction="10000"/>
          </a:bodyPr>
          <a:lstStyle/>
          <a:p>
            <a:r>
              <a:rPr lang="en-US" altLang="zh-CN" dirty="0">
                <a:sym typeface="+mn-ea"/>
              </a:rPr>
              <a:t>This section should be reader-focused, avoiding a list of all the things that “I” or “we” have accomplished. </a:t>
            </a:r>
            <a:endParaRPr lang="en-US" altLang="zh-CN" dirty="0">
              <a:sym typeface="+mn-ea"/>
            </a:endParaRPr>
          </a:p>
          <a:p>
            <a:r>
              <a:rPr lang="en-US" altLang="zh-CN" dirty="0">
                <a:sym typeface="+mn-ea"/>
              </a:rPr>
              <a:t>The Conclusions section should allow for opportunistic reading. When writing this section, imagine a reader who reads the introduction, skims through the figures, then jumps to the conclusion. </a:t>
            </a:r>
            <a:endParaRPr lang="en-US" altLang="zh-CN" dirty="0">
              <a:sym typeface="+mn-ea"/>
            </a:endParaRPr>
          </a:p>
          <a:p>
            <a:endParaRPr lang="en-US" altLang="zh-CN" dirty="0">
              <a:sym typeface="+mn-ea"/>
            </a:endParaRPr>
          </a:p>
          <a:p>
            <a:r>
              <a:rPr lang="en-US" altLang="zh-CN" dirty="0">
                <a:sym typeface="+mn-ea"/>
              </a:rPr>
              <a:t>The conclusion should concisely provide the key message(s) the author wishes to convey. </a:t>
            </a:r>
            <a:endParaRPr lang="en-US" altLang="zh-CN" dirty="0">
              <a:sym typeface="+mn-ea"/>
            </a:endParaRPr>
          </a:p>
          <a:p>
            <a:r>
              <a:rPr lang="en-US" altLang="zh-CN" dirty="0">
                <a:sym typeface="+mn-ea"/>
              </a:rPr>
              <a:t>It should not repeat the arguments made in the results and discussion, only the final and most general conclusions. While the results and discussion section is often quite long, the conclusion section is generally short. </a:t>
            </a:r>
            <a:endParaRPr lang="en-US" altLang="zh-CN" dirty="0">
              <a:sym typeface="+mn-ea"/>
            </a:endParaRPr>
          </a:p>
          <a:p>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0000" lnSpcReduction="20000"/>
          </a:bodyPr>
          <a:lstStyle/>
          <a:p>
            <a:r>
              <a:rPr lang="en-US" altLang="zh-CN" dirty="0">
                <a:sym typeface="+mn-ea"/>
              </a:rPr>
              <a:t>The second goal of the conclusion is to provide a future perspective on the work. This could be recommendations to the audience or a roadmap for future work. A small amount of speculation can be appropriate here, so long as it is relevant and clearly labeled as speculative. </a:t>
            </a:r>
            <a:endParaRPr lang="en-US" altLang="zh-CN" dirty="0">
              <a:sym typeface="+mn-ea"/>
            </a:endParaRPr>
          </a:p>
          <a:p>
            <a:r>
              <a:rPr lang="en-US" altLang="zh-CN" dirty="0">
                <a:sym typeface="+mn-ea"/>
              </a:rPr>
              <a:t>Some common pitfalls when writing the conclusion are </a:t>
            </a:r>
            <a:endParaRPr lang="en-US" altLang="zh-CN" dirty="0">
              <a:sym typeface="+mn-ea"/>
            </a:endParaRPr>
          </a:p>
          <a:p>
            <a:r>
              <a:rPr lang="en-US" altLang="zh-CN" dirty="0">
                <a:sym typeface="+mn-ea"/>
              </a:rPr>
              <a:t>repeating the abstract, repeating background information from the introduction, </a:t>
            </a:r>
            <a:endParaRPr lang="en-US" altLang="zh-CN" dirty="0">
              <a:sym typeface="+mn-ea"/>
            </a:endParaRPr>
          </a:p>
          <a:p>
            <a:r>
              <a:rPr lang="en-US" altLang="zh-CN" dirty="0">
                <a:sym typeface="+mn-ea"/>
              </a:rPr>
              <a:t>introducing new evidence or new arguments not found in the results and discussion, </a:t>
            </a:r>
            <a:endParaRPr lang="en-US" altLang="zh-CN" dirty="0">
              <a:sym typeface="+mn-ea"/>
            </a:endParaRPr>
          </a:p>
          <a:p>
            <a:r>
              <a:rPr lang="en-US" altLang="zh-CN" dirty="0">
                <a:sym typeface="+mn-ea"/>
              </a:rPr>
              <a:t>repeating the arguments made in the results and discussion, </a:t>
            </a:r>
            <a:endParaRPr lang="en-US" altLang="zh-CN" dirty="0">
              <a:sym typeface="+mn-ea"/>
            </a:endParaRPr>
          </a:p>
          <a:p>
            <a:r>
              <a:rPr lang="en-US" altLang="zh-CN" dirty="0">
                <a:sym typeface="+mn-ea"/>
              </a:rPr>
              <a:t>or failing to address all of the research questions set out in the introduction. </a:t>
            </a:r>
            <a:endParaRPr lang="zh-CN" altLang="en-US"/>
          </a:p>
          <a:p>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Abstract and Title</a:t>
            </a:r>
            <a:endParaRPr lang="zh-CN" altLang="en-US" dirty="0"/>
          </a:p>
        </p:txBody>
      </p:sp>
      <p:sp>
        <p:nvSpPr>
          <p:cNvPr id="3" name="内容占位符 2"/>
          <p:cNvSpPr>
            <a:spLocks noGrp="1"/>
          </p:cNvSpPr>
          <p:nvPr>
            <p:ph idx="1"/>
          </p:nvPr>
        </p:nvSpPr>
        <p:spPr>
          <a:xfrm>
            <a:off x="838200" y="1825625"/>
            <a:ext cx="10515600" cy="4702810"/>
          </a:xfrm>
        </p:spPr>
        <p:txBody>
          <a:bodyPr>
            <a:normAutofit fontScale="70000" lnSpcReduction="10000"/>
          </a:bodyPr>
          <a:lstStyle/>
          <a:p>
            <a:pPr marL="0" indent="0" algn="l">
              <a:buNone/>
            </a:pPr>
            <a:r>
              <a:rPr lang="en-US" altLang="zh-CN" dirty="0">
                <a:sym typeface="+mn-ea"/>
              </a:rPr>
              <a:t>“That writer does the most who gives his reader the most information and takes from him the least time.”  </a:t>
            </a:r>
            <a:endParaRPr lang="en-US" altLang="zh-CN" dirty="0">
              <a:sym typeface="+mn-ea"/>
            </a:endParaRPr>
          </a:p>
          <a:p>
            <a:pPr marL="0" indent="0" algn="ctr">
              <a:buNone/>
            </a:pPr>
            <a:r>
              <a:rPr lang="en-US" altLang="zh-CN" dirty="0">
                <a:sym typeface="+mn-ea"/>
              </a:rPr>
              <a:t>-- Charles Caleb Colton</a:t>
            </a:r>
            <a:endParaRPr lang="en-US" altLang="zh-CN" dirty="0">
              <a:sym typeface="+mn-ea"/>
            </a:endParaRPr>
          </a:p>
          <a:p>
            <a:pPr marL="0" indent="0" algn="ctr">
              <a:buNone/>
            </a:pPr>
            <a:endParaRPr lang="en-US" altLang="zh-CN" dirty="0">
              <a:sym typeface="+mn-ea"/>
            </a:endParaRPr>
          </a:p>
          <a:p>
            <a:pPr marL="0" indent="0">
              <a:buNone/>
            </a:pPr>
            <a:r>
              <a:rPr lang="en-US" altLang="zh-CN" dirty="0">
                <a:sym typeface="+mn-ea"/>
              </a:rPr>
              <a:t>Nothing works better than a well-written title and abstract to make sure that the wrong reader does not waste time on the wrong paper, and that the right reader does not mistakenly skip over the right paper.</a:t>
            </a:r>
            <a:endParaRPr lang="zh-CN" altLang="en-US" dirty="0"/>
          </a:p>
          <a:p>
            <a:endParaRPr lang="en-US" altLang="zh-CN" dirty="0"/>
          </a:p>
          <a:p>
            <a:r>
              <a:rPr lang="en-US" altLang="zh-CN" dirty="0"/>
              <a:t>The purpose of a title and abstract is often described as </a:t>
            </a:r>
            <a:r>
              <a:rPr lang="en-US" altLang="zh-CN" dirty="0">
                <a:solidFill>
                  <a:srgbClr val="FF0000"/>
                </a:solidFill>
              </a:rPr>
              <a:t>“selling”</a:t>
            </a:r>
            <a:r>
              <a:rPr lang="en-US" altLang="zh-CN" dirty="0"/>
              <a:t> the paper:</a:t>
            </a:r>
            <a:endParaRPr lang="en-US" altLang="zh-CN" dirty="0"/>
          </a:p>
          <a:p>
            <a:r>
              <a:rPr lang="en-US" altLang="zh-CN" dirty="0"/>
              <a:t>The true purpose of the title and abstract is to get the right people to read your paper</a:t>
            </a:r>
            <a:endParaRPr lang="en-US" altLang="zh-CN" dirty="0"/>
          </a:p>
          <a:p>
            <a:r>
              <a:rPr lang="en-US" altLang="zh-CN" dirty="0"/>
              <a:t>Thus, the purpose of the title and abstract is </a:t>
            </a:r>
            <a:r>
              <a:rPr lang="en-US" altLang="zh-CN" dirty="0">
                <a:solidFill>
                  <a:srgbClr val="FF0000"/>
                </a:solidFill>
              </a:rPr>
              <a:t>matchmaking</a:t>
            </a:r>
            <a:r>
              <a:rPr lang="en-US" altLang="zh-CN" dirty="0"/>
              <a:t>: </a:t>
            </a:r>
            <a:endParaRPr lang="en-US" altLang="zh-CN" dirty="0"/>
          </a:p>
          <a:p>
            <a:pPr marL="0" indent="0">
              <a:buNone/>
            </a:pPr>
            <a:r>
              <a:rPr lang="en-US" altLang="zh-CN" dirty="0"/>
              <a:t>    matching a paper with the right readers, i.e., those who want and need the information </a:t>
            </a:r>
            <a:endParaRPr lang="en-US" altLang="zh-CN" dirty="0"/>
          </a:p>
          <a:p>
            <a:pPr marL="0" indent="0">
              <a:buNone/>
            </a:pPr>
            <a:r>
              <a:rPr lang="en-US" altLang="zh-CN" dirty="0"/>
              <a:t>    contained in the paper.</a:t>
            </a:r>
            <a:endParaRPr lang="en-US" altLang="zh-CN"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zh-CN" altLang="zh-CN"/>
              <a:t>Abstract function</a:t>
            </a:r>
            <a:endParaRPr lang="zh-CN" altLang="zh-CN"/>
          </a:p>
        </p:txBody>
      </p:sp>
      <p:sp>
        <p:nvSpPr>
          <p:cNvPr id="15363" name="Rectangle 3"/>
          <p:cNvSpPr>
            <a:spLocks noGrp="1" noChangeArrowheads="1"/>
          </p:cNvSpPr>
          <p:nvPr>
            <p:ph type="body" idx="1"/>
          </p:nvPr>
        </p:nvSpPr>
        <p:spPr/>
        <p:txBody>
          <a:bodyPr/>
          <a:lstStyle/>
          <a:p>
            <a:pPr eaLnBrk="1" hangingPunct="1"/>
            <a:r>
              <a:rPr lang="zh-CN" altLang="zh-CN"/>
              <a:t>A condensed version of a research paper that highlights the major points covered and provides readers with a brief preview of the content and scope of the writing</a:t>
            </a:r>
            <a:endParaRPr lang="zh-CN" altLang="zh-CN"/>
          </a:p>
          <a:p>
            <a:pPr eaLnBrk="1" hangingPunct="1"/>
            <a:r>
              <a:rPr lang="zh-CN" altLang="zh-CN"/>
              <a:t>For conf organizers to review before accepting the full paper</a:t>
            </a:r>
            <a:endParaRPr lang="zh-CN" altLang="zh-CN"/>
          </a:p>
          <a:p>
            <a:pPr eaLnBrk="1" hangingPunct="1"/>
            <a:r>
              <a:rPr lang="zh-CN" altLang="zh-CN"/>
              <a:t>For conf participants to determine which session to attend</a:t>
            </a:r>
            <a:endParaRPr lang="zh-CN" altLang="zh-CN"/>
          </a:p>
          <a:p>
            <a:pPr eaLnBrk="1" hangingPunct="1"/>
            <a:r>
              <a:rPr lang="zh-CN" altLang="zh-CN"/>
              <a:t>Expanding circulation especially electronically </a:t>
            </a:r>
            <a:endParaRPr lang="zh-CN"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 calcmode="lin" valueType="num">
                                      <p:cBhvr additive="base">
                                        <p:cTn id="7" dur="500" fill="hold"/>
                                        <p:tgtEl>
                                          <p:spTgt spid="1536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536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5363">
                                            <p:txEl>
                                              <p:pRg st="1" end="1"/>
                                            </p:txEl>
                                          </p:spTgt>
                                        </p:tgtEl>
                                        <p:attrNameLst>
                                          <p:attrName>style.visibility</p:attrName>
                                        </p:attrNameLst>
                                      </p:cBhvr>
                                      <p:to>
                                        <p:strVal val="visible"/>
                                      </p:to>
                                    </p:set>
                                    <p:anim calcmode="lin" valueType="num">
                                      <p:cBhvr additive="base">
                                        <p:cTn id="13" dur="500" fill="hold"/>
                                        <p:tgtEl>
                                          <p:spTgt spid="1536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5363">
                                            <p:txEl>
                                              <p:pRg st="1"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1"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5363">
                                            <p:txEl>
                                              <p:pRg st="2" end="2"/>
                                            </p:txEl>
                                          </p:spTgt>
                                        </p:tgtEl>
                                        <p:attrNameLst>
                                          <p:attrName>style.visibility</p:attrName>
                                        </p:attrNameLst>
                                      </p:cBhvr>
                                      <p:to>
                                        <p:strVal val="visible"/>
                                      </p:to>
                                    </p:set>
                                    <p:anim calcmode="lin" valueType="num">
                                      <p:cBhvr additive="base">
                                        <p:cTn id="19" dur="500" fill="hold"/>
                                        <p:tgtEl>
                                          <p:spTgt spid="1536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5363">
                                            <p:txEl>
                                              <p:pRg st="2"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1" name="whoosh.wav"/>
                                        </p:tgtEl>
                                      </p:cMediaNode>
                                    </p:audio>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5363">
                                            <p:txEl>
                                              <p:pRg st="3" end="3"/>
                                            </p:txEl>
                                          </p:spTgt>
                                        </p:tgtEl>
                                        <p:attrNameLst>
                                          <p:attrName>style.visibility</p:attrName>
                                        </p:attrNameLst>
                                      </p:cBhvr>
                                      <p:to>
                                        <p:strVal val="visible"/>
                                      </p:to>
                                    </p:set>
                                    <p:anim calcmode="lin" valueType="num">
                                      <p:cBhvr additive="base">
                                        <p:cTn id="25" dur="500" fill="hold"/>
                                        <p:tgtEl>
                                          <p:spTgt spid="1536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5363">
                                            <p:txEl>
                                              <p:pRg st="3" end="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3"/>
                                            </p:cond>
                                          </p:stCondLst>
                                          <p:endCondLst>
                                            <p:cond evt="onStopAudio" delay="0">
                                              <p:tgtEl>
                                                <p:sldTgt/>
                                              </p:tgtEl>
                                            </p:cond>
                                          </p:endCondLst>
                                        </p:cTn>
                                        <p:tgtEl>
                                          <p:sndTgt r:embed="rId1"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animBg="1" autoUpdateAnimBg="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zh-CN" altLang="zh-CN"/>
              <a:t>Types of abstract</a:t>
            </a:r>
            <a:endParaRPr lang="zh-CN" altLang="zh-CN"/>
          </a:p>
        </p:txBody>
      </p:sp>
      <p:sp>
        <p:nvSpPr>
          <p:cNvPr id="16387" name="Rectangle 3"/>
          <p:cNvSpPr>
            <a:spLocks noGrp="1" noChangeArrowheads="1"/>
          </p:cNvSpPr>
          <p:nvPr>
            <p:ph type="body" idx="1"/>
          </p:nvPr>
        </p:nvSpPr>
        <p:spPr/>
        <p:txBody>
          <a:bodyPr/>
          <a:lstStyle/>
          <a:p>
            <a:pPr eaLnBrk="1" hangingPunct="1">
              <a:defRPr/>
            </a:pPr>
            <a:r>
              <a:rPr lang="zh-CN" altLang="zh-CN" dirty="0"/>
              <a:t>Descriptive: </a:t>
            </a:r>
            <a:endParaRPr lang="en-US" altLang="zh-CN" dirty="0"/>
          </a:p>
          <a:p>
            <a:pPr marL="0" indent="0">
              <a:buNone/>
              <a:defRPr/>
            </a:pPr>
            <a:r>
              <a:rPr lang="en-US" altLang="zh-CN" dirty="0"/>
              <a:t>    </a:t>
            </a:r>
            <a:r>
              <a:rPr lang="zh-CN" altLang="zh-CN" dirty="0"/>
              <a:t>information, purpose, methods, scope of paper, introduce the subject</a:t>
            </a:r>
            <a:endParaRPr lang="zh-CN" altLang="zh-CN" dirty="0"/>
          </a:p>
          <a:p>
            <a:pPr eaLnBrk="1" hangingPunct="1">
              <a:defRPr/>
            </a:pPr>
            <a:r>
              <a:rPr lang="zh-CN" altLang="zh-CN" dirty="0"/>
              <a:t>Informative:</a:t>
            </a:r>
            <a:endParaRPr lang="en-US" altLang="zh-CN" dirty="0"/>
          </a:p>
          <a:p>
            <a:pPr marL="0" indent="0">
              <a:buNone/>
              <a:defRPr/>
            </a:pPr>
            <a:r>
              <a:rPr lang="en-US" altLang="zh-CN" dirty="0"/>
              <a:t>   </a:t>
            </a:r>
            <a:r>
              <a:rPr lang="zh-CN" altLang="zh-CN" dirty="0"/>
              <a:t>information, purpose, methods, scope of paper, results / findings, conclusions, recommendations</a:t>
            </a:r>
            <a:endParaRPr lang="zh-CN"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wipe(left)">
                                      <p:cBhvr>
                                        <p:cTn id="7" dur="500"/>
                                        <p:tgtEl>
                                          <p:spTgt spid="163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7">
                                            <p:txEl>
                                              <p:pRg st="1" end="1"/>
                                            </p:txEl>
                                          </p:spTgt>
                                        </p:tgtEl>
                                        <p:attrNameLst>
                                          <p:attrName>style.visibility</p:attrName>
                                        </p:attrNameLst>
                                      </p:cBhvr>
                                      <p:to>
                                        <p:strVal val="visible"/>
                                      </p:to>
                                    </p:set>
                                    <p:animEffect transition="in" filter="wipe(left)">
                                      <p:cBhvr>
                                        <p:cTn id="12" dur="500"/>
                                        <p:tgtEl>
                                          <p:spTgt spid="163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387">
                                            <p:txEl>
                                              <p:pRg st="2" end="2"/>
                                            </p:txEl>
                                          </p:spTgt>
                                        </p:tgtEl>
                                        <p:attrNameLst>
                                          <p:attrName>style.visibility</p:attrName>
                                        </p:attrNameLst>
                                      </p:cBhvr>
                                      <p:to>
                                        <p:strVal val="visible"/>
                                      </p:to>
                                    </p:set>
                                    <p:animEffect transition="in" filter="wipe(left)">
                                      <p:cBhvr>
                                        <p:cTn id="17" dur="500"/>
                                        <p:tgtEl>
                                          <p:spTgt spid="163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387">
                                            <p:txEl>
                                              <p:pRg st="3" end="3"/>
                                            </p:txEl>
                                          </p:spTgt>
                                        </p:tgtEl>
                                        <p:attrNameLst>
                                          <p:attrName>style.visibility</p:attrName>
                                        </p:attrNameLst>
                                      </p:cBhvr>
                                      <p:to>
                                        <p:strVal val="visible"/>
                                      </p:to>
                                    </p:set>
                                    <p:animEffect transition="in" filter="wipe(left)">
                                      <p:cBhvr>
                                        <p:cTn id="22" dur="500"/>
                                        <p:tgtEl>
                                          <p:spTgt spid="163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animBg="1" autoUpdateAnimBg="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zh-CN" altLang="zh-CN"/>
              <a:t>Features of effective abstract</a:t>
            </a:r>
            <a:endParaRPr lang="zh-CN" altLang="zh-CN"/>
          </a:p>
        </p:txBody>
      </p:sp>
      <p:sp>
        <p:nvSpPr>
          <p:cNvPr id="17411" name="Rectangle 3"/>
          <p:cNvSpPr>
            <a:spLocks noGrp="1" noChangeArrowheads="1"/>
          </p:cNvSpPr>
          <p:nvPr>
            <p:ph type="body" idx="1"/>
          </p:nvPr>
        </p:nvSpPr>
        <p:spPr/>
        <p:txBody>
          <a:bodyPr/>
          <a:lstStyle/>
          <a:p>
            <a:pPr eaLnBrk="1" hangingPunct="1"/>
            <a:r>
              <a:rPr lang="zh-CN" altLang="zh-CN"/>
              <a:t>Uses one or more well developed paragraphs: unified, coherent, concise, and self-contained</a:t>
            </a:r>
            <a:endParaRPr lang="zh-CN" altLang="zh-CN"/>
          </a:p>
          <a:p>
            <a:pPr eaLnBrk="1" hangingPunct="1"/>
            <a:r>
              <a:rPr lang="zh-CN" altLang="zh-CN"/>
              <a:t>Uses a 3-part structure</a:t>
            </a:r>
            <a:endParaRPr lang="zh-CN" altLang="zh-CN"/>
          </a:p>
          <a:p>
            <a:pPr lvl="1" eaLnBrk="1" hangingPunct="1"/>
            <a:r>
              <a:rPr lang="zh-CN" altLang="zh-CN" sz="2000"/>
              <a:t>Introduction / topic sentence</a:t>
            </a:r>
            <a:endParaRPr lang="zh-CN" altLang="zh-CN" sz="2000"/>
          </a:p>
          <a:p>
            <a:pPr lvl="1" eaLnBrk="1" hangingPunct="1"/>
            <a:r>
              <a:rPr lang="zh-CN" altLang="zh-CN" sz="2000"/>
              <a:t>Body / supporting sentences</a:t>
            </a:r>
            <a:endParaRPr lang="zh-CN" altLang="zh-CN" sz="2000"/>
          </a:p>
          <a:p>
            <a:pPr lvl="1" eaLnBrk="1" hangingPunct="1"/>
            <a:r>
              <a:rPr lang="zh-CN" altLang="zh-CN" sz="2000"/>
              <a:t>Conclusion / concluding sentence</a:t>
            </a:r>
            <a:endParaRPr lang="zh-CN" altLang="zh-CN" sz="2000"/>
          </a:p>
          <a:p>
            <a:pPr eaLnBrk="1" hangingPunct="1"/>
            <a:r>
              <a:rPr lang="zh-CN" altLang="zh-CN"/>
              <a:t>Follow chronology of the thesis</a:t>
            </a:r>
            <a:endParaRPr lang="zh-CN" altLang="zh-CN"/>
          </a:p>
          <a:p>
            <a:pPr eaLnBrk="1" hangingPunct="1"/>
            <a:r>
              <a:rPr lang="zh-CN" altLang="zh-CN"/>
              <a:t>Adds no new information</a:t>
            </a:r>
            <a:endParaRPr lang="zh-CN" altLang="zh-CN"/>
          </a:p>
          <a:p>
            <a:pPr eaLnBrk="1" hangingPunct="1"/>
            <a:r>
              <a:rPr lang="zh-CN" altLang="zh-CN"/>
              <a:t>Uses passive voice</a:t>
            </a:r>
            <a:endParaRPr lang="zh-CN"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dissolve">
                                      <p:cBhvr>
                                        <p:cTn id="7" dur="500"/>
                                        <p:tgtEl>
                                          <p:spTgt spid="174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411">
                                            <p:txEl>
                                              <p:pRg st="1" end="1"/>
                                            </p:txEl>
                                          </p:spTgt>
                                        </p:tgtEl>
                                        <p:attrNameLst>
                                          <p:attrName>style.visibility</p:attrName>
                                        </p:attrNameLst>
                                      </p:cBhvr>
                                      <p:to>
                                        <p:strVal val="visible"/>
                                      </p:to>
                                    </p:set>
                                    <p:animEffect transition="in" filter="dissolve">
                                      <p:cBhvr>
                                        <p:cTn id="12" dur="500"/>
                                        <p:tgtEl>
                                          <p:spTgt spid="17411">
                                            <p:txEl>
                                              <p:pRg st="1" end="1"/>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17411">
                                            <p:txEl>
                                              <p:pRg st="2" end="2"/>
                                            </p:txEl>
                                          </p:spTgt>
                                        </p:tgtEl>
                                        <p:attrNameLst>
                                          <p:attrName>style.visibility</p:attrName>
                                        </p:attrNameLst>
                                      </p:cBhvr>
                                      <p:to>
                                        <p:strVal val="visible"/>
                                      </p:to>
                                    </p:set>
                                    <p:animEffect transition="in" filter="dissolve">
                                      <p:cBhvr>
                                        <p:cTn id="15" dur="500"/>
                                        <p:tgtEl>
                                          <p:spTgt spid="17411">
                                            <p:txEl>
                                              <p:pRg st="2" end="2"/>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7411">
                                            <p:txEl>
                                              <p:pRg st="3" end="3"/>
                                            </p:txEl>
                                          </p:spTgt>
                                        </p:tgtEl>
                                        <p:attrNameLst>
                                          <p:attrName>style.visibility</p:attrName>
                                        </p:attrNameLst>
                                      </p:cBhvr>
                                      <p:to>
                                        <p:strVal val="visible"/>
                                      </p:to>
                                    </p:set>
                                    <p:animEffect transition="in" filter="dissolve">
                                      <p:cBhvr>
                                        <p:cTn id="18" dur="500"/>
                                        <p:tgtEl>
                                          <p:spTgt spid="17411">
                                            <p:txEl>
                                              <p:pRg st="3" end="3"/>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7411">
                                            <p:txEl>
                                              <p:pRg st="4" end="4"/>
                                            </p:txEl>
                                          </p:spTgt>
                                        </p:tgtEl>
                                        <p:attrNameLst>
                                          <p:attrName>style.visibility</p:attrName>
                                        </p:attrNameLst>
                                      </p:cBhvr>
                                      <p:to>
                                        <p:strVal val="visible"/>
                                      </p:to>
                                    </p:set>
                                    <p:animEffect transition="in" filter="dissolve">
                                      <p:cBhvr>
                                        <p:cTn id="21" dur="500"/>
                                        <p:tgtEl>
                                          <p:spTgt spid="17411">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7411">
                                            <p:txEl>
                                              <p:pRg st="5" end="5"/>
                                            </p:txEl>
                                          </p:spTgt>
                                        </p:tgtEl>
                                        <p:attrNameLst>
                                          <p:attrName>style.visibility</p:attrName>
                                        </p:attrNameLst>
                                      </p:cBhvr>
                                      <p:to>
                                        <p:strVal val="visible"/>
                                      </p:to>
                                    </p:set>
                                    <p:animEffect transition="in" filter="dissolve">
                                      <p:cBhvr>
                                        <p:cTn id="26" dur="500"/>
                                        <p:tgtEl>
                                          <p:spTgt spid="17411">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7411">
                                            <p:txEl>
                                              <p:pRg st="6" end="6"/>
                                            </p:txEl>
                                          </p:spTgt>
                                        </p:tgtEl>
                                        <p:attrNameLst>
                                          <p:attrName>style.visibility</p:attrName>
                                        </p:attrNameLst>
                                      </p:cBhvr>
                                      <p:to>
                                        <p:strVal val="visible"/>
                                      </p:to>
                                    </p:set>
                                    <p:animEffect transition="in" filter="dissolve">
                                      <p:cBhvr>
                                        <p:cTn id="31" dur="500"/>
                                        <p:tgtEl>
                                          <p:spTgt spid="17411">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7411">
                                            <p:txEl>
                                              <p:pRg st="7" end="7"/>
                                            </p:txEl>
                                          </p:spTgt>
                                        </p:tgtEl>
                                        <p:attrNameLst>
                                          <p:attrName>style.visibility</p:attrName>
                                        </p:attrNameLst>
                                      </p:cBhvr>
                                      <p:to>
                                        <p:strVal val="visible"/>
                                      </p:to>
                                    </p:set>
                                    <p:animEffect transition="in" filter="dissolve">
                                      <p:cBhvr>
                                        <p:cTn id="36" dur="500"/>
                                        <p:tgtEl>
                                          <p:spTgt spid="174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animBg="1" autoUpdateAnimBg="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zh-CN" altLang="zh-CN"/>
              <a:t>Order of the elements</a:t>
            </a:r>
            <a:endParaRPr lang="zh-CN" altLang="zh-CN"/>
          </a:p>
        </p:txBody>
      </p:sp>
      <p:sp>
        <p:nvSpPr>
          <p:cNvPr id="17411" name="Rectangle 3"/>
          <p:cNvSpPr>
            <a:spLocks noGrp="1" noChangeArrowheads="1"/>
          </p:cNvSpPr>
          <p:nvPr>
            <p:ph type="body" idx="1"/>
          </p:nvPr>
        </p:nvSpPr>
        <p:spPr/>
        <p:txBody>
          <a:bodyPr/>
          <a:lstStyle/>
          <a:p>
            <a:pPr eaLnBrk="1" hangingPunct="1"/>
            <a:r>
              <a:rPr lang="zh-CN" altLang="zh-CN"/>
              <a:t>1. Purpose and method of the study</a:t>
            </a:r>
            <a:endParaRPr lang="zh-CN" altLang="zh-CN"/>
          </a:p>
          <a:p>
            <a:pPr eaLnBrk="1" hangingPunct="1"/>
            <a:r>
              <a:rPr lang="zh-CN" altLang="zh-CN"/>
              <a:t>2. Results</a:t>
            </a:r>
            <a:endParaRPr lang="zh-CN" altLang="zh-CN"/>
          </a:p>
          <a:p>
            <a:pPr eaLnBrk="1" hangingPunct="1"/>
            <a:r>
              <a:rPr lang="zh-CN" altLang="zh-CN"/>
              <a:t>3. Conclusions and recommendations if any</a:t>
            </a:r>
            <a:endParaRPr lang="zh-CN" altLang="zh-C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zh-CN" altLang="zh-CN"/>
              <a:t>Verb tense</a:t>
            </a:r>
            <a:endParaRPr lang="zh-CN" altLang="zh-CN"/>
          </a:p>
        </p:txBody>
      </p:sp>
      <p:sp>
        <p:nvSpPr>
          <p:cNvPr id="18435" name="Rectangle 3"/>
          <p:cNvSpPr>
            <a:spLocks noGrp="1" noChangeArrowheads="1"/>
          </p:cNvSpPr>
          <p:nvPr>
            <p:ph type="body" sz="half" idx="1"/>
          </p:nvPr>
        </p:nvSpPr>
        <p:spPr>
          <a:xfrm>
            <a:off x="1981201" y="1600201"/>
            <a:ext cx="4035425" cy="4525963"/>
          </a:xfrm>
        </p:spPr>
        <p:txBody>
          <a:bodyPr/>
          <a:lstStyle/>
          <a:p>
            <a:pPr eaLnBrk="1" hangingPunct="1"/>
            <a:r>
              <a:rPr lang="zh-CN" altLang="zh-CN"/>
              <a:t>Background information</a:t>
            </a:r>
            <a:endParaRPr lang="zh-CN" altLang="zh-CN"/>
          </a:p>
          <a:p>
            <a:pPr eaLnBrk="1" hangingPunct="1"/>
            <a:r>
              <a:rPr lang="zh-CN" altLang="zh-CN"/>
              <a:t>Major activities</a:t>
            </a:r>
            <a:endParaRPr lang="zh-CN" altLang="zh-CN"/>
          </a:p>
          <a:p>
            <a:pPr eaLnBrk="1" hangingPunct="1"/>
            <a:r>
              <a:rPr lang="zh-CN" altLang="zh-CN"/>
              <a:t>Methodology</a:t>
            </a:r>
            <a:endParaRPr lang="zh-CN" altLang="zh-CN"/>
          </a:p>
          <a:p>
            <a:pPr eaLnBrk="1" hangingPunct="1"/>
            <a:r>
              <a:rPr lang="zh-CN" altLang="zh-CN"/>
              <a:t>Results</a:t>
            </a:r>
            <a:endParaRPr lang="zh-CN" altLang="zh-CN"/>
          </a:p>
          <a:p>
            <a:pPr eaLnBrk="1" hangingPunct="1"/>
            <a:r>
              <a:rPr lang="zh-CN" altLang="zh-CN"/>
              <a:t>Conclusion </a:t>
            </a:r>
            <a:endParaRPr lang="zh-CN" altLang="zh-CN"/>
          </a:p>
        </p:txBody>
      </p:sp>
      <p:sp>
        <p:nvSpPr>
          <p:cNvPr id="19460" name="Rectangle 4"/>
          <p:cNvSpPr>
            <a:spLocks noGrp="1" noChangeArrowheads="1"/>
          </p:cNvSpPr>
          <p:nvPr>
            <p:ph type="body" sz="half" idx="2"/>
          </p:nvPr>
        </p:nvSpPr>
        <p:spPr>
          <a:xfrm>
            <a:off x="6176964" y="1600201"/>
            <a:ext cx="4033837" cy="4525963"/>
          </a:xfrm>
        </p:spPr>
        <p:txBody>
          <a:bodyPr/>
          <a:lstStyle/>
          <a:p>
            <a:pPr eaLnBrk="1" hangingPunct="1"/>
            <a:r>
              <a:rPr lang="zh-CN" altLang="zh-CN"/>
              <a:t>Present</a:t>
            </a:r>
            <a:endParaRPr lang="zh-CN" altLang="zh-CN"/>
          </a:p>
          <a:p>
            <a:pPr eaLnBrk="1" hangingPunct="1"/>
            <a:r>
              <a:rPr lang="zh-CN" altLang="zh-CN"/>
              <a:t>Past or present perfect</a:t>
            </a:r>
            <a:endParaRPr lang="zh-CN" altLang="zh-CN"/>
          </a:p>
          <a:p>
            <a:pPr eaLnBrk="1" hangingPunct="1"/>
            <a:r>
              <a:rPr lang="zh-CN" altLang="zh-CN"/>
              <a:t>Past</a:t>
            </a:r>
            <a:endParaRPr lang="zh-CN" altLang="zh-CN"/>
          </a:p>
          <a:p>
            <a:pPr eaLnBrk="1" hangingPunct="1"/>
            <a:r>
              <a:rPr lang="zh-CN" altLang="zh-CN"/>
              <a:t>Past</a:t>
            </a:r>
            <a:endParaRPr lang="zh-CN" altLang="zh-CN"/>
          </a:p>
          <a:p>
            <a:pPr eaLnBrk="1" hangingPunct="1"/>
            <a:r>
              <a:rPr lang="zh-CN" altLang="zh-CN"/>
              <a:t>Present  </a:t>
            </a:r>
            <a:endParaRPr lang="zh-CN" altLang="zh-CN"/>
          </a:p>
          <a:p>
            <a:pPr eaLnBrk="1" hangingPunct="1">
              <a:buFont typeface="Wingdings" panose="05000000000000000000" pitchFamily="2" charset="2"/>
              <a:buNone/>
            </a:pPr>
            <a:endParaRPr lang="zh-CN"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60">
                                            <p:txEl>
                                              <p:pRg st="0" end="0"/>
                                            </p:txEl>
                                          </p:spTgt>
                                        </p:tgtEl>
                                        <p:attrNameLst>
                                          <p:attrName>style.visibility</p:attrName>
                                        </p:attrNameLst>
                                      </p:cBhvr>
                                      <p:to>
                                        <p:strVal val="visible"/>
                                      </p:to>
                                    </p:set>
                                    <p:animEffect transition="in" filter="wipe(left)">
                                      <p:cBhvr>
                                        <p:cTn id="7" dur="500"/>
                                        <p:tgtEl>
                                          <p:spTgt spid="1946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60">
                                            <p:txEl>
                                              <p:pRg st="1" end="1"/>
                                            </p:txEl>
                                          </p:spTgt>
                                        </p:tgtEl>
                                        <p:attrNameLst>
                                          <p:attrName>style.visibility</p:attrName>
                                        </p:attrNameLst>
                                      </p:cBhvr>
                                      <p:to>
                                        <p:strVal val="visible"/>
                                      </p:to>
                                    </p:set>
                                    <p:animEffect transition="in" filter="wipe(left)">
                                      <p:cBhvr>
                                        <p:cTn id="12" dur="500"/>
                                        <p:tgtEl>
                                          <p:spTgt spid="1946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460">
                                            <p:txEl>
                                              <p:pRg st="2" end="2"/>
                                            </p:txEl>
                                          </p:spTgt>
                                        </p:tgtEl>
                                        <p:attrNameLst>
                                          <p:attrName>style.visibility</p:attrName>
                                        </p:attrNameLst>
                                      </p:cBhvr>
                                      <p:to>
                                        <p:strVal val="visible"/>
                                      </p:to>
                                    </p:set>
                                    <p:animEffect transition="in" filter="wipe(left)">
                                      <p:cBhvr>
                                        <p:cTn id="17" dur="500"/>
                                        <p:tgtEl>
                                          <p:spTgt spid="1946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460">
                                            <p:txEl>
                                              <p:pRg st="3" end="3"/>
                                            </p:txEl>
                                          </p:spTgt>
                                        </p:tgtEl>
                                        <p:attrNameLst>
                                          <p:attrName>style.visibility</p:attrName>
                                        </p:attrNameLst>
                                      </p:cBhvr>
                                      <p:to>
                                        <p:strVal val="visible"/>
                                      </p:to>
                                    </p:set>
                                    <p:animEffect transition="in" filter="wipe(left)">
                                      <p:cBhvr>
                                        <p:cTn id="22" dur="500"/>
                                        <p:tgtEl>
                                          <p:spTgt spid="1946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460">
                                            <p:txEl>
                                              <p:pRg st="4" end="4"/>
                                            </p:txEl>
                                          </p:spTgt>
                                        </p:tgtEl>
                                        <p:attrNameLst>
                                          <p:attrName>style.visibility</p:attrName>
                                        </p:attrNameLst>
                                      </p:cBhvr>
                                      <p:to>
                                        <p:strVal val="visible"/>
                                      </p:to>
                                    </p:set>
                                    <p:animEffect transition="in" filter="wipe(left)">
                                      <p:cBhvr>
                                        <p:cTn id="27" dur="500"/>
                                        <p:tgtEl>
                                          <p:spTgt spid="1946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animBg="1" autoUpdateAnimBg="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zh-CN" altLang="zh-CN"/>
              <a:t>Common problems</a:t>
            </a:r>
            <a:endParaRPr lang="zh-CN" altLang="zh-CN"/>
          </a:p>
        </p:txBody>
      </p:sp>
      <p:sp>
        <p:nvSpPr>
          <p:cNvPr id="19459" name="Rectangle 3"/>
          <p:cNvSpPr>
            <a:spLocks noGrp="1" noChangeArrowheads="1"/>
          </p:cNvSpPr>
          <p:nvPr>
            <p:ph type="body" idx="1"/>
          </p:nvPr>
        </p:nvSpPr>
        <p:spPr/>
        <p:txBody>
          <a:bodyPr/>
          <a:lstStyle/>
          <a:p>
            <a:pPr eaLnBrk="1" hangingPunct="1"/>
            <a:r>
              <a:rPr lang="zh-CN" altLang="zh-CN"/>
              <a:t>Too detailed</a:t>
            </a:r>
            <a:endParaRPr lang="zh-CN" altLang="zh-CN"/>
          </a:p>
          <a:p>
            <a:pPr eaLnBrk="1" hangingPunct="1"/>
            <a:r>
              <a:rPr lang="zh-CN" altLang="zh-CN"/>
              <a:t>Important information left out</a:t>
            </a:r>
            <a:endParaRPr lang="zh-CN" altLang="zh-CN"/>
          </a:p>
          <a:p>
            <a:pPr eaLnBrk="1" hangingPunct="1"/>
            <a:r>
              <a:rPr lang="zh-CN" altLang="zh-CN"/>
              <a:t>Too long</a:t>
            </a:r>
            <a:endParaRPr lang="zh-CN" altLang="zh-CN"/>
          </a:p>
          <a:p>
            <a:pPr eaLnBrk="1" hangingPunct="1"/>
            <a:r>
              <a:rPr lang="zh-CN" altLang="zh-CN"/>
              <a:t>Too short</a:t>
            </a:r>
            <a:endParaRPr lang="zh-CN" altLang="zh-C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zh-CN" altLang="zh-CN"/>
              <a:t>Tips </a:t>
            </a:r>
            <a:endParaRPr lang="zh-CN" altLang="zh-CN"/>
          </a:p>
        </p:txBody>
      </p:sp>
      <p:sp>
        <p:nvSpPr>
          <p:cNvPr id="21507" name="Rectangle 3"/>
          <p:cNvSpPr>
            <a:spLocks noGrp="1" noChangeArrowheads="1"/>
          </p:cNvSpPr>
          <p:nvPr>
            <p:ph type="body" idx="1"/>
          </p:nvPr>
        </p:nvSpPr>
        <p:spPr/>
        <p:txBody>
          <a:bodyPr/>
          <a:lstStyle/>
          <a:p>
            <a:pPr eaLnBrk="1" hangingPunct="1">
              <a:lnSpc>
                <a:spcPct val="90000"/>
              </a:lnSpc>
            </a:pPr>
            <a:r>
              <a:rPr lang="zh-CN" altLang="zh-CN"/>
              <a:t>Select important information from the headings and subheadings, table of contents, introduction and conclusion</a:t>
            </a:r>
            <a:endParaRPr lang="zh-CN" altLang="zh-CN"/>
          </a:p>
          <a:p>
            <a:pPr eaLnBrk="1" hangingPunct="1">
              <a:lnSpc>
                <a:spcPct val="90000"/>
              </a:lnSpc>
            </a:pPr>
            <a:r>
              <a:rPr lang="zh-CN" altLang="zh-CN"/>
              <a:t>Avoid direct copy of sentences</a:t>
            </a:r>
            <a:endParaRPr lang="zh-CN" altLang="zh-CN"/>
          </a:p>
          <a:p>
            <a:pPr eaLnBrk="1" hangingPunct="1">
              <a:lnSpc>
                <a:spcPct val="90000"/>
              </a:lnSpc>
            </a:pPr>
            <a:r>
              <a:rPr lang="zh-CN" altLang="zh-CN"/>
              <a:t>Avoid reference to other literatures</a:t>
            </a:r>
            <a:endParaRPr lang="zh-CN" altLang="zh-CN"/>
          </a:p>
          <a:p>
            <a:pPr eaLnBrk="1" hangingPunct="1">
              <a:lnSpc>
                <a:spcPct val="90000"/>
              </a:lnSpc>
            </a:pPr>
            <a:r>
              <a:rPr lang="zh-CN" altLang="zh-CN"/>
              <a:t>Avoid “I” or “we”</a:t>
            </a:r>
            <a:endParaRPr lang="zh-CN" altLang="zh-CN"/>
          </a:p>
          <a:p>
            <a:pPr eaLnBrk="1" hangingPunct="1">
              <a:lnSpc>
                <a:spcPct val="90000"/>
              </a:lnSpc>
            </a:pPr>
            <a:r>
              <a:rPr lang="zh-CN" altLang="zh-CN"/>
              <a:t>Use non-evaluating language to report rather than comment</a:t>
            </a:r>
            <a:endParaRPr lang="zh-CN" altLang="zh-CN"/>
          </a:p>
          <a:p>
            <a:pPr eaLnBrk="1" hangingPunct="1">
              <a:lnSpc>
                <a:spcPct val="90000"/>
              </a:lnSpc>
            </a:pPr>
            <a:r>
              <a:rPr lang="zh-CN" altLang="zh-CN"/>
              <a:t>Remember the word limit</a:t>
            </a:r>
            <a:endParaRPr lang="zh-CN"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dissolve">
                                      <p:cBhvr>
                                        <p:cTn id="7" dur="500"/>
                                        <p:tgtEl>
                                          <p:spTgt spid="21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507">
                                            <p:txEl>
                                              <p:pRg st="1" end="1"/>
                                            </p:txEl>
                                          </p:spTgt>
                                        </p:tgtEl>
                                        <p:attrNameLst>
                                          <p:attrName>style.visibility</p:attrName>
                                        </p:attrNameLst>
                                      </p:cBhvr>
                                      <p:to>
                                        <p:strVal val="visible"/>
                                      </p:to>
                                    </p:set>
                                    <p:animEffect transition="in" filter="dissolve">
                                      <p:cBhvr>
                                        <p:cTn id="12" dur="500"/>
                                        <p:tgtEl>
                                          <p:spTgt spid="215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1507">
                                            <p:txEl>
                                              <p:pRg st="2" end="2"/>
                                            </p:txEl>
                                          </p:spTgt>
                                        </p:tgtEl>
                                        <p:attrNameLst>
                                          <p:attrName>style.visibility</p:attrName>
                                        </p:attrNameLst>
                                      </p:cBhvr>
                                      <p:to>
                                        <p:strVal val="visible"/>
                                      </p:to>
                                    </p:set>
                                    <p:animEffect transition="in" filter="dissolve">
                                      <p:cBhvr>
                                        <p:cTn id="17" dur="500"/>
                                        <p:tgtEl>
                                          <p:spTgt spid="215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1507">
                                            <p:txEl>
                                              <p:pRg st="3" end="3"/>
                                            </p:txEl>
                                          </p:spTgt>
                                        </p:tgtEl>
                                        <p:attrNameLst>
                                          <p:attrName>style.visibility</p:attrName>
                                        </p:attrNameLst>
                                      </p:cBhvr>
                                      <p:to>
                                        <p:strVal val="visible"/>
                                      </p:to>
                                    </p:set>
                                    <p:animEffect transition="in" filter="dissolve">
                                      <p:cBhvr>
                                        <p:cTn id="22" dur="500"/>
                                        <p:tgtEl>
                                          <p:spTgt spid="215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1507">
                                            <p:txEl>
                                              <p:pRg st="4" end="4"/>
                                            </p:txEl>
                                          </p:spTgt>
                                        </p:tgtEl>
                                        <p:attrNameLst>
                                          <p:attrName>style.visibility</p:attrName>
                                        </p:attrNameLst>
                                      </p:cBhvr>
                                      <p:to>
                                        <p:strVal val="visible"/>
                                      </p:to>
                                    </p:set>
                                    <p:animEffect transition="in" filter="dissolve">
                                      <p:cBhvr>
                                        <p:cTn id="27" dur="500"/>
                                        <p:tgtEl>
                                          <p:spTgt spid="2150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1507">
                                            <p:txEl>
                                              <p:pRg st="5" end="5"/>
                                            </p:txEl>
                                          </p:spTgt>
                                        </p:tgtEl>
                                        <p:attrNameLst>
                                          <p:attrName>style.visibility</p:attrName>
                                        </p:attrNameLst>
                                      </p:cBhvr>
                                      <p:to>
                                        <p:strVal val="visible"/>
                                      </p:to>
                                    </p:set>
                                    <p:animEffect transition="in" filter="dissolve">
                                      <p:cBhvr>
                                        <p:cTn id="32" dur="500"/>
                                        <p:tgtEl>
                                          <p:spTgt spid="215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animBg="1" autoUpdateAnimBg="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en-US" altLang="zh-CN" dirty="0"/>
              <a:t>The abstract should be a concise, stand-alone summary of the paper that covers the following topics:</a:t>
            </a:r>
            <a:endParaRPr lang="en-US" altLang="zh-CN" dirty="0"/>
          </a:p>
          <a:p>
            <a:r>
              <a:rPr lang="en-US" altLang="zh-CN" dirty="0"/>
              <a:t>Background/motivation/context,  </a:t>
            </a:r>
            <a:endParaRPr lang="en-US" altLang="zh-CN" dirty="0"/>
          </a:p>
          <a:p>
            <a:r>
              <a:rPr lang="en-US" altLang="zh-CN" dirty="0"/>
              <a:t>Aim/objective(s)/problem statement, </a:t>
            </a:r>
            <a:endParaRPr lang="en-US" altLang="zh-CN" dirty="0"/>
          </a:p>
          <a:p>
            <a:r>
              <a:rPr lang="en-US" altLang="zh-CN" dirty="0"/>
              <a:t>Approach/method(s)/procedure(s)/materials,  </a:t>
            </a:r>
            <a:endParaRPr lang="en-US" altLang="zh-CN" dirty="0"/>
          </a:p>
          <a:p>
            <a:r>
              <a:rPr lang="en-US" altLang="zh-CN" dirty="0"/>
              <a:t>Results, and  </a:t>
            </a:r>
            <a:endParaRPr lang="en-US" altLang="zh-CN" dirty="0"/>
          </a:p>
          <a:p>
            <a:r>
              <a:rPr lang="en-US" altLang="zh-CN" dirty="0"/>
              <a:t>Conclusion(s)/implications.</a:t>
            </a: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Structured Abstracts</a:t>
            </a:r>
            <a:endParaRPr lang="zh-CN" altLang="en-US" dirty="0"/>
          </a:p>
        </p:txBody>
      </p:sp>
      <p:sp>
        <p:nvSpPr>
          <p:cNvPr id="3" name="内容占位符 2"/>
          <p:cNvSpPr>
            <a:spLocks noGrp="1"/>
          </p:cNvSpPr>
          <p:nvPr>
            <p:ph idx="1"/>
          </p:nvPr>
        </p:nvSpPr>
        <p:spPr/>
        <p:txBody>
          <a:bodyPr>
            <a:normAutofit fontScale="92500" lnSpcReduction="10000"/>
          </a:bodyPr>
          <a:lstStyle/>
          <a:p>
            <a:r>
              <a:rPr lang="en-US" altLang="zh-CN" b="1" dirty="0"/>
              <a:t>Background:</a:t>
            </a:r>
            <a:r>
              <a:rPr lang="en-US" altLang="zh-CN" dirty="0"/>
              <a:t> What issues led to this work? What is the environment that makes this work interesting or important? </a:t>
            </a:r>
            <a:endParaRPr lang="en-US" altLang="zh-CN" dirty="0"/>
          </a:p>
          <a:p>
            <a:r>
              <a:rPr lang="en-US" altLang="zh-CN" b="1" dirty="0"/>
              <a:t>Aim:</a:t>
            </a:r>
            <a:r>
              <a:rPr lang="en-US" altLang="zh-CN" dirty="0"/>
              <a:t> What did you plan to achieve in this work? What gap is being filled? </a:t>
            </a:r>
            <a:endParaRPr lang="en-US" altLang="zh-CN" dirty="0"/>
          </a:p>
          <a:p>
            <a:r>
              <a:rPr lang="en-US" altLang="zh-CN" b="1" dirty="0"/>
              <a:t>Approach: </a:t>
            </a:r>
            <a:r>
              <a:rPr lang="en-US" altLang="zh-CN" dirty="0"/>
              <a:t>How did you set about achieving your aims (e.g., experimental method, simulation approach, theoretical approach, combinations of these, etc.)? What did you actually do?</a:t>
            </a:r>
            <a:endParaRPr lang="en-US" altLang="zh-CN" dirty="0"/>
          </a:p>
          <a:p>
            <a:r>
              <a:rPr lang="en-US" altLang="zh-CN" dirty="0"/>
              <a:t> </a:t>
            </a:r>
            <a:r>
              <a:rPr lang="en-US" altLang="zh-CN" b="1" dirty="0"/>
              <a:t>Results:</a:t>
            </a:r>
            <a:r>
              <a:rPr lang="en-US" altLang="zh-CN" dirty="0"/>
              <a:t> What were the main results of the study (including numbers, if appropriate)? </a:t>
            </a:r>
            <a:endParaRPr lang="en-US" altLang="zh-CN" dirty="0"/>
          </a:p>
          <a:p>
            <a:r>
              <a:rPr lang="en-US" altLang="zh-CN" b="1" dirty="0"/>
              <a:t>Conclusions: </a:t>
            </a:r>
            <a:r>
              <a:rPr lang="en-US" altLang="zh-CN" dirty="0"/>
              <a:t>What were your main conclusions? Why are the results important? Where will they lead?</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EXAMPLES:</a:t>
            </a:r>
            <a:endParaRPr lang="zh-CN" altLang="en-US" dirty="0"/>
          </a:p>
        </p:txBody>
      </p:sp>
      <p:sp>
        <p:nvSpPr>
          <p:cNvPr id="3" name="内容占位符 2"/>
          <p:cNvSpPr>
            <a:spLocks noGrp="1"/>
          </p:cNvSpPr>
          <p:nvPr>
            <p:ph idx="1"/>
          </p:nvPr>
        </p:nvSpPr>
        <p:spPr/>
        <p:txBody>
          <a:bodyPr>
            <a:normAutofit fontScale="70000" lnSpcReduction="20000"/>
          </a:bodyPr>
          <a:lstStyle/>
          <a:p>
            <a:r>
              <a:rPr lang="en-US" altLang="zh-CN" dirty="0"/>
              <a:t>Background: Photoresist development rate can be defined microscopically (the development rate at a point) or macroscopically (the propagation rate of an average resist height). In the presence of stochastic noise, these two rates will be different. </a:t>
            </a:r>
            <a:endParaRPr lang="en-US" altLang="zh-CN" dirty="0"/>
          </a:p>
          <a:p>
            <a:r>
              <a:rPr lang="en-US" altLang="zh-CN" dirty="0"/>
              <a:t>Aim: In order to properly calibrate lithography simulators, the difference between these two definitions of development rate should be quantified. </a:t>
            </a:r>
            <a:endParaRPr lang="en-US" altLang="zh-CN" dirty="0"/>
          </a:p>
          <a:p>
            <a:r>
              <a:rPr lang="en-US" altLang="zh-CN" dirty="0"/>
              <a:t>Approach: Using theoretical derivations and a stochastic (Monte Carlo) resist simulator, the propagation rate of a resist surface is characterized in the presence of stochastic variation in the resist deprotection concentration and a nonlinear development rate response. </a:t>
            </a:r>
            <a:endParaRPr lang="en-US" altLang="zh-CN" dirty="0"/>
          </a:p>
          <a:p>
            <a:r>
              <a:rPr lang="en-US" altLang="zh-CN" dirty="0"/>
              <a:t>Results: The resulting propagation rate can be more than an order of magnitude higher than for the case of no stochastic noise. Correlation in the development rate creates an effective surface inhibition over a depth into the resist of several correlation lengths. </a:t>
            </a:r>
            <a:endParaRPr lang="en-US" altLang="zh-CN" dirty="0"/>
          </a:p>
          <a:p>
            <a:r>
              <a:rPr lang="en-US" altLang="zh-CN" dirty="0"/>
              <a:t>Conclusions: The differences between microscopic and macroscopic dissolution rate can have an important effect on how development rate models should be calibrated, depending on their use in continuum or stochastic lithography simulators.</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85000" lnSpcReduction="20000"/>
          </a:bodyPr>
          <a:lstStyle/>
          <a:p>
            <a:r>
              <a:rPr lang="en-US" altLang="zh-CN" dirty="0"/>
              <a:t>Photoresist development rate can be defined microscopically (the development rate at a point) or macroscopically (the propagation rate of an average resist height). In the presence of stochastic noise, these two rates will be different. In order to properly calibrate lithography simulators, the difference between these two definitions of development rate should be quantified. Using theoretical derivations and a stochastic (Monte Carlo) resist simulator, the propagation rate of a resist surface is characterized in the presence of stochastic variation in the resist deprotection concentration and a nonlinear development rate response. The resulting propagation rate can be more than an order of magnitude higher than for the case of no stochastic noise. Correlation in the development rate creates an effective surface inhibition over a depth into the resist of several correlation lengths. These results show that the differences between microscopic and macroscopic dissolution rate can have an important effect on how development rate models should be calibrated, depending on their use in continuum or stochastic lithography simulators.</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custDataLst>
              <p:tags r:id="rId1"/>
            </p:custDataLst>
          </p:nvPr>
        </p:nvPicPr>
        <p:blipFill>
          <a:blip r:embed="rId2"/>
          <a:stretch>
            <a:fillRect/>
          </a:stretch>
        </p:blipFill>
        <p:spPr>
          <a:xfrm>
            <a:off x="1948815" y="1825625"/>
            <a:ext cx="8293100" cy="435165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a:t>Additionally, the structured method of abstract writing also helps to avoid useless but all-too-common phrases like “in this paper” and “we report” or “will be discussed.” The abstract should talk about the work, not about the paper; phrases like “is discussed” turn your abstract into a table of contents rather than a summary of the paper. Do not use the first person (“I” or “we” or “the author”). Also, there is rarely a need to use phrases like “new” or “novel” in the abstract because only the novel results should be mentioned.</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CHECK YOUR ABSTRACT</a:t>
            </a:r>
            <a:endParaRPr lang="zh-CN" altLang="en-US" dirty="0"/>
          </a:p>
        </p:txBody>
      </p:sp>
      <p:sp>
        <p:nvSpPr>
          <p:cNvPr id="3" name="内容占位符 2"/>
          <p:cNvSpPr>
            <a:spLocks noGrp="1"/>
          </p:cNvSpPr>
          <p:nvPr>
            <p:ph idx="1"/>
          </p:nvPr>
        </p:nvSpPr>
        <p:spPr/>
        <p:txBody>
          <a:bodyPr/>
          <a:lstStyle/>
          <a:p>
            <a:r>
              <a:rPr lang="en-US" altLang="zh-CN" dirty="0"/>
              <a:t>There is a three-part test that should be applied to your abstract when you are finished: </a:t>
            </a:r>
            <a:endParaRPr lang="en-US" altLang="zh-CN" dirty="0"/>
          </a:p>
          <a:p>
            <a:r>
              <a:rPr lang="en-US" altLang="zh-CN" dirty="0"/>
              <a:t>1. Is all of the information in the abstract consistent with what is written in the body of the paper? </a:t>
            </a:r>
            <a:endParaRPr lang="en-US" altLang="zh-CN" dirty="0"/>
          </a:p>
          <a:p>
            <a:r>
              <a:rPr lang="en-US" altLang="zh-CN" dirty="0"/>
              <a:t>2. Can all of the information found in the abstract also be found in the body of the paper? </a:t>
            </a:r>
            <a:endParaRPr lang="en-US" altLang="zh-CN" dirty="0"/>
          </a:p>
          <a:p>
            <a:r>
              <a:rPr lang="en-US" altLang="zh-CN" dirty="0"/>
              <a:t>3. Is the important information of the paper found in the abstract? Are any key words from the paper missing from the abstract?</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10000"/>
          </a:bodyPr>
          <a:lstStyle/>
          <a:p>
            <a:r>
              <a:rPr lang="en-US" altLang="zh-CN" dirty="0"/>
              <a:t>The abstract must be self-contained, and it should generally not contain citations to other papers. If a citation is required (for example, if the paper is a response to a previous publication), then the full citation must be embedded in the abstract. Avoid abbreviations and acronyms in the abstract, but if you insist on including one, spell it out the first time it is used. Do not refer to figures or tables from the body of the paper, or use words or descriptions that will only make sense after the full paper has been read</a:t>
            </a:r>
            <a:endParaRPr lang="en-US" altLang="zh-CN" dirty="0"/>
          </a:p>
          <a:p>
            <a:r>
              <a:rPr lang="en-US" altLang="zh-CN" dirty="0"/>
              <a:t>keep the audience in mind</a:t>
            </a:r>
            <a:endParaRPr lang="en-US" altLang="zh-CN" dirty="0"/>
          </a:p>
          <a:p>
            <a:r>
              <a:rPr lang="en-US" altLang="zh-CN" dirty="0"/>
              <a:t>keep the audience in mind</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Titles</a:t>
            </a:r>
            <a:endParaRPr lang="zh-CN" altLang="en-US" dirty="0"/>
          </a:p>
        </p:txBody>
      </p:sp>
      <p:sp>
        <p:nvSpPr>
          <p:cNvPr id="3" name="内容占位符 2"/>
          <p:cNvSpPr>
            <a:spLocks noGrp="1"/>
          </p:cNvSpPr>
          <p:nvPr>
            <p:ph idx="1"/>
          </p:nvPr>
        </p:nvSpPr>
        <p:spPr/>
        <p:txBody>
          <a:bodyPr/>
          <a:lstStyle/>
          <a:p>
            <a:r>
              <a:rPr lang="en-US" altLang="zh-CN" dirty="0"/>
              <a:t>working title</a:t>
            </a:r>
            <a:endParaRPr lang="en-US" altLang="zh-CN" dirty="0"/>
          </a:p>
          <a:p>
            <a:r>
              <a:rPr lang="en-US" altLang="zh-CN" dirty="0"/>
              <a:t>write the title last</a:t>
            </a:r>
            <a:endParaRPr lang="en-US" altLang="zh-CN" dirty="0"/>
          </a:p>
          <a:p>
            <a:r>
              <a:rPr lang="en-US" altLang="zh-CN" dirty="0"/>
              <a:t>In general, the title should reflect the aim and approach of the work. Depending on the audience (and the specificity of the journal), some of the background may have to be included. Rarely are results and conclusions even hinted at in the title.</a:t>
            </a:r>
            <a:endParaRPr lang="en-US" altLang="zh-CN" dirty="0"/>
          </a:p>
          <a:p>
            <a:endParaRPr lang="zh-CN" altLang="en-US" b="1"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zh-CN" altLang="zh-CN"/>
              <a:t>Title </a:t>
            </a:r>
            <a:endParaRPr lang="zh-CN" altLang="zh-CN"/>
          </a:p>
        </p:txBody>
      </p:sp>
      <p:sp>
        <p:nvSpPr>
          <p:cNvPr id="7171" name="Rectangle 3"/>
          <p:cNvSpPr>
            <a:spLocks noGrp="1" noChangeArrowheads="1"/>
          </p:cNvSpPr>
          <p:nvPr>
            <p:ph type="body" idx="1"/>
          </p:nvPr>
        </p:nvSpPr>
        <p:spPr/>
        <p:txBody>
          <a:bodyPr/>
          <a:lstStyle/>
          <a:p>
            <a:pPr eaLnBrk="1" hangingPunct="1">
              <a:defRPr/>
            </a:pPr>
            <a:r>
              <a:rPr lang="zh-CN" altLang="zh-CN" dirty="0"/>
              <a:t>Function of the title: </a:t>
            </a:r>
            <a:endParaRPr lang="en-US" altLang="zh-CN" dirty="0"/>
          </a:p>
          <a:p>
            <a:pPr marL="0" indent="0">
              <a:buNone/>
              <a:defRPr/>
            </a:pPr>
            <a:r>
              <a:rPr lang="en-US" altLang="zh-CN" dirty="0"/>
              <a:t>    </a:t>
            </a:r>
            <a:r>
              <a:rPr lang="zh-CN" altLang="zh-CN" dirty="0"/>
              <a:t>generalize the text, attract the reader, facilitate the retrieval </a:t>
            </a:r>
            <a:endParaRPr lang="zh-CN" altLang="zh-CN" dirty="0"/>
          </a:p>
          <a:p>
            <a:pPr eaLnBrk="1" hangingPunct="1">
              <a:defRPr/>
            </a:pPr>
            <a:r>
              <a:rPr lang="zh-CN" altLang="zh-CN" dirty="0"/>
              <a:t>Writing requirements of the title: </a:t>
            </a:r>
            <a:endParaRPr lang="zh-CN" altLang="zh-CN" dirty="0"/>
          </a:p>
          <a:p>
            <a:pPr lvl="1" eaLnBrk="1" hangingPunct="1">
              <a:defRPr/>
            </a:pPr>
            <a:r>
              <a:rPr lang="zh-CN" altLang="zh-CN" dirty="0"/>
              <a:t>Be brief and concise (less than 15 words)</a:t>
            </a:r>
            <a:endParaRPr lang="zh-CN" altLang="zh-CN" dirty="0"/>
          </a:p>
          <a:p>
            <a:pPr lvl="1" eaLnBrk="1" hangingPunct="1">
              <a:defRPr/>
            </a:pPr>
            <a:r>
              <a:rPr lang="zh-CN" altLang="zh-CN" dirty="0"/>
              <a:t>Be specific</a:t>
            </a:r>
            <a:endParaRPr lang="zh-CN" altLang="zh-CN" dirty="0"/>
          </a:p>
          <a:p>
            <a:pPr lvl="1" eaLnBrk="1" hangingPunct="1">
              <a:defRPr/>
            </a:pPr>
            <a:r>
              <a:rPr lang="zh-CN" altLang="zh-CN" dirty="0"/>
              <a:t>Avoid questions</a:t>
            </a:r>
            <a:endParaRPr lang="zh-CN" altLang="zh-CN" dirty="0"/>
          </a:p>
          <a:p>
            <a:pPr lvl="1" eaLnBrk="1" hangingPunct="1">
              <a:defRPr/>
            </a:pPr>
            <a:r>
              <a:rPr lang="zh-CN" altLang="zh-CN" dirty="0"/>
              <a:t>Be parallel</a:t>
            </a:r>
            <a:endParaRPr lang="zh-CN" altLang="zh-CN"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zh-CN" altLang="zh-CN"/>
              <a:t>Sample titles</a:t>
            </a:r>
            <a:endParaRPr lang="zh-CN" altLang="zh-CN"/>
          </a:p>
        </p:txBody>
      </p:sp>
      <p:sp>
        <p:nvSpPr>
          <p:cNvPr id="9219" name="Rectangle 3"/>
          <p:cNvSpPr>
            <a:spLocks noGrp="1" noChangeArrowheads="1"/>
          </p:cNvSpPr>
          <p:nvPr>
            <p:ph type="body" idx="1"/>
          </p:nvPr>
        </p:nvSpPr>
        <p:spPr/>
        <p:txBody>
          <a:bodyPr/>
          <a:lstStyle/>
          <a:p>
            <a:pPr eaLnBrk="1" hangingPunct="1"/>
            <a:r>
              <a:rPr lang="zh-CN" altLang="zh-CN"/>
              <a:t>Poor: </a:t>
            </a:r>
            <a:r>
              <a:rPr lang="zh-CN" altLang="zh-CN" i="1"/>
              <a:t>On the Addition to the Method of Microscopic Research by a New Way of Producing Color: – Contrast Between an Object and its Background or Between Definite Parts of the Object Itself</a:t>
            </a:r>
            <a:endParaRPr lang="zh-CN" altLang="zh-CN" i="1"/>
          </a:p>
          <a:p>
            <a:pPr eaLnBrk="1" hangingPunct="1"/>
            <a:r>
              <a:rPr lang="zh-CN" altLang="zh-CN"/>
              <a:t>Improved: </a:t>
            </a:r>
            <a:r>
              <a:rPr lang="zh-CN" altLang="zh-CN" i="1"/>
              <a:t>A New Way of Producing Color – Contrast in Microscopic Examination</a:t>
            </a:r>
            <a:r>
              <a:rPr lang="zh-CN" altLang="zh-CN"/>
              <a:t> </a:t>
            </a:r>
            <a:endParaRPr lang="zh-CN"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wipe(left)">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wipe(left)">
                                      <p:cBhvr>
                                        <p:cTn id="12" dur="500"/>
                                        <p:tgtEl>
                                          <p:spTgt spid="92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animBg="1" autoUpdateAnimBg="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zh-CN" altLang="zh-CN"/>
              <a:t>Sample titles</a:t>
            </a:r>
            <a:endParaRPr lang="zh-CN" altLang="zh-CN"/>
          </a:p>
        </p:txBody>
      </p:sp>
      <p:sp>
        <p:nvSpPr>
          <p:cNvPr id="10243" name="Rectangle 3"/>
          <p:cNvSpPr>
            <a:spLocks noGrp="1" noChangeArrowheads="1"/>
          </p:cNvSpPr>
          <p:nvPr>
            <p:ph type="body" idx="1"/>
          </p:nvPr>
        </p:nvSpPr>
        <p:spPr/>
        <p:txBody>
          <a:bodyPr/>
          <a:lstStyle/>
          <a:p>
            <a:pPr eaLnBrk="1" hangingPunct="1"/>
            <a:r>
              <a:rPr lang="zh-CN" altLang="zh-CN"/>
              <a:t>Poor: </a:t>
            </a:r>
            <a:r>
              <a:rPr lang="zh-CN" altLang="zh-CN" i="1"/>
              <a:t>Computer Retrieval</a:t>
            </a:r>
            <a:endParaRPr lang="zh-CN" altLang="zh-CN" i="1"/>
          </a:p>
          <a:p>
            <a:pPr eaLnBrk="1" hangingPunct="1"/>
            <a:r>
              <a:rPr lang="zh-CN" altLang="zh-CN"/>
              <a:t>Improved: </a:t>
            </a:r>
            <a:r>
              <a:rPr lang="zh-CN" altLang="zh-CN" i="1"/>
              <a:t>Computer Retrieval on Conference Information</a:t>
            </a:r>
            <a:endParaRPr lang="zh-CN" altLang="zh-CN" i="1"/>
          </a:p>
          <a:p>
            <a:pPr eaLnBrk="1" hangingPunct="1"/>
            <a:r>
              <a:rPr lang="zh-CN" altLang="zh-CN"/>
              <a:t>Poor: </a:t>
            </a:r>
            <a:r>
              <a:rPr lang="zh-CN" altLang="zh-CN" i="1"/>
              <a:t>The Design and Preparing of User Documents</a:t>
            </a:r>
            <a:endParaRPr lang="zh-CN" altLang="zh-CN" i="1"/>
          </a:p>
          <a:p>
            <a:pPr eaLnBrk="1" hangingPunct="1"/>
            <a:r>
              <a:rPr lang="zh-CN" altLang="zh-CN"/>
              <a:t>Improved: </a:t>
            </a:r>
            <a:r>
              <a:rPr lang="zh-CN" altLang="zh-CN" i="1"/>
              <a:t>The Design and Preparation of User Documents</a:t>
            </a:r>
            <a:r>
              <a:rPr lang="zh-CN" altLang="zh-CN"/>
              <a:t> </a:t>
            </a:r>
            <a:endParaRPr lang="zh-CN"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wipe(left)">
                                      <p:cBhvr>
                                        <p:cTn id="7" dur="500"/>
                                        <p:tgtEl>
                                          <p:spTgt spid="10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wipe(left)">
                                      <p:cBhvr>
                                        <p:cTn id="12" dur="500"/>
                                        <p:tgtEl>
                                          <p:spTgt spid="102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wipe(left)">
                                      <p:cBhvr>
                                        <p:cTn id="17" dur="500"/>
                                        <p:tgtEl>
                                          <p:spTgt spid="102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243">
                                            <p:txEl>
                                              <p:pRg st="3" end="3"/>
                                            </p:txEl>
                                          </p:spTgt>
                                        </p:tgtEl>
                                        <p:attrNameLst>
                                          <p:attrName>style.visibility</p:attrName>
                                        </p:attrNameLst>
                                      </p:cBhvr>
                                      <p:to>
                                        <p:strVal val="visible"/>
                                      </p:to>
                                    </p:set>
                                    <p:animEffect transition="in" filter="wipe(left)">
                                      <p:cBhvr>
                                        <p:cTn id="22" dur="500"/>
                                        <p:tgtEl>
                                          <p:spTgt spid="102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animBg="1" autoUpdateAnimBg="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70000" lnSpcReduction="20000"/>
          </a:bodyPr>
          <a:lstStyle/>
          <a:p>
            <a:r>
              <a:rPr lang="en-US" altLang="zh-CN" dirty="0"/>
              <a:t>Unlike the worlds of newspaper reporting and marketing press releases, the title of a scientific paper should describe the aim of the work, not the results. Thus, a good title might be </a:t>
            </a:r>
            <a:endParaRPr lang="en-US" altLang="zh-CN" dirty="0"/>
          </a:p>
          <a:p>
            <a:pPr marL="0" indent="0">
              <a:buNone/>
            </a:pPr>
            <a:r>
              <a:rPr lang="en-US" altLang="zh-CN" b="1" dirty="0"/>
              <a:t>Impact of temperature and pressure on the compositional uniformity of sputter-deposited aluminum alloys </a:t>
            </a:r>
            <a:endParaRPr lang="en-US" altLang="zh-CN" b="1" dirty="0"/>
          </a:p>
          <a:p>
            <a:endParaRPr lang="en-US" altLang="zh-CN" dirty="0"/>
          </a:p>
          <a:p>
            <a:r>
              <a:rPr lang="en-US" altLang="zh-CN" dirty="0"/>
              <a:t>The following news-style title, on the other hand, is not appropriate: </a:t>
            </a:r>
            <a:endParaRPr lang="en-US" altLang="zh-CN" dirty="0"/>
          </a:p>
          <a:p>
            <a:pPr marL="0" indent="0">
              <a:buNone/>
            </a:pPr>
            <a:r>
              <a:rPr lang="en-US" altLang="zh-CN" b="1" dirty="0"/>
              <a:t>Optimizing temperature and pressure improves sputter-deposited aluminum alloy films </a:t>
            </a:r>
            <a:endParaRPr lang="en-US" altLang="zh-CN" b="1" dirty="0"/>
          </a:p>
          <a:p>
            <a:endParaRPr lang="en-US" altLang="zh-CN" dirty="0"/>
          </a:p>
          <a:p>
            <a:r>
              <a:rPr lang="en-US" altLang="zh-CN" dirty="0"/>
              <a:t>Note that the good title is essentially a statement </a:t>
            </a:r>
            <a:r>
              <a:rPr lang="en-US" altLang="zh-CN" b="1" dirty="0"/>
              <a:t>of the aim </a:t>
            </a:r>
            <a:r>
              <a:rPr lang="en-US" altLang="zh-CN" dirty="0"/>
              <a:t>of the work. Often, it is important to mention </a:t>
            </a:r>
            <a:r>
              <a:rPr lang="en-US" altLang="zh-CN" b="1" dirty="0"/>
              <a:t>the approach </a:t>
            </a:r>
            <a:r>
              <a:rPr lang="en-US" altLang="zh-CN" dirty="0"/>
              <a:t>used as well, though an experimental approach is generally assumed if it is not mentioned. If the study had been based on simulation (or some other approach), however, this would generally be included in the title: </a:t>
            </a:r>
            <a:endParaRPr lang="en-US" altLang="zh-CN" dirty="0"/>
          </a:p>
          <a:p>
            <a:pPr marL="0" indent="0">
              <a:buNone/>
            </a:pPr>
            <a:r>
              <a:rPr lang="en-US" altLang="zh-CN" b="1" dirty="0"/>
              <a:t>Impact of temperature and pressure on the simulated compositional uniformity of sputter-deposited aluminum alloys</a:t>
            </a:r>
            <a:endParaRPr lang="zh-CN" altLang="en-US" b="1"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10000"/>
          </a:bodyPr>
          <a:lstStyle/>
          <a:p>
            <a:r>
              <a:rPr lang="en-US" altLang="zh-CN" dirty="0"/>
              <a:t>A conflicting goal of the title is to be as short as possible (in 2011, titles in the Journal of Micro/Nanolithography, MEMS, and MOEMS ranged </a:t>
            </a:r>
            <a:r>
              <a:rPr lang="en-US" altLang="zh-CN" b="1" dirty="0"/>
              <a:t>from 4 to 21 words in length, with an average length of 11.5</a:t>
            </a:r>
            <a:r>
              <a:rPr lang="en-US" altLang="zh-CN" dirty="0"/>
              <a:t>). Specificity can often be improved through the use of more words, but a title that is too lengthy may not be read. Finding the best compromise between </a:t>
            </a:r>
            <a:r>
              <a:rPr lang="en-US" altLang="zh-CN" b="1" dirty="0"/>
              <a:t>descriptiveness and brevity </a:t>
            </a:r>
            <a:r>
              <a:rPr lang="en-US" altLang="zh-CN" dirty="0"/>
              <a:t>is where the art of authorship comes into play. Going back to our example, here is a title that sacrifices too much specificity to obtain brevity: </a:t>
            </a:r>
            <a:endParaRPr lang="en-US" altLang="zh-CN" dirty="0"/>
          </a:p>
          <a:p>
            <a:pPr marL="0" indent="0">
              <a:buNone/>
            </a:pPr>
            <a:r>
              <a:rPr lang="en-US" altLang="zh-CN" b="1" dirty="0"/>
              <a:t>Impact of process parameters on the uniformity of aluminum alloys</a:t>
            </a:r>
            <a:endParaRPr lang="zh-CN" altLang="en-US" b="1"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lnSpcReduction="10000"/>
          </a:bodyPr>
          <a:lstStyle/>
          <a:p>
            <a:r>
              <a:rPr lang="en-US" altLang="zh-CN" dirty="0"/>
              <a:t>A good test for your title is to answer these questions: Does the title of your manuscript, seen in isolation, give a full yet concise and specific indication of the work reported? Would someone interested in the exact topic of your paper, reading this title, be inclined to read the abstract? Avoid being overly clever with the title—a pun or a play on words may be great fun, but it is unlikely to help your article be found by a search engine (and can be easily misunderstood by an international audience). Titles should also be free of jargon unlikely to be understood by those not intimately familiar with the topic, and they should not contain acronyms. The overall goal should be a title that is clear and informative.</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zh-CN" altLang="zh-CN"/>
              <a:t>Author / Affiliation</a:t>
            </a:r>
            <a:endParaRPr lang="zh-CN" altLang="zh-CN"/>
          </a:p>
        </p:txBody>
      </p:sp>
      <p:sp>
        <p:nvSpPr>
          <p:cNvPr id="10243" name="Rectangle 3"/>
          <p:cNvSpPr>
            <a:spLocks noGrp="1" noChangeArrowheads="1"/>
          </p:cNvSpPr>
          <p:nvPr>
            <p:ph type="body" idx="1"/>
          </p:nvPr>
        </p:nvSpPr>
        <p:spPr/>
        <p:txBody>
          <a:bodyPr/>
          <a:lstStyle/>
          <a:p>
            <a:pPr eaLnBrk="1" hangingPunct="1">
              <a:defRPr/>
            </a:pPr>
            <a:r>
              <a:rPr lang="zh-CN" altLang="zh-CN" dirty="0"/>
              <a:t>Function: </a:t>
            </a:r>
            <a:endParaRPr lang="en-US" altLang="zh-CN" dirty="0"/>
          </a:p>
          <a:p>
            <a:pPr marL="0" indent="0">
              <a:buNone/>
              <a:defRPr/>
            </a:pPr>
            <a:r>
              <a:rPr lang="en-US" altLang="zh-CN" dirty="0"/>
              <a:t>   </a:t>
            </a:r>
            <a:r>
              <a:rPr lang="zh-CN" altLang="zh-CN" dirty="0"/>
              <a:t>bear responsibility, facilitate retrieval &amp; correspondence, heighten celebrity</a:t>
            </a:r>
            <a:endParaRPr lang="zh-CN" altLang="zh-CN" dirty="0"/>
          </a:p>
          <a:p>
            <a:pPr eaLnBrk="1" hangingPunct="1">
              <a:defRPr/>
            </a:pPr>
            <a:r>
              <a:rPr lang="zh-CN" altLang="zh-CN" dirty="0"/>
              <a:t>Eg: </a:t>
            </a:r>
            <a:endParaRPr lang="zh-CN" altLang="zh-CN" dirty="0"/>
          </a:p>
          <a:p>
            <a:pPr algn="ctr" eaLnBrk="1" hangingPunct="1">
              <a:buFont typeface="Wingdings" panose="05000000000000000000" pitchFamily="2" charset="2"/>
              <a:buNone/>
              <a:defRPr/>
            </a:pPr>
            <a:r>
              <a:rPr lang="zh-CN" altLang="zh-CN" sz="2000" dirty="0"/>
              <a:t>Qiusheng</a:t>
            </a:r>
            <a:r>
              <a:rPr lang="en-US" altLang="zh-CN" sz="2000" dirty="0"/>
              <a:t> </a:t>
            </a:r>
            <a:r>
              <a:rPr lang="zh-CN" altLang="zh-CN" sz="2000" dirty="0"/>
              <a:t>YAN </a:t>
            </a:r>
            <a:endParaRPr lang="zh-CN" altLang="zh-CN" sz="2000" dirty="0"/>
          </a:p>
          <a:p>
            <a:pPr algn="ctr" eaLnBrk="1" hangingPunct="1">
              <a:buFont typeface="Wingdings" panose="05000000000000000000" pitchFamily="2" charset="2"/>
              <a:buNone/>
              <a:defRPr/>
            </a:pPr>
            <a:r>
              <a:rPr lang="zh-CN" altLang="zh-CN" sz="2000" dirty="0"/>
              <a:t>Professor, Department of Foreign Languages, Tsinghua University</a:t>
            </a:r>
            <a:endParaRPr lang="zh-CN" altLang="zh-CN" sz="2000" dirty="0"/>
          </a:p>
          <a:p>
            <a:pPr algn="ctr" eaLnBrk="1" hangingPunct="1">
              <a:buFont typeface="Wingdings" panose="05000000000000000000" pitchFamily="2" charset="2"/>
              <a:buNone/>
              <a:defRPr/>
            </a:pPr>
            <a:r>
              <a:rPr lang="zh-CN" altLang="zh-CN" sz="2000" dirty="0"/>
              <a:t>Beijing 100084, People’s Republic of China</a:t>
            </a:r>
            <a:r>
              <a:rPr lang="zh-CN" altLang="zh-CN" dirty="0"/>
              <a:t> </a:t>
            </a:r>
            <a:endParaRPr lang="zh-CN" altLang="zh-CN"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3"/>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2270126" y="2349501"/>
            <a:ext cx="7694613" cy="3465513"/>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508125" y="1000126"/>
            <a:ext cx="9131300" cy="4949825"/>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685925" y="414339"/>
            <a:ext cx="8743950" cy="5984875"/>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Keywords</a:t>
            </a:r>
            <a:endParaRPr lang="zh-CN" altLang="en-US" dirty="0"/>
          </a:p>
        </p:txBody>
      </p:sp>
      <p:sp>
        <p:nvSpPr>
          <p:cNvPr id="3" name="内容占位符 2"/>
          <p:cNvSpPr>
            <a:spLocks noGrp="1"/>
          </p:cNvSpPr>
          <p:nvPr>
            <p:ph idx="1"/>
          </p:nvPr>
        </p:nvSpPr>
        <p:spPr/>
        <p:txBody>
          <a:bodyPr/>
          <a:lstStyle/>
          <a:p>
            <a:r>
              <a:rPr lang="en-US" altLang="zh-CN" dirty="0"/>
              <a:t>Keywords (also called “subject terms”).</a:t>
            </a:r>
            <a:endParaRPr lang="en-US" altLang="zh-CN" dirty="0"/>
          </a:p>
          <a:p>
            <a:r>
              <a:rPr lang="en-US" altLang="zh-CN" dirty="0"/>
              <a:t>How you use search engine to locate relevant papers?</a:t>
            </a:r>
            <a:endParaRPr lang="en-US" altLang="zh-CN" dirty="0"/>
          </a:p>
          <a:p>
            <a:r>
              <a:rPr lang="en-US" altLang="zh-CN" dirty="0"/>
              <a:t>The most important keywords should be found in the title, and in the abstract several times.</a:t>
            </a:r>
            <a:endParaRPr lang="zh-CN"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zh-CN" altLang="zh-CN"/>
              <a:t>Keywords</a:t>
            </a:r>
            <a:endParaRPr lang="zh-CN" altLang="zh-CN"/>
          </a:p>
        </p:txBody>
      </p:sp>
      <p:sp>
        <p:nvSpPr>
          <p:cNvPr id="21507" name="Rectangle 3"/>
          <p:cNvSpPr>
            <a:spLocks noGrp="1" noChangeArrowheads="1"/>
          </p:cNvSpPr>
          <p:nvPr>
            <p:ph type="body" idx="1"/>
          </p:nvPr>
        </p:nvSpPr>
        <p:spPr/>
        <p:txBody>
          <a:bodyPr/>
          <a:lstStyle/>
          <a:p>
            <a:pPr eaLnBrk="1" hangingPunct="1"/>
            <a:r>
              <a:rPr lang="zh-CN" altLang="zh-CN"/>
              <a:t>Function: retrieve; highlight the gist of paper</a:t>
            </a:r>
            <a:endParaRPr lang="zh-CN" altLang="zh-CN"/>
          </a:p>
          <a:p>
            <a:pPr eaLnBrk="1" hangingPunct="1"/>
            <a:r>
              <a:rPr lang="zh-CN" altLang="zh-CN"/>
              <a:t>Requirements: </a:t>
            </a:r>
            <a:endParaRPr lang="zh-CN" altLang="zh-CN"/>
          </a:p>
          <a:p>
            <a:pPr lvl="1" eaLnBrk="1" hangingPunct="1"/>
            <a:r>
              <a:rPr lang="zh-CN" altLang="zh-CN"/>
              <a:t>Use nouns, not verbs</a:t>
            </a:r>
            <a:endParaRPr lang="zh-CN" altLang="zh-CN"/>
          </a:p>
          <a:p>
            <a:pPr lvl="1" eaLnBrk="1" hangingPunct="1"/>
            <a:r>
              <a:rPr lang="zh-CN" altLang="zh-CN"/>
              <a:t>Number of keywords: 4 to 6</a:t>
            </a:r>
            <a:endParaRPr lang="zh-CN" altLang="zh-CN"/>
          </a:p>
          <a:p>
            <a:pPr lvl="1" eaLnBrk="1" hangingPunct="1"/>
            <a:r>
              <a:rPr lang="zh-CN" altLang="zh-CN"/>
              <a:t>Chosen from title and abstract</a:t>
            </a:r>
            <a:endParaRPr lang="zh-CN" altLang="zh-CN"/>
          </a:p>
          <a:p>
            <a:pPr lvl="1" eaLnBrk="1" hangingPunct="1"/>
            <a:r>
              <a:rPr lang="zh-CN" altLang="zh-CN"/>
              <a:t>No capitalization, use comma or larger space, no full stop</a:t>
            </a:r>
            <a:endParaRPr lang="zh-CN" altLang="zh-CN"/>
          </a:p>
          <a:p>
            <a:pPr lvl="1" eaLnBrk="1" hangingPunct="1"/>
            <a:r>
              <a:rPr lang="zh-CN" altLang="zh-CN"/>
              <a:t>Use standard abbreviation: ISO norm </a:t>
            </a:r>
            <a:endParaRPr lang="zh-CN" altLang="zh-CN"/>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10" descr="b2"/>
          <p:cNvPicPr>
            <a:picLocks noChangeAspect="1" noChangeArrowheads="1"/>
          </p:cNvPicPr>
          <p:nvPr/>
        </p:nvPicPr>
        <p:blipFill>
          <a:blip r:embed="rId1">
            <a:lum bright="6000" contrast="6000"/>
            <a:extLst>
              <a:ext uri="{28A0092B-C50C-407E-A947-70E740481C1C}">
                <a14:useLocalDpi xmlns:a14="http://schemas.microsoft.com/office/drawing/2010/main" val="0"/>
              </a:ext>
            </a:extLst>
          </a:blip>
          <a:srcRect/>
          <a:stretch>
            <a:fillRect/>
          </a:stretch>
        </p:blipFill>
        <p:spPr bwMode="auto">
          <a:xfrm>
            <a:off x="9625014" y="5953126"/>
            <a:ext cx="8159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4" name="Rectangle 3"/>
          <p:cNvSpPr>
            <a:spLocks noChangeArrowheads="1"/>
          </p:cNvSpPr>
          <p:nvPr/>
        </p:nvSpPr>
        <p:spPr bwMode="auto">
          <a:xfrm>
            <a:off x="3810000" y="2955926"/>
            <a:ext cx="198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panose="020B0604020202020204" pitchFamily="34" charset="0"/>
              <a:buNone/>
            </a:pPr>
            <a:endParaRPr lang="en-AU" altLang="en-US" sz="2000" b="1">
              <a:solidFill>
                <a:srgbClr val="339933"/>
              </a:solidFill>
              <a:latin typeface="Times New Roman" panose="02020603050405020304" pitchFamily="18" charset="0"/>
              <a:ea typeface="華康少女文字W3(P)" pitchFamily="2" charset="-120"/>
            </a:endParaRPr>
          </a:p>
        </p:txBody>
      </p:sp>
      <p:sp>
        <p:nvSpPr>
          <p:cNvPr id="23555" name="Text Box 4"/>
          <p:cNvSpPr txBox="1">
            <a:spLocks noChangeArrowheads="1"/>
          </p:cNvSpPr>
          <p:nvPr/>
        </p:nvSpPr>
        <p:spPr bwMode="auto">
          <a:xfrm>
            <a:off x="2495550" y="404813"/>
            <a:ext cx="72009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panose="020B0604020202020204" pitchFamily="34" charset="0"/>
              <a:buNone/>
            </a:pPr>
            <a:r>
              <a:rPr lang="en-US" altLang="zh-CN" sz="3600" b="1" i="1">
                <a:solidFill>
                  <a:srgbClr val="D95B15"/>
                </a:solidFill>
                <a:latin typeface="Times New Roman" panose="02020603050405020304" pitchFamily="18" charset="0"/>
                <a:ea typeface="宋体" panose="02010600030101010101" pitchFamily="2" charset="-122"/>
              </a:rPr>
              <a:t>Acknowledgment</a:t>
            </a:r>
            <a:endParaRPr lang="en-US" altLang="zh-CN" sz="3600" b="1" i="1">
              <a:solidFill>
                <a:srgbClr val="D95B15"/>
              </a:solidFill>
              <a:latin typeface="Times New Roman" panose="02020603050405020304" pitchFamily="18" charset="0"/>
              <a:ea typeface="宋体" panose="02010600030101010101" pitchFamily="2" charset="-122"/>
            </a:endParaRPr>
          </a:p>
        </p:txBody>
      </p:sp>
      <p:sp>
        <p:nvSpPr>
          <p:cNvPr id="23556" name="Text Box 5"/>
          <p:cNvSpPr txBox="1">
            <a:spLocks noChangeArrowheads="1"/>
          </p:cNvSpPr>
          <p:nvPr/>
        </p:nvSpPr>
        <p:spPr bwMode="auto">
          <a:xfrm>
            <a:off x="2279650" y="1125539"/>
            <a:ext cx="7704138"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panose="020B0604020202020204" pitchFamily="34" charset="0"/>
              <a:buNone/>
            </a:pPr>
            <a:r>
              <a:rPr lang="zh-CN" altLang="en-US" sz="2400" b="1">
                <a:solidFill>
                  <a:srgbClr val="339933"/>
                </a:solidFill>
                <a:latin typeface="Times New Roman" panose="02020603050405020304" pitchFamily="18" charset="0"/>
                <a:ea typeface="宋体" panose="02010600030101010101" pitchFamily="2" charset="-122"/>
              </a:rPr>
              <a:t>感谢认真而又有实质性建议的匿名审稿人</a:t>
            </a:r>
            <a:r>
              <a:rPr lang="zh-CN" altLang="en-US" sz="2000" b="1">
                <a:solidFill>
                  <a:srgbClr val="339933"/>
                </a:solidFill>
                <a:latin typeface="Times New Roman" panose="02020603050405020304" pitchFamily="18" charset="0"/>
                <a:ea typeface="宋体" panose="02010600030101010101" pitchFamily="2" charset="-122"/>
              </a:rPr>
              <a:t>。</a:t>
            </a:r>
            <a:endParaRPr lang="zh-CN" altLang="en-US" sz="2000" b="1">
              <a:solidFill>
                <a:srgbClr val="339933"/>
              </a:solidFill>
              <a:latin typeface="Times New Roman" panose="02020603050405020304" pitchFamily="18" charset="0"/>
              <a:ea typeface="宋体" panose="02010600030101010101" pitchFamily="2" charset="-122"/>
            </a:endParaRPr>
          </a:p>
          <a:p>
            <a:pPr>
              <a:buFont typeface="Arial" panose="020B0604020202020204" pitchFamily="34" charset="0"/>
              <a:buNone/>
            </a:pPr>
            <a:r>
              <a:rPr lang="en-US" altLang="zh-CN" sz="2400" b="1">
                <a:ea typeface="宋体" panose="02010600030101010101" pitchFamily="2" charset="-122"/>
              </a:rPr>
              <a:t>The authors sincerely thank the anonymous reviewers for their valuable comments that have led to the present improved version of the original manuscript.</a:t>
            </a:r>
            <a:endParaRPr lang="en-US" altLang="zh-CN" sz="2400" b="1">
              <a:ea typeface="宋体" panose="02010600030101010101" pitchFamily="2" charset="-122"/>
            </a:endParaRPr>
          </a:p>
          <a:p>
            <a:pPr>
              <a:buFont typeface="Arial" panose="020B0604020202020204" pitchFamily="34" charset="0"/>
              <a:buNone/>
            </a:pPr>
            <a:endParaRPr lang="zh-CN" altLang="en-US" sz="2400" b="1">
              <a:solidFill>
                <a:srgbClr val="339933"/>
              </a:solidFill>
              <a:ea typeface="宋体" panose="02010600030101010101" pitchFamily="2" charset="-122"/>
            </a:endParaRPr>
          </a:p>
          <a:p>
            <a:pPr>
              <a:buFont typeface="Arial" panose="020B0604020202020204" pitchFamily="34" charset="0"/>
              <a:buNone/>
            </a:pPr>
            <a:r>
              <a:rPr lang="zh-CN" altLang="en-US" sz="2400" b="1">
                <a:solidFill>
                  <a:srgbClr val="339933"/>
                </a:solidFill>
                <a:latin typeface="Times New Roman" panose="02020603050405020304" pitchFamily="18" charset="0"/>
                <a:ea typeface="宋体" panose="02010600030101010101" pitchFamily="2" charset="-122"/>
              </a:rPr>
              <a:t>感谢认真而又有实质性建议的朋友。</a:t>
            </a:r>
            <a:endParaRPr lang="zh-CN" altLang="en-US" sz="2400" b="1">
              <a:solidFill>
                <a:srgbClr val="339933"/>
              </a:solidFill>
              <a:latin typeface="Times New Roman" panose="02020603050405020304" pitchFamily="18" charset="0"/>
              <a:ea typeface="宋体" panose="02010600030101010101" pitchFamily="2" charset="-122"/>
            </a:endParaRPr>
          </a:p>
          <a:p>
            <a:pPr>
              <a:buFont typeface="Arial" panose="020B0604020202020204" pitchFamily="34" charset="0"/>
              <a:buNone/>
            </a:pPr>
            <a:r>
              <a:rPr lang="en-US" altLang="zh-CN" sz="2400" b="1">
                <a:ea typeface="宋体" panose="02010600030101010101" pitchFamily="2" charset="-122"/>
              </a:rPr>
              <a:t>The authors also thank Prof. XYZ for his valuable comments and suggestions on the manuscript of the paper.</a:t>
            </a:r>
            <a:endParaRPr lang="en-US" altLang="zh-CN" sz="2400" b="1">
              <a:ea typeface="宋体" panose="02010600030101010101" pitchFamily="2" charset="-122"/>
            </a:endParaRPr>
          </a:p>
          <a:p>
            <a:pPr>
              <a:buFont typeface="Arial" panose="020B0604020202020204" pitchFamily="34" charset="0"/>
              <a:buNone/>
            </a:pPr>
            <a:endParaRPr lang="zh-CN" altLang="en-US" sz="2400">
              <a:solidFill>
                <a:srgbClr val="339933"/>
              </a:solidFill>
              <a:ea typeface="宋体" panose="02010600030101010101" pitchFamily="2" charset="-122"/>
            </a:endParaRPr>
          </a:p>
          <a:p>
            <a:pPr>
              <a:buFont typeface="Arial" panose="020B0604020202020204" pitchFamily="34" charset="0"/>
              <a:buNone/>
            </a:pPr>
            <a:r>
              <a:rPr lang="zh-CN" altLang="en-US" sz="2400" b="1">
                <a:solidFill>
                  <a:srgbClr val="339933"/>
                </a:solidFill>
                <a:latin typeface="Times New Roman" panose="02020603050405020304" pitchFamily="18" charset="0"/>
                <a:ea typeface="宋体" panose="02010600030101010101" pitchFamily="2" charset="-122"/>
              </a:rPr>
              <a:t>感谢有关科研基金。</a:t>
            </a:r>
            <a:endParaRPr lang="zh-CN" altLang="en-US" sz="2400" b="1">
              <a:solidFill>
                <a:srgbClr val="339933"/>
              </a:solidFill>
              <a:latin typeface="Times New Roman" panose="02020603050405020304" pitchFamily="18" charset="0"/>
              <a:ea typeface="宋体" panose="02010600030101010101" pitchFamily="2" charset="-122"/>
            </a:endParaRPr>
          </a:p>
          <a:p>
            <a:pPr>
              <a:buFont typeface="Arial" panose="020B0604020202020204" pitchFamily="34" charset="0"/>
              <a:buNone/>
            </a:pPr>
            <a:r>
              <a:rPr lang="en-US" altLang="zh-CN" sz="2400" b="1">
                <a:ea typeface="宋体" panose="02010600030101010101" pitchFamily="2" charset="-122"/>
              </a:rPr>
              <a:t>This research was supported by the NSFC under grant 00111100.</a:t>
            </a:r>
            <a:endParaRPr lang="en-US" altLang="zh-CN" sz="2400" b="1">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6626"/>
                                        </p:tgtEl>
                                        <p:attrNameLst>
                                          <p:attrName>style.visibility</p:attrName>
                                        </p:attrNameLst>
                                      </p:cBhvr>
                                      <p:to>
                                        <p:strVal val="visible"/>
                                      </p:to>
                                    </p:set>
                                    <p:animEffect transition="in" filter="fade">
                                      <p:cBhvr>
                                        <p:cTn id="7" dur="1000"/>
                                        <p:tgtEl>
                                          <p:spTgt spid="26626"/>
                                        </p:tgtEl>
                                      </p:cBhvr>
                                    </p:animEffect>
                                    <p:anim calcmode="lin" valueType="num">
                                      <p:cBhvr>
                                        <p:cTn id="8" dur="1000" fill="hold"/>
                                        <p:tgtEl>
                                          <p:spTgt spid="26626"/>
                                        </p:tgtEl>
                                        <p:attrNameLst>
                                          <p:attrName>ppt_x</p:attrName>
                                        </p:attrNameLst>
                                      </p:cBhvr>
                                      <p:tavLst>
                                        <p:tav tm="0">
                                          <p:val>
                                            <p:strVal val="#ppt_x"/>
                                          </p:val>
                                        </p:tav>
                                        <p:tav tm="100000">
                                          <p:val>
                                            <p:strVal val="#ppt_x"/>
                                          </p:val>
                                        </p:tav>
                                      </p:tavLst>
                                    </p:anim>
                                    <p:anim calcmode="lin" valueType="num">
                                      <p:cBhvr>
                                        <p:cTn id="9" dur="1000" fill="hold"/>
                                        <p:tgtEl>
                                          <p:spTgt spid="266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zh-CN" altLang="zh-CN"/>
              <a:t>Acknowledgment </a:t>
            </a:r>
            <a:endParaRPr lang="zh-CN" altLang="zh-CN"/>
          </a:p>
        </p:txBody>
      </p:sp>
      <p:sp>
        <p:nvSpPr>
          <p:cNvPr id="12291" name="Rectangle 3"/>
          <p:cNvSpPr>
            <a:spLocks noGrp="1" noChangeArrowheads="1"/>
          </p:cNvSpPr>
          <p:nvPr>
            <p:ph type="body" idx="1"/>
          </p:nvPr>
        </p:nvSpPr>
        <p:spPr/>
        <p:txBody>
          <a:bodyPr/>
          <a:lstStyle/>
          <a:p>
            <a:r>
              <a:rPr lang="zh-CN" altLang="zh-CN"/>
              <a:t>To extend thanks an indebtedness to people who have helped during the research.</a:t>
            </a:r>
            <a:endParaRPr lang="zh-CN" altLang="zh-CN"/>
          </a:p>
          <a:p>
            <a:r>
              <a:rPr lang="zh-CN" altLang="zh-CN"/>
              <a:t>Supervisors, colleagues, peer students, funding or sponsoring associations, etc.</a:t>
            </a:r>
            <a:endParaRPr lang="zh-CN" altLang="zh-CN"/>
          </a:p>
          <a:p>
            <a:r>
              <a:rPr lang="zh-CN" altLang="zh-CN"/>
              <a:t>Requirements: </a:t>
            </a:r>
            <a:endParaRPr lang="zh-CN" altLang="zh-CN"/>
          </a:p>
          <a:p>
            <a:pPr lvl="1"/>
            <a:r>
              <a:rPr lang="zh-CN" altLang="zh-CN"/>
              <a:t>Be substantial and specific but brief</a:t>
            </a:r>
            <a:endParaRPr lang="zh-CN" altLang="zh-CN"/>
          </a:p>
          <a:p>
            <a:pPr lvl="1"/>
            <a:r>
              <a:rPr lang="zh-CN" altLang="zh-CN"/>
              <a:t>Avoid understatement or overstatement</a:t>
            </a:r>
            <a:endParaRPr lang="zh-CN" altLang="zh-CN"/>
          </a:p>
          <a:p>
            <a:pPr lvl="1"/>
            <a:r>
              <a:rPr lang="zh-CN" altLang="zh-CN"/>
              <a:t>Obtain permission </a:t>
            </a:r>
            <a:endParaRPr lang="zh-CN" altLang="zh-CN"/>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10" descr="b2"/>
          <p:cNvPicPr>
            <a:picLocks noChangeAspect="1" noChangeArrowheads="1"/>
          </p:cNvPicPr>
          <p:nvPr/>
        </p:nvPicPr>
        <p:blipFill>
          <a:blip r:embed="rId1">
            <a:lum bright="6000" contrast="6000"/>
            <a:extLst>
              <a:ext uri="{28A0092B-C50C-407E-A947-70E740481C1C}">
                <a14:useLocalDpi xmlns:a14="http://schemas.microsoft.com/office/drawing/2010/main" val="0"/>
              </a:ext>
            </a:extLst>
          </a:blip>
          <a:srcRect/>
          <a:stretch>
            <a:fillRect/>
          </a:stretch>
        </p:blipFill>
        <p:spPr bwMode="auto">
          <a:xfrm>
            <a:off x="9625014" y="5953126"/>
            <a:ext cx="8159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8" name="Rectangle 3"/>
          <p:cNvSpPr>
            <a:spLocks noChangeArrowheads="1"/>
          </p:cNvSpPr>
          <p:nvPr/>
        </p:nvSpPr>
        <p:spPr bwMode="auto">
          <a:xfrm>
            <a:off x="2495550" y="617539"/>
            <a:ext cx="64087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panose="020B0604020202020204" pitchFamily="34" charset="0"/>
              <a:buNone/>
            </a:pPr>
            <a:r>
              <a:rPr lang="en-US" altLang="zh-CN" sz="3200" b="1" i="1">
                <a:solidFill>
                  <a:srgbClr val="D95B15"/>
                </a:solidFill>
                <a:ea typeface="宋体" panose="02010600030101010101" pitchFamily="2" charset="-122"/>
              </a:rPr>
              <a:t>References</a:t>
            </a:r>
            <a:endParaRPr lang="en-US" altLang="zh-CN" sz="3200" b="1" i="1">
              <a:solidFill>
                <a:srgbClr val="D95B15"/>
              </a:solidFill>
              <a:ea typeface="宋体" panose="02010600030101010101" pitchFamily="2" charset="-122"/>
            </a:endParaRPr>
          </a:p>
        </p:txBody>
      </p:sp>
      <p:sp>
        <p:nvSpPr>
          <p:cNvPr id="24579" name="Rectangle 4"/>
          <p:cNvSpPr>
            <a:spLocks noChangeArrowheads="1"/>
          </p:cNvSpPr>
          <p:nvPr/>
        </p:nvSpPr>
        <p:spPr bwMode="auto">
          <a:xfrm>
            <a:off x="2351089" y="908050"/>
            <a:ext cx="7705725"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Wingdings" panose="05000000000000000000" pitchFamily="2" charset="2"/>
              <a:buNone/>
            </a:pPr>
            <a:endParaRPr lang="zh-CN" altLang="en-US" sz="2400" b="1" u="sng">
              <a:solidFill>
                <a:srgbClr val="FF0000"/>
              </a:solidFill>
              <a:latin typeface="宋体" panose="02010600030101010101" pitchFamily="2" charset="-122"/>
              <a:ea typeface="宋体" panose="02010600030101010101" pitchFamily="2" charset="-122"/>
            </a:endParaRPr>
          </a:p>
          <a:p>
            <a:pPr>
              <a:buClr>
                <a:schemeClr val="accent2"/>
              </a:buClr>
              <a:buFont typeface="Wingdings" panose="05000000000000000000" pitchFamily="2" charset="2"/>
              <a:buChar char="v"/>
            </a:pPr>
            <a:r>
              <a:rPr lang="zh-CN" altLang="en-US" sz="2400" b="1">
                <a:solidFill>
                  <a:srgbClr val="FF0000"/>
                </a:solidFill>
                <a:latin typeface="宋体" panose="02010600030101010101" pitchFamily="2" charset="-122"/>
                <a:ea typeface="宋体" panose="02010600030101010101" pitchFamily="2" charset="-122"/>
              </a:rPr>
              <a:t> </a:t>
            </a:r>
            <a:r>
              <a:rPr lang="zh-CN" altLang="en-US" sz="2400" b="1">
                <a:solidFill>
                  <a:srgbClr val="0000CC"/>
                </a:solidFill>
                <a:latin typeface="宋体" panose="02010600030101010101" pitchFamily="2" charset="-122"/>
                <a:ea typeface="宋体" panose="02010600030101010101" pitchFamily="2" charset="-122"/>
              </a:rPr>
              <a:t>统一格式。</a:t>
            </a:r>
            <a:endParaRPr lang="zh-CN" altLang="en-US" sz="2400" b="1">
              <a:solidFill>
                <a:srgbClr val="3366CC"/>
              </a:solidFill>
              <a:latin typeface="宋体" panose="02010600030101010101" pitchFamily="2" charset="-122"/>
              <a:ea typeface="宋体" panose="02010600030101010101" pitchFamily="2" charset="-122"/>
            </a:endParaRPr>
          </a:p>
          <a:p>
            <a:pPr>
              <a:buClr>
                <a:srgbClr val="0000CC"/>
              </a:buClr>
              <a:buFont typeface="Wingdings" panose="05000000000000000000" pitchFamily="2" charset="2"/>
              <a:buNone/>
            </a:pPr>
            <a:endParaRPr lang="zh-CN" altLang="en-US" sz="2400" b="1">
              <a:solidFill>
                <a:srgbClr val="3366CC"/>
              </a:solidFill>
              <a:latin typeface="宋体" panose="02010600030101010101" pitchFamily="2" charset="-122"/>
              <a:ea typeface="宋体" panose="02010600030101010101" pitchFamily="2" charset="-122"/>
            </a:endParaRPr>
          </a:p>
          <a:p>
            <a:pPr>
              <a:buClr>
                <a:schemeClr val="accent2"/>
              </a:buClr>
              <a:buFont typeface="Wingdings" panose="05000000000000000000" pitchFamily="2" charset="2"/>
              <a:buChar char="v"/>
            </a:pPr>
            <a:r>
              <a:rPr lang="zh-CN" altLang="en-US" sz="2400" b="1">
                <a:solidFill>
                  <a:srgbClr val="FF0000"/>
                </a:solidFill>
                <a:latin typeface="宋体" panose="02010600030101010101" pitchFamily="2" charset="-122"/>
                <a:ea typeface="宋体" panose="02010600030101010101" pitchFamily="2" charset="-122"/>
              </a:rPr>
              <a:t> </a:t>
            </a:r>
            <a:r>
              <a:rPr lang="zh-CN" altLang="en-US" sz="2400" b="1">
                <a:solidFill>
                  <a:srgbClr val="339933"/>
                </a:solidFill>
                <a:latin typeface="宋体" panose="02010600030101010101" pitchFamily="2" charset="-122"/>
                <a:ea typeface="宋体" panose="02010600030101010101" pitchFamily="2" charset="-122"/>
              </a:rPr>
              <a:t>使用你打算投稿的机构规定的格式。</a:t>
            </a:r>
            <a:endParaRPr lang="zh-CN" altLang="en-US" sz="2400" b="1">
              <a:solidFill>
                <a:srgbClr val="339933"/>
              </a:solidFill>
              <a:latin typeface="宋体" panose="02010600030101010101" pitchFamily="2" charset="-122"/>
              <a:ea typeface="宋体" panose="02010600030101010101" pitchFamily="2" charset="-122"/>
            </a:endParaRPr>
          </a:p>
          <a:p>
            <a:pPr>
              <a:buClr>
                <a:srgbClr val="0000CC"/>
              </a:buClr>
              <a:buFont typeface="Wingdings" panose="05000000000000000000" pitchFamily="2" charset="2"/>
              <a:buNone/>
            </a:pPr>
            <a:endParaRPr lang="zh-CN" altLang="en-US" sz="2400" b="1">
              <a:solidFill>
                <a:srgbClr val="339933"/>
              </a:solidFill>
              <a:latin typeface="宋体" panose="02010600030101010101" pitchFamily="2" charset="-122"/>
              <a:ea typeface="宋体" panose="02010600030101010101" pitchFamily="2" charset="-122"/>
            </a:endParaRPr>
          </a:p>
          <a:p>
            <a:pPr>
              <a:buClr>
                <a:schemeClr val="accent2"/>
              </a:buClr>
              <a:buFont typeface="Wingdings" panose="05000000000000000000" pitchFamily="2" charset="2"/>
              <a:buChar char="v"/>
            </a:pPr>
            <a:r>
              <a:rPr lang="zh-CN" altLang="en-US" sz="2400" b="1">
                <a:solidFill>
                  <a:srgbClr val="FF0000"/>
                </a:solidFill>
                <a:latin typeface="宋体" panose="02010600030101010101" pitchFamily="2" charset="-122"/>
                <a:ea typeface="宋体" panose="02010600030101010101" pitchFamily="2" charset="-122"/>
              </a:rPr>
              <a:t> </a:t>
            </a:r>
            <a:r>
              <a:rPr lang="zh-CN" altLang="en-US" sz="2400" b="1">
                <a:solidFill>
                  <a:schemeClr val="accent2"/>
                </a:solidFill>
                <a:latin typeface="宋体" panose="02010600030101010101" pitchFamily="2" charset="-122"/>
                <a:ea typeface="宋体" panose="02010600030101010101" pitchFamily="2" charset="-122"/>
              </a:rPr>
              <a:t>文献的多少要恰当：</a:t>
            </a:r>
            <a:r>
              <a:rPr lang="zh-CN" altLang="en-US" sz="2400" b="1">
                <a:solidFill>
                  <a:srgbClr val="3366CC"/>
                </a:solidFill>
                <a:latin typeface="宋体" panose="02010600030101010101" pitchFamily="2" charset="-122"/>
                <a:ea typeface="宋体" panose="02010600030101010101" pitchFamily="2" charset="-122"/>
              </a:rPr>
              <a:t>不要漏掉重要和必要的文献，又</a:t>
            </a:r>
            <a:endParaRPr lang="zh-CN" altLang="en-US" sz="2400" b="1">
              <a:solidFill>
                <a:srgbClr val="3366CC"/>
              </a:solidFill>
              <a:latin typeface="宋体" panose="02010600030101010101" pitchFamily="2" charset="-122"/>
              <a:ea typeface="宋体" panose="02010600030101010101" pitchFamily="2" charset="-122"/>
            </a:endParaRPr>
          </a:p>
          <a:p>
            <a:pPr>
              <a:buClr>
                <a:schemeClr val="accent2"/>
              </a:buClr>
              <a:buFont typeface="Wingdings" panose="05000000000000000000" pitchFamily="2" charset="2"/>
              <a:buNone/>
            </a:pPr>
            <a:r>
              <a:rPr lang="zh-CN" altLang="en-US" sz="2400" b="1">
                <a:solidFill>
                  <a:srgbClr val="3366CC"/>
                </a:solidFill>
                <a:latin typeface="宋体" panose="02010600030101010101" pitchFamily="2" charset="-122"/>
                <a:ea typeface="宋体" panose="02010600030101010101" pitchFamily="2" charset="-122"/>
              </a:rPr>
              <a:t>不要罗列多余的、特别是你自己的但又毫不相关的文章。 </a:t>
            </a:r>
            <a:endParaRPr lang="zh-CN" altLang="en-US" sz="2400" b="1">
              <a:solidFill>
                <a:srgbClr val="3366CC"/>
              </a:solidFill>
              <a:latin typeface="宋体" panose="02010600030101010101" pitchFamily="2" charset="-122"/>
              <a:ea typeface="宋体" panose="02010600030101010101" pitchFamily="2" charset="-122"/>
            </a:endParaRPr>
          </a:p>
          <a:p>
            <a:pPr>
              <a:buClr>
                <a:srgbClr val="0000CC"/>
              </a:buClr>
              <a:buFont typeface="Wingdings" panose="05000000000000000000" pitchFamily="2" charset="2"/>
              <a:buNone/>
            </a:pPr>
            <a:endParaRPr lang="zh-CN" altLang="en-US" sz="2400" b="1">
              <a:solidFill>
                <a:srgbClr val="3366CC"/>
              </a:solidFill>
              <a:latin typeface="宋体" panose="02010600030101010101" pitchFamily="2" charset="-122"/>
              <a:ea typeface="宋体" panose="02010600030101010101" pitchFamily="2" charset="-122"/>
            </a:endParaRPr>
          </a:p>
          <a:p>
            <a:pPr>
              <a:buClr>
                <a:schemeClr val="accent2"/>
              </a:buClr>
              <a:buFont typeface="Wingdings" panose="05000000000000000000" pitchFamily="2" charset="2"/>
              <a:buChar char="v"/>
            </a:pPr>
            <a:r>
              <a:rPr lang="zh-CN" altLang="en-US" sz="2400" b="1">
                <a:solidFill>
                  <a:srgbClr val="0000CC"/>
                </a:solidFill>
                <a:latin typeface="宋体" panose="02010600030101010101" pitchFamily="2" charset="-122"/>
                <a:ea typeface="宋体" panose="02010600030101010101" pitchFamily="2" charset="-122"/>
              </a:rPr>
              <a:t> </a:t>
            </a:r>
            <a:r>
              <a:rPr lang="zh-CN" altLang="en-US" sz="2400" b="1">
                <a:solidFill>
                  <a:schemeClr val="tx2"/>
                </a:solidFill>
                <a:latin typeface="宋体" panose="02010600030101010101" pitchFamily="2" charset="-122"/>
                <a:ea typeface="宋体" panose="02010600030101010101" pitchFamily="2" charset="-122"/>
              </a:rPr>
              <a:t>文献中的每一篇文章都要引用到，否则就不要罗列。</a:t>
            </a:r>
            <a:endParaRPr lang="zh-CN" altLang="en-US" sz="2400" b="1">
              <a:solidFill>
                <a:schemeClr val="tx2"/>
              </a:solidFill>
              <a:latin typeface="宋体" panose="02010600030101010101" pitchFamily="2" charset="-122"/>
              <a:ea typeface="宋体" panose="02010600030101010101" pitchFamily="2" charset="-122"/>
            </a:endParaRPr>
          </a:p>
          <a:p>
            <a:pPr>
              <a:buClr>
                <a:srgbClr val="0000CC"/>
              </a:buClr>
              <a:buFont typeface="Wingdings" panose="05000000000000000000" pitchFamily="2" charset="2"/>
              <a:buNone/>
            </a:pPr>
            <a:endParaRPr lang="zh-CN" altLang="en-US" sz="2400" b="1">
              <a:solidFill>
                <a:srgbClr val="0000CC"/>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7650"/>
                                        </p:tgtEl>
                                        <p:attrNameLst>
                                          <p:attrName>style.visibility</p:attrName>
                                        </p:attrNameLst>
                                      </p:cBhvr>
                                      <p:to>
                                        <p:strVal val="visible"/>
                                      </p:to>
                                    </p:set>
                                    <p:animEffect transition="in" filter="fade">
                                      <p:cBhvr>
                                        <p:cTn id="7" dur="1000"/>
                                        <p:tgtEl>
                                          <p:spTgt spid="27650"/>
                                        </p:tgtEl>
                                      </p:cBhvr>
                                    </p:animEffect>
                                    <p:anim calcmode="lin" valueType="num">
                                      <p:cBhvr>
                                        <p:cTn id="8" dur="1000" fill="hold"/>
                                        <p:tgtEl>
                                          <p:spTgt spid="27650"/>
                                        </p:tgtEl>
                                        <p:attrNameLst>
                                          <p:attrName>ppt_x</p:attrName>
                                        </p:attrNameLst>
                                      </p:cBhvr>
                                      <p:tavLst>
                                        <p:tav tm="0">
                                          <p:val>
                                            <p:strVal val="#ppt_x"/>
                                          </p:val>
                                        </p:tav>
                                        <p:tav tm="100000">
                                          <p:val>
                                            <p:strVal val="#ppt_x"/>
                                          </p:val>
                                        </p:tav>
                                      </p:tavLst>
                                    </p:anim>
                                    <p:anim calcmode="lin" valueType="num">
                                      <p:cBhvr>
                                        <p:cTn id="9" dur="1000" fill="hold"/>
                                        <p:tgtEl>
                                          <p:spTgt spid="276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zh-CN" altLang="zh-CN"/>
              <a:t>References / Bibliography </a:t>
            </a:r>
            <a:endParaRPr lang="zh-CN" altLang="zh-CN"/>
          </a:p>
        </p:txBody>
      </p:sp>
      <p:sp>
        <p:nvSpPr>
          <p:cNvPr id="13315" name="Rectangle 3"/>
          <p:cNvSpPr>
            <a:spLocks noGrp="1" noChangeArrowheads="1"/>
          </p:cNvSpPr>
          <p:nvPr>
            <p:ph type="body" idx="1"/>
          </p:nvPr>
        </p:nvSpPr>
        <p:spPr/>
        <p:txBody>
          <a:bodyPr/>
          <a:lstStyle/>
          <a:p>
            <a:r>
              <a:rPr lang="zh-CN" altLang="zh-CN"/>
              <a:t>Functions:</a:t>
            </a:r>
            <a:endParaRPr lang="zh-CN" altLang="zh-CN"/>
          </a:p>
          <a:p>
            <a:pPr lvl="1"/>
            <a:r>
              <a:rPr lang="zh-CN" altLang="zh-CN"/>
              <a:t>Show respect to previous works</a:t>
            </a:r>
            <a:endParaRPr lang="zh-CN" altLang="zh-CN"/>
          </a:p>
          <a:p>
            <a:pPr lvl="1"/>
            <a:r>
              <a:rPr lang="zh-CN" altLang="zh-CN"/>
              <a:t>Present scientific bases for the research</a:t>
            </a:r>
            <a:endParaRPr lang="zh-CN" altLang="zh-CN"/>
          </a:p>
          <a:p>
            <a:pPr lvl="1"/>
            <a:r>
              <a:rPr lang="zh-CN" altLang="zh-CN"/>
              <a:t>Avoid legal problem</a:t>
            </a:r>
            <a:endParaRPr lang="zh-CN" altLang="zh-CN"/>
          </a:p>
          <a:p>
            <a:r>
              <a:rPr lang="zh-CN" altLang="zh-CN"/>
              <a:t>Sample :</a:t>
            </a:r>
            <a:endParaRPr lang="zh-CN" altLang="zh-CN"/>
          </a:p>
          <a:p>
            <a:pPr lvl="1"/>
            <a:r>
              <a:rPr lang="zh-CN" altLang="zh-CN"/>
              <a:t>In text: (Smith, 1983: 123)</a:t>
            </a:r>
            <a:endParaRPr lang="zh-CN" altLang="zh-CN"/>
          </a:p>
          <a:p>
            <a:pPr lvl="1"/>
            <a:r>
              <a:rPr lang="zh-CN" altLang="zh-CN"/>
              <a:t>End of paper: Smith, L., 1983, </a:t>
            </a:r>
            <a:r>
              <a:rPr lang="zh-CN" altLang="zh-CN" i="1"/>
              <a:t>Reading in English as an International Language</a:t>
            </a:r>
            <a:r>
              <a:rPr lang="zh-CN" altLang="zh-CN"/>
              <a:t>, Oxford: Pergamon.</a:t>
            </a:r>
            <a:endParaRPr lang="zh-CN" altLang="zh-CN"/>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10" descr="b2"/>
          <p:cNvPicPr>
            <a:picLocks noChangeAspect="1" noChangeArrowheads="1"/>
          </p:cNvPicPr>
          <p:nvPr/>
        </p:nvPicPr>
        <p:blipFill>
          <a:blip r:embed="rId1">
            <a:lum bright="6000" contrast="6000"/>
            <a:extLst>
              <a:ext uri="{28A0092B-C50C-407E-A947-70E740481C1C}">
                <a14:useLocalDpi xmlns:a14="http://schemas.microsoft.com/office/drawing/2010/main" val="0"/>
              </a:ext>
            </a:extLst>
          </a:blip>
          <a:srcRect/>
          <a:stretch>
            <a:fillRect/>
          </a:stretch>
        </p:blipFill>
        <p:spPr bwMode="auto">
          <a:xfrm>
            <a:off x="9625014" y="5953126"/>
            <a:ext cx="8159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2" name="Rectangle 6"/>
          <p:cNvSpPr>
            <a:spLocks noChangeArrowheads="1"/>
          </p:cNvSpPr>
          <p:nvPr/>
        </p:nvSpPr>
        <p:spPr bwMode="auto">
          <a:xfrm>
            <a:off x="3810000" y="2955926"/>
            <a:ext cx="198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panose="020B0604020202020204" pitchFamily="34" charset="0"/>
              <a:buNone/>
            </a:pPr>
            <a:endParaRPr lang="en-AU" altLang="en-US" sz="2000" b="1">
              <a:solidFill>
                <a:srgbClr val="339933"/>
              </a:solidFill>
              <a:latin typeface="Times New Roman" panose="02020603050405020304" pitchFamily="18" charset="0"/>
              <a:ea typeface="華康少女文字W3(P)" pitchFamily="2" charset="-120"/>
            </a:endParaRPr>
          </a:p>
        </p:txBody>
      </p:sp>
      <p:sp>
        <p:nvSpPr>
          <p:cNvPr id="25603" name="Text Box 7"/>
          <p:cNvSpPr txBox="1">
            <a:spLocks noChangeArrowheads="1"/>
          </p:cNvSpPr>
          <p:nvPr/>
        </p:nvSpPr>
        <p:spPr bwMode="auto">
          <a:xfrm>
            <a:off x="2351088" y="692150"/>
            <a:ext cx="72009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panose="020B0604020202020204" pitchFamily="34" charset="0"/>
              <a:buNone/>
            </a:pPr>
            <a:r>
              <a:rPr lang="en-US" altLang="zh-CN" sz="3200" b="1" i="1">
                <a:solidFill>
                  <a:srgbClr val="D95B15"/>
                </a:solidFill>
                <a:latin typeface="Times New Roman" panose="02020603050405020304" pitchFamily="18" charset="0"/>
                <a:ea typeface="宋体" panose="02010600030101010101" pitchFamily="2" charset="-122"/>
              </a:rPr>
              <a:t>Appendix</a:t>
            </a:r>
            <a:endParaRPr lang="en-US" altLang="zh-CN" sz="3200" b="1" i="1">
              <a:solidFill>
                <a:srgbClr val="D95B15"/>
              </a:solidFill>
              <a:latin typeface="Times New Roman" panose="02020603050405020304" pitchFamily="18" charset="0"/>
              <a:ea typeface="宋体" panose="02010600030101010101" pitchFamily="2" charset="-122"/>
            </a:endParaRPr>
          </a:p>
        </p:txBody>
      </p:sp>
      <p:sp>
        <p:nvSpPr>
          <p:cNvPr id="25604" name="Text Box 8"/>
          <p:cNvSpPr txBox="1">
            <a:spLocks noChangeArrowheads="1"/>
          </p:cNvSpPr>
          <p:nvPr/>
        </p:nvSpPr>
        <p:spPr bwMode="auto">
          <a:xfrm>
            <a:off x="2351089" y="1628775"/>
            <a:ext cx="7705725"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Arial" panose="020B0604020202020204" pitchFamily="34" charset="0"/>
              <a:buNone/>
            </a:pPr>
            <a:r>
              <a:rPr lang="zh-CN" altLang="en-US" sz="2400" b="1">
                <a:solidFill>
                  <a:srgbClr val="339933"/>
                </a:solidFill>
                <a:latin typeface="Times New Roman" panose="02020603050405020304" pitchFamily="18" charset="0"/>
                <a:ea typeface="宋体" panose="02010600030101010101" pitchFamily="2" charset="-122"/>
              </a:rPr>
              <a:t>附录通常可以放一些比较长的引理和定理的证明。</a:t>
            </a:r>
            <a:endParaRPr lang="zh-CN" altLang="en-US" sz="2400" b="1">
              <a:solidFill>
                <a:srgbClr val="339933"/>
              </a:solidFill>
              <a:latin typeface="Times New Roman" panose="02020603050405020304" pitchFamily="18" charset="0"/>
              <a:ea typeface="宋体" panose="02010600030101010101" pitchFamily="2" charset="-122"/>
            </a:endParaRPr>
          </a:p>
          <a:p>
            <a:pPr>
              <a:buFont typeface="Arial" panose="020B0604020202020204" pitchFamily="34" charset="0"/>
              <a:buNone/>
            </a:pPr>
            <a:endParaRPr lang="zh-CN" altLang="en-US" sz="2400" b="1">
              <a:solidFill>
                <a:srgbClr val="339933"/>
              </a:solidFill>
              <a:latin typeface="Times New Roman" panose="02020603050405020304" pitchFamily="18" charset="0"/>
              <a:ea typeface="宋体" panose="02010600030101010101" pitchFamily="2" charset="-122"/>
            </a:endParaRPr>
          </a:p>
          <a:p>
            <a:pPr>
              <a:buFont typeface="Arial" panose="020B0604020202020204" pitchFamily="34" charset="0"/>
              <a:buNone/>
            </a:pPr>
            <a:r>
              <a:rPr lang="zh-CN" altLang="en-US" sz="2000" b="1">
                <a:solidFill>
                  <a:srgbClr val="3366CC"/>
                </a:solidFill>
                <a:latin typeface="Times New Roman" panose="02020603050405020304" pitchFamily="18" charset="0"/>
                <a:ea typeface="宋体" panose="02010600030101010101" pitchFamily="2" charset="-122"/>
              </a:rPr>
              <a:t>这样会方便读者顺利地阅读文章的全文，而只在有必要的时候才去检查这些证明。</a:t>
            </a:r>
            <a:endParaRPr lang="zh-CN" altLang="en-US" sz="2000" b="1">
              <a:solidFill>
                <a:srgbClr val="3366CC"/>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8674"/>
                                        </p:tgtEl>
                                        <p:attrNameLst>
                                          <p:attrName>style.visibility</p:attrName>
                                        </p:attrNameLst>
                                      </p:cBhvr>
                                      <p:to>
                                        <p:strVal val="visible"/>
                                      </p:to>
                                    </p:set>
                                    <p:animEffect transition="in" filter="fade">
                                      <p:cBhvr>
                                        <p:cTn id="7" dur="1000"/>
                                        <p:tgtEl>
                                          <p:spTgt spid="28674"/>
                                        </p:tgtEl>
                                      </p:cBhvr>
                                    </p:animEffect>
                                    <p:anim calcmode="lin" valueType="num">
                                      <p:cBhvr>
                                        <p:cTn id="8" dur="1000" fill="hold"/>
                                        <p:tgtEl>
                                          <p:spTgt spid="28674"/>
                                        </p:tgtEl>
                                        <p:attrNameLst>
                                          <p:attrName>ppt_x</p:attrName>
                                        </p:attrNameLst>
                                      </p:cBhvr>
                                      <p:tavLst>
                                        <p:tav tm="0">
                                          <p:val>
                                            <p:strVal val="#ppt_x"/>
                                          </p:val>
                                        </p:tav>
                                        <p:tav tm="100000">
                                          <p:val>
                                            <p:strVal val="#ppt_x"/>
                                          </p:val>
                                        </p:tav>
                                      </p:tavLst>
                                    </p:anim>
                                    <p:anim calcmode="lin" valueType="num">
                                      <p:cBhvr>
                                        <p:cTn id="9" dur="1000" fill="hold"/>
                                        <p:tgtEl>
                                          <p:spTgt spid="286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zh-CN" altLang="zh-CN"/>
              <a:t>Appendices </a:t>
            </a:r>
            <a:endParaRPr lang="zh-CN" altLang="zh-CN"/>
          </a:p>
        </p:txBody>
      </p:sp>
      <p:sp>
        <p:nvSpPr>
          <p:cNvPr id="14339" name="Rectangle 3"/>
          <p:cNvSpPr>
            <a:spLocks noGrp="1" noChangeArrowheads="1"/>
          </p:cNvSpPr>
          <p:nvPr>
            <p:ph type="body" idx="1"/>
          </p:nvPr>
        </p:nvSpPr>
        <p:spPr/>
        <p:txBody>
          <a:bodyPr/>
          <a:lstStyle/>
          <a:p>
            <a:pPr>
              <a:lnSpc>
                <a:spcPct val="90000"/>
              </a:lnSpc>
            </a:pPr>
            <a:r>
              <a:rPr lang="zh-CN" altLang="zh-CN"/>
              <a:t>For any materials which are important but do not fit naturally in the text.</a:t>
            </a:r>
            <a:endParaRPr lang="zh-CN" altLang="zh-CN"/>
          </a:p>
          <a:p>
            <a:pPr>
              <a:lnSpc>
                <a:spcPct val="90000"/>
              </a:lnSpc>
            </a:pPr>
            <a:r>
              <a:rPr lang="zh-CN" altLang="zh-CN"/>
              <a:t>Materials included</a:t>
            </a:r>
            <a:endParaRPr lang="zh-CN" altLang="zh-CN"/>
          </a:p>
          <a:p>
            <a:pPr lvl="1">
              <a:lnSpc>
                <a:spcPct val="90000"/>
              </a:lnSpc>
            </a:pPr>
            <a:r>
              <a:rPr lang="zh-CN" altLang="zh-CN"/>
              <a:t>Questionnaires used to obtain data</a:t>
            </a:r>
            <a:endParaRPr lang="zh-CN" altLang="zh-CN"/>
          </a:p>
          <a:p>
            <a:pPr lvl="1">
              <a:lnSpc>
                <a:spcPct val="90000"/>
              </a:lnSpc>
            </a:pPr>
            <a:r>
              <a:rPr lang="zh-CN" altLang="zh-CN"/>
              <a:t>Sheets used in observation</a:t>
            </a:r>
            <a:endParaRPr lang="zh-CN" altLang="zh-CN"/>
          </a:p>
          <a:p>
            <a:pPr lvl="1">
              <a:lnSpc>
                <a:spcPct val="90000"/>
              </a:lnSpc>
            </a:pPr>
            <a:r>
              <a:rPr lang="zh-CN" altLang="zh-CN"/>
              <a:t>Photocopied documents such as textbooks, exam papers and syllabuses</a:t>
            </a:r>
            <a:endParaRPr lang="zh-CN" altLang="zh-CN"/>
          </a:p>
          <a:p>
            <a:pPr lvl="1">
              <a:lnSpc>
                <a:spcPct val="90000"/>
              </a:lnSpc>
            </a:pPr>
            <a:r>
              <a:rPr lang="zh-CN" altLang="zh-CN"/>
              <a:t>Other materials that are long and awkward if put in the text</a:t>
            </a:r>
            <a:endParaRPr lang="zh-CN" altLang="zh-CN"/>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zh-CN" altLang="zh-CN"/>
              <a:t>Appendices </a:t>
            </a:r>
            <a:r>
              <a:rPr lang="zh-CN" altLang="zh-CN">
                <a:latin typeface="Times New Roman" panose="02020603050405020304" pitchFamily="18" charset="0"/>
              </a:rPr>
              <a:t>–</a:t>
            </a:r>
            <a:r>
              <a:rPr lang="zh-CN" altLang="zh-CN"/>
              <a:t> requirements  </a:t>
            </a:r>
            <a:endParaRPr lang="zh-CN" altLang="zh-CN"/>
          </a:p>
        </p:txBody>
      </p:sp>
      <p:sp>
        <p:nvSpPr>
          <p:cNvPr id="15363" name="Rectangle 3"/>
          <p:cNvSpPr>
            <a:spLocks noGrp="1" noChangeArrowheads="1"/>
          </p:cNvSpPr>
          <p:nvPr>
            <p:ph type="body" idx="1"/>
          </p:nvPr>
        </p:nvSpPr>
        <p:spPr/>
        <p:txBody>
          <a:bodyPr/>
          <a:lstStyle/>
          <a:p>
            <a:r>
              <a:rPr lang="zh-CN" altLang="zh-CN"/>
              <a:t>All materials in an appendix must have been referred to in the text</a:t>
            </a:r>
            <a:endParaRPr lang="zh-CN" altLang="zh-CN"/>
          </a:p>
          <a:p>
            <a:r>
              <a:rPr lang="zh-CN" altLang="zh-CN"/>
              <a:t>Each document should be included in a separate appendix which should be numbered and titled and begin on a new page</a:t>
            </a:r>
            <a:endParaRPr lang="zh-CN" altLang="zh-CN"/>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10" descr="b2"/>
          <p:cNvPicPr>
            <a:picLocks noChangeAspect="1" noChangeArrowheads="1"/>
          </p:cNvPicPr>
          <p:nvPr/>
        </p:nvPicPr>
        <p:blipFill>
          <a:blip r:embed="rId1">
            <a:lum bright="6000" contrast="6000"/>
            <a:extLst>
              <a:ext uri="{28A0092B-C50C-407E-A947-70E740481C1C}">
                <a14:useLocalDpi xmlns:a14="http://schemas.microsoft.com/office/drawing/2010/main" val="0"/>
              </a:ext>
            </a:extLst>
          </a:blip>
          <a:srcRect/>
          <a:stretch>
            <a:fillRect/>
          </a:stretch>
        </p:blipFill>
        <p:spPr bwMode="auto">
          <a:xfrm>
            <a:off x="9625014" y="5953126"/>
            <a:ext cx="8159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6" name="副标题 6"/>
          <p:cNvSpPr>
            <a:spLocks noChangeArrowheads="1"/>
          </p:cNvSpPr>
          <p:nvPr/>
        </p:nvSpPr>
        <p:spPr bwMode="auto">
          <a:xfrm>
            <a:off x="2208213" y="884238"/>
            <a:ext cx="817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800" b="1" i="1">
                <a:solidFill>
                  <a:srgbClr val="FF6600"/>
                </a:solidFill>
                <a:latin typeface="Verdana" panose="020B0604030504040204" pitchFamily="34" charset="0"/>
                <a:ea typeface="宋体" panose="02010600030101010101" pitchFamily="2" charset="-122"/>
              </a:rPr>
              <a:t>Misconceptions 1:</a:t>
            </a:r>
            <a:endParaRPr lang="en-US" altLang="zh-CN" sz="2800" b="1" i="1">
              <a:solidFill>
                <a:srgbClr val="FF6600"/>
              </a:solidFill>
              <a:latin typeface="Verdana" panose="020B0604030504040204" pitchFamily="34" charset="0"/>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800" b="1" i="1">
                <a:solidFill>
                  <a:srgbClr val="FF6600"/>
                </a:solidFill>
                <a:latin typeface="Verdana" panose="020B0604030504040204" pitchFamily="34" charset="0"/>
                <a:ea typeface="宋体" panose="02010600030101010101" pitchFamily="2" charset="-122"/>
              </a:rPr>
              <a:t>                         </a:t>
            </a:r>
            <a:endParaRPr lang="en-US" altLang="zh-CN" sz="2800" b="1">
              <a:latin typeface="Verdana" panose="020B0604030504040204" pitchFamily="34" charset="0"/>
              <a:ea typeface="宋体" panose="02010600030101010101" pitchFamily="2" charset="-122"/>
            </a:endParaRPr>
          </a:p>
        </p:txBody>
      </p:sp>
      <p:sp>
        <p:nvSpPr>
          <p:cNvPr id="26627" name="副标题 6"/>
          <p:cNvSpPr>
            <a:spLocks noChangeArrowheads="1"/>
          </p:cNvSpPr>
          <p:nvPr/>
        </p:nvSpPr>
        <p:spPr bwMode="auto">
          <a:xfrm>
            <a:off x="6024563" y="1628776"/>
            <a:ext cx="44640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3600" b="1" baseline="25000">
                <a:solidFill>
                  <a:srgbClr val="FF0000"/>
                </a:solidFill>
                <a:ea typeface="宋体" panose="02010600030101010101" pitchFamily="2" charset="-122"/>
              </a:rPr>
              <a:t>The more, the better</a:t>
            </a:r>
            <a:endParaRPr lang="en-US" altLang="zh-CN" sz="3600" b="1" baseline="25000">
              <a:solidFill>
                <a:srgbClr val="FF0000"/>
              </a:solidFill>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   </a:t>
            </a:r>
            <a:endParaRPr lang="en-US" altLang="zh-CN" sz="2400" b="1">
              <a:ea typeface="宋体" panose="02010600030101010101" pitchFamily="2" charset="-122"/>
            </a:endParaRPr>
          </a:p>
        </p:txBody>
      </p:sp>
      <p:sp>
        <p:nvSpPr>
          <p:cNvPr id="26628" name="副标题 6"/>
          <p:cNvSpPr>
            <a:spLocks noChangeArrowheads="1"/>
          </p:cNvSpPr>
          <p:nvPr/>
        </p:nvSpPr>
        <p:spPr bwMode="auto">
          <a:xfrm>
            <a:off x="2279650" y="2205039"/>
            <a:ext cx="824388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Don’t provide too many “new” ideas in a paper. Try your best to focus on your core work.</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          </a:t>
            </a:r>
            <a:endParaRPr lang="en-US" altLang="zh-CN" sz="2400" b="1">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29698"/>
                                        </p:tgtEl>
                                        <p:attrNameLst>
                                          <p:attrName>style.visibility</p:attrName>
                                        </p:attrNameLst>
                                      </p:cBhvr>
                                      <p:to>
                                        <p:strVal val="visible"/>
                                      </p:to>
                                    </p:set>
                                    <p:animEffect transition="in" filter="fade">
                                      <p:cBhvr>
                                        <p:cTn id="7" dur="1000"/>
                                        <p:tgtEl>
                                          <p:spTgt spid="29698"/>
                                        </p:tgtEl>
                                      </p:cBhvr>
                                    </p:animEffect>
                                    <p:anim calcmode="lin" valueType="num">
                                      <p:cBhvr>
                                        <p:cTn id="8" dur="1000" fill="hold"/>
                                        <p:tgtEl>
                                          <p:spTgt spid="29698"/>
                                        </p:tgtEl>
                                        <p:attrNameLst>
                                          <p:attrName>ppt_x</p:attrName>
                                        </p:attrNameLst>
                                      </p:cBhvr>
                                      <p:tavLst>
                                        <p:tav tm="0">
                                          <p:val>
                                            <p:strVal val="#ppt_x"/>
                                          </p:val>
                                        </p:tav>
                                        <p:tav tm="100000">
                                          <p:val>
                                            <p:strVal val="#ppt_x"/>
                                          </p:val>
                                        </p:tav>
                                      </p:tavLst>
                                    </p:anim>
                                    <p:anim calcmode="lin" valueType="num">
                                      <p:cBhvr>
                                        <p:cTn id="9" dur="1000" fill="hold"/>
                                        <p:tgtEl>
                                          <p:spTgt spid="2969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10" descr="b2"/>
          <p:cNvPicPr>
            <a:picLocks noChangeAspect="1" noChangeArrowheads="1"/>
          </p:cNvPicPr>
          <p:nvPr/>
        </p:nvPicPr>
        <p:blipFill>
          <a:blip r:embed="rId1">
            <a:lum bright="6000" contrast="6000"/>
            <a:extLst>
              <a:ext uri="{28A0092B-C50C-407E-A947-70E740481C1C}">
                <a14:useLocalDpi xmlns:a14="http://schemas.microsoft.com/office/drawing/2010/main" val="0"/>
              </a:ext>
            </a:extLst>
          </a:blip>
          <a:srcRect/>
          <a:stretch>
            <a:fillRect/>
          </a:stretch>
        </p:blipFill>
        <p:spPr bwMode="auto">
          <a:xfrm>
            <a:off x="9625014" y="5953126"/>
            <a:ext cx="8159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0" name="副标题 6"/>
          <p:cNvSpPr>
            <a:spLocks noChangeArrowheads="1"/>
          </p:cNvSpPr>
          <p:nvPr/>
        </p:nvSpPr>
        <p:spPr bwMode="auto">
          <a:xfrm>
            <a:off x="2208213" y="836613"/>
            <a:ext cx="817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800" b="1" i="1">
                <a:solidFill>
                  <a:srgbClr val="FF6600"/>
                </a:solidFill>
                <a:latin typeface="Verdana" panose="020B0604030504040204" pitchFamily="34" charset="0"/>
                <a:ea typeface="宋体" panose="02010600030101010101" pitchFamily="2" charset="-122"/>
              </a:rPr>
              <a:t>Misconceptions 2:</a:t>
            </a:r>
            <a:endParaRPr lang="en-US" altLang="zh-CN" sz="2800" b="1" i="1">
              <a:solidFill>
                <a:srgbClr val="FF6600"/>
              </a:solidFill>
              <a:latin typeface="Verdana" panose="020B0604030504040204" pitchFamily="34" charset="0"/>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800" b="1" i="1">
                <a:solidFill>
                  <a:srgbClr val="FF6600"/>
                </a:solidFill>
                <a:latin typeface="Verdana" panose="020B0604030504040204" pitchFamily="34" charset="0"/>
                <a:ea typeface="宋体" panose="02010600030101010101" pitchFamily="2" charset="-122"/>
              </a:rPr>
              <a:t>                         </a:t>
            </a:r>
            <a:endParaRPr lang="en-US" altLang="zh-CN" sz="2800" b="1">
              <a:latin typeface="Verdana" panose="020B0604030504040204" pitchFamily="34" charset="0"/>
              <a:ea typeface="宋体" panose="02010600030101010101" pitchFamily="2" charset="-122"/>
            </a:endParaRPr>
          </a:p>
        </p:txBody>
      </p:sp>
      <p:sp>
        <p:nvSpPr>
          <p:cNvPr id="27651" name="副标题 6"/>
          <p:cNvSpPr>
            <a:spLocks noChangeArrowheads="1"/>
          </p:cNvSpPr>
          <p:nvPr/>
        </p:nvSpPr>
        <p:spPr bwMode="auto">
          <a:xfrm>
            <a:off x="5519738" y="1628776"/>
            <a:ext cx="44640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3600" b="1" baseline="25000">
                <a:solidFill>
                  <a:srgbClr val="FF0000"/>
                </a:solidFill>
                <a:ea typeface="宋体" panose="02010600030101010101" pitchFamily="2" charset="-122"/>
              </a:rPr>
              <a:t>The more complex, the better</a:t>
            </a:r>
            <a:endParaRPr lang="en-US" altLang="zh-CN" sz="3600" b="1" baseline="25000">
              <a:solidFill>
                <a:srgbClr val="FF0000"/>
              </a:solidFill>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solidFill>
                <a:srgbClr val="FF0000"/>
              </a:solidFill>
              <a:ea typeface="宋体" panose="02010600030101010101" pitchFamily="2" charset="-122"/>
            </a:endParaRPr>
          </a:p>
        </p:txBody>
      </p:sp>
      <p:sp>
        <p:nvSpPr>
          <p:cNvPr id="27652" name="副标题 6"/>
          <p:cNvSpPr>
            <a:spLocks noChangeArrowheads="1"/>
          </p:cNvSpPr>
          <p:nvPr/>
        </p:nvSpPr>
        <p:spPr bwMode="auto">
          <a:xfrm>
            <a:off x="2279650" y="2205039"/>
            <a:ext cx="824388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Try to make your paper easy to be understood.</a:t>
            </a:r>
            <a:endParaRPr lang="en-US" altLang="zh-CN" sz="2400" b="1">
              <a:ea typeface="宋体" panose="02010600030101010101" pitchFamily="2" charset="-122"/>
            </a:endParaRPr>
          </a:p>
        </p:txBody>
      </p:sp>
      <p:sp>
        <p:nvSpPr>
          <p:cNvPr id="27653" name="副标题 6"/>
          <p:cNvSpPr>
            <a:spLocks noChangeArrowheads="1"/>
          </p:cNvSpPr>
          <p:nvPr/>
        </p:nvSpPr>
        <p:spPr bwMode="auto">
          <a:xfrm>
            <a:off x="2351089" y="2997201"/>
            <a:ext cx="82438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400" b="1">
                <a:solidFill>
                  <a:srgbClr val="D143B6"/>
                </a:solidFill>
                <a:ea typeface="宋体" panose="02010600030101010101" pitchFamily="2" charset="-122"/>
              </a:rPr>
              <a:t>Remember</a:t>
            </a:r>
            <a:r>
              <a:rPr lang="en-US" altLang="zh-CN" sz="2400" b="1">
                <a:ea typeface="宋体" panose="02010600030101010101" pitchFamily="2" charset="-122"/>
              </a:rPr>
              <a:t>: You are showing your thoughts instead of confusing the readers.</a:t>
            </a:r>
            <a:endParaRPr lang="en-US" altLang="zh-CN" sz="2400" b="1">
              <a:ea typeface="宋体" panose="02010600030101010101" pitchFamily="2" charset="-122"/>
            </a:endParaRPr>
          </a:p>
        </p:txBody>
      </p:sp>
      <p:sp>
        <p:nvSpPr>
          <p:cNvPr id="27654" name="副标题 6"/>
          <p:cNvSpPr>
            <a:spLocks noChangeArrowheads="1"/>
          </p:cNvSpPr>
          <p:nvPr/>
        </p:nvSpPr>
        <p:spPr bwMode="auto">
          <a:xfrm>
            <a:off x="2351089" y="4005264"/>
            <a:ext cx="82438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Mathematical language is to help you clearly express your thoughts, not to show your depth.</a:t>
            </a:r>
            <a:endParaRPr lang="en-US" altLang="zh-CN" sz="2400" b="1">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3794"/>
                                        </p:tgtEl>
                                        <p:attrNameLst>
                                          <p:attrName>style.visibility</p:attrName>
                                        </p:attrNameLst>
                                      </p:cBhvr>
                                      <p:to>
                                        <p:strVal val="visible"/>
                                      </p:to>
                                    </p:set>
                                    <p:animEffect transition="in" filter="fade">
                                      <p:cBhvr>
                                        <p:cTn id="7" dur="1000"/>
                                        <p:tgtEl>
                                          <p:spTgt spid="33794"/>
                                        </p:tgtEl>
                                      </p:cBhvr>
                                    </p:animEffect>
                                    <p:anim calcmode="lin" valueType="num">
                                      <p:cBhvr>
                                        <p:cTn id="8" dur="1000" fill="hold"/>
                                        <p:tgtEl>
                                          <p:spTgt spid="33794"/>
                                        </p:tgtEl>
                                        <p:attrNameLst>
                                          <p:attrName>ppt_x</p:attrName>
                                        </p:attrNameLst>
                                      </p:cBhvr>
                                      <p:tavLst>
                                        <p:tav tm="0">
                                          <p:val>
                                            <p:strVal val="#ppt_x"/>
                                          </p:val>
                                        </p:tav>
                                        <p:tav tm="100000">
                                          <p:val>
                                            <p:strVal val="#ppt_x"/>
                                          </p:val>
                                        </p:tav>
                                      </p:tavLst>
                                    </p:anim>
                                    <p:anim calcmode="lin" valueType="num">
                                      <p:cBhvr>
                                        <p:cTn id="9" dur="1000" fill="hold"/>
                                        <p:tgtEl>
                                          <p:spTgt spid="3379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10" descr="b2"/>
          <p:cNvPicPr>
            <a:picLocks noChangeAspect="1" noChangeArrowheads="1"/>
          </p:cNvPicPr>
          <p:nvPr/>
        </p:nvPicPr>
        <p:blipFill>
          <a:blip r:embed="rId1">
            <a:lum bright="6000" contrast="6000"/>
            <a:extLst>
              <a:ext uri="{28A0092B-C50C-407E-A947-70E740481C1C}">
                <a14:useLocalDpi xmlns:a14="http://schemas.microsoft.com/office/drawing/2010/main" val="0"/>
              </a:ext>
            </a:extLst>
          </a:blip>
          <a:srcRect/>
          <a:stretch>
            <a:fillRect/>
          </a:stretch>
        </p:blipFill>
        <p:spPr bwMode="auto">
          <a:xfrm>
            <a:off x="9625014" y="5953126"/>
            <a:ext cx="8159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4" name="副标题 6"/>
          <p:cNvSpPr>
            <a:spLocks noChangeArrowheads="1"/>
          </p:cNvSpPr>
          <p:nvPr/>
        </p:nvSpPr>
        <p:spPr bwMode="auto">
          <a:xfrm>
            <a:off x="2208213" y="836613"/>
            <a:ext cx="817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800" b="1" i="1">
                <a:solidFill>
                  <a:srgbClr val="FF6600"/>
                </a:solidFill>
                <a:latin typeface="Verdana" panose="020B0604030504040204" pitchFamily="34" charset="0"/>
                <a:ea typeface="宋体" panose="02010600030101010101" pitchFamily="2" charset="-122"/>
              </a:rPr>
              <a:t>Misconceptions 3:</a:t>
            </a:r>
            <a:endParaRPr lang="en-US" altLang="zh-CN" sz="2800" b="1" i="1">
              <a:solidFill>
                <a:srgbClr val="FF6600"/>
              </a:solidFill>
              <a:latin typeface="Verdana" panose="020B0604030504040204" pitchFamily="34" charset="0"/>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800" b="1" i="1">
                <a:solidFill>
                  <a:srgbClr val="FF6600"/>
                </a:solidFill>
                <a:latin typeface="Verdana" panose="020B0604030504040204" pitchFamily="34" charset="0"/>
                <a:ea typeface="宋体" panose="02010600030101010101" pitchFamily="2" charset="-122"/>
              </a:rPr>
              <a:t>                         </a:t>
            </a:r>
            <a:endParaRPr lang="en-US" altLang="zh-CN" sz="2800" b="1">
              <a:latin typeface="Verdana" panose="020B0604030504040204" pitchFamily="34" charset="0"/>
              <a:ea typeface="宋体" panose="02010600030101010101" pitchFamily="2" charset="-122"/>
            </a:endParaRPr>
          </a:p>
        </p:txBody>
      </p:sp>
      <p:sp>
        <p:nvSpPr>
          <p:cNvPr id="28675" name="副标题 6"/>
          <p:cNvSpPr>
            <a:spLocks noChangeArrowheads="1"/>
          </p:cNvSpPr>
          <p:nvPr/>
        </p:nvSpPr>
        <p:spPr bwMode="auto">
          <a:xfrm>
            <a:off x="5519738" y="1628776"/>
            <a:ext cx="44640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3600" b="1" baseline="25000">
                <a:solidFill>
                  <a:srgbClr val="FF0000"/>
                </a:solidFill>
                <a:ea typeface="宋体" panose="02010600030101010101" pitchFamily="2" charset="-122"/>
              </a:rPr>
              <a:t>The more selling, the better</a:t>
            </a:r>
            <a:endParaRPr lang="en-US" altLang="zh-CN" sz="3600" b="1" baseline="25000">
              <a:solidFill>
                <a:srgbClr val="FF0000"/>
              </a:solidFill>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ea typeface="宋体" panose="02010600030101010101" pitchFamily="2" charset="-122"/>
            </a:endParaRPr>
          </a:p>
        </p:txBody>
      </p:sp>
      <p:sp>
        <p:nvSpPr>
          <p:cNvPr id="28676" name="副标题 6"/>
          <p:cNvSpPr>
            <a:spLocks noChangeArrowheads="1"/>
          </p:cNvSpPr>
          <p:nvPr/>
        </p:nvSpPr>
        <p:spPr bwMode="auto">
          <a:xfrm>
            <a:off x="2424114" y="2205039"/>
            <a:ext cx="82438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Don’t exaggerate too much on your work.</a:t>
            </a:r>
            <a:endParaRPr lang="en-US" altLang="zh-CN" sz="2400" b="1">
              <a:ea typeface="宋体" panose="02010600030101010101" pitchFamily="2" charset="-122"/>
            </a:endParaRPr>
          </a:p>
        </p:txBody>
      </p:sp>
      <p:sp>
        <p:nvSpPr>
          <p:cNvPr id="28677" name="副标题 6"/>
          <p:cNvSpPr>
            <a:spLocks noChangeArrowheads="1"/>
          </p:cNvSpPr>
          <p:nvPr/>
        </p:nvSpPr>
        <p:spPr bwMode="auto">
          <a:xfrm>
            <a:off x="2424114" y="2852739"/>
            <a:ext cx="82438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The reviews/readers will judge it.</a:t>
            </a:r>
            <a:endParaRPr lang="en-US" altLang="zh-CN" sz="2400" b="1">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fade">
                                      <p:cBhvr>
                                        <p:cTn id="7" dur="1000"/>
                                        <p:tgtEl>
                                          <p:spTgt spid="34818"/>
                                        </p:tgtEl>
                                      </p:cBhvr>
                                    </p:animEffect>
                                    <p:anim calcmode="lin" valueType="num">
                                      <p:cBhvr>
                                        <p:cTn id="8" dur="1000" fill="hold"/>
                                        <p:tgtEl>
                                          <p:spTgt spid="34818"/>
                                        </p:tgtEl>
                                        <p:attrNameLst>
                                          <p:attrName>ppt_x</p:attrName>
                                        </p:attrNameLst>
                                      </p:cBhvr>
                                      <p:tavLst>
                                        <p:tav tm="0">
                                          <p:val>
                                            <p:strVal val="#ppt_x"/>
                                          </p:val>
                                        </p:tav>
                                        <p:tav tm="100000">
                                          <p:val>
                                            <p:strVal val="#ppt_x"/>
                                          </p:val>
                                        </p:tav>
                                      </p:tavLst>
                                    </p:anim>
                                    <p:anim calcmode="lin" valueType="num">
                                      <p:cBhvr>
                                        <p:cTn id="9" dur="1000" fill="hold"/>
                                        <p:tgtEl>
                                          <p:spTgt spid="348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10" descr="b2"/>
          <p:cNvPicPr>
            <a:picLocks noChangeAspect="1" noChangeArrowheads="1"/>
          </p:cNvPicPr>
          <p:nvPr/>
        </p:nvPicPr>
        <p:blipFill>
          <a:blip r:embed="rId1">
            <a:lum bright="6000" contrast="6000"/>
            <a:extLst>
              <a:ext uri="{28A0092B-C50C-407E-A947-70E740481C1C}">
                <a14:useLocalDpi xmlns:a14="http://schemas.microsoft.com/office/drawing/2010/main" val="0"/>
              </a:ext>
            </a:extLst>
          </a:blip>
          <a:srcRect/>
          <a:stretch>
            <a:fillRect/>
          </a:stretch>
        </p:blipFill>
        <p:spPr bwMode="auto">
          <a:xfrm>
            <a:off x="9625014" y="5953126"/>
            <a:ext cx="8159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8" name="副标题 6"/>
          <p:cNvSpPr>
            <a:spLocks noChangeArrowheads="1"/>
          </p:cNvSpPr>
          <p:nvPr/>
        </p:nvSpPr>
        <p:spPr bwMode="auto">
          <a:xfrm>
            <a:off x="2208213" y="908050"/>
            <a:ext cx="817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800" b="1" i="1">
                <a:solidFill>
                  <a:srgbClr val="FF6600"/>
                </a:solidFill>
                <a:latin typeface="Verdana" panose="020B0604030504040204" pitchFamily="34" charset="0"/>
                <a:ea typeface="宋体" panose="02010600030101010101" pitchFamily="2" charset="-122"/>
              </a:rPr>
              <a:t>Misconceptions 4:</a:t>
            </a:r>
            <a:endParaRPr lang="en-US" altLang="zh-CN" sz="2800" b="1" i="1">
              <a:solidFill>
                <a:srgbClr val="FF6600"/>
              </a:solidFill>
              <a:latin typeface="Verdana" panose="020B0604030504040204" pitchFamily="34" charset="0"/>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800" b="1" i="1">
                <a:solidFill>
                  <a:srgbClr val="FF6600"/>
                </a:solidFill>
                <a:latin typeface="Verdana" panose="020B0604030504040204" pitchFamily="34" charset="0"/>
                <a:ea typeface="宋体" panose="02010600030101010101" pitchFamily="2" charset="-122"/>
              </a:rPr>
              <a:t>                         </a:t>
            </a:r>
            <a:endParaRPr lang="en-US" altLang="zh-CN" sz="2800" b="1">
              <a:latin typeface="Verdana" panose="020B0604030504040204" pitchFamily="34" charset="0"/>
              <a:ea typeface="宋体" panose="02010600030101010101" pitchFamily="2" charset="-122"/>
            </a:endParaRPr>
          </a:p>
        </p:txBody>
      </p:sp>
      <p:sp>
        <p:nvSpPr>
          <p:cNvPr id="29699" name="副标题 6"/>
          <p:cNvSpPr>
            <a:spLocks noChangeArrowheads="1"/>
          </p:cNvSpPr>
          <p:nvPr/>
        </p:nvSpPr>
        <p:spPr bwMode="auto">
          <a:xfrm>
            <a:off x="5303839" y="1628776"/>
            <a:ext cx="561657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3600" b="1" baseline="25000">
                <a:solidFill>
                  <a:srgbClr val="FF0000"/>
                </a:solidFill>
                <a:ea typeface="宋体" panose="02010600030101010101" pitchFamily="2" charset="-122"/>
              </a:rPr>
              <a:t>The more authoritative, the better</a:t>
            </a:r>
            <a:endParaRPr lang="en-US" altLang="zh-CN" sz="3600" b="1" baseline="25000">
              <a:solidFill>
                <a:srgbClr val="FF0000"/>
              </a:solidFill>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solidFill>
                <a:srgbClr val="FF0000"/>
              </a:solidFill>
              <a:ea typeface="宋体" panose="02010600030101010101" pitchFamily="2" charset="-122"/>
            </a:endParaRPr>
          </a:p>
        </p:txBody>
      </p:sp>
      <p:sp>
        <p:nvSpPr>
          <p:cNvPr id="29700" name="副标题 6"/>
          <p:cNvSpPr>
            <a:spLocks noChangeArrowheads="1"/>
          </p:cNvSpPr>
          <p:nvPr/>
        </p:nvSpPr>
        <p:spPr bwMode="auto">
          <a:xfrm>
            <a:off x="2279650" y="2205039"/>
            <a:ext cx="824388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Don’t refer too many own works while ignoring others.</a:t>
            </a:r>
            <a:endParaRPr lang="en-US" altLang="zh-CN" sz="2400" b="1">
              <a:ea typeface="宋体" panose="02010600030101010101" pitchFamily="2" charset="-122"/>
            </a:endParaRPr>
          </a:p>
        </p:txBody>
      </p:sp>
      <p:sp>
        <p:nvSpPr>
          <p:cNvPr id="29701" name="副标题 6"/>
          <p:cNvSpPr>
            <a:spLocks noChangeArrowheads="1"/>
          </p:cNvSpPr>
          <p:nvPr/>
        </p:nvSpPr>
        <p:spPr bwMode="auto">
          <a:xfrm>
            <a:off x="2279650" y="2852739"/>
            <a:ext cx="824388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Don’t behave as a big shot if you are not.</a:t>
            </a:r>
            <a:endParaRPr lang="en-US" altLang="zh-CN" sz="2400" b="1">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5842"/>
                                        </p:tgtEl>
                                        <p:attrNameLst>
                                          <p:attrName>style.visibility</p:attrName>
                                        </p:attrNameLst>
                                      </p:cBhvr>
                                      <p:to>
                                        <p:strVal val="visible"/>
                                      </p:to>
                                    </p:set>
                                    <p:animEffect transition="in" filter="fade">
                                      <p:cBhvr>
                                        <p:cTn id="7" dur="1000"/>
                                        <p:tgtEl>
                                          <p:spTgt spid="35842"/>
                                        </p:tgtEl>
                                      </p:cBhvr>
                                    </p:animEffect>
                                    <p:anim calcmode="lin" valueType="num">
                                      <p:cBhvr>
                                        <p:cTn id="8" dur="1000" fill="hold"/>
                                        <p:tgtEl>
                                          <p:spTgt spid="35842"/>
                                        </p:tgtEl>
                                        <p:attrNameLst>
                                          <p:attrName>ppt_x</p:attrName>
                                        </p:attrNameLst>
                                      </p:cBhvr>
                                      <p:tavLst>
                                        <p:tav tm="0">
                                          <p:val>
                                            <p:strVal val="#ppt_x"/>
                                          </p:val>
                                        </p:tav>
                                        <p:tav tm="100000">
                                          <p:val>
                                            <p:strVal val="#ppt_x"/>
                                          </p:val>
                                        </p:tav>
                                      </p:tavLst>
                                    </p:anim>
                                    <p:anim calcmode="lin" valueType="num">
                                      <p:cBhvr>
                                        <p:cTn id="9" dur="1000" fill="hold"/>
                                        <p:tgtEl>
                                          <p:spTgt spid="358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10" descr="b2"/>
          <p:cNvPicPr>
            <a:picLocks noChangeAspect="1" noChangeArrowheads="1"/>
          </p:cNvPicPr>
          <p:nvPr/>
        </p:nvPicPr>
        <p:blipFill>
          <a:blip r:embed="rId1">
            <a:lum bright="6000" contrast="6000"/>
            <a:extLst>
              <a:ext uri="{28A0092B-C50C-407E-A947-70E740481C1C}">
                <a14:useLocalDpi xmlns:a14="http://schemas.microsoft.com/office/drawing/2010/main" val="0"/>
              </a:ext>
            </a:extLst>
          </a:blip>
          <a:srcRect/>
          <a:stretch>
            <a:fillRect/>
          </a:stretch>
        </p:blipFill>
        <p:spPr bwMode="auto">
          <a:xfrm>
            <a:off x="9625014" y="5953126"/>
            <a:ext cx="8159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2" name="副标题 6"/>
          <p:cNvSpPr>
            <a:spLocks noChangeArrowheads="1"/>
          </p:cNvSpPr>
          <p:nvPr/>
        </p:nvSpPr>
        <p:spPr bwMode="auto">
          <a:xfrm>
            <a:off x="2208213" y="811213"/>
            <a:ext cx="817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800" b="1" i="1">
                <a:solidFill>
                  <a:srgbClr val="FF6600"/>
                </a:solidFill>
                <a:latin typeface="Verdana" panose="020B0604030504040204" pitchFamily="34" charset="0"/>
                <a:ea typeface="宋体" panose="02010600030101010101" pitchFamily="2" charset="-122"/>
              </a:rPr>
              <a:t>Tricks</a:t>
            </a:r>
            <a:endParaRPr lang="en-US" altLang="zh-CN" sz="2800" b="1">
              <a:latin typeface="Verdana" panose="020B0604030504040204" pitchFamily="34" charset="0"/>
              <a:ea typeface="宋体" panose="02010600030101010101" pitchFamily="2" charset="-122"/>
            </a:endParaRPr>
          </a:p>
        </p:txBody>
      </p:sp>
      <p:sp>
        <p:nvSpPr>
          <p:cNvPr id="30723" name="副标题 6"/>
          <p:cNvSpPr>
            <a:spLocks noChangeArrowheads="1"/>
          </p:cNvSpPr>
          <p:nvPr/>
        </p:nvSpPr>
        <p:spPr bwMode="auto">
          <a:xfrm>
            <a:off x="2244725" y="1484314"/>
            <a:ext cx="824388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Read more, write more</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 Use good papers as samples</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          to simulate but not to copy</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Use simple sentences</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Not to show your elegance</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          unless you are very famous</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Try to reduce syntax errors</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          Good works won’t be rejected for syntax, but at</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  least the paper should be readable.</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6866"/>
                                        </p:tgtEl>
                                        <p:attrNameLst>
                                          <p:attrName>style.visibility</p:attrName>
                                        </p:attrNameLst>
                                      </p:cBhvr>
                                      <p:to>
                                        <p:strVal val="visible"/>
                                      </p:to>
                                    </p:set>
                                    <p:animEffect transition="in" filter="fade">
                                      <p:cBhvr>
                                        <p:cTn id="7" dur="1000"/>
                                        <p:tgtEl>
                                          <p:spTgt spid="36866"/>
                                        </p:tgtEl>
                                      </p:cBhvr>
                                    </p:animEffect>
                                    <p:anim calcmode="lin" valueType="num">
                                      <p:cBhvr>
                                        <p:cTn id="8" dur="1000" fill="hold"/>
                                        <p:tgtEl>
                                          <p:spTgt spid="36866"/>
                                        </p:tgtEl>
                                        <p:attrNameLst>
                                          <p:attrName>ppt_x</p:attrName>
                                        </p:attrNameLst>
                                      </p:cBhvr>
                                      <p:tavLst>
                                        <p:tav tm="0">
                                          <p:val>
                                            <p:strVal val="#ppt_x"/>
                                          </p:val>
                                        </p:tav>
                                        <p:tav tm="100000">
                                          <p:val>
                                            <p:strVal val="#ppt_x"/>
                                          </p:val>
                                        </p:tav>
                                      </p:tavLst>
                                    </p:anim>
                                    <p:anim calcmode="lin" valueType="num">
                                      <p:cBhvr>
                                        <p:cTn id="9" dur="1000" fill="hold"/>
                                        <p:tgtEl>
                                          <p:spTgt spid="368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10" descr="b2"/>
          <p:cNvPicPr>
            <a:picLocks noChangeAspect="1" noChangeArrowheads="1"/>
          </p:cNvPicPr>
          <p:nvPr/>
        </p:nvPicPr>
        <p:blipFill>
          <a:blip r:embed="rId1">
            <a:lum bright="6000" contrast="6000"/>
            <a:extLst>
              <a:ext uri="{28A0092B-C50C-407E-A947-70E740481C1C}">
                <a14:useLocalDpi xmlns:a14="http://schemas.microsoft.com/office/drawing/2010/main" val="0"/>
              </a:ext>
            </a:extLst>
          </a:blip>
          <a:srcRect/>
          <a:stretch>
            <a:fillRect/>
          </a:stretch>
        </p:blipFill>
        <p:spPr bwMode="auto">
          <a:xfrm>
            <a:off x="9625014" y="5953126"/>
            <a:ext cx="81597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6" name="副标题 6"/>
          <p:cNvSpPr>
            <a:spLocks noChangeArrowheads="1"/>
          </p:cNvSpPr>
          <p:nvPr/>
        </p:nvSpPr>
        <p:spPr bwMode="auto">
          <a:xfrm>
            <a:off x="2208213" y="811213"/>
            <a:ext cx="8172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800" b="1" i="1">
                <a:solidFill>
                  <a:srgbClr val="FF6600"/>
                </a:solidFill>
                <a:latin typeface="Verdana" panose="020B0604030504040204" pitchFamily="34" charset="0"/>
                <a:ea typeface="宋体" panose="02010600030101010101" pitchFamily="2" charset="-122"/>
              </a:rPr>
              <a:t>Tricks</a:t>
            </a:r>
            <a:endParaRPr lang="en-US" altLang="zh-CN" sz="2800" b="1">
              <a:latin typeface="Verdana" panose="020B0604030504040204" pitchFamily="34" charset="0"/>
              <a:ea typeface="宋体" panose="02010600030101010101" pitchFamily="2" charset="-122"/>
            </a:endParaRPr>
          </a:p>
        </p:txBody>
      </p:sp>
      <p:sp>
        <p:nvSpPr>
          <p:cNvPr id="31747" name="副标题 6"/>
          <p:cNvSpPr>
            <a:spLocks noChangeArrowheads="1"/>
          </p:cNvSpPr>
          <p:nvPr/>
        </p:nvSpPr>
        <p:spPr bwMode="auto">
          <a:xfrm>
            <a:off x="2279650" y="1557338"/>
            <a:ext cx="8243888" cy="215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spcBef>
                <a:spcPct val="20000"/>
              </a:spcBef>
              <a:buClr>
                <a:schemeClr val="hlink"/>
              </a:buClr>
              <a:buFont typeface="Wingdings" panose="05000000000000000000" pitchFamily="2" charset="2"/>
              <a:buNone/>
            </a:pPr>
            <a:r>
              <a:rPr lang="en-US" altLang="zh-CN" sz="2400" b="1">
                <a:ea typeface="宋体" panose="02010600030101010101" pitchFamily="2" charset="-122"/>
              </a:rPr>
              <a:t>. Make your abbreviation easy to be pronounced</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Typeset according to the requirements of the target</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Revise, revise, and revise</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r>
              <a:rPr lang="en-US" altLang="zh-CN" sz="3600" b="1" baseline="25000">
                <a:ea typeface="宋体" panose="02010600030101010101" pitchFamily="2" charset="-122"/>
              </a:rPr>
              <a:t>.</a:t>
            </a:r>
            <a:r>
              <a:rPr lang="en-US" altLang="zh-CN" sz="3600" b="1" baseline="50000">
                <a:ea typeface="宋体" panose="02010600030101010101" pitchFamily="2" charset="-122"/>
              </a:rPr>
              <a:t> </a:t>
            </a:r>
            <a:r>
              <a:rPr lang="en-US" altLang="zh-CN" sz="2400" b="1">
                <a:ea typeface="宋体" panose="02010600030101010101" pitchFamily="2" charset="-122"/>
              </a:rPr>
              <a:t>Improve from comments</a:t>
            </a:r>
            <a:endParaRPr lang="en-US" altLang="zh-CN" sz="2400" b="1">
              <a:ea typeface="宋体" panose="02010600030101010101" pitchFamily="2" charset="-122"/>
            </a:endParaRPr>
          </a:p>
          <a:p>
            <a:pPr eaLnBrk="0" hangingPunct="0">
              <a:spcBef>
                <a:spcPct val="20000"/>
              </a:spcBef>
              <a:buClr>
                <a:schemeClr val="hlink"/>
              </a:buClr>
              <a:buFont typeface="Wingdings" panose="05000000000000000000" pitchFamily="2" charset="2"/>
              <a:buNone/>
            </a:pPr>
            <a:endParaRPr lang="en-US" altLang="zh-CN" sz="2400" b="1">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7890"/>
                                        </p:tgtEl>
                                        <p:attrNameLst>
                                          <p:attrName>style.visibility</p:attrName>
                                        </p:attrNameLst>
                                      </p:cBhvr>
                                      <p:to>
                                        <p:strVal val="visible"/>
                                      </p:to>
                                    </p:set>
                                    <p:animEffect transition="in" filter="fade">
                                      <p:cBhvr>
                                        <p:cTn id="7" dur="1000"/>
                                        <p:tgtEl>
                                          <p:spTgt spid="37890"/>
                                        </p:tgtEl>
                                      </p:cBhvr>
                                    </p:animEffect>
                                    <p:anim calcmode="lin" valueType="num">
                                      <p:cBhvr>
                                        <p:cTn id="8" dur="1000" fill="hold"/>
                                        <p:tgtEl>
                                          <p:spTgt spid="37890"/>
                                        </p:tgtEl>
                                        <p:attrNameLst>
                                          <p:attrName>ppt_x</p:attrName>
                                        </p:attrNameLst>
                                      </p:cBhvr>
                                      <p:tavLst>
                                        <p:tav tm="0">
                                          <p:val>
                                            <p:strVal val="#ppt_x"/>
                                          </p:val>
                                        </p:tav>
                                        <p:tav tm="100000">
                                          <p:val>
                                            <p:strVal val="#ppt_x"/>
                                          </p:val>
                                        </p:tav>
                                      </p:tavLst>
                                    </p:anim>
                                    <p:anim calcmode="lin" valueType="num">
                                      <p:cBhvr>
                                        <p:cTn id="9" dur="1000" fill="hold"/>
                                        <p:tgtEl>
                                          <p:spTgt spid="3789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WordArt 2"/>
          <p:cNvSpPr>
            <a:spLocks noChangeArrowheads="1" noChangeShapeType="1" noTextEdit="1"/>
          </p:cNvSpPr>
          <p:nvPr/>
        </p:nvSpPr>
        <p:spPr bwMode="auto">
          <a:xfrm>
            <a:off x="3581400" y="2819400"/>
            <a:ext cx="4495800" cy="609600"/>
          </a:xfrm>
          <a:prstGeom prst="rect">
            <a:avLst/>
          </a:prstGeom>
        </p:spPr>
        <p:txBody>
          <a:bodyPr wrap="none" fromWordArt="1">
            <a:prstTxWarp prst="textDeflate">
              <a:avLst>
                <a:gd name="adj" fmla="val 0"/>
              </a:avLst>
            </a:prstTxWarp>
          </a:bodyPr>
          <a:lstStyle/>
          <a:p>
            <a:pPr algn="ctr"/>
            <a:r>
              <a:rPr lang="en-US" altLang="zh-CN" sz="3600" b="1" kern="10">
                <a:ln w="19050">
                  <a:solidFill>
                    <a:srgbClr val="FFFFFF"/>
                  </a:solidFill>
                  <a:round/>
                </a:ln>
                <a:gradFill rotWithShape="1">
                  <a:gsLst>
                    <a:gs pos="0">
                      <a:schemeClr val="tx2"/>
                    </a:gs>
                    <a:gs pos="100000">
                      <a:schemeClr val="accent1"/>
                    </a:gs>
                  </a:gsLst>
                  <a:lin ang="0" scaled="1"/>
                </a:gradFill>
                <a:effectLst>
                  <a:outerShdw dist="53882" dir="2700000" algn="ctr" rotWithShape="0">
                    <a:schemeClr val="tx1">
                      <a:alpha val="50000"/>
                    </a:schemeClr>
                  </a:outerShdw>
                </a:effectLst>
              </a:rPr>
              <a:t>Thank You !</a:t>
            </a:r>
            <a:endParaRPr lang="zh-CN" altLang="en-US" sz="3600" b="1" kern="10">
              <a:ln w="19050">
                <a:solidFill>
                  <a:srgbClr val="FFFFFF"/>
                </a:solidFill>
                <a:round/>
              </a:ln>
              <a:gradFill rotWithShape="1">
                <a:gsLst>
                  <a:gs pos="0">
                    <a:schemeClr val="tx2"/>
                  </a:gs>
                  <a:gs pos="100000">
                    <a:schemeClr val="accent1"/>
                  </a:gs>
                </a:gsLst>
                <a:lin ang="0" scaled="1"/>
              </a:gradFill>
              <a:effectLst>
                <a:outerShdw dist="53882" dir="2700000" algn="ctr" rotWithShape="0">
                  <a:schemeClr val="tx1">
                    <a:alpha val="50000"/>
                  </a:schemeClr>
                </a:outerShdw>
              </a:effectLst>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PP_MARK_KEY" val="7f3e91de-a413-4e42-808c-5596aebb35f3"/>
  <p:tag name="COMMONDATA" val="eyJoZGlkIjoiNzU2NjBiZTJmMDEyY2JmMGEzMmZhM2E5OTZmY2I2ZD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25551</Words>
  <Application>WPS 演示</Application>
  <PresentationFormat>宽屏</PresentationFormat>
  <Paragraphs>631</Paragraphs>
  <Slides>85</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85</vt:i4>
      </vt:variant>
    </vt:vector>
  </HeadingPairs>
  <TitlesOfParts>
    <vt:vector size="100" baseType="lpstr">
      <vt:lpstr>Arial</vt:lpstr>
      <vt:lpstr>宋体</vt:lpstr>
      <vt:lpstr>Wingdings</vt:lpstr>
      <vt:lpstr>Inter</vt:lpstr>
      <vt:lpstr>Segoe Print</vt:lpstr>
      <vt:lpstr>Verdana</vt:lpstr>
      <vt:lpstr>等线 Light</vt:lpstr>
      <vt:lpstr>等线</vt:lpstr>
      <vt:lpstr>微软雅黑</vt:lpstr>
      <vt:lpstr>Arial Unicode MS</vt:lpstr>
      <vt:lpstr>Calibri</vt:lpstr>
      <vt:lpstr>Times New Roman</vt:lpstr>
      <vt:lpstr>華康少女文字W3(P)</vt:lpstr>
      <vt:lpstr>MingLiU-ExtB</vt:lpstr>
      <vt:lpstr>Office 主题​​</vt:lpstr>
      <vt:lpstr>Reading makes a full man conference a ready man and writing an exact man  		--- Francis Bacon </vt:lpstr>
      <vt:lpstr>PowerPoint 演示文稿</vt:lpstr>
      <vt:lpstr>Why paper?</vt:lpstr>
      <vt:lpstr>PowerPoint 演示文稿</vt:lpstr>
      <vt:lpstr>How start?</vt:lpstr>
      <vt:lpstr>PowerPoint 演示文稿</vt:lpstr>
      <vt:lpstr>PowerPoint 演示文稿</vt:lpstr>
      <vt:lpstr>Why format? structure and organize?</vt:lpstr>
      <vt:lpstr>PowerPoint 演示文稿</vt:lpstr>
      <vt:lpstr>PowerPoint 演示文稿</vt:lpstr>
      <vt:lpstr>PowerPoint 演示文稿</vt:lpstr>
      <vt:lpstr>PowerPoint 演示文稿</vt:lpstr>
      <vt:lpstr>Introduction</vt:lpstr>
      <vt:lpstr>PowerPoint 演示文稿</vt:lpstr>
      <vt:lpstr>PowerPoint 演示文稿</vt:lpstr>
      <vt:lpstr>PowerPoint 演示文稿</vt:lpstr>
      <vt:lpstr>PowerPoint 演示文稿</vt:lpstr>
      <vt:lpstr>PowerPoint 演示文稿</vt:lpstr>
      <vt:lpstr>Introduction – function </vt:lpstr>
      <vt:lpstr>Introduction – function </vt:lpstr>
      <vt:lpstr>Introduction – writing process</vt:lpstr>
      <vt:lpstr>Textual development</vt:lpstr>
      <vt:lpstr>PowerPoint 演示文稿</vt:lpstr>
      <vt:lpstr>Method</vt:lpstr>
      <vt:lpstr>PowerPoint 演示文稿</vt:lpstr>
      <vt:lpstr>PowerPoint 演示文稿</vt:lpstr>
      <vt:lpstr>PowerPoint 演示文稿</vt:lpstr>
      <vt:lpstr>Results and Discussion</vt:lpstr>
      <vt:lpstr>Results </vt:lpstr>
      <vt:lpstr>Discussion </vt:lpstr>
      <vt:lpstr>PowerPoint 演示文稿</vt:lpstr>
      <vt:lpstr>PowerPoint 演示文稿</vt:lpstr>
      <vt:lpstr>PowerPoint 演示文稿</vt:lpstr>
      <vt:lpstr>PowerPoint 演示文稿</vt:lpstr>
      <vt:lpstr>PowerPoint 演示文稿</vt:lpstr>
      <vt:lpstr>Conclusions</vt:lpstr>
      <vt:lpstr>PowerPoint 演示文稿</vt:lpstr>
      <vt:lpstr>PowerPoint 演示文稿</vt:lpstr>
      <vt:lpstr>PowerPoint 演示文稿</vt:lpstr>
      <vt:lpstr>Abstract and Title</vt:lpstr>
      <vt:lpstr>Abstract function</vt:lpstr>
      <vt:lpstr>Types of abstract</vt:lpstr>
      <vt:lpstr>Features of effective abstract</vt:lpstr>
      <vt:lpstr>Order of the elements</vt:lpstr>
      <vt:lpstr>Verb tense</vt:lpstr>
      <vt:lpstr>Common problems</vt:lpstr>
      <vt:lpstr>Tips </vt:lpstr>
      <vt:lpstr>PowerPoint 演示文稿</vt:lpstr>
      <vt:lpstr>PowerPoint 演示文稿</vt:lpstr>
      <vt:lpstr>Structured Abstracts</vt:lpstr>
      <vt:lpstr>EXAMPLES:</vt:lpstr>
      <vt:lpstr>PowerPoint 演示文稿</vt:lpstr>
      <vt:lpstr>PowerPoint 演示文稿</vt:lpstr>
      <vt:lpstr>PowerPoint 演示文稿</vt:lpstr>
      <vt:lpstr>CHECK YOUR ABSTRACT</vt:lpstr>
      <vt:lpstr>PowerPoint 演示文稿</vt:lpstr>
      <vt:lpstr>Titles</vt:lpstr>
      <vt:lpstr>Title </vt:lpstr>
      <vt:lpstr>Sample titles</vt:lpstr>
      <vt:lpstr>Sample titles</vt:lpstr>
      <vt:lpstr>PowerPoint 演示文稿</vt:lpstr>
      <vt:lpstr>PowerPoint 演示文稿</vt:lpstr>
      <vt:lpstr>PowerPoint 演示文稿</vt:lpstr>
      <vt:lpstr>PowerPoint 演示文稿</vt:lpstr>
      <vt:lpstr>Author / Affiliation</vt:lpstr>
      <vt:lpstr>PowerPoint 演示文稿</vt:lpstr>
      <vt:lpstr>PowerPoint 演示文稿</vt:lpstr>
      <vt:lpstr>PowerPoint 演示文稿</vt:lpstr>
      <vt:lpstr>Keywords</vt:lpstr>
      <vt:lpstr>Keywords</vt:lpstr>
      <vt:lpstr>PowerPoint 演示文稿</vt:lpstr>
      <vt:lpstr>PowerPoint 演示文稿</vt:lpstr>
      <vt:lpstr>Acknowledgment </vt:lpstr>
      <vt:lpstr>PowerPoint 演示文稿</vt:lpstr>
      <vt:lpstr>References / Bibliography </vt:lpstr>
      <vt:lpstr>PowerPoint 演示文稿</vt:lpstr>
      <vt:lpstr>Appendices </vt:lpstr>
      <vt:lpstr>Appendices – requirements  </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Getting Started</dc:title>
  <dc:creator>Windows 用户</dc:creator>
  <cp:lastModifiedBy>jx</cp:lastModifiedBy>
  <cp:revision>47</cp:revision>
  <dcterms:created xsi:type="dcterms:W3CDTF">2023-03-29T01:00:00Z</dcterms:created>
  <dcterms:modified xsi:type="dcterms:W3CDTF">2025-04-03T02:58:02Z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DF17BA92D9E94CD4B0A81BAB866E684F</vt:lpwstr>
  </property>
  <property fmtid="{D5CDD505-2E9C-101B-9397-08002B2CF9AE}" pid="3" name="KSOProductBuildVer">
    <vt:lpwstr>2052-12.1.0.19298</vt:lpwstr>
  </property>
</Properties>
</file>
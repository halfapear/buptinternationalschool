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4"/>
  </p:notesMasterIdLst>
  <p:sldIdLst>
    <p:sldId id="256" r:id="rId4"/>
    <p:sldId id="290" r:id="rId5"/>
    <p:sldId id="292" r:id="rId6"/>
    <p:sldId id="291" r:id="rId7"/>
    <p:sldId id="305" r:id="rId8"/>
    <p:sldId id="307" r:id="rId9"/>
    <p:sldId id="310" r:id="rId10"/>
    <p:sldId id="309" r:id="rId11"/>
    <p:sldId id="308" r:id="rId12"/>
    <p:sldId id="311" r:id="rId13"/>
    <p:sldId id="312" r:id="rId14"/>
    <p:sldId id="317" r:id="rId15"/>
    <p:sldId id="313" r:id="rId16"/>
    <p:sldId id="316" r:id="rId17"/>
    <p:sldId id="314" r:id="rId18"/>
    <p:sldId id="318" r:id="rId19"/>
    <p:sldId id="315" r:id="rId20"/>
    <p:sldId id="320" r:id="rId21"/>
    <p:sldId id="358" r:id="rId22"/>
    <p:sldId id="321" r:id="rId23"/>
    <p:sldId id="322" r:id="rId24"/>
    <p:sldId id="319" r:id="rId25"/>
    <p:sldId id="324" r:id="rId26"/>
    <p:sldId id="325" r:id="rId27"/>
    <p:sldId id="328" r:id="rId28"/>
    <p:sldId id="329" r:id="rId29"/>
    <p:sldId id="330" r:id="rId30"/>
    <p:sldId id="332" r:id="rId31"/>
    <p:sldId id="331" r:id="rId32"/>
    <p:sldId id="335" r:id="rId33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642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4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2504" cy="3886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981200"/>
            <a:ext cx="4032504" cy="3886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52930" cy="54102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2504" cy="3886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981200"/>
            <a:ext cx="4032504" cy="3886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52930" cy="54102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 noProof="1"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p>
              <a:pPr lvl="0" algn="ctr" eaLnBrk="1" hangingPunct="1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Rectangle 16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p>
              <a:pPr lvl="0" algn="ctr" eaLnBrk="1" hangingPunct="1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0"/>
              <a:chExt cx="1806" cy="1989"/>
            </a:xfrm>
          </p:grpSpPr>
          <p:sp>
            <p:nvSpPr>
              <p:cNvPr id="2059" name="Rectangle 6"/>
              <p:cNvSpPr/>
              <p:nvPr userDrawn="1"/>
            </p:nvSpPr>
            <p:spPr>
              <a:xfrm>
                <a:off x="361" y="1585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Rectangle 7"/>
              <p:cNvSpPr/>
              <p:nvPr userDrawn="1"/>
            </p:nvSpPr>
            <p:spPr>
              <a:xfrm>
                <a:off x="1081" y="393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Rectangle 8"/>
              <p:cNvSpPr/>
              <p:nvPr userDrawn="1"/>
            </p:nvSpPr>
            <p:spPr>
              <a:xfrm>
                <a:off x="1437" y="0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Rectangle 9"/>
              <p:cNvSpPr/>
              <p:nvPr userDrawn="1"/>
            </p:nvSpPr>
            <p:spPr>
              <a:xfrm>
                <a:off x="719" y="1585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Rectangle 10"/>
              <p:cNvSpPr/>
              <p:nvPr userDrawn="1"/>
            </p:nvSpPr>
            <p:spPr>
              <a:xfrm>
                <a:off x="1437" y="393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Rectangle 11"/>
              <p:cNvSpPr/>
              <p:nvPr userDrawn="1"/>
            </p:nvSpPr>
            <p:spPr>
              <a:xfrm>
                <a:off x="719" y="792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Rectangle 12"/>
              <p:cNvSpPr/>
              <p:nvPr userDrawn="1"/>
            </p:nvSpPr>
            <p:spPr>
              <a:xfrm>
                <a:off x="0" y="792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Rectangle 13"/>
              <p:cNvSpPr/>
              <p:nvPr userDrawn="1"/>
            </p:nvSpPr>
            <p:spPr>
              <a:xfrm>
                <a:off x="1081" y="792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Rectangle 14"/>
              <p:cNvSpPr/>
              <p:nvPr userDrawn="1"/>
            </p:nvSpPr>
            <p:spPr>
              <a:xfrm>
                <a:off x="361" y="1185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Rectangle 15"/>
              <p:cNvSpPr/>
              <p:nvPr userDrawn="1"/>
            </p:nvSpPr>
            <p:spPr>
              <a:xfrm>
                <a:off x="719" y="1185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051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Rectangle 16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17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 noProof="1"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18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hyperlink" Target="mailto:liwendong@bupt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ln/>
        </p:spPr>
        <p:txBody>
          <a:bodyPr vert="horz" wrap="square" lIns="91440" tIns="45720" rIns="91440" bIns="45720" anchor="ctr"/>
          <a:lstStyle>
            <a:lvl1pPr lvl="0">
              <a:defRPr/>
            </a:lvl1pPr>
          </a:lstStyle>
          <a:p>
            <a:pPr lvl="0" eaLnBrk="1" hangingPunct="1"/>
            <a:r>
              <a:rPr lang="en-US" altLang="zh-CN" sz="5000" dirty="0">
                <a:solidFill>
                  <a:srgbClr val="FFFFFF"/>
                </a:solidFill>
              </a:rPr>
              <a:t>Report Writing</a:t>
            </a:r>
            <a:endParaRPr lang="en-US" altLang="zh-CN" sz="5000" dirty="0">
              <a:solidFill>
                <a:srgbClr val="FFFFFF"/>
              </a:solidFill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/>
          </p:nvPr>
        </p:nvSpPr>
        <p:spPr>
          <a:xfrm>
            <a:off x="4716463" y="4652963"/>
            <a:ext cx="4275137" cy="1077912"/>
          </a:xfrm>
          <a:ln/>
        </p:spPr>
        <p:txBody>
          <a:bodyPr vert="horz" wrap="square" lIns="91440" tIns="45720" rIns="91440" bIns="45720" anchor="t"/>
          <a:lstStyle>
            <a:lvl1pPr marL="0" lvl="0" indent="0" algn="ct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 algn="l" eaLnBrk="1" hangingPunct="1"/>
            <a:r>
              <a:rPr lang="en-US" altLang="zh-CN" sz="1800" dirty="0"/>
              <a:t>Prepared by Li Wendong</a:t>
            </a:r>
            <a:endParaRPr lang="en-US" altLang="zh-CN" sz="1800" dirty="0"/>
          </a:p>
          <a:p>
            <a:pPr lvl="0" algn="l" eaLnBrk="1" hangingPunct="1"/>
            <a:r>
              <a:rPr lang="en-US" altLang="zh-CN" sz="1800" dirty="0"/>
              <a:t>                    </a:t>
            </a:r>
            <a:r>
              <a:rPr lang="en-US" altLang="zh-CN" sz="1800" dirty="0">
                <a:hlinkClick r:id="rId1"/>
              </a:rPr>
              <a:t>liwendong@bupt.edu.cn</a:t>
            </a:r>
            <a:r>
              <a:rPr lang="en-US" altLang="zh-CN" sz="1800" dirty="0"/>
              <a:t> 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3"/>
          <p:cNvSpPr>
            <a:spLocks noGrp="1"/>
          </p:cNvSpPr>
          <p:nvPr>
            <p:ph type="body"/>
          </p:nvPr>
        </p:nvSpPr>
        <p:spPr>
          <a:xfrm>
            <a:off x="539750" y="1484313"/>
            <a:ext cx="8229600" cy="3886200"/>
          </a:xfrm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you may prepare a report to: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transfer general information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present the results of an investigation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make a persuasive argument</a:t>
            </a:r>
            <a:endParaRPr lang="en-US" altLang="zh-CN" dirty="0"/>
          </a:p>
          <a:p>
            <a:pPr lvl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r>
              <a:rPr lang="en-US" altLang="zh-CN" dirty="0"/>
              <a:t>The report shows you know how to:</a:t>
            </a:r>
            <a:endParaRPr lang="en-US" altLang="zh-CN" dirty="0"/>
          </a:p>
          <a:p>
            <a:pPr lvl="0" eaLnBrk="1" hangingPunct="1">
              <a:buNone/>
            </a:pPr>
            <a:endParaRPr lang="en-US" altLang="zh-CN" dirty="0"/>
          </a:p>
          <a:p>
            <a:pPr lvl="0" eaLnBrk="1" hangingPunct="1"/>
            <a:r>
              <a:rPr lang="en-US" altLang="zh-CN" dirty="0"/>
              <a:t>understand and resolve problems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communicate effectively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identify new opportunities and share ideas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r>
              <a:rPr lang="en-US" altLang="zh-CN" dirty="0"/>
              <a:t>So preparing a good report will help you: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to get positive attention from your    managers and executives, 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and ultimately improve your career. </a:t>
            </a:r>
            <a:endParaRPr lang="en-US" altLang="zh-CN" dirty="0"/>
          </a:p>
          <a:p>
            <a:pPr lvl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algn="ctr" eaLnBrk="1" hangingPunct="1">
              <a:buNone/>
            </a:pPr>
            <a:r>
              <a:rPr lang="en-US" altLang="zh-CN" b="1" dirty="0"/>
              <a:t>Informal and formal reports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Informal report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lnSpc>
                <a:spcPct val="90000"/>
              </a:lnSpc>
            </a:pPr>
            <a:r>
              <a:rPr lang="en-US" altLang="zh-CN" dirty="0"/>
              <a:t>2-5 pages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</a:pPr>
            <a:r>
              <a:rPr lang="en-US" altLang="zh-CN" dirty="0"/>
              <a:t>More substance than a memo or letter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  <a:buNone/>
            </a:pPr>
            <a:r>
              <a:rPr lang="en-US" altLang="zh-CN" dirty="0"/>
              <a:t>    Less than a formal report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</a:pPr>
            <a:r>
              <a:rPr lang="en-US" altLang="zh-CN" dirty="0"/>
              <a:t>For many purposes, informative or persuasive, … 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</a:pPr>
            <a:r>
              <a:rPr lang="en-US" altLang="zh-CN" dirty="0"/>
              <a:t>Letter  report (external) 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  <a:buNone/>
            </a:pPr>
            <a:r>
              <a:rPr lang="en-US" altLang="zh-CN" dirty="0"/>
              <a:t>   Memo report (internal)</a:t>
            </a:r>
            <a:endParaRPr lang="en-US" altLang="zh-CN" dirty="0"/>
          </a:p>
          <a:p>
            <a:pPr lvl="0"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4000" dirty="0"/>
              <a:t>When to use informal </a:t>
            </a:r>
            <a:br>
              <a:rPr lang="en-US" altLang="zh-CN" sz="4000" dirty="0"/>
            </a:br>
            <a:r>
              <a:rPr lang="en-US" altLang="zh-CN" sz="4000" dirty="0"/>
              <a:t>                Letter/memo report?</a:t>
            </a:r>
            <a:endParaRPr lang="en-US" altLang="zh-CN" sz="4000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When use a Letter report?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Training recommendation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Seafloor study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Marketing report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Asbestos project/report an issue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Entertainment study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Equipment design project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When use a Memo report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Need for testing equipment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Personnel problem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Need for drafting tables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Progress in hiring minorities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Report on training sessions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Go through the Models on page 280</a:t>
            </a: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 for The layouts, formats of the reports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Guidelines for informal reports</a:t>
            </a:r>
            <a:endParaRPr lang="en-US" altLang="zh-CN" dirty="0"/>
          </a:p>
        </p:txBody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r>
              <a:rPr lang="en-US" altLang="zh-CN" dirty="0"/>
              <a:t> Informal reports Guidelines: 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1. plan well before you write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Purpose?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Readers?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Main points?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468313" y="836613"/>
            <a:ext cx="8229600" cy="1371600"/>
          </a:xfrm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3200" dirty="0"/>
              <a:t>2. use letter or memo format?</a:t>
            </a:r>
            <a:br>
              <a:rPr lang="en-US" altLang="zh-CN" sz="3200" dirty="0"/>
            </a:br>
            <a:endParaRPr lang="en-US" altLang="zh-CN" sz="3200" dirty="0"/>
          </a:p>
        </p:txBody>
      </p:sp>
      <p:sp>
        <p:nvSpPr>
          <p:cNvPr id="133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r>
              <a:rPr lang="en-US" altLang="zh-CN" dirty="0"/>
              <a:t>see model 8-1 for a letter report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Differences between a business letter and a letter report (p.246,VS.280)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Greeting replaced by attention line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Fully described project title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Spacing to the readers’ preference.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Model 8-2 for a memo report</a:t>
            </a: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    p.240 VS.282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Memo reports longer,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more headings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Than routine memos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Spacing, one and one-half, double spacing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r>
              <a:rPr lang="en-US" altLang="zh-CN" dirty="0"/>
              <a:t>Title of your memo or memo, letter report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Engage interest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First quick look at your topic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Specific and concise</a:t>
            </a:r>
            <a:endParaRPr lang="en-US" altLang="zh-CN" dirty="0"/>
          </a:p>
        </p:txBody>
      </p:sp>
      <p:pic>
        <p:nvPicPr>
          <p:cNvPr id="1536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4149725"/>
            <a:ext cx="6911975" cy="1152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00138"/>
          </a:xfrm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3200" b="1" dirty="0"/>
              <a:t>4 ABC format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xfrm>
            <a:off x="468313" y="1557338"/>
            <a:ext cx="8218487" cy="5040312"/>
          </a:xfrm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sz="2800" dirty="0"/>
              <a:t>Abstract: </a:t>
            </a:r>
            <a:endParaRPr lang="en-US" altLang="zh-CN" sz="2800" dirty="0"/>
          </a:p>
          <a:p>
            <a:pPr lvl="0" eaLnBrk="1" hangingPunct="1">
              <a:buNone/>
            </a:pPr>
            <a:r>
              <a:rPr lang="en-US" altLang="zh-CN" sz="2800" dirty="0"/>
              <a:t>a capsule version of information most needed for decision makers</a:t>
            </a:r>
            <a:endParaRPr lang="en-US" altLang="zh-CN" sz="2800" dirty="0"/>
          </a:p>
          <a:p>
            <a:pPr lvl="0" eaLnBrk="1" hangingPunct="1"/>
            <a:r>
              <a:rPr lang="en-US" altLang="zh-CN" sz="2800" dirty="0"/>
              <a:t>Body: </a:t>
            </a:r>
            <a:endParaRPr lang="en-US" altLang="zh-CN" sz="2800" dirty="0"/>
          </a:p>
          <a:p>
            <a:pPr lvl="0" eaLnBrk="1" hangingPunct="1">
              <a:buNone/>
            </a:pPr>
            <a:r>
              <a:rPr lang="en-US" altLang="zh-CN" sz="2800" dirty="0"/>
              <a:t>Give details in the body of the report, where technical readers are most likely to linger awhile to examine supporting evidence</a:t>
            </a:r>
            <a:endParaRPr lang="en-US" altLang="zh-CN" sz="2800" dirty="0"/>
          </a:p>
          <a:p>
            <a:pPr lvl="0" eaLnBrk="1" hangingPunct="1"/>
            <a:r>
              <a:rPr lang="en-US" altLang="zh-CN" sz="2800" dirty="0"/>
              <a:t>Conclusion: </a:t>
            </a:r>
            <a:endParaRPr lang="en-US" altLang="zh-CN" sz="2800" dirty="0"/>
          </a:p>
          <a:p>
            <a:pPr lvl="0" eaLnBrk="1" hangingPunct="1">
              <a:buNone/>
            </a:pPr>
            <a:r>
              <a:rPr lang="en-US" altLang="zh-CN" sz="2800" dirty="0"/>
              <a:t>reserve the end of the report for a description of list of findings, conclusions, or recommendations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468313" y="692150"/>
            <a:ext cx="8229600" cy="1371600"/>
          </a:xfrm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3200" b="1" dirty="0"/>
              <a:t>3 make text visually appealing</a:t>
            </a:r>
            <a:endParaRPr lang="en-US" altLang="zh-CN" sz="3200" b="1" dirty="0"/>
          </a:p>
        </p:txBody>
      </p:sp>
      <p:sp>
        <p:nvSpPr>
          <p:cNvPr id="174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sz="2400" dirty="0"/>
              <a:t>Bulleted points for short list</a:t>
            </a:r>
            <a:endParaRPr lang="en-US" altLang="zh-CN" sz="2400" dirty="0"/>
          </a:p>
          <a:p>
            <a:pPr lvl="0" eaLnBrk="1" hangingPunct="1"/>
            <a:r>
              <a:rPr lang="en-US" altLang="zh-CN" sz="2400" dirty="0"/>
              <a:t>Numbered points for longer list or involve steps</a:t>
            </a:r>
            <a:endParaRPr lang="en-US" altLang="zh-CN" sz="2400" dirty="0"/>
          </a:p>
          <a:p>
            <a:pPr lvl="0" eaLnBrk="1" hangingPunct="1"/>
            <a:r>
              <a:rPr lang="en-US" altLang="zh-CN" sz="2400" dirty="0"/>
              <a:t>Frequent use of headings and subheadings</a:t>
            </a:r>
            <a:endParaRPr lang="en-US" altLang="zh-CN" sz="2400" dirty="0"/>
          </a:p>
          <a:p>
            <a:pPr lvl="0" eaLnBrk="1" hangingPunct="1"/>
            <a:endParaRPr lang="en-US" altLang="zh-CN" sz="2400" dirty="0"/>
          </a:p>
          <a:p>
            <a:pPr lvl="0" eaLnBrk="1" hangingPunct="1"/>
            <a:r>
              <a:rPr lang="zh-CN" altLang="en-US" sz="2400" dirty="0"/>
              <a:t>generous use of paragraphs, and numbered or bulleted items, then group them into subheadings, subheadings furthur grouped under heading. </a:t>
            </a:r>
            <a:endParaRPr lang="zh-CN" altLang="en-US" sz="2400" dirty="0"/>
          </a:p>
          <a:p>
            <a:pPr lvl="0" eaLnBrk="1" hangingPunct="1"/>
            <a:r>
              <a:rPr lang="zh-CN" altLang="en-US" sz="2400" dirty="0"/>
              <a:t>follow a logical flow</a:t>
            </a:r>
            <a:endParaRPr lang="zh-CN" altLang="en-US" sz="2400" dirty="0"/>
          </a:p>
          <a:p>
            <a:pPr lvl="0" eaLnBrk="1" hangingPunct="1"/>
            <a:r>
              <a:rPr lang="zh-CN" altLang="en-US" sz="2400" dirty="0"/>
              <a:t>general structure is ABC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4000" dirty="0"/>
              <a:t>5. Call the abstract an introductory summary</a:t>
            </a:r>
            <a:endParaRPr lang="en-US" altLang="zh-CN" sz="4000" dirty="0"/>
          </a:p>
        </p:txBody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Give readers  a summary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1-2 paragraphs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Purpose- why it?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Scope- what range of information?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Summary of essentials – what readers most want to know?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4000" dirty="0"/>
              <a:t>6 put important details in the body</a:t>
            </a:r>
            <a:endParaRPr lang="en-US" altLang="zh-CN" sz="4000" dirty="0"/>
          </a:p>
        </p:txBody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Gives details in organized way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How tidy and organized?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Generous headings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Precede subheadings with a lead-in passage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from general to specific in paragraphs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7 separate fact from opinion</a:t>
            </a:r>
            <a:endParaRPr lang="en-US" altLang="zh-CN" dirty="0"/>
          </a:p>
        </p:txBody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Don’t mix them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Move logically from findings to conclusions, recommendations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Definitions: Findings/ conclusions/recommendations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/>
            <a:r>
              <a:rPr lang="zh-CN" altLang="en-US" dirty="0"/>
              <a:t>8 Differences of memo and letter report in style:</a:t>
            </a:r>
            <a:endParaRPr lang="zh-CN" altLang="en-US" dirty="0"/>
          </a:p>
        </p:txBody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buNone/>
            </a:pPr>
            <a:endParaRPr lang="zh-CN" altLang="en-US" dirty="0"/>
          </a:p>
          <a:p>
            <a:pPr lvl="0" eaLnBrk="1" hangingPunct="1">
              <a:buNone/>
            </a:pPr>
            <a:r>
              <a:rPr lang="zh-CN" altLang="en-US" dirty="0"/>
              <a:t>letter report ends more like a letter with greeting, goodwill and handwritten sign</a:t>
            </a:r>
            <a:r>
              <a:rPr lang="en-US" altLang="zh-CN" dirty="0"/>
              <a:t>a</a:t>
            </a:r>
            <a:r>
              <a:rPr lang="zh-CN" altLang="en-US" dirty="0"/>
              <a:t>ture.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zh-CN" altLang="en-US" dirty="0"/>
              <a:t>9</a:t>
            </a:r>
            <a:r>
              <a:rPr lang="en-US" altLang="zh-CN" dirty="0"/>
              <a:t> focus attention in conclusion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Restate conclusions or recommendations briefly if mentioned in the body.</a:t>
            </a: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        PP.282-283</a:t>
            </a:r>
            <a:endParaRPr lang="en-US" altLang="zh-CN" dirty="0"/>
          </a:p>
          <a:p>
            <a:pPr lvl="0" eaLnBrk="1" hangingPunct="1">
              <a:buNone/>
            </a:pPr>
            <a:endParaRPr lang="en-US" altLang="zh-CN" dirty="0"/>
          </a:p>
          <a:p>
            <a:pPr lvl="0" eaLnBrk="1" hangingPunct="1"/>
            <a:r>
              <a:rPr lang="en-US" altLang="zh-CN" dirty="0"/>
              <a:t>If not mentioned, more details in this part</a:t>
            </a: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       PP.280-281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zh-CN" altLang="en-US" sz="4000" dirty="0"/>
              <a:t>10</a:t>
            </a:r>
            <a:r>
              <a:rPr lang="en-US" altLang="zh-CN" sz="4000" dirty="0"/>
              <a:t> use attachments for less important details</a:t>
            </a:r>
            <a:endParaRPr lang="en-US" altLang="zh-CN" sz="4000" dirty="0"/>
          </a:p>
        </p:txBody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Tables and figures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Costs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1</a:t>
            </a:r>
            <a:r>
              <a:rPr lang="zh-CN" altLang="en-US" dirty="0"/>
              <a:t>1</a:t>
            </a:r>
            <a:r>
              <a:rPr lang="en-US" altLang="zh-CN" dirty="0"/>
              <a:t> edit carefully</a:t>
            </a:r>
            <a:endParaRPr lang="en-US" altLang="zh-CN" dirty="0"/>
          </a:p>
        </p:txBody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Keep most sentences short and simple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Proofread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Triple-check all cost figures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Attachments are included, mentioned?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Format, wording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Colleague check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Task:</a:t>
            </a:r>
            <a:endParaRPr lang="en-US" altLang="zh-CN" dirty="0"/>
          </a:p>
          <a:p>
            <a:pPr lvl="0" eaLnBrk="1" hangingPunct="1">
              <a:buNone/>
            </a:pPr>
            <a:r>
              <a:rPr lang="en-US" altLang="zh-CN" dirty="0"/>
              <a:t> refer to textbook for a second look at the models of informal reports, 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algn="ctr" eaLnBrk="1" hangingPunct="1">
              <a:buNone/>
            </a:pPr>
            <a:r>
              <a:rPr lang="en-US" altLang="zh-CN" sz="4800" dirty="0"/>
              <a:t>Formal Report</a:t>
            </a:r>
            <a:endParaRPr lang="en-US" altLang="zh-CN" sz="4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sz="4000" dirty="0"/>
              <a:t>When to use a formal report</a:t>
            </a:r>
            <a:br>
              <a:rPr lang="en-US" altLang="zh-CN" sz="4000" dirty="0"/>
            </a:br>
            <a:endParaRPr lang="en-US" altLang="zh-CN" sz="4000" dirty="0"/>
          </a:p>
        </p:txBody>
      </p:sp>
      <p:sp>
        <p:nvSpPr>
          <p:cNvPr id="3789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Cover complex projects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Direct to readers at different technical levels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Contain at least 6-10 pages, excluding appendices</a:t>
            </a:r>
            <a:endParaRPr lang="en-US" altLang="zh-CN" dirty="0"/>
          </a:p>
          <a:p>
            <a:pPr lvl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Overall Writing Strategy </a:t>
            </a:r>
            <a:endParaRPr lang="en-US" altLang="zh-CN" dirty="0"/>
          </a:p>
        </p:txBody>
      </p:sp>
      <p:sp>
        <p:nvSpPr>
          <p:cNvPr id="3891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Main principles&amp;reasons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1 write different parts for different readers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2 place important info first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3 repeat key points when necessary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ABC format for formal report</a:t>
            </a:r>
            <a:endParaRPr lang="en-US" altLang="zh-CN" dirty="0"/>
          </a:p>
        </p:txBody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Abstract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Cover/title page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Letter or memo of transmittal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Table of contents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List of illustrations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Executive summary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introduction</a:t>
            </a:r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ABC format for formal report</a:t>
            </a:r>
            <a:endParaRPr lang="zh-CN" altLang="en-US" dirty="0"/>
          </a:p>
        </p:txBody>
      </p:sp>
      <p:sp>
        <p:nvSpPr>
          <p:cNvPr id="409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Body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Discussion sections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[Appedices-appear after text but support Body section]</a:t>
            </a:r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ABC format for formal report</a:t>
            </a:r>
            <a:endParaRPr lang="zh-CN" altLang="en-US" dirty="0"/>
          </a:p>
        </p:txBody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/>
            <a:r>
              <a:rPr lang="en-US" altLang="zh-CN" dirty="0"/>
              <a:t>Conclusion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Conclusions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recommendations</a:t>
            </a: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lvl="0" eaLnBrk="1" hangingPunct="1"/>
            <a:r>
              <a:rPr lang="en-US" altLang="zh-CN" dirty="0"/>
              <a:t>pagination</a:t>
            </a:r>
            <a:endParaRPr lang="en-US" altLang="zh-CN" dirty="0"/>
          </a:p>
        </p:txBody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vert="horz" wrap="square" lIns="91440" tIns="45720" rIns="91440" bIns="45720" anchor="t"/>
          <a:p>
            <a:pPr lvl="0" eaLnBrk="1" hangingPunct="1">
              <a:lnSpc>
                <a:spcPct val="80000"/>
              </a:lnSpc>
            </a:pPr>
            <a:r>
              <a:rPr lang="en-US" altLang="zh-CN" sz="2800" dirty="0"/>
              <a:t>Use lowercase roman numerals for some or all of the front matter that precedes-and includes—the table of contents</a:t>
            </a:r>
            <a:endParaRPr lang="en-US" altLang="zh-CN" sz="2800" dirty="0"/>
          </a:p>
          <a:p>
            <a:pPr lvl="0" eaLnBrk="1" hangingPunct="1">
              <a:lnSpc>
                <a:spcPct val="80000"/>
              </a:lnSpc>
            </a:pPr>
            <a:r>
              <a:rPr lang="en-US" altLang="zh-CN" sz="2800" dirty="0"/>
              <a:t>Use Arabic numbers for items that follow the table of contents (all of which are listed in the table of contents)</a:t>
            </a:r>
            <a:endParaRPr lang="en-US" altLang="zh-CN" sz="2800" dirty="0"/>
          </a:p>
          <a:p>
            <a:pPr lvl="0" eaLnBrk="1" hangingPunct="1">
              <a:lnSpc>
                <a:spcPct val="80000"/>
              </a:lnSpc>
            </a:pPr>
            <a:r>
              <a:rPr lang="en-US" altLang="zh-CN" sz="2800" dirty="0"/>
              <a:t>Continue the Arabic numbering for appendices if they are relatively short. Long sets of appendices sometimes have their own internal numbering(A-1,2,3…; B-1,2,3…)</a:t>
            </a:r>
            <a:endParaRPr lang="en-US" altLang="zh-C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989B7"/>
      </a:accent6>
      <a:hlink>
        <a:srgbClr val="666699"/>
      </a:hlink>
      <a:folHlink>
        <a:srgbClr val="CCCCE6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ixel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989B7"/>
      </a:accent6>
      <a:hlink>
        <a:srgbClr val="666699"/>
      </a:hlink>
      <a:folHlink>
        <a:srgbClr val="CCCCE6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4550</Words>
  <Application>WPS 演示</Application>
  <PresentationFormat>全屏显示(4:3)</PresentationFormat>
  <Paragraphs>201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Arial Black</vt:lpstr>
      <vt:lpstr>Times New Roman</vt:lpstr>
      <vt:lpstr>微软雅黑</vt:lpstr>
      <vt:lpstr>Pixel</vt:lpstr>
      <vt:lpstr>1_Pixel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Li Wendong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 Wendong</dc:creator>
  <cp:lastModifiedBy>LIWENDONG</cp:lastModifiedBy>
  <cp:revision>180</cp:revision>
  <dcterms:created xsi:type="dcterms:W3CDTF">2012-03-06T10:10:22Z</dcterms:created>
  <dcterms:modified xsi:type="dcterms:W3CDTF">2017-05-16T13:39:45Z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
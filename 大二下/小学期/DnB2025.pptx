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866" r:id="rId2"/>
    <p:sldMasterId id="2147483887" r:id="rId3"/>
  </p:sldMasterIdLst>
  <p:notesMasterIdLst>
    <p:notesMasterId r:id="rId18"/>
  </p:notesMasterIdLst>
  <p:handoutMasterIdLst>
    <p:handoutMasterId r:id="rId19"/>
  </p:handoutMasterIdLst>
  <p:sldIdLst>
    <p:sldId id="376" r:id="rId4"/>
    <p:sldId id="409" r:id="rId5"/>
    <p:sldId id="408" r:id="rId6"/>
    <p:sldId id="410" r:id="rId7"/>
    <p:sldId id="411" r:id="rId8"/>
    <p:sldId id="402" r:id="rId9"/>
    <p:sldId id="412" r:id="rId10"/>
    <p:sldId id="413" r:id="rId11"/>
    <p:sldId id="404" r:id="rId12"/>
    <p:sldId id="421" r:id="rId13"/>
    <p:sldId id="417" r:id="rId14"/>
    <p:sldId id="422" r:id="rId15"/>
    <p:sldId id="423" r:id="rId16"/>
    <p:sldId id="352" r:id="rId17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templates" id="{7DD0B69D-9948-46F3-B07D-8BF81D90CAFD}">
          <p14:sldIdLst>
            <p14:sldId id="376"/>
            <p14:sldId id="409"/>
            <p14:sldId id="408"/>
            <p14:sldId id="410"/>
            <p14:sldId id="411"/>
            <p14:sldId id="402"/>
            <p14:sldId id="412"/>
            <p14:sldId id="413"/>
            <p14:sldId id="404"/>
            <p14:sldId id="421"/>
            <p14:sldId id="417"/>
            <p14:sldId id="422"/>
            <p14:sldId id="423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008C"/>
    <a:srgbClr val="2DB8C5"/>
    <a:srgbClr val="1C3D74"/>
    <a:srgbClr val="1F7791"/>
    <a:srgbClr val="73B82B"/>
    <a:srgbClr val="8D3786"/>
    <a:srgbClr val="F18500"/>
    <a:srgbClr val="FFFFFF"/>
    <a:srgbClr val="12338F"/>
    <a:srgbClr val="107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8" autoAdjust="0"/>
    <p:restoredTop sz="89036" autoAdjust="0"/>
  </p:normalViewPr>
  <p:slideViewPr>
    <p:cSldViewPr snapToGrid="0" snapToObjects="1">
      <p:cViewPr varScale="1">
        <p:scale>
          <a:sx n="257" d="100"/>
          <a:sy n="257" d="100"/>
        </p:scale>
        <p:origin x="181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5" d="100"/>
          <a:sy n="55" d="100"/>
        </p:scale>
        <p:origin x="2604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664FB5-82AF-48A4-80F1-9AEEE0DF4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0742E-D5E1-4FF3-A442-958EA2A78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066F8-4FE9-4315-A56E-3EA256F5907F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2F771-FAFF-4FF6-AE5C-96F43E8CB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B88F3-0CB9-4921-9214-BFA9C4B80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73B9F-E786-4DE9-B054-AF2D3B64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115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D6F77-CFCE-A445-8E2C-54D16F9EECCC}" type="datetimeFigureOut">
              <a:rPr lang="en-US" smtClean="0"/>
              <a:t>6/27/25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42D00-D33B-6747-961F-9152114FB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942D00-D33B-6747-961F-9152114FB4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1630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BAB87-23FF-569F-A03F-6C1E6214A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C5130-1CF3-39EA-7F00-8417CAD77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7734E-D13F-C51C-77EC-B691CB6D0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D027F-0A2C-28B4-870A-7EEA562AD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40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784E0-37EF-0515-22EE-47577AF1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9234B-115D-5C03-5653-83362A020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CAA53-C748-8342-AABF-5AD89A694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71842-250C-CCFB-1855-766A8BADC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55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F67D-514F-8B8C-1EE2-C41B2808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5A994-83C1-A8D2-7489-BE488A379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06718-6E8A-4794-5EF0-0D931B6D0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87629-5794-5BB2-BD7E-C0BC8F579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56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E2C2D-9793-B09A-391D-D2864734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AFD82-5177-6608-510C-902D1796F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74FA6-6BD4-AD49-6210-6F5BD19F4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B6571-D738-A6F2-433C-6F7494D9D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56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E31D5-E598-E0CC-F7F0-18D9B36B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2E27B-1202-4CE8-05C8-5A87C4B8E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0357E-66A1-B123-A8A3-70E781B3D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16FC4-E883-1D41-496C-79F81CDD1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66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345DD-FE6D-DFF0-A912-A1CA3EA8B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7E1FD-2B00-7B6B-88C3-8BB79C38C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35A70-97EF-52A1-58E8-3A7809AC6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262D5-FEB1-5D48-5A49-32260EA04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13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08E3-B973-4978-651D-215F39BD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72B3C-E7AA-0B75-4F98-ADF7FE186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9B71C-4CEF-7C96-C068-B9BBA8335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68005-FC25-25A6-22EC-E3E2E8856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18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BFD4-F18D-8DEA-DE95-62A0FD08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72D66-02B4-8B1F-86D7-8DC27AD3F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BB7D5-B0C5-C5DF-8D83-4E0641B7F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36AB7-FFC4-274A-3E2C-ED48E1408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38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E2BC-1D09-3C71-1C78-2B4385D4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1E9BF-618B-2D8E-6D52-64039EEEE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72EAE-CA12-C3BA-76B4-056FEF951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89F98-7E50-71ED-CED1-F831D7E02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69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5E992-CCEA-1F5F-2297-49B9112DB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0F7A7-9B65-3F22-9846-BA35C965C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FAE61-2674-208B-8018-3BD95B0C2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FDFAD-A063-B1F4-701D-B434B7529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01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3BBA7-310E-7660-8349-8A0CCA04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024B4-65DA-C668-6131-25D5CD97F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ADF84-ED3E-5D62-E2D8-A32B99751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66725-7EC1-D0BD-9FF4-A97CC02A5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80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75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Cover 1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401044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12000">
              <a:srgbClr val="1C3D74"/>
            </a:gs>
            <a:gs pos="100000">
              <a:srgbClr val="2DB8C5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28032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gradFill flip="none" rotWithShape="1">
          <a:gsLst>
            <a:gs pos="74000">
              <a:srgbClr val="10746A"/>
            </a:gs>
            <a:gs pos="18000">
              <a:srgbClr val="0096E3">
                <a:lumMod val="90000"/>
                <a:lumOff val="1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19369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gradFill flip="none" rotWithShape="1">
          <a:gsLst>
            <a:gs pos="0">
              <a:srgbClr val="73B82B">
                <a:lumMod val="88000"/>
                <a:lumOff val="12000"/>
              </a:srgbClr>
            </a:gs>
            <a:gs pos="97312">
              <a:srgbClr val="10746A"/>
            </a:gs>
            <a:gs pos="59000">
              <a:srgbClr val="10746A">
                <a:lumMod val="94000"/>
                <a:lumOff val="6000"/>
              </a:srgbClr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66077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gradFill>
          <a:gsLst>
            <a:gs pos="0">
              <a:srgbClr val="73B82B">
                <a:lumMod val="88000"/>
                <a:lumOff val="12000"/>
              </a:srgbClr>
            </a:gs>
            <a:gs pos="69000">
              <a:srgbClr val="2DB8C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4187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gradFill flip="none" rotWithShape="1">
          <a:gsLst>
            <a:gs pos="85484">
              <a:srgbClr val="8D3786"/>
            </a:gs>
            <a:gs pos="19000">
              <a:srgbClr val="EC00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05558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gradFill flip="none" rotWithShape="1">
          <a:gsLst>
            <a:gs pos="3226">
              <a:srgbClr val="8D3786"/>
            </a:gs>
            <a:gs pos="35000">
              <a:srgbClr val="8D3786"/>
            </a:gs>
            <a:gs pos="100000">
              <a:srgbClr val="F18500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08686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267128" y="262396"/>
            <a:ext cx="8591565" cy="7650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128" y="1027415"/>
            <a:ext cx="8591565" cy="3236610"/>
          </a:xfrm>
          <a:prstGeom prst="rect">
            <a:avLst/>
          </a:prstGeom>
        </p:spPr>
        <p:txBody>
          <a:bodyPr/>
          <a:lstStyle>
            <a:lvl1pPr marL="276225" indent="-276225">
              <a:buFont typeface="Arial" panose="020B0604020202020204" pitchFamily="34" charset="0"/>
              <a:buChar char="•"/>
              <a:tabLst/>
              <a:defRPr/>
            </a:lvl1pPr>
            <a:lvl2pPr marL="623888" indent="-266700">
              <a:buFont typeface="Arial" panose="020B0604020202020204" pitchFamily="34" charset="0"/>
              <a:buChar char="-"/>
              <a:tabLst/>
              <a:defRPr sz="800">
                <a:solidFill>
                  <a:srgbClr val="1C3D74"/>
                </a:solidFill>
                <a:latin typeface="+mj-lt"/>
              </a:defRPr>
            </a:lvl2pPr>
            <a:lvl3pPr marL="979488" marR="0" indent="-2682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1200"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979488" marR="0" lvl="2" indent="-2682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-"/>
              <a:tabLst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lvl="2">
              <a:buFont typeface="Arial" panose="020B0604020202020204" pitchFamily="34" charset="0"/>
              <a:buChar char="-"/>
              <a:defRPr/>
            </a:pPr>
            <a:endParaRPr lang="en-US" sz="1400" dirty="0">
              <a:solidFill>
                <a:srgbClr val="1C3D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Char char="-"/>
              <a:defRPr/>
            </a:pPr>
            <a:endParaRPr lang="en-US" sz="1400" dirty="0">
              <a:solidFill>
                <a:srgbClr val="1C3D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267128" y="262396"/>
            <a:ext cx="8591565" cy="7650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128" y="1027415"/>
            <a:ext cx="8591565" cy="3236610"/>
          </a:xfrm>
          <a:prstGeom prst="rect">
            <a:avLst/>
          </a:prstGeom>
        </p:spPr>
        <p:txBody>
          <a:bodyPr/>
          <a:lstStyle>
            <a:lvl1pPr marL="276225" indent="-276225">
              <a:buFont typeface="Arial" panose="020B0604020202020204" pitchFamily="34" charset="0"/>
              <a:buChar char="•"/>
              <a:tabLst/>
              <a:defRPr sz="16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3888" indent="-266700">
              <a:buFont typeface="Arial" panose="020B0604020202020204" pitchFamily="34" charset="0"/>
              <a:buChar char="-"/>
              <a:tabLst/>
              <a:defRPr sz="800">
                <a:solidFill>
                  <a:srgbClr val="1C3D74"/>
                </a:solidFill>
                <a:latin typeface="+mj-lt"/>
              </a:defRPr>
            </a:lvl2pPr>
            <a:lvl3pPr marL="979488" marR="0" indent="-2682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1200"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979488" marR="0" lvl="2" indent="-2682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-"/>
              <a:tabLst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lvl="2">
              <a:buFont typeface="Arial" panose="020B0604020202020204" pitchFamily="34" charset="0"/>
              <a:buChar char="-"/>
              <a:defRPr/>
            </a:pPr>
            <a:endParaRPr lang="en-US" sz="1400" dirty="0">
              <a:solidFill>
                <a:srgbClr val="1C3D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Char char="-"/>
              <a:defRPr/>
            </a:pPr>
            <a:endParaRPr lang="en-US" sz="1400" dirty="0">
              <a:solidFill>
                <a:srgbClr val="1C3D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86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267128" y="262397"/>
            <a:ext cx="8591565" cy="7547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128" y="1017143"/>
            <a:ext cx="4286320" cy="3246882"/>
          </a:xfrm>
          <a:prstGeom prst="rect">
            <a:avLst/>
          </a:prstGeom>
        </p:spPr>
        <p:txBody>
          <a:bodyPr/>
          <a:lstStyle>
            <a:lvl1pPr marL="276225" indent="-276225">
              <a:buFont typeface="Arial" panose="020B0604020202020204" pitchFamily="34" charset="0"/>
              <a:buChar char="•"/>
              <a:tabLst/>
              <a:defRPr sz="1600">
                <a:solidFill>
                  <a:srgbClr val="1C3D74"/>
                </a:solidFill>
                <a:latin typeface="+mj-lt"/>
              </a:defRPr>
            </a:lvl1pPr>
            <a:lvl2pPr marL="623888" indent="-266700">
              <a:buFont typeface="Arial" panose="020B0604020202020204" pitchFamily="34" charset="0"/>
              <a:buChar char="-"/>
              <a:tabLst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C7A6F9-784D-428C-B9C4-650A70FFC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017143"/>
            <a:ext cx="4286321" cy="3246882"/>
          </a:xfrm>
          <a:prstGeom prst="rect">
            <a:avLst/>
          </a:prstGeom>
        </p:spPr>
        <p:txBody>
          <a:bodyPr/>
          <a:lstStyle>
            <a:lvl1pPr marL="276225" indent="-276225">
              <a:buFont typeface="Arial" panose="020B0604020202020204" pitchFamily="34" charset="0"/>
              <a:buChar char="•"/>
              <a:tabLst/>
              <a:defRPr sz="1600">
                <a:solidFill>
                  <a:srgbClr val="1C3D74"/>
                </a:solidFill>
                <a:latin typeface="+mj-lt"/>
              </a:defRPr>
            </a:lvl1pPr>
            <a:lvl2pPr marL="623888" indent="-266700">
              <a:buFont typeface="Arial" panose="020B0604020202020204" pitchFamily="34" charset="0"/>
              <a:buChar char="-"/>
              <a:tabLst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</p:spTree>
    <p:extLst>
      <p:ext uri="{BB962C8B-B14F-4D97-AF65-F5344CB8AC3E}">
        <p14:creationId xmlns:p14="http://schemas.microsoft.com/office/powerpoint/2010/main" val="310220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DD12-960D-C8D2-9380-5E21F726C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62A19-5A90-692F-AC2D-66D5A54F0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C9BA9-DF01-10F1-5BFE-079F8977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D6847-986F-92BA-9107-41DB0ECDF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1C33A-2DEB-F38B-436C-ABE7161F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20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8BFA5-9C67-D3B4-C5CB-13A1B69FB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500"/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5760-810A-B1C8-016B-4F0CAF75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57132-2ADE-3A98-A75C-1D59659B30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F2391-3A07-6ED2-80DF-990CC144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3E33B-BF83-029C-16EB-7D02A01E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494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D707-80AD-5375-2618-4DACA1A89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500"/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46469-D0B2-C90E-2365-0023B0AA0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7127" y="1039656"/>
            <a:ext cx="4253437" cy="377237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9BC93-99CB-FC9A-9BEB-DE7FDD91D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3438" y="1039657"/>
            <a:ext cx="4235254" cy="377237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1672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468E5-16EE-C4F7-1D16-F2AC251A0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8519D-02E4-735C-8E09-C5A7B1F5E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126" y="1039658"/>
            <a:ext cx="4231849" cy="294004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E46BB-26DF-BB08-3415-612E7FB63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7126" y="1333662"/>
            <a:ext cx="4231849" cy="35352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89E1FA-3A4B-BC66-34D8-E273B72F1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49" y="1039657"/>
            <a:ext cx="4229543" cy="29400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9FCF0-2D5A-83C0-7AFC-B80F2DED6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333662"/>
            <a:ext cx="4229542" cy="35352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1743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1895-FCED-5D76-3827-BFB49A9D8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7CC3-0F85-7E71-854A-6CC2F9974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6FA18-2FDF-E693-4FC3-9A29E390B1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DB2FF-548D-58DC-3639-9B05D3CCD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B4F68-A187-757E-D48F-99537133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107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5D4B-805D-5F99-16FB-B90AFE54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39F7B-4509-5CA9-DD44-68A456C122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8501D-72B6-F89C-3F44-A73ACB7F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35672-ECC1-3F60-3555-195A103C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200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80844-7F5A-3BA1-3E5E-C2DF1006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BF066-7100-4D48-EFA3-AA251C72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ED0C-ED70-3527-8571-1D8437A93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063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DC85-E540-E120-368C-C37F5AC8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7B8B3-422D-1C9C-EA46-1E98E0A70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1178C-2887-FF21-7868-3A73528ED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C1B98-ADDF-44F4-06F5-1F5B9159DB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A9458-A80C-4CA2-8EE5-2FB55E3B3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1D7C-03DA-27E3-F8F9-E0CD550B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253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6B0E-FF3A-CD0B-092D-5C9CD091D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63D90-ADBC-7830-4EFB-B4E5D6464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58542-D1B9-639C-697F-594FC631F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81DDF-8B45-F250-4463-709DC30B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B283E-CF9D-B123-038A-24042EBE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D0E9F-14DD-37E6-B554-4C635334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5380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8F5F4-2D07-5EF1-0853-7D97448B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BA458-4973-87F3-3CAF-060F70FEC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E6AF-E170-DD98-A729-CFAAB8BEF3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7F1CB-67F1-FD4B-8238-C8A5DD71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5D0E6-D8DE-E03E-674F-6E0A9F22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574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ECBC19-F1A3-96BC-49FC-7D415F8FD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30F65-B7EB-6AEF-5E4C-41E59EAA0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D2E01-E19C-6A29-DE50-8A50E092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C885A-F5A4-DBBD-FC72-341BFCC6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B4AC0-31F6-3638-CF4E-9253AB17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6101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rt Cover 1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788460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7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50" r:id="rId2"/>
    <p:sldLayoutId id="2147483765" r:id="rId3"/>
    <p:sldLayoutId id="2147483766" r:id="rId4"/>
    <p:sldLayoutId id="2147483767" r:id="rId5"/>
    <p:sldLayoutId id="2147483768" r:id="rId6"/>
    <p:sldLayoutId id="2147483769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58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5585" userDrawn="1">
          <p15:clr>
            <a:srgbClr val="F26B43"/>
          </p15:clr>
        </p15:guide>
        <p15:guide id="6" orient="horz" pos="1620" userDrawn="1">
          <p15:clr>
            <a:srgbClr val="F26B43"/>
          </p15:clr>
        </p15:guide>
        <p15:guide id="7" orient="horz" pos="554" userDrawn="1">
          <p15:clr>
            <a:srgbClr val="F26B43"/>
          </p15:clr>
        </p15:guide>
        <p15:guide id="8" orient="horz" pos="690" userDrawn="1">
          <p15:clr>
            <a:srgbClr val="F26B43"/>
          </p15:clr>
        </p15:guide>
        <p15:guide id="9" orient="horz" pos="826" userDrawn="1">
          <p15:clr>
            <a:srgbClr val="F26B43"/>
          </p15:clr>
        </p15:guide>
        <p15:guide id="10" pos="2812" userDrawn="1">
          <p15:clr>
            <a:srgbClr val="F26B43"/>
          </p15:clr>
        </p15:guide>
        <p15:guide id="11" pos="2948" userDrawn="1">
          <p15:clr>
            <a:srgbClr val="F26B43"/>
          </p15:clr>
        </p15:guide>
        <p15:guide id="12" pos="1474" userDrawn="1">
          <p15:clr>
            <a:srgbClr val="F26B43"/>
          </p15:clr>
        </p15:guide>
        <p15:guide id="13" pos="4263" userDrawn="1">
          <p15:clr>
            <a:srgbClr val="F26B43"/>
          </p15:clr>
        </p15:guide>
        <p15:guide id="14" orient="horz" pos="2822" userDrawn="1">
          <p15:clr>
            <a:srgbClr val="F26B43"/>
          </p15:clr>
        </p15:guide>
        <p15:guide id="15" orient="horz" pos="275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EFACAD1-D0A6-9749-A5C6-07C38D8E6F7D}"/>
              </a:ext>
            </a:extLst>
          </p:cNvPr>
          <p:cNvSpPr txBox="1"/>
          <p:nvPr userDrawn="1"/>
        </p:nvSpPr>
        <p:spPr>
          <a:xfrm>
            <a:off x="7926850" y="4846638"/>
            <a:ext cx="93933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A98891B2-5225-5C40-A770-7C3A43B5E5B1}" type="slidenum">
              <a:rPr lang="en-US" sz="9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6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86">
          <p15:clr>
            <a:srgbClr val="F26B43"/>
          </p15:clr>
        </p15:guide>
        <p15:guide id="2" pos="1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1A464-3F20-4ECD-3964-0F98D456D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FB7F1-4F05-4F02-283C-CF7413C92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126" y="1039656"/>
            <a:ext cx="8591566" cy="3829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7956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1" r:id="rId3"/>
    <p:sldLayoutId id="2147483892" r:id="rId4"/>
    <p:sldLayoutId id="2147483890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rgbClr val="1C3D7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rgbClr val="1C3D7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1C3D7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rgbClr val="1C3D7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rgbClr val="1C3D7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rgbClr val="1C3D7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imondlevy/PyRoboViz" TargetMode="External"/><Relationship Id="rId13" Type="http://schemas.openxmlformats.org/officeDocument/2006/relationships/image" Target="../media/image10.png"/><Relationship Id="rId3" Type="http://schemas.openxmlformats.org/officeDocument/2006/relationships/hyperlink" Target="https://github.com/Slamtec/rplidar_sdk" TargetMode="External"/><Relationship Id="rId7" Type="http://schemas.openxmlformats.org/officeDocument/2006/relationships/hyperlink" Target="https://github.com/simondlevy/BreezySLAM" TargetMode="Externa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youtu.be/dTGITLnYAY0?si=K3ijiWW-yeb7LXuf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github.com/farooqueesamiya/Odometry-and-Position-Estimation-for-Mobile-Robot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github.com/DanielKalicki/RPLidar_Arduino/tree/main" TargetMode="External"/><Relationship Id="rId9" Type="http://schemas.openxmlformats.org/officeDocument/2006/relationships/hyperlink" Target="https://github.com/AtsushiSakai/PythonRobotic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type="title" idx="4294967295"/>
          </p:nvPr>
        </p:nvSpPr>
        <p:spPr>
          <a:xfrm>
            <a:off x="636587" y="495532"/>
            <a:ext cx="7870825" cy="11715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750"/>
              </a:spcBef>
              <a:defRPr/>
            </a:pPr>
            <a:r>
              <a:rPr lang="en-US" sz="2000" b="0" dirty="0">
                <a:solidFill>
                  <a:srgbClr val="FFFF00"/>
                </a:solidFill>
                <a:latin typeface="Aptos" panose="020B0004020202020204" pitchFamily="34" charset="0"/>
                <a:ea typeface="Source Sans Pro SemiBold" panose="020B0503030403020204" pitchFamily="34" charset="0"/>
                <a:cs typeface="Calibri" panose="020F0502020204030204" pitchFamily="34" charset="0"/>
              </a:rPr>
              <a:t>Year 2 Short Semester</a:t>
            </a:r>
            <a:br>
              <a:rPr lang="en-US" sz="2000" b="0" dirty="0">
                <a:solidFill>
                  <a:srgbClr val="FFFF00"/>
                </a:solidFill>
                <a:latin typeface="Aptos" panose="020B0004020202020204" pitchFamily="34" charset="0"/>
                <a:ea typeface="Source Sans Pro SemiBold" panose="020B0503030403020204" pitchFamily="34" charset="0"/>
                <a:cs typeface="Calibri" panose="020F0502020204030204" pitchFamily="34" charset="0"/>
              </a:rPr>
            </a:br>
            <a:r>
              <a:rPr lang="en-US" sz="2000" b="0" dirty="0">
                <a:solidFill>
                  <a:srgbClr val="FFFF00"/>
                </a:solidFill>
                <a:latin typeface="Aptos" panose="020B0004020202020204" pitchFamily="34" charset="0"/>
                <a:ea typeface="Source Sans Pro SemiBold" panose="020B0503030403020204" pitchFamily="34" charset="0"/>
                <a:cs typeface="Calibri" panose="020F0502020204030204" pitchFamily="34" charset="0"/>
              </a:rPr>
              <a:t> Design &amp; Build Project</a:t>
            </a:r>
            <a:br>
              <a:rPr lang="en-US" sz="2000" b="0" dirty="0">
                <a:solidFill>
                  <a:srgbClr val="FFFF00"/>
                </a:solidFill>
                <a:latin typeface="Aptos" panose="020B0004020202020204" pitchFamily="34" charset="0"/>
                <a:ea typeface="Source Sans Pro SemiBold" panose="020B0503030403020204" pitchFamily="34" charset="0"/>
                <a:cs typeface="Calibri" panose="020F0502020204030204" pitchFamily="34" charset="0"/>
              </a:rPr>
            </a:br>
            <a:r>
              <a:rPr lang="en-US" sz="2000" b="0" kern="0" spc="-150" dirty="0">
                <a:solidFill>
                  <a:srgbClr val="FFFF00"/>
                </a:solidFill>
                <a:latin typeface="Aptos" panose="020B0004020202020204" pitchFamily="34" charset="0"/>
                <a:ea typeface="Source Sans Pro SemiBold" panose="020B0503030403020204" pitchFamily="34" charset="0"/>
                <a:cs typeface="Calibri" panose="020F0502020204030204" pitchFamily="34" charset="0"/>
              </a:rPr>
              <a:t>Summer 2025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BC1B5-0045-FE5E-48ED-3CF7FB02DBD3}"/>
              </a:ext>
            </a:extLst>
          </p:cNvPr>
          <p:cNvSpPr txBox="1"/>
          <p:nvPr/>
        </p:nvSpPr>
        <p:spPr>
          <a:xfrm>
            <a:off x="3032595" y="3513335"/>
            <a:ext cx="307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Jonathan Loo and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Qihui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6610A56-0912-9B2A-00C1-68752DD48807}"/>
              </a:ext>
            </a:extLst>
          </p:cNvPr>
          <p:cNvSpPr txBox="1">
            <a:spLocks/>
          </p:cNvSpPr>
          <p:nvPr/>
        </p:nvSpPr>
        <p:spPr>
          <a:xfrm>
            <a:off x="636586" y="2047524"/>
            <a:ext cx="7870825" cy="11715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750"/>
              </a:spcBef>
              <a:defRPr/>
            </a:pPr>
            <a:r>
              <a:rPr lang="en-US" sz="2600" b="0" dirty="0">
                <a:ea typeface="Source Sans Pro SemiBold" panose="020B0503030403020204" pitchFamily="34" charset="0"/>
              </a:rPr>
              <a:t>Autonomous Mobile Robot for Maze Mapping and Navigation with 2D LiDAR</a:t>
            </a:r>
            <a:endParaRPr lang="en-US" sz="2600" b="0" dirty="0"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CF3643-D952-D628-43F0-ADAD2907E815}"/>
              </a:ext>
            </a:extLst>
          </p:cNvPr>
          <p:cNvSpPr txBox="1"/>
          <p:nvPr/>
        </p:nvSpPr>
        <p:spPr>
          <a:xfrm>
            <a:off x="3699805" y="4176903"/>
            <a:ext cx="1744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June 2025</a:t>
            </a:r>
          </a:p>
        </p:txBody>
      </p:sp>
    </p:spTree>
    <p:extLst>
      <p:ext uri="{BB962C8B-B14F-4D97-AF65-F5344CB8AC3E}">
        <p14:creationId xmlns:p14="http://schemas.microsoft.com/office/powerpoint/2010/main" val="2707293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7D07D-891B-F03A-9779-120F2F9F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B49B4D-44A5-E692-90D2-4DCF87A25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>
            <a:noAutofit/>
          </a:bodyPr>
          <a:lstStyle/>
          <a:p>
            <a:r>
              <a:rPr lang="en-GB" dirty="0"/>
              <a:t>Design &amp; Build 2025: Learning Outcome</a:t>
            </a:r>
            <a:br>
              <a:rPr lang="en-US" dirty="0"/>
            </a:b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7E5B800-F90A-09B7-7813-37AE7765E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26" y="1039656"/>
            <a:ext cx="8591566" cy="3829205"/>
          </a:xfrm>
        </p:spPr>
        <p:txBody>
          <a:bodyPr/>
          <a:lstStyle/>
          <a:p>
            <a:r>
              <a:rPr lang="en-GB" dirty="0"/>
              <a:t>Demonstrate an understanding of the engineering design lifecycle and the interdependencies within a multidisciplinary project</a:t>
            </a:r>
          </a:p>
          <a:p>
            <a:r>
              <a:rPr lang="en-GB" dirty="0"/>
              <a:t>Apply core engineering principles and structured problem-solving methods in real-world engineering scenarios</a:t>
            </a:r>
          </a:p>
          <a:p>
            <a:r>
              <a:rPr lang="en-GB" dirty="0"/>
              <a:t>Design and conduct experiments or simulations to validate system performance and iterate solutions</a:t>
            </a:r>
          </a:p>
          <a:p>
            <a:r>
              <a:rPr lang="en-GB" dirty="0"/>
              <a:t>Exhibit initiative, creativity, and innovation in developing engineering solutions</a:t>
            </a:r>
          </a:p>
          <a:p>
            <a:r>
              <a:rPr lang="en-GB" dirty="0"/>
              <a:t>Translate theoretical knowledge into a functional design and working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3916B-48F3-9105-20E3-C8799A4C8BCB}"/>
              </a:ext>
            </a:extLst>
          </p:cNvPr>
          <p:cNvSpPr txBox="1"/>
          <p:nvPr/>
        </p:nvSpPr>
        <p:spPr>
          <a:xfrm>
            <a:off x="1228159" y="4264025"/>
            <a:ext cx="6687682" cy="307777"/>
          </a:xfrm>
          <a:prstGeom prst="rect">
            <a:avLst/>
          </a:prstGeom>
          <a:noFill/>
          <a:ln w="25400">
            <a:solidFill>
              <a:srgbClr val="EC008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1C3D74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rPr>
              <a:t>The D&amp;B project contributes to part of your engineering environment marks.</a:t>
            </a:r>
          </a:p>
        </p:txBody>
      </p:sp>
    </p:spTree>
    <p:extLst>
      <p:ext uri="{BB962C8B-B14F-4D97-AF65-F5344CB8AC3E}">
        <p14:creationId xmlns:p14="http://schemas.microsoft.com/office/powerpoint/2010/main" val="205396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4C63-BFE5-C950-A592-FD63EB8D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9FCF5F-8D6D-D40C-3D43-E9CB4AA7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800" dirty="0"/>
              <a:t>Design &amp; Build 2025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EC008C"/>
                </a:solidFill>
              </a:rPr>
              <a:t>General Information</a:t>
            </a:r>
            <a:br>
              <a:rPr lang="en-US" sz="2800" dirty="0">
                <a:solidFill>
                  <a:srgbClr val="EC008C"/>
                </a:solidFill>
              </a:rPr>
            </a:br>
            <a:endParaRPr lang="en-US" sz="2800" dirty="0">
              <a:solidFill>
                <a:srgbClr val="EC008C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C267FA-6EFF-4626-EE4A-D953B1D0B1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1" dirty="0"/>
              <a:t>Group Compositions:</a:t>
            </a:r>
          </a:p>
          <a:p>
            <a:r>
              <a:rPr lang="en-US" sz="1200" dirty="0"/>
              <a:t>Each group consist of approx. 10-12 students, combining talents from Telecom, EIE, IoT and IST.</a:t>
            </a:r>
          </a:p>
          <a:p>
            <a:r>
              <a:rPr lang="en-US" sz="1200" dirty="0"/>
              <a:t>Each group functions as a mini engineering company with the following team specialism:</a:t>
            </a:r>
          </a:p>
          <a:p>
            <a:pPr lvl="1"/>
            <a:r>
              <a:rPr lang="en-US" sz="1100" dirty="0">
                <a:solidFill>
                  <a:srgbClr val="EC008C"/>
                </a:solidFill>
              </a:rPr>
              <a:t>Hardware Team </a:t>
            </a:r>
            <a:r>
              <a:rPr lang="en-US" sz="1100" dirty="0"/>
              <a:t>(Telecom + EIE)</a:t>
            </a:r>
          </a:p>
          <a:p>
            <a:pPr lvl="1"/>
            <a:r>
              <a:rPr lang="en-US" sz="1100" dirty="0">
                <a:solidFill>
                  <a:srgbClr val="EC008C"/>
                </a:solidFill>
              </a:rPr>
              <a:t>Software Team </a:t>
            </a:r>
            <a:r>
              <a:rPr lang="en-US" sz="1100" dirty="0"/>
              <a:t>(IoT + IST)</a:t>
            </a:r>
          </a:p>
          <a:p>
            <a:pPr lvl="1"/>
            <a:endParaRPr lang="en-US" sz="1200" dirty="0"/>
          </a:p>
          <a:p>
            <a:pPr marL="0" indent="0">
              <a:buNone/>
            </a:pPr>
            <a:r>
              <a:rPr lang="en-US" sz="1400" b="1" dirty="0"/>
              <a:t>Project Resources: </a:t>
            </a:r>
          </a:p>
          <a:p>
            <a:r>
              <a:rPr lang="en-US" sz="1200" dirty="0"/>
              <a:t>Access to hardware components, coding libraries and references. (see detail)</a:t>
            </a:r>
          </a:p>
          <a:p>
            <a:pPr marL="0" indent="0">
              <a:buNone/>
            </a:pPr>
            <a:endParaRPr lang="en-US" sz="1400" b="1" dirty="0"/>
          </a:p>
          <a:p>
            <a:endParaRPr lang="en-US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9D2BE-D9BF-25B0-9FBB-E20A48AB38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1" dirty="0"/>
              <a:t>Project Assessment:</a:t>
            </a:r>
          </a:p>
          <a:p>
            <a:r>
              <a:rPr lang="en-US" sz="1200" dirty="0"/>
              <a:t>Project assessment is based on the project completion </a:t>
            </a:r>
            <a:r>
              <a:rPr lang="en-US" sz="1200" dirty="0">
                <a:solidFill>
                  <a:srgbClr val="EC008C"/>
                </a:solidFill>
              </a:rPr>
              <a:t>level</a:t>
            </a:r>
            <a:r>
              <a:rPr lang="en-US" sz="1200" dirty="0"/>
              <a:t> and </a:t>
            </a:r>
            <a:r>
              <a:rPr lang="en-US" sz="1200" dirty="0">
                <a:solidFill>
                  <a:srgbClr val="EC008C"/>
                </a:solidFill>
              </a:rPr>
              <a:t>quality</a:t>
            </a:r>
            <a:r>
              <a:rPr lang="en-US" sz="1200" dirty="0"/>
              <a:t>. (see detail)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sz="1400" b="1" dirty="0"/>
              <a:t>Competition:</a:t>
            </a:r>
          </a:p>
          <a:p>
            <a:r>
              <a:rPr lang="en-US" sz="1200" dirty="0"/>
              <a:t>All project groups are eligible to participate in a </a:t>
            </a:r>
            <a:r>
              <a:rPr lang="en-US" sz="1200" dirty="0">
                <a:solidFill>
                  <a:srgbClr val="EC008C"/>
                </a:solidFill>
              </a:rPr>
              <a:t>fair competition</a:t>
            </a:r>
            <a:r>
              <a:rPr lang="en-US" sz="1200" dirty="0"/>
              <a:t>. (see detail)</a:t>
            </a:r>
          </a:p>
          <a:p>
            <a:r>
              <a:rPr lang="en-US" sz="1200" dirty="0"/>
              <a:t>Top three groups will receive an award/recognition.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08303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DC16F-3594-F289-E180-288F72ED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DB2596-9C3B-F2A0-C433-AB05E023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&amp; Build 2025: </a:t>
            </a:r>
            <a:r>
              <a:rPr lang="en-GB" dirty="0">
                <a:solidFill>
                  <a:srgbClr val="EC008C"/>
                </a:solidFill>
              </a:rPr>
              <a:t>Project Overview</a:t>
            </a:r>
            <a:br>
              <a:rPr lang="en-GB" dirty="0">
                <a:solidFill>
                  <a:srgbClr val="EC008C"/>
                </a:solidFill>
              </a:rPr>
            </a:b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3BD68A-ABCD-7D30-6078-DF9669132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7128" y="1039656"/>
            <a:ext cx="3914454" cy="3772373"/>
          </a:xfrm>
        </p:spPr>
        <p:txBody>
          <a:bodyPr/>
          <a:lstStyle/>
          <a:p>
            <a:r>
              <a:rPr lang="en-US" b="1" dirty="0"/>
              <a:t>Topic: </a:t>
            </a:r>
          </a:p>
          <a:p>
            <a:pPr lvl="1"/>
            <a:r>
              <a:rPr lang="en-GB" dirty="0"/>
              <a:t>Autonomous Mobile Robot for Maze Mapping and Navigation with 2D LiDAR </a:t>
            </a:r>
          </a:p>
          <a:p>
            <a:endParaRPr lang="en-US" b="1" dirty="0"/>
          </a:p>
          <a:p>
            <a:r>
              <a:rPr lang="en-US" b="1" dirty="0"/>
              <a:t>Key objectives: </a:t>
            </a:r>
          </a:p>
          <a:p>
            <a:pPr lvl="1"/>
            <a:r>
              <a:rPr lang="en-US" dirty="0"/>
              <a:t>Design and build of an </a:t>
            </a:r>
            <a:r>
              <a:rPr lang="en-US" dirty="0">
                <a:solidFill>
                  <a:srgbClr val="EC008C"/>
                </a:solidFill>
              </a:rPr>
              <a:t>autonomous mobile robot</a:t>
            </a:r>
            <a:r>
              <a:rPr lang="en-US" dirty="0"/>
              <a:t> equipped with a </a:t>
            </a:r>
            <a:r>
              <a:rPr lang="en-US" dirty="0">
                <a:solidFill>
                  <a:srgbClr val="EC008C"/>
                </a:solidFill>
              </a:rPr>
              <a:t>2D </a:t>
            </a:r>
            <a:r>
              <a:rPr lang="en-GB" dirty="0">
                <a:solidFill>
                  <a:srgbClr val="EC008C"/>
                </a:solidFill>
              </a:rPr>
              <a:t>LiDAR</a:t>
            </a:r>
            <a:r>
              <a:rPr lang="en-US" dirty="0">
                <a:solidFill>
                  <a:srgbClr val="EC008C"/>
                </a:solidFill>
              </a:rPr>
              <a:t> </a:t>
            </a:r>
            <a:r>
              <a:rPr lang="en-US" dirty="0"/>
              <a:t>system, capable of performing real-time environment mapping and navigation within a maze. </a:t>
            </a:r>
          </a:p>
          <a:p>
            <a:pPr lvl="1"/>
            <a:r>
              <a:rPr lang="en-US" dirty="0"/>
              <a:t>Able to </a:t>
            </a:r>
            <a:r>
              <a:rPr lang="en-US" dirty="0">
                <a:solidFill>
                  <a:srgbClr val="EC008C"/>
                </a:solidFill>
              </a:rPr>
              <a:t>explore</a:t>
            </a:r>
            <a:r>
              <a:rPr lang="en-US" dirty="0"/>
              <a:t> an unknown maze environment autonomously, </a:t>
            </a:r>
            <a:r>
              <a:rPr lang="en-US" dirty="0">
                <a:solidFill>
                  <a:srgbClr val="EC008C"/>
                </a:solidFill>
              </a:rPr>
              <a:t>locate</a:t>
            </a:r>
            <a:r>
              <a:rPr lang="en-US" dirty="0"/>
              <a:t> the exit point, and then </a:t>
            </a:r>
            <a:r>
              <a:rPr lang="en-US" dirty="0">
                <a:solidFill>
                  <a:srgbClr val="EC008C"/>
                </a:solidFill>
              </a:rPr>
              <a:t>return</a:t>
            </a:r>
            <a:r>
              <a:rPr lang="en-US" dirty="0"/>
              <a:t> to its original starting position without human intervention.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2150B5-D609-43A5-AC8E-95513F601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06095"/>
            <a:ext cx="4103540" cy="29471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54E793-D38C-4ADF-EF7C-06A6B9C21901}"/>
              </a:ext>
            </a:extLst>
          </p:cNvPr>
          <p:cNvSpPr txBox="1"/>
          <p:nvPr/>
        </p:nvSpPr>
        <p:spPr>
          <a:xfrm>
            <a:off x="4666543" y="4196524"/>
            <a:ext cx="39144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dirty="0">
                <a:solidFill>
                  <a:schemeClr val="tx1">
                    <a:lumMod val="50000"/>
                  </a:schemeClr>
                </a:solidFill>
              </a:rPr>
              <a:t>Figure 1. Example Maze with Starting Position and Exit Point</a:t>
            </a:r>
          </a:p>
        </p:txBody>
      </p:sp>
    </p:spTree>
    <p:extLst>
      <p:ext uri="{BB962C8B-B14F-4D97-AF65-F5344CB8AC3E}">
        <p14:creationId xmlns:p14="http://schemas.microsoft.com/office/powerpoint/2010/main" val="3529414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F3DC-B080-2971-C0FB-AAF20306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252420-6094-A6A9-AF03-2C92C80E5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&amp; Build 2025: </a:t>
            </a:r>
            <a:r>
              <a:rPr lang="en-GB" dirty="0">
                <a:solidFill>
                  <a:srgbClr val="EC008C"/>
                </a:solidFill>
              </a:rPr>
              <a:t>Project Overview</a:t>
            </a:r>
            <a:br>
              <a:rPr lang="en-GB" dirty="0">
                <a:solidFill>
                  <a:srgbClr val="EC008C"/>
                </a:solidFill>
              </a:rPr>
            </a:b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1E01A5-4711-F658-F007-862714D0EF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Hardware components:</a:t>
            </a:r>
          </a:p>
          <a:p>
            <a:pPr lvl="1"/>
            <a:r>
              <a:rPr lang="en-GB" dirty="0"/>
              <a:t>STM32F446RE MCU + Arduino Framework </a:t>
            </a:r>
          </a:p>
          <a:p>
            <a:pPr lvl="1"/>
            <a:r>
              <a:rPr lang="en-GB" dirty="0"/>
              <a:t>AT8236 Motor Driver</a:t>
            </a:r>
          </a:p>
          <a:p>
            <a:pPr lvl="1"/>
            <a:r>
              <a:rPr lang="en-GB" dirty="0"/>
              <a:t>520 Geared Encoder DC Motor</a:t>
            </a:r>
          </a:p>
          <a:p>
            <a:pPr lvl="1"/>
            <a:r>
              <a:rPr lang="en-GB" dirty="0"/>
              <a:t>SLAMTEC RPLIDAR C1 (2D LiDAR)</a:t>
            </a:r>
          </a:p>
          <a:p>
            <a:pPr lvl="1"/>
            <a:r>
              <a:rPr lang="en-GB" dirty="0"/>
              <a:t>MPU6500 IMU</a:t>
            </a:r>
          </a:p>
          <a:p>
            <a:pPr lvl="1"/>
            <a:r>
              <a:rPr lang="en-GB" dirty="0"/>
              <a:t>HC-04 Bluetooth Module (SPP/BLE)</a:t>
            </a:r>
          </a:p>
          <a:p>
            <a:pPr lvl="1"/>
            <a:endParaRPr lang="en-GB" dirty="0"/>
          </a:p>
          <a:p>
            <a:r>
              <a:rPr lang="en-GB" dirty="0"/>
              <a:t>The project will be achieved by the </a:t>
            </a:r>
            <a:r>
              <a:rPr lang="en-GB" dirty="0">
                <a:solidFill>
                  <a:srgbClr val="EC008C"/>
                </a:solidFill>
              </a:rPr>
              <a:t>integration</a:t>
            </a:r>
            <a:r>
              <a:rPr lang="en-GB" dirty="0"/>
              <a:t> of the </a:t>
            </a:r>
            <a:r>
              <a:rPr lang="en-GB" dirty="0">
                <a:solidFill>
                  <a:srgbClr val="EC008C"/>
                </a:solidFill>
              </a:rPr>
              <a:t>hardware components</a:t>
            </a:r>
            <a:r>
              <a:rPr lang="en-GB" dirty="0"/>
              <a:t>, </a:t>
            </a:r>
            <a:r>
              <a:rPr lang="en-GB" dirty="0">
                <a:solidFill>
                  <a:srgbClr val="EC008C"/>
                </a:solidFill>
              </a:rPr>
              <a:t>firmware</a:t>
            </a:r>
            <a:r>
              <a:rPr lang="en-GB" dirty="0"/>
              <a:t>, and </a:t>
            </a:r>
            <a:r>
              <a:rPr lang="en-GB" dirty="0">
                <a:solidFill>
                  <a:srgbClr val="EC008C"/>
                </a:solidFill>
              </a:rPr>
              <a:t>host software </a:t>
            </a:r>
            <a:r>
              <a:rPr lang="en-GB" dirty="0"/>
              <a:t>computation.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EFBE2-8D79-9B51-4175-BD20216C7707}"/>
              </a:ext>
            </a:extLst>
          </p:cNvPr>
          <p:cNvSpPr txBox="1"/>
          <p:nvPr/>
        </p:nvSpPr>
        <p:spPr>
          <a:xfrm>
            <a:off x="5702258" y="4264025"/>
            <a:ext cx="22038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solidFill>
                  <a:schemeClr val="tx1">
                    <a:lumMod val="50000"/>
                  </a:schemeClr>
                </a:solidFill>
              </a:rPr>
              <a:t>Figure 2. Hardware Components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7298A2-AF04-56E7-A8D1-BC0136748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1219"/>
            <a:ext cx="4464395" cy="301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10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80C3-050C-5397-08E4-D31E86B6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181">
            <a:extLst>
              <a:ext uri="{FF2B5EF4-FFF2-40B4-BE49-F238E27FC236}">
                <a16:creationId xmlns:a16="http://schemas.microsoft.com/office/drawing/2014/main" id="{96A0DD2F-C3DA-396F-0394-6F4A0C09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&amp; Build 2025: </a:t>
            </a:r>
            <a:r>
              <a:rPr lang="en-GB" dirty="0">
                <a:solidFill>
                  <a:srgbClr val="EC008C"/>
                </a:solidFill>
              </a:rPr>
              <a:t>Project Overview</a:t>
            </a:r>
            <a:br>
              <a:rPr lang="en-GB" dirty="0">
                <a:solidFill>
                  <a:srgbClr val="EC008C"/>
                </a:solidFill>
              </a:rPr>
            </a:b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3450DD-18D1-4C1D-D3F1-AFC6C4A8E94E}"/>
              </a:ext>
            </a:extLst>
          </p:cNvPr>
          <p:cNvSpPr/>
          <p:nvPr/>
        </p:nvSpPr>
        <p:spPr>
          <a:xfrm>
            <a:off x="1411605" y="1907529"/>
            <a:ext cx="3004923" cy="235585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CB037C-4550-9E14-C100-B9D1B418FB3A}"/>
              </a:ext>
            </a:extLst>
          </p:cNvPr>
          <p:cNvSpPr/>
          <p:nvPr/>
        </p:nvSpPr>
        <p:spPr>
          <a:xfrm>
            <a:off x="6641671" y="1907529"/>
            <a:ext cx="1770809" cy="235585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00A87D-AABA-9663-6AB4-85DD76199392}"/>
                  </a:ext>
                </a:extLst>
              </p:cNvPr>
              <p:cNvSpPr txBox="1"/>
              <p:nvPr/>
            </p:nvSpPr>
            <p:spPr>
              <a:xfrm>
                <a:off x="4858123" y="3591801"/>
                <a:ext cx="13732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600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Current Position (</a:t>
                </a:r>
                <a:r>
                  <a:rPr lang="en-GB" sz="600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x,y</a:t>
                </a:r>
                <a:r>
                  <a:rPr lang="en-GB" sz="600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60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6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600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2D Lidar (distance and angle)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00A87D-AABA-9663-6AB4-85DD76199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123" y="3591801"/>
                <a:ext cx="1373292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2CCC53-4A0C-AFEA-FC72-C2F8DED2AC4D}"/>
                  </a:ext>
                </a:extLst>
              </p:cNvPr>
              <p:cNvSpPr txBox="1"/>
              <p:nvPr/>
            </p:nvSpPr>
            <p:spPr>
              <a:xfrm>
                <a:off x="5074752" y="2181584"/>
                <a:ext cx="942887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00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Target Position (</a:t>
                </a:r>
                <a:r>
                  <a:rPr lang="en-GB" sz="600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x,y</a:t>
                </a:r>
                <a:r>
                  <a:rPr lang="en-GB" sz="600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60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6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600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2CCC53-4A0C-AFEA-FC72-C2F8DED2A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752" y="2181584"/>
                <a:ext cx="942887" cy="184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FFD53B-6F61-C30A-A7DD-1A0CD2F4AECF}"/>
              </a:ext>
            </a:extLst>
          </p:cNvPr>
          <p:cNvCxnSpPr>
            <a:cxnSpLocks/>
            <a:stCxn id="6" idx="3"/>
            <a:endCxn id="26" idx="1"/>
          </p:cNvCxnSpPr>
          <p:nvPr/>
        </p:nvCxnSpPr>
        <p:spPr>
          <a:xfrm>
            <a:off x="4156949" y="2359155"/>
            <a:ext cx="2987519" cy="5339"/>
          </a:xfrm>
          <a:prstGeom prst="straightConnector1">
            <a:avLst/>
          </a:prstGeom>
          <a:ln w="9525">
            <a:solidFill>
              <a:schemeClr val="tx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92E95E8-0309-4606-5005-61866CBC4B75}"/>
              </a:ext>
            </a:extLst>
          </p:cNvPr>
          <p:cNvSpPr txBox="1"/>
          <p:nvPr/>
        </p:nvSpPr>
        <p:spPr>
          <a:xfrm>
            <a:off x="7144468" y="2838924"/>
            <a:ext cx="996790" cy="523220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solidFill>
                  <a:schemeClr val="tx1">
                    <a:lumMod val="50000"/>
                  </a:schemeClr>
                </a:solidFill>
              </a:rPr>
              <a:t>Path Planning for navigation from Exit Point back to Starting Point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C015D7-E2AF-F9AF-C492-BAA709944A39}"/>
              </a:ext>
            </a:extLst>
          </p:cNvPr>
          <p:cNvSpPr txBox="1"/>
          <p:nvPr/>
        </p:nvSpPr>
        <p:spPr>
          <a:xfrm>
            <a:off x="7144468" y="2102884"/>
            <a:ext cx="996790" cy="523220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solidFill>
                  <a:schemeClr val="tx1">
                    <a:lumMod val="50000"/>
                  </a:schemeClr>
                </a:solidFill>
              </a:rPr>
              <a:t>Autonomous navigation for map construction and locate the Exit Point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5791D6-29FB-F53E-D601-C3935BC6FEB5}"/>
              </a:ext>
            </a:extLst>
          </p:cNvPr>
          <p:cNvSpPr txBox="1"/>
          <p:nvPr/>
        </p:nvSpPr>
        <p:spPr>
          <a:xfrm>
            <a:off x="7144468" y="3717510"/>
            <a:ext cx="996790" cy="415498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solidFill>
                  <a:schemeClr val="tx1">
                    <a:lumMod val="50000"/>
                  </a:schemeClr>
                </a:solidFill>
              </a:rPr>
              <a:t>SLAM Map construction and visualisation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ADB5D9B-177D-674B-B786-630C7CD0D24F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7642863" y="3362144"/>
            <a:ext cx="0" cy="355366"/>
          </a:xfrm>
          <a:prstGeom prst="straightConnector1">
            <a:avLst/>
          </a:prstGeom>
          <a:ln w="9525">
            <a:solidFill>
              <a:schemeClr val="tx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B56FA48F-26F7-672B-6565-B8B74824D7BA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>
            <a:off x="6903720" y="2364494"/>
            <a:ext cx="240748" cy="736040"/>
          </a:xfrm>
          <a:prstGeom prst="bentConnector2">
            <a:avLst/>
          </a:prstGeom>
          <a:ln w="9525">
            <a:solidFill>
              <a:schemeClr val="tx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82E0CC-887B-9512-EDDA-94C7AEB39C38}"/>
                  </a:ext>
                </a:extLst>
              </p:cNvPr>
              <p:cNvSpPr txBox="1"/>
              <p:nvPr/>
            </p:nvSpPr>
            <p:spPr>
              <a:xfrm>
                <a:off x="3063700" y="2151406"/>
                <a:ext cx="1093249" cy="415498"/>
              </a:xfrm>
              <a:prstGeom prst="rect">
                <a:avLst/>
              </a:prstGeom>
              <a:noFill/>
              <a:ln w="9525">
                <a:solidFill>
                  <a:schemeClr val="tx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700" dirty="0">
                    <a:solidFill>
                      <a:schemeClr val="tx1">
                        <a:lumMod val="50000"/>
                      </a:schemeClr>
                    </a:solidFill>
                  </a:rPr>
                  <a:t>Control motor with PID to navigate robot to a Target position </a:t>
                </a:r>
                <a:r>
                  <a:rPr lang="en-GB" sz="700" dirty="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GB" sz="700" dirty="0" err="1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x,y</a:t>
                </a:r>
                <a:r>
                  <a:rPr lang="en-GB" sz="700" dirty="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70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70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700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82E0CC-887B-9512-EDDA-94C7AEB39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00" y="2151406"/>
                <a:ext cx="1093249" cy="4154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tx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F471C4-37CB-B108-5286-62BEC2815542}"/>
                  </a:ext>
                </a:extLst>
              </p:cNvPr>
              <p:cNvSpPr txBox="1"/>
              <p:nvPr/>
            </p:nvSpPr>
            <p:spPr>
              <a:xfrm>
                <a:off x="3063698" y="2876284"/>
                <a:ext cx="1093249" cy="523220"/>
              </a:xfrm>
              <a:prstGeom prst="rect">
                <a:avLst/>
              </a:prstGeom>
              <a:noFill/>
              <a:ln w="9525">
                <a:solidFill>
                  <a:schemeClr val="tx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700" dirty="0">
                    <a:solidFill>
                      <a:schemeClr val="tx1">
                        <a:lumMod val="50000"/>
                      </a:schemeClr>
                    </a:solidFill>
                  </a:rPr>
                  <a:t>Compute Odometry and Position estimate of the robot’s Current position </a:t>
                </a:r>
                <a:r>
                  <a:rPr lang="en-GB" sz="700" dirty="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GB" sz="700" dirty="0" err="1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x,y</a:t>
                </a:r>
                <a:r>
                  <a:rPr lang="en-GB" sz="700" dirty="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70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70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7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F471C4-37CB-B108-5286-62BEC2815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698" y="2876284"/>
                <a:ext cx="109324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chemeClr val="tx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8AAD90-4E95-1B04-0CA3-2ADA57EB88BB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3610322" y="3399504"/>
            <a:ext cx="1" cy="525755"/>
          </a:xfrm>
          <a:prstGeom prst="straightConnector1">
            <a:avLst/>
          </a:prstGeom>
          <a:ln w="9525">
            <a:solidFill>
              <a:schemeClr val="tx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6295C65-BA8B-BD79-A61D-A8332636477C}"/>
              </a:ext>
            </a:extLst>
          </p:cNvPr>
          <p:cNvSpPr txBox="1"/>
          <p:nvPr/>
        </p:nvSpPr>
        <p:spPr>
          <a:xfrm>
            <a:off x="1623101" y="2993218"/>
            <a:ext cx="822035" cy="30777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solidFill>
                  <a:schemeClr val="tx1">
                    <a:lumMod val="50000"/>
                  </a:schemeClr>
                </a:solidFill>
              </a:rPr>
              <a:t>Sensor data acquisition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A2513D5-A752-5762-2FF3-ECBA4501D14A}"/>
              </a:ext>
            </a:extLst>
          </p:cNvPr>
          <p:cNvSpPr/>
          <p:nvPr/>
        </p:nvSpPr>
        <p:spPr>
          <a:xfrm>
            <a:off x="1616502" y="2884644"/>
            <a:ext cx="835233" cy="514860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33368B6-92D5-8FD4-9AE0-AAD6837954E1}"/>
              </a:ext>
            </a:extLst>
          </p:cNvPr>
          <p:cNvCxnSpPr>
            <a:cxnSpLocks/>
            <a:stCxn id="75" idx="3"/>
            <a:endCxn id="21" idx="1"/>
          </p:cNvCxnSpPr>
          <p:nvPr/>
        </p:nvCxnSpPr>
        <p:spPr>
          <a:xfrm flipV="1">
            <a:off x="2451735" y="3137894"/>
            <a:ext cx="611963" cy="4180"/>
          </a:xfrm>
          <a:prstGeom prst="straightConnector1">
            <a:avLst/>
          </a:prstGeom>
          <a:ln w="95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2067AE81-B68E-9810-6CC8-4975BEC898BE}"/>
              </a:ext>
            </a:extLst>
          </p:cNvPr>
          <p:cNvSpPr txBox="1"/>
          <p:nvPr/>
        </p:nvSpPr>
        <p:spPr>
          <a:xfrm>
            <a:off x="7614990" y="3467224"/>
            <a:ext cx="4459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 dirty="0">
                <a:solidFill>
                  <a:srgbClr val="73B82B"/>
                </a:solidFill>
              </a:rPr>
              <a:t>2D map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F8AABFE-C423-D807-7707-D9A81718803B}"/>
              </a:ext>
            </a:extLst>
          </p:cNvPr>
          <p:cNvSpPr txBox="1"/>
          <p:nvPr/>
        </p:nvSpPr>
        <p:spPr>
          <a:xfrm>
            <a:off x="2376498" y="2891369"/>
            <a:ext cx="737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dirty="0">
                <a:solidFill>
                  <a:srgbClr val="73B82B"/>
                </a:solidFill>
              </a:rPr>
              <a:t>Motor Encoder &amp;</a:t>
            </a:r>
          </a:p>
          <a:p>
            <a:pPr algn="ctr"/>
            <a:r>
              <a:rPr lang="en-GB" sz="600" dirty="0">
                <a:solidFill>
                  <a:srgbClr val="73B82B"/>
                </a:solidFill>
              </a:rPr>
              <a:t>IMU Data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1476975-F9BF-9C32-4B06-F4F20F5DDE64}"/>
              </a:ext>
            </a:extLst>
          </p:cNvPr>
          <p:cNvSpPr txBox="1"/>
          <p:nvPr/>
        </p:nvSpPr>
        <p:spPr>
          <a:xfrm>
            <a:off x="3549075" y="3480524"/>
            <a:ext cx="93807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 dirty="0">
                <a:solidFill>
                  <a:srgbClr val="73B82B"/>
                </a:solidFill>
              </a:rPr>
              <a:t>Current position (</a:t>
            </a:r>
            <a:r>
              <a:rPr lang="en-GB" sz="600" dirty="0" err="1">
                <a:solidFill>
                  <a:srgbClr val="73B82B"/>
                </a:solidFill>
              </a:rPr>
              <a:t>x,y</a:t>
            </a:r>
            <a:r>
              <a:rPr lang="en-GB" sz="600" dirty="0">
                <a:solidFill>
                  <a:srgbClr val="73B82B"/>
                </a:solidFill>
              </a:rPr>
              <a:t>,</a:t>
            </a:r>
            <a:r>
              <a:rPr lang="el-GR" sz="600" dirty="0">
                <a:solidFill>
                  <a:srgbClr val="73B82B"/>
                </a:solidFill>
              </a:rPr>
              <a:t>θ)</a:t>
            </a:r>
            <a:endParaRPr lang="en-GB" sz="600" dirty="0">
              <a:solidFill>
                <a:srgbClr val="73B82B"/>
              </a:solidFill>
            </a:endParaRPr>
          </a:p>
        </p:txBody>
      </p: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305D7575-3655-58B1-8D7E-9218C5961909}"/>
              </a:ext>
            </a:extLst>
          </p:cNvPr>
          <p:cNvCxnSpPr>
            <a:cxnSpLocks/>
            <a:stCxn id="75" idx="2"/>
            <a:endCxn id="27" idx="1"/>
          </p:cNvCxnSpPr>
          <p:nvPr/>
        </p:nvCxnSpPr>
        <p:spPr>
          <a:xfrm rot="16200000" flipH="1">
            <a:off x="4326416" y="1107206"/>
            <a:ext cx="525755" cy="5110349"/>
          </a:xfrm>
          <a:prstGeom prst="bentConnector2">
            <a:avLst/>
          </a:prstGeom>
          <a:ln w="95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93BA7CAE-314D-60E5-9E31-C98E717E123B}"/>
              </a:ext>
            </a:extLst>
          </p:cNvPr>
          <p:cNvSpPr txBox="1"/>
          <p:nvPr/>
        </p:nvSpPr>
        <p:spPr>
          <a:xfrm>
            <a:off x="1930330" y="3611836"/>
            <a:ext cx="979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dirty="0">
                <a:solidFill>
                  <a:srgbClr val="73B82B"/>
                </a:solidFill>
              </a:rPr>
              <a:t>2D Lidar </a:t>
            </a:r>
          </a:p>
          <a:p>
            <a:pPr algn="ctr"/>
            <a:r>
              <a:rPr lang="en-GB" sz="600" dirty="0">
                <a:solidFill>
                  <a:srgbClr val="73B82B"/>
                </a:solidFill>
              </a:rPr>
              <a:t>(distance and angle)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B386299-F969-8EB2-49E0-FBFE83790DA0}"/>
              </a:ext>
            </a:extLst>
          </p:cNvPr>
          <p:cNvSpPr txBox="1"/>
          <p:nvPr/>
        </p:nvSpPr>
        <p:spPr>
          <a:xfrm>
            <a:off x="3063697" y="1325040"/>
            <a:ext cx="1093249" cy="307777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solidFill>
                  <a:schemeClr val="tx1">
                    <a:lumMod val="50000"/>
                  </a:schemeClr>
                </a:solidFill>
              </a:rPr>
              <a:t>AT8236</a:t>
            </a:r>
          </a:p>
          <a:p>
            <a:pPr algn="ctr"/>
            <a:r>
              <a:rPr lang="en-GB" sz="700" dirty="0">
                <a:solidFill>
                  <a:schemeClr val="tx1">
                    <a:lumMod val="50000"/>
                  </a:schemeClr>
                </a:solidFill>
              </a:rPr>
              <a:t>Motor Driver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3C4D4847-5B37-5B9F-DB3D-020BB31463AB}"/>
              </a:ext>
            </a:extLst>
          </p:cNvPr>
          <p:cNvCxnSpPr>
            <a:cxnSpLocks/>
            <a:stCxn id="109" idx="2"/>
            <a:endCxn id="6" idx="0"/>
          </p:cNvCxnSpPr>
          <p:nvPr/>
        </p:nvCxnSpPr>
        <p:spPr>
          <a:xfrm>
            <a:off x="3610322" y="1632817"/>
            <a:ext cx="3" cy="518589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B1D0EF51-2AC9-04EF-BF10-22431F5AB044}"/>
              </a:ext>
            </a:extLst>
          </p:cNvPr>
          <p:cNvSpPr txBox="1"/>
          <p:nvPr/>
        </p:nvSpPr>
        <p:spPr>
          <a:xfrm>
            <a:off x="3560415" y="1728082"/>
            <a:ext cx="35939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 dirty="0">
                <a:solidFill>
                  <a:srgbClr val="73B82B"/>
                </a:solidFill>
              </a:rPr>
              <a:t>PWM</a:t>
            </a:r>
          </a:p>
        </p:txBody>
      </p: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29F8AD65-3C12-CDCB-77BA-DB6277D92D01}"/>
              </a:ext>
            </a:extLst>
          </p:cNvPr>
          <p:cNvCxnSpPr>
            <a:cxnSpLocks/>
            <a:stCxn id="109" idx="1"/>
          </p:cNvCxnSpPr>
          <p:nvPr/>
        </p:nvCxnSpPr>
        <p:spPr>
          <a:xfrm rot="10800000" flipV="1">
            <a:off x="2308019" y="1478928"/>
            <a:ext cx="755678" cy="1407067"/>
          </a:xfrm>
          <a:prstGeom prst="bentConnector2">
            <a:avLst/>
          </a:prstGeom>
          <a:ln w="95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A59611DC-4BA3-C0C0-8D48-51441A97E073}"/>
              </a:ext>
            </a:extLst>
          </p:cNvPr>
          <p:cNvSpPr txBox="1"/>
          <p:nvPr/>
        </p:nvSpPr>
        <p:spPr>
          <a:xfrm>
            <a:off x="2259127" y="2251430"/>
            <a:ext cx="6719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 dirty="0">
                <a:solidFill>
                  <a:srgbClr val="73B82B"/>
                </a:solidFill>
              </a:rPr>
              <a:t>Motor Encoder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4283CD1-52C5-CE92-CED7-994A7D2B1522}"/>
              </a:ext>
            </a:extLst>
          </p:cNvPr>
          <p:cNvSpPr txBox="1"/>
          <p:nvPr/>
        </p:nvSpPr>
        <p:spPr>
          <a:xfrm>
            <a:off x="510612" y="2989416"/>
            <a:ext cx="584264" cy="307777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solidFill>
                  <a:schemeClr val="tx1">
                    <a:lumMod val="50000"/>
                  </a:schemeClr>
                </a:solidFill>
              </a:rPr>
              <a:t>MPU6500</a:t>
            </a:r>
          </a:p>
          <a:p>
            <a:pPr algn="ctr"/>
            <a:r>
              <a:rPr lang="en-GB" sz="700" dirty="0">
                <a:solidFill>
                  <a:schemeClr val="tx1">
                    <a:lumMod val="50000"/>
                  </a:schemeClr>
                </a:solidFill>
              </a:rPr>
              <a:t>IMU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EC94B2B-3345-1B97-59C4-E3D4A6638E9D}"/>
              </a:ext>
            </a:extLst>
          </p:cNvPr>
          <p:cNvSpPr txBox="1"/>
          <p:nvPr/>
        </p:nvSpPr>
        <p:spPr>
          <a:xfrm>
            <a:off x="510612" y="2424737"/>
            <a:ext cx="584264" cy="307777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solidFill>
                  <a:schemeClr val="tx1">
                    <a:lumMod val="50000"/>
                  </a:schemeClr>
                </a:solidFill>
              </a:rPr>
              <a:t>RPLIDAR C1</a:t>
            </a:r>
            <a:endParaRPr lang="en-GB" sz="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28" name="Elbow Connector 127">
            <a:extLst>
              <a:ext uri="{FF2B5EF4-FFF2-40B4-BE49-F238E27FC236}">
                <a16:creationId xmlns:a16="http://schemas.microsoft.com/office/drawing/2014/main" id="{140B92E3-F74E-2AA0-7FC8-6917E3DEA429}"/>
              </a:ext>
            </a:extLst>
          </p:cNvPr>
          <p:cNvCxnSpPr>
            <a:cxnSpLocks/>
            <a:stCxn id="124" idx="3"/>
          </p:cNvCxnSpPr>
          <p:nvPr/>
        </p:nvCxnSpPr>
        <p:spPr>
          <a:xfrm>
            <a:off x="1094876" y="2578626"/>
            <a:ext cx="707208" cy="304189"/>
          </a:xfrm>
          <a:prstGeom prst="bentConnector3">
            <a:avLst>
              <a:gd name="adj1" fmla="val 100103"/>
            </a:avLst>
          </a:prstGeom>
          <a:ln w="95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C5A7509-9385-73FC-1A38-58444B80221D}"/>
              </a:ext>
            </a:extLst>
          </p:cNvPr>
          <p:cNvCxnSpPr>
            <a:cxnSpLocks/>
            <a:stCxn id="123" idx="3"/>
            <a:endCxn id="75" idx="1"/>
          </p:cNvCxnSpPr>
          <p:nvPr/>
        </p:nvCxnSpPr>
        <p:spPr>
          <a:xfrm flipV="1">
            <a:off x="1094876" y="3142074"/>
            <a:ext cx="521626" cy="1231"/>
          </a:xfrm>
          <a:prstGeom prst="straightConnector1">
            <a:avLst/>
          </a:prstGeom>
          <a:ln w="95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8E263C43-2EE7-198E-8412-4A800BEDE2C5}"/>
              </a:ext>
            </a:extLst>
          </p:cNvPr>
          <p:cNvSpPr txBox="1"/>
          <p:nvPr/>
        </p:nvSpPr>
        <p:spPr>
          <a:xfrm>
            <a:off x="1359666" y="2317840"/>
            <a:ext cx="910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dirty="0">
                <a:solidFill>
                  <a:srgbClr val="73B82B"/>
                </a:solidFill>
              </a:rPr>
              <a:t>UART: 2D Lidar </a:t>
            </a:r>
          </a:p>
          <a:p>
            <a:pPr algn="ctr"/>
            <a:r>
              <a:rPr lang="en-GB" sz="600" dirty="0">
                <a:solidFill>
                  <a:srgbClr val="73B82B"/>
                </a:solidFill>
              </a:rPr>
              <a:t>(distance and angle)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6C89D59-0496-FE17-E3ED-620132F1D2AF}"/>
              </a:ext>
            </a:extLst>
          </p:cNvPr>
          <p:cNvSpPr txBox="1"/>
          <p:nvPr/>
        </p:nvSpPr>
        <p:spPr>
          <a:xfrm>
            <a:off x="1004875" y="3138929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" dirty="0">
                <a:solidFill>
                  <a:srgbClr val="73B82B"/>
                </a:solidFill>
              </a:rPr>
              <a:t>I2C/SPI:</a:t>
            </a:r>
          </a:p>
          <a:p>
            <a:pPr algn="ctr"/>
            <a:r>
              <a:rPr lang="en-GB" sz="600" dirty="0">
                <a:solidFill>
                  <a:srgbClr val="73B82B"/>
                </a:solidFill>
              </a:rPr>
              <a:t>IMU Data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C1BD873-683B-91AB-B1BC-AC8B0ADDA501}"/>
              </a:ext>
            </a:extLst>
          </p:cNvPr>
          <p:cNvSpPr txBox="1"/>
          <p:nvPr/>
        </p:nvSpPr>
        <p:spPr>
          <a:xfrm>
            <a:off x="2729663" y="4597239"/>
            <a:ext cx="36846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dirty="0">
                <a:solidFill>
                  <a:schemeClr val="tx1">
                    <a:lumMod val="50000"/>
                  </a:schemeClr>
                </a:solidFill>
              </a:rPr>
              <a:t>Figure 3. Overview of the firmware and software architecture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CED18B5-4896-CDB5-50F8-A54D47B138BD}"/>
              </a:ext>
            </a:extLst>
          </p:cNvPr>
          <p:cNvSpPr txBox="1"/>
          <p:nvPr/>
        </p:nvSpPr>
        <p:spPr>
          <a:xfrm>
            <a:off x="1388662" y="3979114"/>
            <a:ext cx="534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50000"/>
                  </a:schemeClr>
                </a:solidFill>
              </a:rPr>
              <a:t>MCU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0940824-6FE8-0F27-5B43-9BDFA919E826}"/>
              </a:ext>
            </a:extLst>
          </p:cNvPr>
          <p:cNvSpPr txBox="1"/>
          <p:nvPr/>
        </p:nvSpPr>
        <p:spPr>
          <a:xfrm>
            <a:off x="6626228" y="3984092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50000"/>
                  </a:schemeClr>
                </a:solidFill>
              </a:rPr>
              <a:t>PC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57E571A-435D-4634-EC15-E5421042C6FF}"/>
              </a:ext>
            </a:extLst>
          </p:cNvPr>
          <p:cNvSpPr txBox="1"/>
          <p:nvPr/>
        </p:nvSpPr>
        <p:spPr>
          <a:xfrm>
            <a:off x="1379138" y="1659607"/>
            <a:ext cx="845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EC008C"/>
                </a:solidFill>
              </a:rPr>
              <a:t>Firmware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673C2F7-9D7B-9237-54B0-EC3EDA229719}"/>
              </a:ext>
            </a:extLst>
          </p:cNvPr>
          <p:cNvSpPr txBox="1"/>
          <p:nvPr/>
        </p:nvSpPr>
        <p:spPr>
          <a:xfrm>
            <a:off x="6601148" y="1659607"/>
            <a:ext cx="845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EC008C"/>
                </a:solidFill>
              </a:rPr>
              <a:t>Software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581F9AD-2C15-0D33-8657-66CC3ECEC728}"/>
              </a:ext>
            </a:extLst>
          </p:cNvPr>
          <p:cNvSpPr/>
          <p:nvPr/>
        </p:nvSpPr>
        <p:spPr>
          <a:xfrm>
            <a:off x="4858123" y="2102884"/>
            <a:ext cx="1373292" cy="1922404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DE20368-B6FD-7AE9-EEE9-A78C24BC15D3}"/>
              </a:ext>
            </a:extLst>
          </p:cNvPr>
          <p:cNvSpPr txBox="1"/>
          <p:nvPr/>
        </p:nvSpPr>
        <p:spPr>
          <a:xfrm>
            <a:off x="5118789" y="1874401"/>
            <a:ext cx="8458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accent4"/>
                </a:solidFill>
              </a:rPr>
              <a:t>Bluetooth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326903E-2A88-24C4-A6A7-75E02AE3E235}"/>
              </a:ext>
            </a:extLst>
          </p:cNvPr>
          <p:cNvSpPr txBox="1"/>
          <p:nvPr/>
        </p:nvSpPr>
        <p:spPr>
          <a:xfrm>
            <a:off x="6374210" y="2197696"/>
            <a:ext cx="26481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 dirty="0">
                <a:solidFill>
                  <a:schemeClr val="accent4"/>
                </a:solidFill>
              </a:rPr>
              <a:t>TX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505E47-6792-7FE4-F45F-53B8437E877C}"/>
              </a:ext>
            </a:extLst>
          </p:cNvPr>
          <p:cNvSpPr txBox="1"/>
          <p:nvPr/>
        </p:nvSpPr>
        <p:spPr>
          <a:xfrm>
            <a:off x="4416007" y="2196457"/>
            <a:ext cx="28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>
                <a:solidFill>
                  <a:schemeClr val="accent4"/>
                </a:solidFill>
              </a:rPr>
              <a:t>RX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6E0B67B-5CF6-22D6-B2B0-0C75743E814D}"/>
              </a:ext>
            </a:extLst>
          </p:cNvPr>
          <p:cNvSpPr txBox="1"/>
          <p:nvPr/>
        </p:nvSpPr>
        <p:spPr>
          <a:xfrm>
            <a:off x="4425286" y="3700143"/>
            <a:ext cx="26481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 dirty="0">
                <a:solidFill>
                  <a:schemeClr val="accent4"/>
                </a:solidFill>
              </a:rPr>
              <a:t>TX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DCDDF215-5FF7-C0C9-CCCF-78118D78D795}"/>
              </a:ext>
            </a:extLst>
          </p:cNvPr>
          <p:cNvSpPr txBox="1"/>
          <p:nvPr/>
        </p:nvSpPr>
        <p:spPr>
          <a:xfrm>
            <a:off x="6372663" y="3702770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 dirty="0">
                <a:solidFill>
                  <a:schemeClr val="accent4"/>
                </a:solidFill>
              </a:rPr>
              <a:t>RX</a:t>
            </a:r>
          </a:p>
        </p:txBody>
      </p:sp>
    </p:spTree>
    <p:extLst>
      <p:ext uri="{BB962C8B-B14F-4D97-AF65-F5344CB8AC3E}">
        <p14:creationId xmlns:p14="http://schemas.microsoft.com/office/powerpoint/2010/main" val="4293102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A6F4B-CC88-E55A-70A6-69C2A756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C9854A-4891-1375-AC9B-F9407F08F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&amp; Build 2025: </a:t>
            </a:r>
            <a:r>
              <a:rPr lang="en-GB" dirty="0">
                <a:solidFill>
                  <a:srgbClr val="EC008C"/>
                </a:solidFill>
              </a:rPr>
              <a:t>Project Overview</a:t>
            </a:r>
            <a:br>
              <a:rPr lang="en-GB" dirty="0">
                <a:solidFill>
                  <a:srgbClr val="EC008C"/>
                </a:solidFill>
              </a:rPr>
            </a:b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8AF9D-AA27-BD0B-F9F6-AEF4E723E813}"/>
              </a:ext>
            </a:extLst>
          </p:cNvPr>
          <p:cNvSpPr txBox="1"/>
          <p:nvPr/>
        </p:nvSpPr>
        <p:spPr>
          <a:xfrm>
            <a:off x="125729" y="3743884"/>
            <a:ext cx="5144917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References:</a:t>
            </a:r>
          </a:p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https://github.com/stm32duino/Arduino_Core_STM32/wiki/Getting-Started</a:t>
            </a:r>
          </a:p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https://github.com/Slamtec/rplidar_sdk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 https://github.com/DanielKalicki/RPLidar_Arduino/tree/main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900" u="sng" dirty="0"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 https://github.com/farooqueesamiya/Odometry-and-Position-Estimation-for-Mobile-Robot</a:t>
            </a:r>
            <a:endParaRPr lang="en-GB" sz="9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 https://youtu.be/dTGITLnYAY0?si=K3ijiWW-yeb7LXuf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[6] </a:t>
            </a:r>
            <a:r>
              <a:rPr lang="en-GB" sz="900" u="sng" dirty="0">
                <a:latin typeface="Arial" panose="020B0604020202020204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https://github.com/simondlevy/BreezySLAM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[7] </a:t>
            </a:r>
            <a:r>
              <a:rPr lang="en-GB" sz="900" u="sng" dirty="0">
                <a:latin typeface="Arial" panose="020B0604020202020204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https://github.com/simondlevy/PyRoboViz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GB" sz="900" u="sng" dirty="0">
                <a:latin typeface="Arial" panose="020B0604020202020204" pitchFamily="34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 https://github.com/AtsushiSakai/PythonRobotics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743C8E-AD86-974F-DC29-824B0979ED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2831" y="4176803"/>
            <a:ext cx="1001253" cy="9052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AB7142-2844-42B4-6BB0-93D619B781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7498" y="4170905"/>
            <a:ext cx="972416" cy="89014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0347F2-0601-CBF1-25B2-8F5E01BFAD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5969" y="4176804"/>
            <a:ext cx="920584" cy="9052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CBE6DC-DF67-28CA-F96F-769F54DEF8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1100" b="1" dirty="0"/>
              <a:t>Software Team: Host PC Software Development</a:t>
            </a:r>
          </a:p>
          <a:p>
            <a:pPr lvl="1"/>
            <a:r>
              <a:rPr lang="en-GB" sz="1000" dirty="0"/>
              <a:t>Develop the high-level control system for the robot using Python includes computing navigation waypoint </a:t>
            </a:r>
            <a:r>
              <a:rPr lang="en-GB" sz="1000" dirty="0">
                <a:solidFill>
                  <a:srgbClr val="EC008C"/>
                </a:solidFill>
              </a:rPr>
              <a:t>(target positions)</a:t>
            </a:r>
            <a:r>
              <a:rPr lang="en-GB" sz="1000" dirty="0"/>
              <a:t> for autonomous exploration, SLAM map construction, and path planning between two points.</a:t>
            </a:r>
          </a:p>
          <a:p>
            <a:pPr lvl="1"/>
            <a:r>
              <a:rPr lang="en-GB" sz="1000" dirty="0">
                <a:solidFill>
                  <a:srgbClr val="1C3D74"/>
                </a:solidFill>
              </a:rPr>
              <a:t>Setup </a:t>
            </a:r>
            <a:r>
              <a:rPr lang="en-GB" sz="1000" dirty="0" err="1">
                <a:solidFill>
                  <a:srgbClr val="EC008C"/>
                </a:solidFill>
              </a:rPr>
              <a:t>BreezySLAM</a:t>
            </a:r>
            <a:r>
              <a:rPr lang="en-GB" sz="1000" dirty="0">
                <a:solidFill>
                  <a:srgbClr val="EC008C"/>
                </a:solidFill>
              </a:rPr>
              <a:t> [6]</a:t>
            </a:r>
            <a:r>
              <a:rPr lang="en-GB" sz="1000" dirty="0">
                <a:solidFill>
                  <a:srgbClr val="1C3D74"/>
                </a:solidFill>
              </a:rPr>
              <a:t> and </a:t>
            </a:r>
            <a:r>
              <a:rPr lang="en-GB" sz="1000" dirty="0" err="1">
                <a:solidFill>
                  <a:srgbClr val="EC008C"/>
                </a:solidFill>
              </a:rPr>
              <a:t>PyRoboViz</a:t>
            </a:r>
            <a:r>
              <a:rPr lang="en-GB" sz="1000" dirty="0">
                <a:solidFill>
                  <a:srgbClr val="EC008C"/>
                </a:solidFill>
              </a:rPr>
              <a:t> [7] </a:t>
            </a:r>
            <a:r>
              <a:rPr lang="en-GB" sz="1000" dirty="0">
                <a:solidFill>
                  <a:srgbClr val="1C3D74"/>
                </a:solidFill>
              </a:rPr>
              <a:t>to explore SLAM mapping and localization in a simulated environment, and use this framework to support the software development.</a:t>
            </a:r>
          </a:p>
          <a:p>
            <a:pPr lvl="1"/>
            <a:r>
              <a:rPr lang="en-GB" sz="1000" dirty="0"/>
              <a:t>Autonomous navigation, e.g. frontier detection, for mapping an unknown maze and locate the Exit point. This will generate a series of </a:t>
            </a:r>
            <a:r>
              <a:rPr lang="en-GB" sz="1000" dirty="0">
                <a:solidFill>
                  <a:srgbClr val="EC008C"/>
                </a:solidFill>
              </a:rPr>
              <a:t>target positions (</a:t>
            </a:r>
            <a:r>
              <a:rPr lang="en-GB" sz="1000" dirty="0" err="1">
                <a:solidFill>
                  <a:srgbClr val="EC008C"/>
                </a:solidFill>
              </a:rPr>
              <a:t>x,y</a:t>
            </a:r>
            <a:r>
              <a:rPr lang="en-GB" sz="1000" dirty="0">
                <a:solidFill>
                  <a:srgbClr val="EC008C"/>
                </a:solidFill>
              </a:rPr>
              <a:t>,</a:t>
            </a:r>
            <a:r>
              <a:rPr lang="el-GR" sz="1000" dirty="0">
                <a:solidFill>
                  <a:srgbClr val="EC008C"/>
                </a:solidFill>
              </a:rPr>
              <a:t>θ) </a:t>
            </a:r>
            <a:r>
              <a:rPr lang="en-GB" sz="1000" dirty="0"/>
              <a:t>to be executed by the firmware.</a:t>
            </a:r>
            <a:endParaRPr lang="en-GB" sz="1000" dirty="0">
              <a:solidFill>
                <a:srgbClr val="1C3D74"/>
              </a:solidFill>
            </a:endParaRPr>
          </a:p>
          <a:p>
            <a:pPr lvl="1"/>
            <a:r>
              <a:rPr lang="en-GB" sz="1000" dirty="0"/>
              <a:t>SLAM map construction and visualisation using data received from the firmware, specifically the </a:t>
            </a:r>
            <a:r>
              <a:rPr lang="en-GB" sz="1000" dirty="0">
                <a:solidFill>
                  <a:srgbClr val="EC008C"/>
                </a:solidFill>
              </a:rPr>
              <a:t>current position (</a:t>
            </a:r>
            <a:r>
              <a:rPr lang="en-GB" sz="1000" dirty="0" err="1">
                <a:solidFill>
                  <a:srgbClr val="EC008C"/>
                </a:solidFill>
              </a:rPr>
              <a:t>x,y</a:t>
            </a:r>
            <a:r>
              <a:rPr lang="en-GB" sz="1000" dirty="0">
                <a:solidFill>
                  <a:srgbClr val="EC008C"/>
                </a:solidFill>
              </a:rPr>
              <a:t>,</a:t>
            </a:r>
            <a:r>
              <a:rPr lang="el-GR" sz="1000" dirty="0">
                <a:solidFill>
                  <a:srgbClr val="EC008C"/>
                </a:solidFill>
              </a:rPr>
              <a:t>θ) </a:t>
            </a:r>
            <a:r>
              <a:rPr lang="en-GB" sz="1000" dirty="0"/>
              <a:t>and 2D LiDAR scans.</a:t>
            </a:r>
            <a:endParaRPr lang="en-GB" sz="1000" dirty="0">
              <a:solidFill>
                <a:srgbClr val="1C3D74"/>
              </a:solidFill>
            </a:endParaRPr>
          </a:p>
          <a:p>
            <a:pPr lvl="1"/>
            <a:r>
              <a:rPr lang="en-GB" sz="1000" dirty="0"/>
              <a:t>Path planning algorithm e.g., A*, Dynamic Window Approach (DWA), for navigation from the Exit point back to the Starting position, using references and algorithms from </a:t>
            </a:r>
            <a:r>
              <a:rPr lang="en-GB" sz="1000" dirty="0" err="1">
                <a:solidFill>
                  <a:srgbClr val="EC008C"/>
                </a:solidFill>
              </a:rPr>
              <a:t>PythonRobotics</a:t>
            </a:r>
            <a:r>
              <a:rPr lang="en-GB" sz="1000" dirty="0">
                <a:solidFill>
                  <a:srgbClr val="EC008C"/>
                </a:solidFill>
              </a:rPr>
              <a:t> [8].</a:t>
            </a:r>
          </a:p>
          <a:p>
            <a:pPr lvl="1"/>
            <a:endParaRPr lang="en-GB" sz="1100" dirty="0"/>
          </a:p>
          <a:p>
            <a:pPr lvl="1"/>
            <a:endParaRPr lang="en-GB" sz="1100" dirty="0"/>
          </a:p>
          <a:p>
            <a:pPr lvl="1"/>
            <a:endParaRPr lang="en-GB" sz="1100" dirty="0"/>
          </a:p>
          <a:p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796D78C3-4498-C044-E03A-AD9D0A0933A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1100" b="1" dirty="0"/>
                  <a:t>Hardware Team: Firmware Development</a:t>
                </a:r>
              </a:p>
              <a:p>
                <a:pPr lvl="1"/>
                <a:r>
                  <a:rPr lang="en-GB" sz="1000" dirty="0"/>
                  <a:t>Develop the low-level control system for hardware interfacing, sensor data acquisition, motor control, position estimation, and communication with the host PC.</a:t>
                </a:r>
                <a:endParaRPr lang="en-US" sz="1000" dirty="0"/>
              </a:p>
              <a:p>
                <a:pPr lvl="1"/>
                <a:r>
                  <a:rPr lang="en-GB" sz="1000" dirty="0"/>
                  <a:t>Setup Arduino framework with the STM32F446RE </a:t>
                </a:r>
                <a:r>
                  <a:rPr lang="en-GB" sz="1000" dirty="0">
                    <a:solidFill>
                      <a:srgbClr val="EC008C"/>
                    </a:solidFill>
                  </a:rPr>
                  <a:t>[1] </a:t>
                </a:r>
                <a:r>
                  <a:rPr lang="en-GB" sz="1000" dirty="0"/>
                  <a:t>for the firmware development.</a:t>
                </a:r>
                <a:endParaRPr lang="en-GB" sz="1000" dirty="0">
                  <a:solidFill>
                    <a:srgbClr val="EC008C"/>
                  </a:solidFill>
                </a:endParaRPr>
              </a:p>
              <a:p>
                <a:pPr lvl="1"/>
                <a:r>
                  <a:rPr lang="en-GB" sz="1000" dirty="0"/>
                  <a:t>Sensor data acquisition i.e. 2D LiDAR </a:t>
                </a:r>
                <a:r>
                  <a:rPr lang="en-GB" sz="1000" dirty="0">
                    <a:solidFill>
                      <a:srgbClr val="EC008C"/>
                    </a:solidFill>
                  </a:rPr>
                  <a:t>[2][3]</a:t>
                </a:r>
                <a:r>
                  <a:rPr lang="en-GB" sz="1000" dirty="0"/>
                  <a:t>, MPU6500 and motor encoder </a:t>
                </a:r>
                <a:r>
                  <a:rPr lang="en-GB" sz="1000" dirty="0">
                    <a:solidFill>
                      <a:srgbClr val="EC008C"/>
                    </a:solidFill>
                  </a:rPr>
                  <a:t>[4][5]</a:t>
                </a:r>
              </a:p>
              <a:p>
                <a:pPr lvl="1"/>
                <a:r>
                  <a:rPr lang="en-GB" sz="1000" dirty="0"/>
                  <a:t>Compute odometry and position estimation </a:t>
                </a:r>
                <a:r>
                  <a:rPr lang="en-GB" sz="1000" dirty="0">
                    <a:solidFill>
                      <a:srgbClr val="EC008C"/>
                    </a:solidFill>
                  </a:rPr>
                  <a:t>[4]</a:t>
                </a:r>
                <a:r>
                  <a:rPr lang="en-GB" sz="1000" dirty="0"/>
                  <a:t> of the robot’s </a:t>
                </a:r>
                <a:r>
                  <a:rPr lang="en-GB" sz="1000" dirty="0">
                    <a:solidFill>
                      <a:srgbClr val="EC008C"/>
                    </a:solidFill>
                  </a:rPr>
                  <a:t>current position (</a:t>
                </a:r>
                <a:r>
                  <a:rPr lang="en-GB" sz="1000" dirty="0" err="1">
                    <a:solidFill>
                      <a:srgbClr val="EC008C"/>
                    </a:solidFill>
                  </a:rPr>
                  <a:t>x,y</a:t>
                </a:r>
                <a:r>
                  <a:rPr lang="en-GB" sz="1000" dirty="0">
                    <a:solidFill>
                      <a:srgbClr val="EC008C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000" smtClean="0">
                        <a:solidFill>
                          <a:srgbClr val="EC008C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GB" sz="1000" dirty="0">
                    <a:solidFill>
                      <a:srgbClr val="EC008C"/>
                    </a:solidFill>
                  </a:rPr>
                  <a:t>)</a:t>
                </a:r>
              </a:p>
              <a:p>
                <a:pPr lvl="1"/>
                <a:r>
                  <a:rPr lang="en-GB" sz="1000" dirty="0"/>
                  <a:t>Control motor with PID algorithm </a:t>
                </a:r>
                <a:r>
                  <a:rPr lang="en-GB" sz="1000" dirty="0">
                    <a:solidFill>
                      <a:srgbClr val="EC008C"/>
                    </a:solidFill>
                  </a:rPr>
                  <a:t>[4][5]</a:t>
                </a:r>
                <a:r>
                  <a:rPr lang="en-GB" sz="1000" dirty="0"/>
                  <a:t> to navigate the robot to a </a:t>
                </a:r>
                <a:r>
                  <a:rPr lang="en-GB" sz="1000" dirty="0">
                    <a:solidFill>
                      <a:srgbClr val="EC008C"/>
                    </a:solidFill>
                  </a:rPr>
                  <a:t>target position (</a:t>
                </a:r>
                <a:r>
                  <a:rPr lang="en-GB" sz="1000" dirty="0" err="1">
                    <a:solidFill>
                      <a:srgbClr val="EC008C"/>
                    </a:solidFill>
                  </a:rPr>
                  <a:t>x,y</a:t>
                </a:r>
                <a:r>
                  <a:rPr lang="en-GB" sz="1000" dirty="0">
                    <a:solidFill>
                      <a:srgbClr val="EC008C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000">
                        <a:solidFill>
                          <a:srgbClr val="EC008C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GB" sz="1000" dirty="0">
                    <a:solidFill>
                      <a:srgbClr val="EC008C"/>
                    </a:solidFill>
                  </a:rPr>
                  <a:t>)</a:t>
                </a:r>
              </a:p>
              <a:p>
                <a:pPr lvl="1"/>
                <a:r>
                  <a:rPr lang="en-GB" sz="1000" dirty="0"/>
                  <a:t>Transmit sensor data (current position and 2D LiDAR) to the host PC and receive navigation waypoint commands (target positions) via Bluetooth communication.</a:t>
                </a:r>
              </a:p>
            </p:txBody>
          </p:sp>
        </mc:Choice>
        <mc:Fallback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796D78C3-4498-C044-E03A-AD9D0A093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13"/>
                <a:stretch>
                  <a:fillRect t="-6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660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A5CD-6264-716D-9097-9290B55A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A78E7E3-5D1B-616F-EBBA-8418E2269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/>
          <a:lstStyle/>
          <a:p>
            <a:r>
              <a:rPr lang="en-GB" dirty="0"/>
              <a:t>Design &amp; Build 2025: </a:t>
            </a:r>
            <a:r>
              <a:rPr lang="en-GB" dirty="0">
                <a:solidFill>
                  <a:srgbClr val="EC008C"/>
                </a:solidFill>
              </a:rPr>
              <a:t>Development Methodology</a:t>
            </a:r>
            <a:br>
              <a:rPr lang="en-GB" dirty="0"/>
            </a:b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8F2A63-CB7F-7E83-6C86-AA75E7E56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26" y="1039656"/>
            <a:ext cx="8591566" cy="3829205"/>
          </a:xfrm>
        </p:spPr>
        <p:txBody>
          <a:bodyPr>
            <a:normAutofit/>
          </a:bodyPr>
          <a:lstStyle/>
          <a:p>
            <a:r>
              <a:rPr lang="en-US" b="1" dirty="0"/>
              <a:t>Phase 1: Training</a:t>
            </a:r>
          </a:p>
          <a:p>
            <a:pPr lvl="1"/>
            <a:r>
              <a:rPr lang="en-US" dirty="0"/>
              <a:t>Students will be trained on their respective skills (hardware and software) separately, guided by experienced instructors.</a:t>
            </a:r>
          </a:p>
          <a:p>
            <a:pPr lvl="1"/>
            <a:r>
              <a:rPr lang="en-GB" dirty="0"/>
              <a:t>During this phase, the Hardware and Software teams of each group, initiate communication and begin to </a:t>
            </a:r>
            <a:r>
              <a:rPr lang="en-GB" dirty="0">
                <a:solidFill>
                  <a:srgbClr val="EC008C"/>
                </a:solidFill>
              </a:rPr>
              <a:t>conceive the overall system</a:t>
            </a:r>
            <a:r>
              <a:rPr lang="en-GB" dirty="0"/>
              <a:t>, including the logic of autonomous robot behaviour, expected data exchange between firmware and host PC software, and project specifications. This collaborative process results in a shared development plan that sets the foundation for implementation.</a:t>
            </a:r>
          </a:p>
          <a:p>
            <a:r>
              <a:rPr lang="en-US" b="1" dirty="0"/>
              <a:t>Phase 2: Project Development</a:t>
            </a:r>
          </a:p>
          <a:p>
            <a:pPr lvl="1"/>
            <a:r>
              <a:rPr lang="en-GB" dirty="0"/>
              <a:t>With the system concept clearly established, both Hardware and Software teams proceed to </a:t>
            </a:r>
            <a:r>
              <a:rPr lang="en-GB" dirty="0">
                <a:solidFill>
                  <a:srgbClr val="EC008C"/>
                </a:solidFill>
              </a:rPr>
              <a:t>design and develop </a:t>
            </a:r>
            <a:r>
              <a:rPr lang="en-GB" dirty="0"/>
              <a:t>their respective components in parallel:</a:t>
            </a:r>
          </a:p>
          <a:p>
            <a:pPr lvl="2"/>
            <a:r>
              <a:rPr lang="en-GB" dirty="0"/>
              <a:t>The Hardware team works with </a:t>
            </a:r>
            <a:r>
              <a:rPr lang="en-GB" dirty="0">
                <a:solidFill>
                  <a:srgbClr val="EC008C"/>
                </a:solidFill>
              </a:rPr>
              <a:t>target positions (</a:t>
            </a:r>
            <a:r>
              <a:rPr lang="en-GB" dirty="0" err="1">
                <a:solidFill>
                  <a:srgbClr val="EC008C"/>
                </a:solidFill>
              </a:rPr>
              <a:t>x,y</a:t>
            </a:r>
            <a:r>
              <a:rPr lang="en-GB" dirty="0">
                <a:solidFill>
                  <a:srgbClr val="EC008C"/>
                </a:solidFill>
              </a:rPr>
              <a:t>,</a:t>
            </a:r>
            <a:r>
              <a:rPr lang="el-GR" dirty="0">
                <a:solidFill>
                  <a:srgbClr val="EC008C"/>
                </a:solidFill>
              </a:rPr>
              <a:t>θ) </a:t>
            </a:r>
            <a:r>
              <a:rPr lang="en-GB" dirty="0"/>
              <a:t>manually sent via Bluetooth from a PC. The firmware controls the motors to reach the target, while acquiring sensor data, computing odometry and position estimates, and transmitting the </a:t>
            </a:r>
            <a:r>
              <a:rPr lang="en-GB" dirty="0">
                <a:solidFill>
                  <a:srgbClr val="EC008C"/>
                </a:solidFill>
              </a:rPr>
              <a:t>current position</a:t>
            </a:r>
            <a:r>
              <a:rPr lang="en-GB" dirty="0"/>
              <a:t> and </a:t>
            </a:r>
            <a:r>
              <a:rPr lang="en-GB" dirty="0">
                <a:solidFill>
                  <a:srgbClr val="EC008C"/>
                </a:solidFill>
              </a:rPr>
              <a:t>2D LiDAR </a:t>
            </a:r>
            <a:r>
              <a:rPr lang="en-GB" dirty="0"/>
              <a:t>data to the host PC.</a:t>
            </a:r>
          </a:p>
          <a:p>
            <a:pPr lvl="2"/>
            <a:r>
              <a:rPr lang="en-GB" dirty="0"/>
              <a:t>The Software team uses a simulation environment and open-source Python libraries to develop and test autonomous navigation. This includes simulating </a:t>
            </a:r>
            <a:r>
              <a:rPr lang="en-GB" dirty="0">
                <a:solidFill>
                  <a:srgbClr val="EC008C"/>
                </a:solidFill>
              </a:rPr>
              <a:t>2D LiDAR</a:t>
            </a:r>
            <a:r>
              <a:rPr lang="en-GB" dirty="0"/>
              <a:t> and </a:t>
            </a:r>
            <a:r>
              <a:rPr lang="en-GB" dirty="0">
                <a:solidFill>
                  <a:srgbClr val="EC008C"/>
                </a:solidFill>
              </a:rPr>
              <a:t>odometry</a:t>
            </a:r>
            <a:r>
              <a:rPr lang="en-GB" dirty="0"/>
              <a:t>, applying SLAM for map construction, visualising the robot’s pose and trajectory, and implementing path planning between two points based on the generated map.</a:t>
            </a:r>
          </a:p>
          <a:p>
            <a:pPr lvl="1"/>
            <a:r>
              <a:rPr lang="en-US" dirty="0"/>
              <a:t>Maintain ongoing collaboration and communication to ensure successful integration of both hardware and software components.</a:t>
            </a:r>
          </a:p>
          <a:p>
            <a:pPr lvl="1"/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2953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C320-3993-5CC3-6476-F26D8B68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5F2830-0A1C-6669-35E0-26F439048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&amp; Build 2025: </a:t>
            </a:r>
            <a:r>
              <a:rPr lang="en-GB" dirty="0">
                <a:solidFill>
                  <a:srgbClr val="EC008C"/>
                </a:solidFill>
              </a:rPr>
              <a:t>Development Methodology</a:t>
            </a:r>
            <a:br>
              <a:rPr lang="en-GB" dirty="0">
                <a:solidFill>
                  <a:srgbClr val="EC008C"/>
                </a:solidFill>
              </a:rPr>
            </a:br>
            <a:endParaRPr lang="en-GB" dirty="0">
              <a:solidFill>
                <a:srgbClr val="EC008C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15E354-E069-88CB-C9D9-369C30F70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Phase 3: System Integration and Evaluation</a:t>
            </a:r>
          </a:p>
          <a:p>
            <a:pPr lvl="1"/>
            <a:r>
              <a:rPr lang="en-GB" dirty="0"/>
              <a:t>This is the final development phase, which involves integrating the firmware and software to test, evaluate, and validate the complete robot system.</a:t>
            </a:r>
          </a:p>
          <a:p>
            <a:pPr lvl="1"/>
            <a:r>
              <a:rPr lang="en-GB" dirty="0"/>
              <a:t>The robot should autonomously explore an unknown maze, identify the Exit Point, and return to its Starting Position.</a:t>
            </a:r>
          </a:p>
          <a:p>
            <a:pPr lvl="1"/>
            <a:r>
              <a:rPr lang="en-GB" dirty="0"/>
              <a:t>Based on testing outcomes, further refine and enhance both hardware and software.</a:t>
            </a:r>
          </a:p>
          <a:p>
            <a:pPr lvl="1"/>
            <a:r>
              <a:rPr lang="en-GB" dirty="0"/>
              <a:t>Add new features and innovative solutions to advance the project.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Phase 4: Project Assessment and Competition</a:t>
            </a:r>
          </a:p>
          <a:p>
            <a:pPr lvl="1"/>
            <a:r>
              <a:rPr lang="en-GB" dirty="0">
                <a:solidFill>
                  <a:srgbClr val="EC008C"/>
                </a:solidFill>
              </a:rPr>
              <a:t>Project assessment </a:t>
            </a:r>
            <a:r>
              <a:rPr lang="en-GB" dirty="0"/>
              <a:t>is based on both the level of completion namely Basic, Intermediate, and Advanced, and the quality of work within each completed level and other deliverables namely </a:t>
            </a:r>
            <a:r>
              <a:rPr lang="en-GB" dirty="0">
                <a:solidFill>
                  <a:srgbClr val="EC008C"/>
                </a:solidFill>
              </a:rPr>
              <a:t>video, documentation and presentation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Groups that achieve Intermediate-level and Advanced-level completion will be eligible to participate in the </a:t>
            </a:r>
            <a:r>
              <a:rPr lang="en-GB" dirty="0">
                <a:solidFill>
                  <a:srgbClr val="EC008C"/>
                </a:solidFill>
              </a:rPr>
              <a:t>competition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The </a:t>
            </a:r>
            <a:r>
              <a:rPr lang="en-GB" dirty="0">
                <a:solidFill>
                  <a:srgbClr val="EC008C"/>
                </a:solidFill>
              </a:rPr>
              <a:t>combined scores </a:t>
            </a:r>
            <a:r>
              <a:rPr lang="en-GB" dirty="0"/>
              <a:t>from the project assessment and the competition will determine the </a:t>
            </a:r>
            <a:r>
              <a:rPr lang="en-GB" dirty="0">
                <a:solidFill>
                  <a:srgbClr val="EC008C"/>
                </a:solidFill>
              </a:rPr>
              <a:t>top three groups</a:t>
            </a:r>
            <a:r>
              <a:rPr lang="en-GB" dirty="0"/>
              <a:t>, who will receive </a:t>
            </a:r>
            <a:r>
              <a:rPr lang="en-GB" dirty="0">
                <a:solidFill>
                  <a:srgbClr val="EC008C"/>
                </a:solidFill>
              </a:rPr>
              <a:t>awards/recognition</a:t>
            </a:r>
            <a:r>
              <a:rPr lang="en-GB" dirty="0"/>
              <a:t>.</a:t>
            </a:r>
            <a:endParaRPr lang="en-US" b="1" dirty="0"/>
          </a:p>
          <a:p>
            <a:pPr lvl="1"/>
            <a:endParaRPr lang="en-GB" sz="65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088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DC4C-D56A-46D3-4458-D0B45EB33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463CDD-98E9-8276-FDA3-493A2693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/>
          <a:lstStyle/>
          <a:p>
            <a:r>
              <a:rPr lang="en-GB" dirty="0"/>
              <a:t>Design &amp; Build 2025: </a:t>
            </a:r>
            <a:r>
              <a:rPr lang="en-GB" dirty="0">
                <a:solidFill>
                  <a:srgbClr val="EC008C"/>
                </a:solidFill>
              </a:rPr>
              <a:t>Deliverables</a:t>
            </a:r>
            <a:br>
              <a:rPr lang="en-GB" dirty="0"/>
            </a:b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918EE-C9ED-DCF7-4BEC-E1185EFB7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26" y="1039656"/>
            <a:ext cx="8591566" cy="3829205"/>
          </a:xfrm>
        </p:spPr>
        <p:txBody>
          <a:bodyPr>
            <a:normAutofit/>
          </a:bodyPr>
          <a:lstStyle/>
          <a:p>
            <a:r>
              <a:rPr lang="en-US" b="1" dirty="0"/>
              <a:t>Promotion Video (Maximum 60 seconds)</a:t>
            </a:r>
          </a:p>
          <a:p>
            <a:pPr lvl="1"/>
            <a:r>
              <a:rPr lang="en-US" dirty="0"/>
              <a:t>Showcasing the capability of your robot at the achieved level of completion.</a:t>
            </a:r>
          </a:p>
          <a:p>
            <a:endParaRPr lang="en-US" dirty="0"/>
          </a:p>
          <a:p>
            <a:r>
              <a:rPr lang="en-US" b="1" dirty="0"/>
              <a:t>Project Report (PDF, Maximum 10 pages) and Codes in Zip</a:t>
            </a:r>
          </a:p>
          <a:p>
            <a:pPr lvl="1"/>
            <a:r>
              <a:rPr lang="en-US" dirty="0"/>
              <a:t>Covering the design and development of the firmware and the software.</a:t>
            </a:r>
          </a:p>
          <a:p>
            <a:pPr lvl="1"/>
            <a:r>
              <a:rPr lang="en-US" dirty="0"/>
              <a:t>Complete codes: Firmware (Arduino) and Software (Python)</a:t>
            </a:r>
          </a:p>
          <a:p>
            <a:pPr lvl="1"/>
            <a:endParaRPr lang="en-US" dirty="0"/>
          </a:p>
          <a:p>
            <a:r>
              <a:rPr lang="en-US" b="1" dirty="0"/>
              <a:t>Presentation and Live demo (Maximum 10 mins) </a:t>
            </a:r>
          </a:p>
          <a:p>
            <a:pPr lvl="1"/>
            <a:r>
              <a:rPr lang="en-US" dirty="0"/>
              <a:t>Present the key achievements and innovation</a:t>
            </a:r>
          </a:p>
          <a:p>
            <a:pPr lvl="1"/>
            <a:endParaRPr lang="en-US" dirty="0"/>
          </a:p>
          <a:p>
            <a:r>
              <a:rPr lang="en-US" b="1" dirty="0"/>
              <a:t>Important dates </a:t>
            </a:r>
            <a:r>
              <a:rPr lang="en-US" b="1" dirty="0">
                <a:solidFill>
                  <a:srgbClr val="EC008C"/>
                </a:solidFill>
              </a:rPr>
              <a:t>to be announced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707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DDC20-CD86-6A3F-CDBC-7A04B001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071ADC-51C7-8433-5AED-9ECCE3A9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/>
          <a:lstStyle/>
          <a:p>
            <a:r>
              <a:rPr lang="en-GB" dirty="0"/>
              <a:t>Design &amp; Build 2025: </a:t>
            </a:r>
            <a:r>
              <a:rPr lang="en-GB" dirty="0">
                <a:solidFill>
                  <a:srgbClr val="EC008C"/>
                </a:solidFill>
              </a:rPr>
              <a:t>Level of Completion</a:t>
            </a:r>
            <a:br>
              <a:rPr lang="en-GB" dirty="0"/>
            </a:b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E021C-3E2E-399F-43ED-C2A6DFE5A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85" y="1039580"/>
            <a:ext cx="2845889" cy="382920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2500"/>
          </a:bodyPr>
          <a:lstStyle/>
          <a:p>
            <a:pPr marL="185738" indent="-185738"/>
            <a:r>
              <a:rPr lang="en-GB" sz="1200" b="1" dirty="0"/>
              <a:t>Basic Level Completion – Fundamental Integration and Autonomous Operation</a:t>
            </a:r>
          </a:p>
          <a:p>
            <a:pPr marL="363538" lvl="1" indent="-177800"/>
            <a:r>
              <a:rPr lang="en-GB" dirty="0"/>
              <a:t>The robot successfully completes low-level control using PID for motion toward given target positions.</a:t>
            </a:r>
          </a:p>
          <a:p>
            <a:pPr marL="363538" lvl="1" indent="-177800"/>
            <a:r>
              <a:rPr lang="en-GB" dirty="0"/>
              <a:t>Firmware reliably computes odometry and current position (</a:t>
            </a:r>
            <a:r>
              <a:rPr lang="en-GB" dirty="0" err="1"/>
              <a:t>x,y</a:t>
            </a:r>
            <a:r>
              <a:rPr lang="en-GB" dirty="0"/>
              <a:t>,</a:t>
            </a:r>
            <a:r>
              <a:rPr lang="el-GR" dirty="0"/>
              <a:t>θ) </a:t>
            </a:r>
            <a:r>
              <a:rPr lang="en-GB" dirty="0"/>
              <a:t>and transmits 2D LiDAR and position data to the host PC via Bluetooth.</a:t>
            </a:r>
          </a:p>
          <a:p>
            <a:pPr marL="363538" lvl="1" indent="-177800"/>
            <a:r>
              <a:rPr lang="en-GB" dirty="0"/>
              <a:t>The system responds to navigation waypoint commands from the host PC.</a:t>
            </a:r>
          </a:p>
          <a:p>
            <a:pPr marL="363538" lvl="1" indent="-177800"/>
            <a:r>
              <a:rPr lang="en-GB" dirty="0"/>
              <a:t>Host PC software visualises robot movement and LIDAR data in real-time using </a:t>
            </a:r>
            <a:r>
              <a:rPr lang="en-GB" dirty="0" err="1"/>
              <a:t>PyRoboViz</a:t>
            </a:r>
            <a:r>
              <a:rPr lang="en-GB" dirty="0"/>
              <a:t>.</a:t>
            </a:r>
          </a:p>
          <a:p>
            <a:pPr marL="363538" lvl="1" indent="-177800"/>
            <a:r>
              <a:rPr lang="en-GB" dirty="0"/>
              <a:t>A simple autonomous navigation behaviour with dynamic obstacle avoidance is demonstrated.</a:t>
            </a:r>
          </a:p>
          <a:p>
            <a:pPr marL="363538" lvl="1" indent="-177800"/>
            <a:r>
              <a:rPr lang="en-GB" dirty="0"/>
              <a:t>SLAM or mapping is not included at this level.</a:t>
            </a:r>
          </a:p>
          <a:p>
            <a:pPr lvl="1"/>
            <a:endParaRPr lang="en-GB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78593429-A550-F7C3-9AC7-883965CA86C2}"/>
              </a:ext>
            </a:extLst>
          </p:cNvPr>
          <p:cNvSpPr txBox="1">
            <a:spLocks/>
          </p:cNvSpPr>
          <p:nvPr/>
        </p:nvSpPr>
        <p:spPr>
          <a:xfrm>
            <a:off x="3166471" y="1028173"/>
            <a:ext cx="2846333" cy="3840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3D7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1C3D7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rgbClr val="1C3D7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rgbClr val="1C3D7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rgbClr val="1C3D7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5738" indent="-185738"/>
            <a:r>
              <a:rPr lang="en-GB" sz="1100" b="1" dirty="0"/>
              <a:t>Intermediate Level Completion – Autonomous Exploration and Mapping</a:t>
            </a:r>
          </a:p>
          <a:p>
            <a:pPr marL="363538" lvl="1" indent="-177800"/>
            <a:r>
              <a:rPr lang="en-GB" sz="1100" dirty="0"/>
              <a:t>All Basic Level functionalities are complete and fully integrated.</a:t>
            </a:r>
          </a:p>
          <a:p>
            <a:pPr marL="363538" lvl="1" indent="-177800"/>
            <a:r>
              <a:rPr lang="en-GB" sz="1100" dirty="0"/>
              <a:t>The robot autonomously explores unknown environments using improved navigation logic (e.g., frontier-based exploration).</a:t>
            </a:r>
          </a:p>
          <a:p>
            <a:pPr marL="363538" lvl="1" indent="-177800"/>
            <a:r>
              <a:rPr lang="en-GB" sz="1100" dirty="0"/>
              <a:t>A dynamic SLAM map construction of the environment using </a:t>
            </a:r>
            <a:r>
              <a:rPr lang="en-GB" sz="1100" dirty="0" err="1"/>
              <a:t>BleezySLAM</a:t>
            </a:r>
            <a:r>
              <a:rPr lang="en-GB" sz="1100" dirty="0"/>
              <a:t>.</a:t>
            </a:r>
          </a:p>
          <a:p>
            <a:pPr marL="363538" lvl="1" indent="-177800"/>
            <a:r>
              <a:rPr lang="en-GB" sz="1100" dirty="0"/>
              <a:t>The host PC visualises both the evolving SLAM constructed map and real-time robot trajectory using </a:t>
            </a:r>
            <a:r>
              <a:rPr lang="en-GB" sz="1100" dirty="0" err="1"/>
              <a:t>PyRoboViz</a:t>
            </a:r>
            <a:r>
              <a:rPr lang="en-GB" sz="1100" dirty="0"/>
              <a:t>.</a:t>
            </a:r>
          </a:p>
          <a:p>
            <a:pPr marL="363538" lvl="1" indent="-177800"/>
            <a:r>
              <a:rPr lang="en-GB" sz="1100" dirty="0"/>
              <a:t>The software detects and marks the Exit Point within the map as part of its autonomous behaviour.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8135D1E-65B4-F049-1220-B76CC9D16D62}"/>
              </a:ext>
            </a:extLst>
          </p:cNvPr>
          <p:cNvSpPr txBox="1">
            <a:spLocks/>
          </p:cNvSpPr>
          <p:nvPr/>
        </p:nvSpPr>
        <p:spPr>
          <a:xfrm>
            <a:off x="6129501" y="1039657"/>
            <a:ext cx="2845889" cy="38290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3D7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1C3D7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rgbClr val="1C3D7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rgbClr val="1C3D7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rgbClr val="1C3D7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5738" indent="-185738"/>
            <a:r>
              <a:rPr lang="en-GB" sz="1100" b="1" dirty="0"/>
              <a:t>Advanced Level Completion – Return Navigation and Mission Completion</a:t>
            </a:r>
          </a:p>
          <a:p>
            <a:pPr marL="363538" lvl="1" indent="-177800"/>
            <a:r>
              <a:rPr lang="en-GB" sz="1100" dirty="0"/>
              <a:t>All Intermediate Level functionalities are successfully implemented and stable.</a:t>
            </a:r>
          </a:p>
          <a:p>
            <a:pPr marL="363538" lvl="1" indent="-177800"/>
            <a:r>
              <a:rPr lang="en-GB" sz="1100" dirty="0"/>
              <a:t>The robot plans and navigates a path from the Exit Point back to the Starting Position using a path planning algorithm (e.g., A*, DWA).</a:t>
            </a:r>
          </a:p>
          <a:p>
            <a:pPr marL="363538" lvl="1" indent="-177800"/>
            <a:r>
              <a:rPr lang="en-GB" sz="1100" dirty="0"/>
              <a:t>The system maintains localisation, avoids obstacles, and executes the return path autonomously.</a:t>
            </a:r>
          </a:p>
          <a:p>
            <a:pPr marL="363538" lvl="1" indent="-177800"/>
            <a:r>
              <a:rPr lang="en-GB" sz="1100" dirty="0"/>
              <a:t>Advanced features are added, such as a user interface, real-time parameter tuning, or extended capabilities (e.g., adaptive behaviour, performance analysis).</a:t>
            </a:r>
          </a:p>
        </p:txBody>
      </p:sp>
    </p:spTree>
    <p:extLst>
      <p:ext uri="{BB962C8B-B14F-4D97-AF65-F5344CB8AC3E}">
        <p14:creationId xmlns:p14="http://schemas.microsoft.com/office/powerpoint/2010/main" val="72189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B65B0-DDFF-CCAC-BE0D-5742E164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17D6BC-DCA9-827A-E95C-6A29965F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/>
          <a:lstStyle/>
          <a:p>
            <a:r>
              <a:rPr lang="en-GB" dirty="0"/>
              <a:t>Design &amp; Build 2025: </a:t>
            </a:r>
            <a:r>
              <a:rPr lang="en-GB" dirty="0">
                <a:solidFill>
                  <a:srgbClr val="EC008C"/>
                </a:solidFill>
              </a:rPr>
              <a:t>Scoring System</a:t>
            </a:r>
            <a:br>
              <a:rPr lang="en-GB" dirty="0">
                <a:solidFill>
                  <a:srgbClr val="EC008C"/>
                </a:solidFill>
              </a:rPr>
            </a:b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A3590C-89F5-2AF6-12F7-9F9368AAA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26" y="1039656"/>
            <a:ext cx="8591566" cy="398954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Project Assessment (80 points)</a:t>
            </a:r>
          </a:p>
          <a:p>
            <a:endParaRPr lang="en-GB" sz="1000" dirty="0"/>
          </a:p>
          <a:p>
            <a:endParaRPr lang="en-GB" sz="4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200" dirty="0"/>
          </a:p>
          <a:p>
            <a:r>
              <a:rPr lang="en-GB" dirty="0"/>
              <a:t>Competition (20 points)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1400" dirty="0"/>
          </a:p>
          <a:p>
            <a:pPr>
              <a:tabLst>
                <a:tab pos="663575" algn="l"/>
              </a:tabLst>
            </a:pPr>
            <a:r>
              <a:rPr lang="en-GB" dirty="0"/>
              <a:t>Combined Score = Project Score (out of 80) + Competition Score (out of 20)</a:t>
            </a:r>
          </a:p>
          <a:p>
            <a:pPr lvl="1">
              <a:tabLst>
                <a:tab pos="663575" algn="l"/>
              </a:tabLst>
            </a:pPr>
            <a:r>
              <a:rPr lang="en-GB" dirty="0">
                <a:solidFill>
                  <a:srgbClr val="EC008C"/>
                </a:solidFill>
              </a:rPr>
              <a:t>The top 3 highest-scoring groups will be recognised for their excellence in engineering design, implementation quality, and system performance. </a:t>
            </a:r>
            <a:endParaRPr lang="en-GB" sz="1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71C3AA-2BFC-058B-6F2C-02BC3C045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319689"/>
              </p:ext>
            </p:extLst>
          </p:nvPr>
        </p:nvGraphicFramePr>
        <p:xfrm>
          <a:off x="888864" y="1388267"/>
          <a:ext cx="7490026" cy="924164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592743">
                  <a:extLst>
                    <a:ext uri="{9D8B030D-6E8A-4147-A177-3AD203B41FA5}">
                      <a16:colId xmlns:a16="http://schemas.microsoft.com/office/drawing/2014/main" val="235580848"/>
                    </a:ext>
                  </a:extLst>
                </a:gridCol>
                <a:gridCol w="1013919">
                  <a:extLst>
                    <a:ext uri="{9D8B030D-6E8A-4147-A177-3AD203B41FA5}">
                      <a16:colId xmlns:a16="http://schemas.microsoft.com/office/drawing/2014/main" val="1499626012"/>
                    </a:ext>
                  </a:extLst>
                </a:gridCol>
                <a:gridCol w="1013919">
                  <a:extLst>
                    <a:ext uri="{9D8B030D-6E8A-4147-A177-3AD203B41FA5}">
                      <a16:colId xmlns:a16="http://schemas.microsoft.com/office/drawing/2014/main" val="1308346462"/>
                    </a:ext>
                  </a:extLst>
                </a:gridCol>
                <a:gridCol w="3869445">
                  <a:extLst>
                    <a:ext uri="{9D8B030D-6E8A-4147-A177-3AD203B41FA5}">
                      <a16:colId xmlns:a16="http://schemas.microsoft.com/office/drawing/2014/main" val="2748590306"/>
                    </a:ext>
                  </a:extLst>
                </a:gridCol>
              </a:tblGrid>
              <a:tr h="202956">
                <a:tc>
                  <a:txBody>
                    <a:bodyPr/>
                    <a:lstStyle/>
                    <a:p>
                      <a:r>
                        <a:rPr lang="en-GB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Criteria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Points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181798"/>
                  </a:ext>
                </a:extLst>
              </a:tr>
              <a:tr h="329804">
                <a:tc>
                  <a:txBody>
                    <a:bodyPr/>
                    <a:lstStyle/>
                    <a:p>
                      <a:r>
                        <a:rPr lang="en-GB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 of Completion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Based on how fully the system works: Basic (max 60), Intermediate (max 64), Advanced (max 64)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371232"/>
                  </a:ext>
                </a:extLst>
              </a:tr>
              <a:tr h="329804">
                <a:tc>
                  <a:txBody>
                    <a:bodyPr/>
                    <a:lstStyle/>
                    <a:p>
                      <a:r>
                        <a:rPr lang="en-GB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Quality of Work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Assessed on innovation, system robustness, evaluation, documentation.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90791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34A439-1ABD-44C4-FD20-A9957209F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947203"/>
              </p:ext>
            </p:extLst>
          </p:nvPr>
        </p:nvGraphicFramePr>
        <p:xfrm>
          <a:off x="888864" y="2863723"/>
          <a:ext cx="7490026" cy="853062"/>
        </p:xfrm>
        <a:graphic>
          <a:graphicData uri="http://schemas.openxmlformats.org/drawingml/2006/table">
            <a:tbl>
              <a:tblPr/>
              <a:tblGrid>
                <a:gridCol w="2100521">
                  <a:extLst>
                    <a:ext uri="{9D8B030D-6E8A-4147-A177-3AD203B41FA5}">
                      <a16:colId xmlns:a16="http://schemas.microsoft.com/office/drawing/2014/main" val="532054697"/>
                    </a:ext>
                  </a:extLst>
                </a:gridCol>
                <a:gridCol w="1172307">
                  <a:extLst>
                    <a:ext uri="{9D8B030D-6E8A-4147-A177-3AD203B41FA5}">
                      <a16:colId xmlns:a16="http://schemas.microsoft.com/office/drawing/2014/main" val="2566556952"/>
                    </a:ext>
                  </a:extLst>
                </a:gridCol>
                <a:gridCol w="4217198">
                  <a:extLst>
                    <a:ext uri="{9D8B030D-6E8A-4147-A177-3AD203B41FA5}">
                      <a16:colId xmlns:a16="http://schemas.microsoft.com/office/drawing/2014/main" val="1215090657"/>
                    </a:ext>
                  </a:extLst>
                </a:gridCol>
              </a:tblGrid>
              <a:tr h="284354">
                <a:tc>
                  <a:txBody>
                    <a:bodyPr/>
                    <a:lstStyle/>
                    <a:p>
                      <a:r>
                        <a:rPr lang="en-GB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</a:t>
                      </a:r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Points</a:t>
                      </a:r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Scoring Method</a:t>
                      </a:r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296818"/>
                  </a:ext>
                </a:extLst>
              </a:tr>
              <a:tr h="284354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Fastest time to Exit Point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1st = 10 pts, 2nd = 8, 3rd = 6, others = 4, incomplete = 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478525"/>
                  </a:ext>
                </a:extLst>
              </a:tr>
              <a:tr h="284354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Fastest time back to Starting Point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1st = 10 pts, 2nd = 8, 3rd = 6, others = 4, incomplete = 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1606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1AC4CC9-4EE9-C4B1-8907-E3C299E79A82}"/>
              </a:ext>
            </a:extLst>
          </p:cNvPr>
          <p:cNvSpPr txBox="1"/>
          <p:nvPr/>
        </p:nvSpPr>
        <p:spPr>
          <a:xfrm>
            <a:off x="443386" y="3758852"/>
            <a:ext cx="7253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9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Groups that achieved Intermediate-level completion qualifies for one event; Advanced-level qualifies for both.</a:t>
            </a:r>
          </a:p>
        </p:txBody>
      </p:sp>
    </p:spTree>
    <p:extLst>
      <p:ext uri="{BB962C8B-B14F-4D97-AF65-F5344CB8AC3E}">
        <p14:creationId xmlns:p14="http://schemas.microsoft.com/office/powerpoint/2010/main" val="515644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25B67-9919-068F-E051-B13DABA6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7D17B2-5475-6B99-D14D-00FBD489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/>
          <a:lstStyle/>
          <a:p>
            <a:r>
              <a:rPr lang="en-GB" dirty="0"/>
              <a:t>Design &amp; Build 2025: </a:t>
            </a:r>
            <a:r>
              <a:rPr lang="en-GB" dirty="0">
                <a:solidFill>
                  <a:srgbClr val="EC008C"/>
                </a:solidFill>
              </a:rPr>
              <a:t>Module Mark</a:t>
            </a:r>
            <a:br>
              <a:rPr lang="en-GB" dirty="0"/>
            </a:b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2F0DE3-D699-49AA-2020-EBD2EA613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26" y="1039656"/>
            <a:ext cx="8591566" cy="3829205"/>
          </a:xfrm>
        </p:spPr>
        <p:txBody>
          <a:bodyPr>
            <a:normAutofit/>
          </a:bodyPr>
          <a:lstStyle/>
          <a:p>
            <a:r>
              <a:rPr lang="en-GB" dirty="0"/>
              <a:t>Design &amp; Build project (50%)</a:t>
            </a:r>
          </a:p>
          <a:p>
            <a:r>
              <a:rPr lang="en-GB" dirty="0"/>
              <a:t>BUPT Lab (50%)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4814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F1CF2D-2281-2F02-9559-0F37B7A432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2118350"/>
            <a:ext cx="7924799" cy="906800"/>
          </a:xfrm>
        </p:spPr>
        <p:txBody>
          <a:bodyPr>
            <a:normAutofit fontScale="77500" lnSpcReduction="20000"/>
          </a:bodyPr>
          <a:lstStyle/>
          <a:p>
            <a:r>
              <a:rPr lang="en-GB" dirty="0">
                <a:solidFill>
                  <a:srgbClr val="FFFF00"/>
                </a:solidFill>
              </a:rPr>
              <a:t>Happy</a:t>
            </a:r>
            <a:r>
              <a:rPr lang="en-GB" dirty="0"/>
              <a:t> designing and building. </a:t>
            </a:r>
          </a:p>
          <a:p>
            <a:r>
              <a:rPr lang="en-GB" dirty="0"/>
              <a:t>Wishing you all an </a:t>
            </a:r>
            <a:r>
              <a:rPr lang="en-GB" dirty="0">
                <a:solidFill>
                  <a:srgbClr val="FFFF00"/>
                </a:solidFill>
              </a:rPr>
              <a:t>adventurous</a:t>
            </a:r>
            <a:r>
              <a:rPr lang="en-GB" dirty="0"/>
              <a:t> summer!</a:t>
            </a:r>
          </a:p>
        </p:txBody>
      </p:sp>
    </p:spTree>
    <p:extLst>
      <p:ext uri="{BB962C8B-B14F-4D97-AF65-F5344CB8AC3E}">
        <p14:creationId xmlns:p14="http://schemas.microsoft.com/office/powerpoint/2010/main" val="937008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annel 4 1">
      <a:dk1>
        <a:srgbClr val="000000"/>
      </a:dk1>
      <a:lt1>
        <a:srgbClr val="FFFFFF"/>
      </a:lt1>
      <a:dk2>
        <a:srgbClr val="585858"/>
      </a:dk2>
      <a:lt2>
        <a:srgbClr val="FFFFFF"/>
      </a:lt2>
      <a:accent1>
        <a:srgbClr val="6D2B83"/>
      </a:accent1>
      <a:accent2>
        <a:srgbClr val="D0091D"/>
      </a:accent2>
      <a:accent3>
        <a:srgbClr val="FFD611"/>
      </a:accent3>
      <a:accent4>
        <a:srgbClr val="85B6E2"/>
      </a:accent4>
      <a:accent5>
        <a:srgbClr val="62CBC5"/>
      </a:accent5>
      <a:accent6>
        <a:srgbClr val="7F7878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Queen Mary">
      <a:dk1>
        <a:srgbClr val="21386A"/>
      </a:dk1>
      <a:lt1>
        <a:sysClr val="window" lastClr="FFFFFF"/>
      </a:lt1>
      <a:dk2>
        <a:srgbClr val="21386A"/>
      </a:dk2>
      <a:lt2>
        <a:srgbClr val="D8D8D8"/>
      </a:lt2>
      <a:accent1>
        <a:srgbClr val="123181"/>
      </a:accent1>
      <a:accent2>
        <a:srgbClr val="792273"/>
      </a:accent2>
      <a:accent3>
        <a:srgbClr val="2DB8C5"/>
      </a:accent3>
      <a:accent4>
        <a:srgbClr val="CDA60C"/>
      </a:accent4>
      <a:accent5>
        <a:srgbClr val="BD1C1C"/>
      </a:accent5>
      <a:accent6>
        <a:srgbClr val="73B82B"/>
      </a:accent6>
      <a:hlink>
        <a:srgbClr val="E6007E"/>
      </a:hlink>
      <a:folHlink>
        <a:srgbClr val="2DB8C5"/>
      </a:folHlink>
    </a:clrScheme>
    <a:fontScheme name="Queen M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17420</TotalTime>
  <Words>2013</Words>
  <Application>Microsoft Macintosh PowerPoint</Application>
  <PresentationFormat>On-screen Show (16:9)</PresentationFormat>
  <Paragraphs>212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Cambria Math</vt:lpstr>
      <vt:lpstr>Source Sans Pro SemiBold</vt:lpstr>
      <vt:lpstr>Wingdings</vt:lpstr>
      <vt:lpstr>Office Theme</vt:lpstr>
      <vt:lpstr>1_Custom Design</vt:lpstr>
      <vt:lpstr>Custom Design</vt:lpstr>
      <vt:lpstr>Year 2 Short Semester  Design &amp; Build Project Summer 2025</vt:lpstr>
      <vt:lpstr>Design &amp; Build 2025: Learning Outcome </vt:lpstr>
      <vt:lpstr>Design &amp; Build 2025: General Information </vt:lpstr>
      <vt:lpstr>Design &amp; Build 2025: Project Overview </vt:lpstr>
      <vt:lpstr>Design &amp; Build 2025: Project Overview </vt:lpstr>
      <vt:lpstr>Design &amp; Build 2025: Project Overview </vt:lpstr>
      <vt:lpstr>Design &amp; Build 2025: Project Overview </vt:lpstr>
      <vt:lpstr>Design &amp; Build 2025: Development Methodology </vt:lpstr>
      <vt:lpstr>Design &amp; Build 2025: Development Methodology </vt:lpstr>
      <vt:lpstr>Design &amp; Build 2025: Deliverables </vt:lpstr>
      <vt:lpstr>Design &amp; Build 2025: Level of Completion </vt:lpstr>
      <vt:lpstr>Design &amp; Build 2025: Scoring System </vt:lpstr>
      <vt:lpstr>Design &amp; Build 2025: Module Mark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J</dc:creator>
  <cp:lastModifiedBy>Jonathan Loo</cp:lastModifiedBy>
  <cp:revision>600</cp:revision>
  <dcterms:created xsi:type="dcterms:W3CDTF">2020-06-18T12:08:25Z</dcterms:created>
  <dcterms:modified xsi:type="dcterms:W3CDTF">2025-06-27T14:55:50Z</dcterms:modified>
</cp:coreProperties>
</file>
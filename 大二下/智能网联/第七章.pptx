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65" r:id="rId3"/>
    <p:sldId id="266" r:id="rId4"/>
    <p:sldId id="267" r:id="rId5"/>
    <p:sldId id="302" r:id="rId6"/>
    <p:sldId id="270" r:id="rId7"/>
    <p:sldId id="292" r:id="rId8"/>
    <p:sldId id="312" r:id="rId9"/>
    <p:sldId id="293" r:id="rId10"/>
    <p:sldId id="303" r:id="rId11"/>
    <p:sldId id="269" r:id="rId12"/>
    <p:sldId id="294" r:id="rId13"/>
    <p:sldId id="295" r:id="rId14"/>
    <p:sldId id="313" r:id="rId16"/>
    <p:sldId id="314" r:id="rId17"/>
    <p:sldId id="315" r:id="rId18"/>
    <p:sldId id="271" r:id="rId19"/>
    <p:sldId id="296" r:id="rId20"/>
    <p:sldId id="297" r:id="rId21"/>
    <p:sldId id="316" r:id="rId22"/>
    <p:sldId id="318" r:id="rId23"/>
    <p:sldId id="272" r:id="rId24"/>
    <p:sldId id="298" r:id="rId25"/>
    <p:sldId id="299" r:id="rId26"/>
    <p:sldId id="354" r:id="rId27"/>
    <p:sldId id="319" r:id="rId28"/>
    <p:sldId id="274" r:id="rId29"/>
    <p:sldId id="275" r:id="rId30"/>
    <p:sldId id="278" r:id="rId31"/>
    <p:sldId id="356" r:id="rId32"/>
    <p:sldId id="357" r:id="rId33"/>
    <p:sldId id="358" r:id="rId34"/>
    <p:sldId id="359" r:id="rId35"/>
    <p:sldId id="277" r:id="rId36"/>
    <p:sldId id="283" r:id="rId37"/>
    <p:sldId id="361" r:id="rId38"/>
    <p:sldId id="280" r:id="rId39"/>
    <p:sldId id="279" r:id="rId40"/>
    <p:sldId id="281" r:id="rId41"/>
    <p:sldId id="284" r:id="rId42"/>
    <p:sldId id="360" r:id="rId43"/>
    <p:sldId id="282" r:id="rId44"/>
    <p:sldId id="268" r:id="rId45"/>
    <p:sldId id="290" r:id="rId46"/>
  </p:sldIdLst>
  <p:sldSz cx="9144000" cy="6858000" type="screen4x3"/>
  <p:notesSz cx="6858000" cy="9144000"/>
  <p:custDataLst>
    <p:tags r:id="rId5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0" Type="http://schemas.openxmlformats.org/officeDocument/2006/relationships/tags" Target="tags/tag177.xml"/><Relationship Id="rId5" Type="http://schemas.openxmlformats.org/officeDocument/2006/relationships/slide" Target="slides/slide3.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29841" y="2505075"/>
            <a:ext cx="3868340"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正文-横线">
    <p:spTree>
      <p:nvGrpSpPr>
        <p:cNvPr id="1" name=""/>
        <p:cNvGrpSpPr/>
        <p:nvPr/>
      </p:nvGrpSpPr>
      <p:grpSpPr>
        <a:xfrm>
          <a:off x="0" y="0"/>
          <a:ext cx="0" cy="0"/>
          <a:chOff x="0" y="0"/>
          <a:chExt cx="0" cy="0"/>
        </a:xfrm>
      </p:grpSpPr>
      <p:sp>
        <p:nvSpPr>
          <p:cNvPr id="2" name="矩形 1"/>
          <p:cNvSpPr/>
          <p:nvPr userDrawn="1"/>
        </p:nvSpPr>
        <p:spPr>
          <a:xfrm>
            <a:off x="8351913" y="764704"/>
            <a:ext cx="792088"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9"/>
          <p:cNvSpPr/>
          <p:nvPr userDrawn="1"/>
        </p:nvSpPr>
        <p:spPr>
          <a:xfrm>
            <a:off x="3448" y="6531431"/>
            <a:ext cx="9144000" cy="351621"/>
          </a:xfrm>
          <a:prstGeom prst="rect">
            <a:avLst/>
          </a:prstGeom>
          <a:gradFill>
            <a:gsLst>
              <a:gs pos="0">
                <a:schemeClr val="bg1"/>
              </a:gs>
              <a:gs pos="60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灯片编号占位符 5"/>
          <p:cNvSpPr txBox="1"/>
          <p:nvPr userDrawn="1"/>
        </p:nvSpPr>
        <p:spPr>
          <a:xfrm>
            <a:off x="6732240" y="6492877"/>
            <a:ext cx="2133600" cy="365125"/>
          </a:xfrm>
          <a:prstGeom prst="rect">
            <a:avLst/>
          </a:prstGeom>
        </p:spPr>
        <p:txBody>
          <a:bodyPr vert="horz" lIns="68580" tIns="34290" rIns="68580" bIns="34290" rtlCol="0" anchor="ctr"/>
          <a:lstStyle>
            <a:defPPr>
              <a:defRPr lang="zh-CN"/>
            </a:defPPr>
            <a:lvl1pPr marL="0" algn="r" defTabSz="914400" rtl="0" eaLnBrk="1" latinLnBrk="0" hangingPunct="1">
              <a:defRPr sz="12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900" smtClean="0"/>
            </a:fld>
            <a:endParaRPr lang="zh-CN" altLang="en-US" sz="900" dirty="0"/>
          </a:p>
        </p:txBody>
      </p:sp>
    </p:spTree>
  </p:cSld>
  <p:clrMapOvr>
    <a:masterClrMapping/>
  </p:clrMapOvr>
  <p:transition spd="slow"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slideLayout" Target="../slideLayouts/slideLayout12.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image" Target="../media/image4.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image" Target="../media/image5.png"/><Relationship Id="rId2" Type="http://schemas.openxmlformats.org/officeDocument/2006/relationships/tags" Target="../tags/tag30.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2.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6.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0" Type="http://schemas.openxmlformats.org/officeDocument/2006/relationships/notesSlide" Target="../notesSlides/notesSlide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image" Target="../media/image6.png"/><Relationship Id="rId2" Type="http://schemas.openxmlformats.org/officeDocument/2006/relationships/tags" Target="../tags/tag54.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5" Type="http://schemas.openxmlformats.org/officeDocument/2006/relationships/notesSlide" Target="../notesSlides/notesSlide3.xml"/><Relationship Id="rId14" Type="http://schemas.openxmlformats.org/officeDocument/2006/relationships/slideLayout" Target="../slideLayouts/slideLayout12.xml"/><Relationship Id="rId13" Type="http://schemas.openxmlformats.org/officeDocument/2006/relationships/tags" Target="../tags/tag105.xml"/><Relationship Id="rId12" Type="http://schemas.openxmlformats.org/officeDocument/2006/relationships/tags" Target="../tags/tag104.xml"/><Relationship Id="rId11" Type="http://schemas.openxmlformats.org/officeDocument/2006/relationships/tags" Target="../tags/tag103.xml"/><Relationship Id="rId10" Type="http://schemas.openxmlformats.org/officeDocument/2006/relationships/tags" Target="../tags/tag102.xml"/><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9" Type="http://schemas.openxmlformats.org/officeDocument/2006/relationships/tags" Target="../tags/tag113.xml"/><Relationship Id="rId8" Type="http://schemas.openxmlformats.org/officeDocument/2006/relationships/tags" Target="../tags/tag112.xml"/><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119.xml"/><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image" Target="../media/image7.png"/><Relationship Id="rId2" Type="http://schemas.openxmlformats.org/officeDocument/2006/relationships/tags" Target="../tags/tag114.xml"/><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image" Target="../media/image8.png"/><Relationship Id="rId2" Type="http://schemas.openxmlformats.org/officeDocument/2006/relationships/tags" Target="../tags/tag120.xml"/><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image" Target="../media/image2.jpeg"/></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139.xml"/><Relationship Id="rId4" Type="http://schemas.openxmlformats.org/officeDocument/2006/relationships/tags" Target="../tags/tag138.xml"/><Relationship Id="rId3" Type="http://schemas.openxmlformats.org/officeDocument/2006/relationships/image" Target="../media/image13.png"/><Relationship Id="rId2" Type="http://schemas.openxmlformats.org/officeDocument/2006/relationships/tags" Target="../tags/tag137.xml"/><Relationship Id="rId1" Type="http://schemas.openxmlformats.org/officeDocument/2006/relationships/image" Target="../media/image2.jpeg"/></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image" Target="../media/image14.png"/><Relationship Id="rId2" Type="http://schemas.openxmlformats.org/officeDocument/2006/relationships/tags" Target="../tags/tag140.xml"/><Relationship Id="rId1" Type="http://schemas.openxmlformats.org/officeDocument/2006/relationships/image" Target="../media/image2.jpeg"/></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image" Target="../media/image15.png"/><Relationship Id="rId2" Type="http://schemas.openxmlformats.org/officeDocument/2006/relationships/tags" Target="../tags/tag143.xml"/><Relationship Id="rId1" Type="http://schemas.openxmlformats.org/officeDocument/2006/relationships/image" Target="../media/image2.jpeg"/></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image" Target="../media/image16.png"/><Relationship Id="rId2" Type="http://schemas.openxmlformats.org/officeDocument/2006/relationships/tags" Target="../tags/tag146.xml"/><Relationship Id="rId1" Type="http://schemas.openxmlformats.org/officeDocument/2006/relationships/image" Target="../media/image2.jpeg"/></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151.xml"/><Relationship Id="rId4" Type="http://schemas.openxmlformats.org/officeDocument/2006/relationships/tags" Target="../tags/tag150.xml"/><Relationship Id="rId3" Type="http://schemas.openxmlformats.org/officeDocument/2006/relationships/image" Target="../media/image17.png"/><Relationship Id="rId2" Type="http://schemas.openxmlformats.org/officeDocument/2006/relationships/tags" Target="../tags/tag149.xml"/><Relationship Id="rId1" Type="http://schemas.openxmlformats.org/officeDocument/2006/relationships/image" Target="../media/image2.jpeg"/></Relationships>
</file>

<file path=ppt/slides/_rels/slide38.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image" Target="../media/image18.png"/><Relationship Id="rId2" Type="http://schemas.openxmlformats.org/officeDocument/2006/relationships/tags" Target="../tags/tag152.xml"/><Relationship Id="rId1" Type="http://schemas.openxmlformats.org/officeDocument/2006/relationships/image" Target="../media/image2.jpeg"/></Relationships>
</file>

<file path=ppt/slides/_rels/slide39.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image" Target="../media/image19.png"/><Relationship Id="rId2" Type="http://schemas.openxmlformats.org/officeDocument/2006/relationships/tags" Target="../tags/tag156.xml"/><Relationship Id="rId1" Type="http://schemas.openxmlformats.org/officeDocument/2006/relationships/image" Target="../media/image2.jpeg"/></Relationships>
</file>

<file path=ppt/slides/_rels/slide40.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161.xml"/><Relationship Id="rId4" Type="http://schemas.openxmlformats.org/officeDocument/2006/relationships/tags" Target="../tags/tag160.xml"/><Relationship Id="rId3" Type="http://schemas.openxmlformats.org/officeDocument/2006/relationships/image" Target="../media/image20.png"/><Relationship Id="rId2" Type="http://schemas.openxmlformats.org/officeDocument/2006/relationships/tags" Target="../tags/tag159.xml"/><Relationship Id="rId1" Type="http://schemas.openxmlformats.org/officeDocument/2006/relationships/image" Target="../media/image2.jpeg"/></Relationships>
</file>

<file path=ppt/slides/_rels/slide41.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image" Target="../media/image21.png"/><Relationship Id="rId2" Type="http://schemas.openxmlformats.org/officeDocument/2006/relationships/tags" Target="../tags/tag162.xml"/><Relationship Id="rId1" Type="http://schemas.openxmlformats.org/officeDocument/2006/relationships/image" Target="../media/image2.jpeg"/></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image" Target="../media/image22.png"/><Relationship Id="rId2" Type="http://schemas.openxmlformats.org/officeDocument/2006/relationships/tags" Target="../tags/tag166.xml"/><Relationship Id="rId1" Type="http://schemas.openxmlformats.org/officeDocument/2006/relationships/image" Target="../media/image2.jpeg"/></Relationships>
</file>

<file path=ppt/slides/_rels/slide43.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1" Type="http://schemas.openxmlformats.org/officeDocument/2006/relationships/notesSlide" Target="../notesSlides/notesSlide4.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57785" y="2332990"/>
            <a:ext cx="10863580" cy="830580"/>
          </a:xfrm>
          <a:prstGeom prst="rect">
            <a:avLst/>
          </a:prstGeom>
        </p:spPr>
        <p:txBody>
          <a:bodyPr wrap="none">
            <a:noAutofit/>
          </a:bodyPr>
          <a:lstStyle/>
          <a:p>
            <a:pPr algn="l"/>
            <a:r>
              <a:rPr lang="zh-CN" altLang="en-US" sz="4000" b="1" dirty="0">
                <a:solidFill>
                  <a:srgbClr val="01468E"/>
                </a:solidFill>
                <a:latin typeface="微软雅黑" panose="020B0503020204020204" charset="-122"/>
                <a:ea typeface="微软雅黑" panose="020B0503020204020204" charset="-122"/>
              </a:rPr>
              <a:t>第</a:t>
            </a:r>
            <a:r>
              <a:rPr lang="en-US" altLang="zh-CN" sz="4000" b="1" dirty="0">
                <a:solidFill>
                  <a:srgbClr val="01468E"/>
                </a:solidFill>
                <a:latin typeface="微软雅黑" panose="020B0503020204020204" charset="-122"/>
                <a:ea typeface="微软雅黑" panose="020B0503020204020204" charset="-122"/>
              </a:rPr>
              <a:t>7</a:t>
            </a:r>
            <a:r>
              <a:rPr lang="zh-CN" altLang="en-US" sz="4000" b="1">
                <a:solidFill>
                  <a:srgbClr val="01468E"/>
                </a:solidFill>
                <a:latin typeface="微软雅黑" panose="020B0503020204020204" charset="-122"/>
                <a:ea typeface="微软雅黑" panose="020B0503020204020204" charset="-122"/>
              </a:rPr>
              <a:t>章</a:t>
            </a:r>
            <a:r>
              <a:rPr lang="zh-CN" altLang="en-US" sz="4000" b="1" dirty="0">
                <a:solidFill>
                  <a:srgbClr val="01468E"/>
                </a:solidFill>
                <a:latin typeface="微软雅黑" panose="020B0503020204020204" charset="-122"/>
                <a:ea typeface="微软雅黑" panose="020B0503020204020204" charset="-122"/>
              </a:rPr>
              <a:t>：智能网联驾驶交通事件场景应用</a:t>
            </a:r>
            <a:endParaRPr lang="zh-CN" altLang="en-US" sz="4000" b="1" dirty="0">
              <a:solidFill>
                <a:srgbClr val="01468E"/>
              </a:solidFill>
              <a:latin typeface="微软雅黑" panose="020B0503020204020204" charset="-122"/>
              <a:ea typeface="微软雅黑" panose="020B0503020204020204" charset="-122"/>
            </a:endParaRPr>
          </a:p>
        </p:txBody>
      </p:sp>
      <p:pic>
        <p:nvPicPr>
          <p:cNvPr id="9" name="Picture 11" descr="program-ciat2020"/>
          <p:cNvPicPr/>
          <p:nvPr/>
        </p:nvPicPr>
        <p:blipFill>
          <a:blip r:embed="rId1">
            <a:extLst>
              <a:ext uri="{28A0092B-C50C-407E-A947-70E740481C1C}">
                <a14:useLocalDpi xmlns:a14="http://schemas.microsoft.com/office/drawing/2010/main" val="0"/>
              </a:ext>
            </a:extLst>
          </a:blip>
          <a:srcRect/>
          <a:stretch>
            <a:fillRect/>
          </a:stretch>
        </p:blipFill>
        <p:spPr bwMode="auto">
          <a:xfrm>
            <a:off x="0" y="-18832"/>
            <a:ext cx="3316428" cy="999370"/>
          </a:xfrm>
          <a:prstGeom prst="rect">
            <a:avLst/>
          </a:prstGeom>
          <a:noFill/>
          <a:ln>
            <a:noFill/>
          </a:ln>
        </p:spPr>
      </p:pic>
      <p:pic>
        <p:nvPicPr>
          <p:cNvPr id="11" name="图片 10"/>
          <p:cNvPicPr>
            <a:picLocks noChangeAspect="1"/>
          </p:cNvPicPr>
          <p:nvPr/>
        </p:nvPicPr>
        <p:blipFill>
          <a:blip r:embed="rId2"/>
          <a:stretch>
            <a:fillRect/>
          </a:stretch>
        </p:blipFill>
        <p:spPr>
          <a:xfrm>
            <a:off x="990000" y="3276600"/>
            <a:ext cx="8166100" cy="304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主要</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内容</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 name="文本框 1"/>
          <p:cNvSpPr txBox="1"/>
          <p:nvPr/>
        </p:nvSpPr>
        <p:spPr>
          <a:xfrm>
            <a:off x="237490" y="1196340"/>
            <a:ext cx="7355840" cy="3969385"/>
          </a:xfrm>
          <a:prstGeom prst="rect">
            <a:avLst/>
          </a:prstGeom>
          <a:noFill/>
        </p:spPr>
        <p:txBody>
          <a:bodyPr wrap="square" rtlCol="0">
            <a:spAutoFit/>
          </a:bodyPr>
          <a:p>
            <a:pPr marL="285750" indent="-285750">
              <a:lnSpc>
                <a:spcPct val="150000"/>
              </a:lnSpc>
              <a:buFont typeface="Wingdings" panose="05000000000000000000" pitchFamily="2" charset="2"/>
              <a:buChar char="p"/>
              <a:defRPr/>
            </a:pPr>
            <a:r>
              <a:rPr lang="zh-CN" altLang="en-US" sz="2800" kern="0" dirty="0">
                <a:latin typeface="微软雅黑" panose="020B0503020204020204" charset="-122"/>
                <a:ea typeface="微软雅黑" panose="020B0503020204020204" charset="-122"/>
                <a:sym typeface="+mn-ea"/>
              </a:rPr>
              <a:t> 交通事件场景介绍</a:t>
            </a:r>
            <a:endParaRPr lang="zh-CN" altLang="en-US" sz="2800" kern="0" dirty="0">
              <a:latin typeface="微软雅黑" panose="020B0503020204020204" charset="-122"/>
              <a:ea typeface="微软雅黑" panose="020B0503020204020204" charset="-122"/>
              <a:sym typeface="+mn-ea"/>
            </a:endParaRPr>
          </a:p>
          <a:p>
            <a:pPr marL="285750" indent="-285750">
              <a:lnSpc>
                <a:spcPct val="150000"/>
              </a:lnSpc>
              <a:buFont typeface="Wingdings" panose="05000000000000000000" pitchFamily="2" charset="2"/>
              <a:buChar char="p"/>
              <a:defRPr/>
            </a:pPr>
            <a:r>
              <a:rPr lang="zh-CN" altLang="en-US" sz="2800" kern="0" dirty="0">
                <a:latin typeface="微软雅黑" panose="020B0503020204020204" charset="-122"/>
                <a:ea typeface="微软雅黑" panose="020B0503020204020204" charset="-122"/>
                <a:sym typeface="+mn-ea"/>
              </a:rPr>
              <a:t> 限速预警技术</a:t>
            </a:r>
            <a:endParaRPr lang="zh-CN" altLang="en-US" sz="2800" kern="0" dirty="0">
              <a:latin typeface="微软雅黑" panose="020B0503020204020204" charset="-122"/>
              <a:ea typeface="微软雅黑" panose="020B0503020204020204" charset="-122"/>
              <a:sym typeface="+mn-ea"/>
            </a:endParaRPr>
          </a:p>
          <a:p>
            <a:pPr marL="285750" indent="-285750">
              <a:lnSpc>
                <a:spcPct val="150000"/>
              </a:lnSpc>
              <a:buFont typeface="Wingdings" panose="05000000000000000000" pitchFamily="2" charset="2"/>
              <a:buChar char="p"/>
              <a:defRPr/>
            </a:pPr>
            <a:r>
              <a:rPr lang="zh-CN" altLang="en-US" sz="2800" kern="0" dirty="0">
                <a:latin typeface="微软雅黑" panose="020B0503020204020204" charset="-122"/>
                <a:ea typeface="微软雅黑" panose="020B0503020204020204" charset="-122"/>
                <a:sym typeface="+mn-ea"/>
              </a:rPr>
              <a:t> 紧急车辆提醒技术</a:t>
            </a:r>
            <a:endParaRPr lang="zh-CN" altLang="en-US" sz="2800" kern="0" dirty="0">
              <a:latin typeface="微软雅黑" panose="020B0503020204020204" charset="-122"/>
              <a:ea typeface="微软雅黑" panose="020B0503020204020204" charset="-122"/>
              <a:sym typeface="+mn-ea"/>
            </a:endParaRPr>
          </a:p>
          <a:p>
            <a:pPr marL="285750" indent="-285750">
              <a:lnSpc>
                <a:spcPct val="150000"/>
              </a:lnSpc>
              <a:buFont typeface="Wingdings" panose="05000000000000000000" pitchFamily="2" charset="2"/>
              <a:buChar char="p"/>
              <a:defRPr/>
            </a:pPr>
            <a:r>
              <a:rPr lang="zh-CN" altLang="en-US" sz="2800" kern="0" dirty="0">
                <a:latin typeface="微软雅黑" panose="020B0503020204020204" charset="-122"/>
                <a:ea typeface="微软雅黑" panose="020B0503020204020204" charset="-122"/>
                <a:sym typeface="+mn-ea"/>
              </a:rPr>
              <a:t> 道路危险状况技术</a:t>
            </a:r>
            <a:endParaRPr lang="zh-CN" altLang="en-US" sz="2800" kern="0" dirty="0">
              <a:latin typeface="微软雅黑" panose="020B0503020204020204" charset="-122"/>
              <a:ea typeface="微软雅黑" panose="020B0503020204020204" charset="-122"/>
              <a:sym typeface="+mn-ea"/>
            </a:endParaRPr>
          </a:p>
          <a:p>
            <a:pPr marL="285750" indent="-285750">
              <a:lnSpc>
                <a:spcPct val="150000"/>
              </a:lnSpc>
              <a:buFont typeface="Wingdings" panose="05000000000000000000" pitchFamily="2" charset="2"/>
              <a:buChar char="p"/>
              <a:defRPr/>
            </a:pPr>
            <a:r>
              <a:rPr lang="zh-CN" altLang="en-US" sz="2800" kern="0" dirty="0">
                <a:latin typeface="微软雅黑" panose="020B0503020204020204" charset="-122"/>
                <a:ea typeface="微软雅黑" panose="020B0503020204020204" charset="-122"/>
                <a:sym typeface="+mn-ea"/>
              </a:rPr>
              <a:t> 前方拥堵提醒</a:t>
            </a:r>
            <a:endParaRPr lang="zh-CN" altLang="en-US" sz="2800" kern="0" dirty="0">
              <a:latin typeface="微软雅黑" panose="020B0503020204020204" charset="-122"/>
              <a:ea typeface="微软雅黑" panose="020B0503020204020204" charset="-122"/>
              <a:sym typeface="+mn-ea"/>
            </a:endParaRPr>
          </a:p>
          <a:p>
            <a:pPr marL="285750" indent="-285750">
              <a:lnSpc>
                <a:spcPct val="150000"/>
              </a:lnSpc>
              <a:buFont typeface="Wingdings" panose="05000000000000000000" pitchFamily="2" charset="2"/>
              <a:buChar char="p"/>
              <a:defRPr/>
            </a:pPr>
            <a:r>
              <a:rPr lang="en-US" altLang="zh-CN" sz="2800" kern="0" dirty="0">
                <a:latin typeface="微软雅黑" panose="020B0503020204020204" charset="-122"/>
                <a:ea typeface="微软雅黑" panose="020B0503020204020204" charset="-122"/>
                <a:sym typeface="+mn-ea"/>
              </a:rPr>
              <a:t> </a:t>
            </a:r>
            <a:r>
              <a:rPr lang="zh-CN" altLang="en-US" sz="2800" kern="0" dirty="0">
                <a:latin typeface="微软雅黑" panose="020B0503020204020204" charset="-122"/>
                <a:ea typeface="微软雅黑" panose="020B0503020204020204" charset="-122"/>
                <a:sym typeface="+mn-ea"/>
              </a:rPr>
              <a:t>交通事件场景应用台架实验</a:t>
            </a:r>
            <a:endParaRPr lang="en-US" altLang="zh-CN" sz="2800" kern="0" dirty="0">
              <a:latin typeface="微软雅黑" panose="020B0503020204020204" charset="-122"/>
              <a:ea typeface="微软雅黑" panose="020B0503020204020204" charset="-122"/>
              <a:sym typeface="+mn-ea"/>
            </a:endParaRPr>
          </a:p>
        </p:txBody>
      </p:sp>
    </p:spTree>
  </p:cSld>
  <p:clrMapOvr>
    <a:masterClrMapping/>
  </p:clrMapOvr>
  <p:transition spd="slow"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交通事件场景介绍</a:t>
            </a:r>
            <a:endPar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文本框 2"/>
          <p:cNvSpPr txBox="1"/>
          <p:nvPr/>
        </p:nvSpPr>
        <p:spPr>
          <a:xfrm>
            <a:off x="664845" y="1049020"/>
            <a:ext cx="3323590" cy="398780"/>
          </a:xfrm>
          <a:prstGeom prst="rect">
            <a:avLst/>
          </a:prstGeom>
          <a:noFill/>
        </p:spPr>
        <p:txBody>
          <a:bodyPr wrap="square" rtlCol="0">
            <a:spAutoFit/>
          </a:bodyPr>
          <a:p>
            <a:r>
              <a:rPr lang="zh-CN" altLang="en-US" sz="2000">
                <a:solidFill>
                  <a:schemeClr val="accent1">
                    <a:lumMod val="75000"/>
                  </a:schemeClr>
                </a:solidFill>
              </a:rPr>
              <a:t>当前驾驶条件</a:t>
            </a:r>
            <a:endParaRPr lang="zh-CN" altLang="en-US" sz="2000">
              <a:solidFill>
                <a:schemeClr val="accent1">
                  <a:lumMod val="75000"/>
                </a:schemeClr>
              </a:solidFill>
            </a:endParaRPr>
          </a:p>
        </p:txBody>
      </p:sp>
      <p:sp>
        <p:nvSpPr>
          <p:cNvPr id="4" name="文本框 3"/>
          <p:cNvSpPr txBox="1"/>
          <p:nvPr/>
        </p:nvSpPr>
        <p:spPr>
          <a:xfrm>
            <a:off x="640715" y="1744980"/>
            <a:ext cx="7819390" cy="922020"/>
          </a:xfrm>
          <a:prstGeom prst="rect">
            <a:avLst/>
          </a:prstGeom>
          <a:noFill/>
        </p:spPr>
        <p:txBody>
          <a:bodyPr wrap="square" rtlCol="0">
            <a:spAutoFit/>
          </a:bodyPr>
          <a:p>
            <a:pPr indent="457200"/>
            <a:r>
              <a:rPr lang="zh-CN" altLang="en-US">
                <a:solidFill>
                  <a:schemeClr val="tx1"/>
                </a:solidFill>
                <a:sym typeface="+mn-ea"/>
              </a:rPr>
              <a:t>在当前的驾驶条件下，每辆车大部分都作为</a:t>
            </a:r>
            <a:r>
              <a:rPr lang="zh-CN" altLang="en-US" b="1">
                <a:solidFill>
                  <a:schemeClr val="tx1"/>
                </a:solidFill>
                <a:sym typeface="+mn-ea"/>
              </a:rPr>
              <a:t>独立个体</a:t>
            </a:r>
            <a:r>
              <a:rPr lang="zh-CN" altLang="en-US">
                <a:solidFill>
                  <a:schemeClr val="tx1"/>
                </a:solidFill>
                <a:sym typeface="+mn-ea"/>
              </a:rPr>
              <a:t>存在，驾驶员的决策依据多依赖于其视野范围内所观察到的交通环境，很难实现与其他交通参与者的</a:t>
            </a:r>
            <a:r>
              <a:rPr lang="zh-CN" altLang="en-US" b="1">
                <a:solidFill>
                  <a:schemeClr val="tx1"/>
                </a:solidFill>
                <a:sym typeface="+mn-ea"/>
              </a:rPr>
              <a:t>联动</a:t>
            </a:r>
            <a:r>
              <a:rPr lang="zh-CN" altLang="en-US">
                <a:solidFill>
                  <a:schemeClr val="tx1"/>
                </a:solidFill>
                <a:sym typeface="+mn-ea"/>
              </a:rPr>
              <a:t>或提前知晓</a:t>
            </a:r>
            <a:r>
              <a:rPr lang="zh-CN" altLang="en-US" b="1">
                <a:solidFill>
                  <a:schemeClr val="tx1"/>
                </a:solidFill>
                <a:sym typeface="+mn-ea"/>
              </a:rPr>
              <a:t>前方超远道路</a:t>
            </a:r>
            <a:r>
              <a:rPr lang="zh-CN" altLang="en-US">
                <a:solidFill>
                  <a:schemeClr val="tx1"/>
                </a:solidFill>
                <a:sym typeface="+mn-ea"/>
              </a:rPr>
              <a:t>的交通态势，做出更合理的驾驶决策。</a:t>
            </a:r>
            <a:endParaRPr lang="zh-CN" altLang="en-US">
              <a:solidFill>
                <a:schemeClr val="tx1"/>
              </a:solidFill>
              <a:sym typeface="+mn-ea"/>
            </a:endParaRPr>
          </a:p>
        </p:txBody>
      </p:sp>
      <p:sp>
        <p:nvSpPr>
          <p:cNvPr id="17" name="菱形 16"/>
          <p:cNvSpPr/>
          <p:nvPr>
            <p:custDataLst>
              <p:tags r:id="rId2"/>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
        <p:nvSpPr>
          <p:cNvPr id="2" name="文本框 1"/>
          <p:cNvSpPr txBox="1"/>
          <p:nvPr/>
        </p:nvSpPr>
        <p:spPr>
          <a:xfrm>
            <a:off x="682625" y="2966085"/>
            <a:ext cx="7786370" cy="922020"/>
          </a:xfrm>
          <a:prstGeom prst="rect">
            <a:avLst/>
          </a:prstGeom>
          <a:noFill/>
        </p:spPr>
        <p:txBody>
          <a:bodyPr wrap="square" rtlCol="0">
            <a:spAutoFit/>
          </a:bodyPr>
          <a:p>
            <a:pPr indent="457200"/>
            <a:r>
              <a:rPr lang="zh-CN" altLang="en-US"/>
              <a:t>在解决</a:t>
            </a:r>
            <a:r>
              <a:rPr lang="zh-CN" altLang="en-US" b="1"/>
              <a:t>天候相关的交通安全</a:t>
            </a:r>
            <a:r>
              <a:rPr lang="zh-CN" altLang="en-US"/>
              <a:t>方面，驾驶员很难感知到</a:t>
            </a:r>
            <a:r>
              <a:rPr lang="zh-CN" altLang="en-US" b="1"/>
              <a:t>前方超远距离</a:t>
            </a:r>
            <a:r>
              <a:rPr lang="zh-CN" altLang="en-US"/>
              <a:t>的天气环境或道路积水、湿滑等路况，导致司机无法提前知晓前方潜在风险，无法提前采取规避手段。</a:t>
            </a:r>
            <a:endParaRPr lang="zh-CN" altLang="en-US"/>
          </a:p>
        </p:txBody>
      </p:sp>
      <p:sp>
        <p:nvSpPr>
          <p:cNvPr id="6" name="文本框 5"/>
          <p:cNvSpPr txBox="1"/>
          <p:nvPr/>
        </p:nvSpPr>
        <p:spPr>
          <a:xfrm>
            <a:off x="682625" y="4177665"/>
            <a:ext cx="7777480" cy="1198880"/>
          </a:xfrm>
          <a:prstGeom prst="rect">
            <a:avLst/>
          </a:prstGeom>
          <a:noFill/>
        </p:spPr>
        <p:txBody>
          <a:bodyPr wrap="square" rtlCol="0">
            <a:spAutoFit/>
          </a:bodyPr>
          <a:p>
            <a:pPr indent="457200"/>
            <a:r>
              <a:rPr lang="zh-CN" altLang="en-US"/>
              <a:t>在</a:t>
            </a:r>
            <a:r>
              <a:rPr lang="zh-CN" altLang="en-US" b="1"/>
              <a:t>道路的</a:t>
            </a:r>
            <a:r>
              <a:rPr lang="zh-CN" altLang="en-US" b="1"/>
              <a:t>应急管理</a:t>
            </a:r>
            <a:r>
              <a:rPr lang="zh-CN" altLang="en-US"/>
              <a:t>方面，由于自车很难关注到</a:t>
            </a:r>
            <a:r>
              <a:rPr lang="zh-CN" altLang="en-US" b="1"/>
              <a:t>后方路况</a:t>
            </a:r>
            <a:r>
              <a:rPr lang="zh-CN" altLang="en-US"/>
              <a:t>，遇到例如紧急车辆需要优先通行完成特种作业任务、警方行动需要借道行驶等情况时，很难及时完成规避或变换车道，既即不易让特种车及时通行也容易在变道时造成交通拥堵，甚至事故。</a:t>
            </a:r>
            <a:endParaRPr lang="zh-CN" altLang="en-US"/>
          </a:p>
        </p:txBody>
      </p:sp>
    </p:spTree>
  </p:cSld>
  <p:clrMapOvr>
    <a:masterClrMapping/>
  </p:clrMapOvr>
  <p:transition spd="slow"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交通事件场景</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介绍</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6" name="文本框 5"/>
          <p:cNvSpPr txBox="1"/>
          <p:nvPr>
            <p:custDataLst>
              <p:tags r:id="rId2"/>
            </p:custDataLst>
          </p:nvPr>
        </p:nvSpPr>
        <p:spPr>
          <a:xfrm>
            <a:off x="652780" y="1084580"/>
            <a:ext cx="3773170" cy="398780"/>
          </a:xfrm>
          <a:prstGeom prst="rect">
            <a:avLst/>
          </a:prstGeom>
          <a:noFill/>
        </p:spPr>
        <p:txBody>
          <a:bodyPr wrap="square" rtlCol="0">
            <a:spAutoFit/>
          </a:bodyPr>
          <a:p>
            <a:pPr algn="l">
              <a:buClrTx/>
              <a:buSzTx/>
              <a:buFontTx/>
            </a:pPr>
            <a:r>
              <a:rPr lang="zh-CN" altLang="en-US" sz="2000">
                <a:solidFill>
                  <a:schemeClr val="accent1">
                    <a:lumMod val="75000"/>
                  </a:schemeClr>
                </a:solidFill>
                <a:sym typeface="+mn-ea"/>
              </a:rPr>
              <a:t>智能网联相关的场景应用</a:t>
            </a:r>
            <a:endParaRPr lang="zh-CN" altLang="en-US" sz="2000">
              <a:solidFill>
                <a:schemeClr val="accent1">
                  <a:lumMod val="75000"/>
                </a:schemeClr>
              </a:solidFill>
            </a:endParaRPr>
          </a:p>
        </p:txBody>
      </p:sp>
      <p:sp>
        <p:nvSpPr>
          <p:cNvPr id="8" name="菱形 7"/>
          <p:cNvSpPr/>
          <p:nvPr>
            <p:custDataLst>
              <p:tags r:id="rId3"/>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
        <p:nvSpPr>
          <p:cNvPr id="11" name="文本框 10"/>
          <p:cNvSpPr txBox="1"/>
          <p:nvPr>
            <p:custDataLst>
              <p:tags r:id="rId4"/>
            </p:custDataLst>
          </p:nvPr>
        </p:nvSpPr>
        <p:spPr>
          <a:xfrm>
            <a:off x="640715" y="1825625"/>
            <a:ext cx="3547110" cy="368300"/>
          </a:xfrm>
          <a:prstGeom prst="rect">
            <a:avLst/>
          </a:prstGeom>
          <a:noFill/>
        </p:spPr>
        <p:txBody>
          <a:bodyPr wrap="square" rtlCol="0">
            <a:spAutoFit/>
          </a:bodyPr>
          <a:p>
            <a:r>
              <a:rPr lang="zh-CN" altLang="en-US" b="1"/>
              <a:t>限速预警</a:t>
            </a:r>
            <a:r>
              <a:rPr lang="zh-CN" altLang="en-US" b="1"/>
              <a:t>技术</a:t>
            </a:r>
            <a:endParaRPr lang="zh-CN" altLang="en-US" b="1"/>
          </a:p>
        </p:txBody>
      </p:sp>
      <p:sp>
        <p:nvSpPr>
          <p:cNvPr id="12" name="文本框 11"/>
          <p:cNvSpPr txBox="1"/>
          <p:nvPr>
            <p:custDataLst>
              <p:tags r:id="rId5"/>
            </p:custDataLst>
          </p:nvPr>
        </p:nvSpPr>
        <p:spPr>
          <a:xfrm>
            <a:off x="671195" y="3056255"/>
            <a:ext cx="4000500" cy="368300"/>
          </a:xfrm>
          <a:prstGeom prst="rect">
            <a:avLst/>
          </a:prstGeom>
          <a:noFill/>
        </p:spPr>
        <p:txBody>
          <a:bodyPr wrap="square" rtlCol="0">
            <a:spAutoFit/>
          </a:bodyPr>
          <a:p>
            <a:r>
              <a:rPr lang="zh-CN" altLang="en-US" b="1"/>
              <a:t>紧急车辆提醒</a:t>
            </a:r>
            <a:r>
              <a:rPr lang="zh-CN" altLang="en-US" b="1"/>
              <a:t>技术</a:t>
            </a:r>
            <a:endParaRPr lang="zh-CN" altLang="en-US" b="1"/>
          </a:p>
        </p:txBody>
      </p:sp>
      <p:sp>
        <p:nvSpPr>
          <p:cNvPr id="13" name="文本框 12"/>
          <p:cNvSpPr txBox="1"/>
          <p:nvPr>
            <p:custDataLst>
              <p:tags r:id="rId6"/>
            </p:custDataLst>
          </p:nvPr>
        </p:nvSpPr>
        <p:spPr>
          <a:xfrm>
            <a:off x="671195" y="4206875"/>
            <a:ext cx="3202305" cy="368300"/>
          </a:xfrm>
          <a:prstGeom prst="rect">
            <a:avLst/>
          </a:prstGeom>
          <a:noFill/>
        </p:spPr>
        <p:txBody>
          <a:bodyPr wrap="square" rtlCol="0">
            <a:spAutoFit/>
          </a:bodyPr>
          <a:p>
            <a:r>
              <a:rPr lang="zh-CN" altLang="en-US" b="1"/>
              <a:t>道路危险状况</a:t>
            </a:r>
            <a:r>
              <a:rPr lang="zh-CN" altLang="en-US" b="1"/>
              <a:t>技术</a:t>
            </a:r>
            <a:endParaRPr lang="zh-CN" altLang="en-US" b="1"/>
          </a:p>
        </p:txBody>
      </p:sp>
      <p:sp>
        <p:nvSpPr>
          <p:cNvPr id="15" name="文本框 14"/>
          <p:cNvSpPr txBox="1"/>
          <p:nvPr>
            <p:custDataLst>
              <p:tags r:id="rId7"/>
            </p:custDataLst>
          </p:nvPr>
        </p:nvSpPr>
        <p:spPr>
          <a:xfrm>
            <a:off x="671195" y="5417185"/>
            <a:ext cx="3330575" cy="368300"/>
          </a:xfrm>
          <a:prstGeom prst="rect">
            <a:avLst/>
          </a:prstGeom>
          <a:noFill/>
        </p:spPr>
        <p:txBody>
          <a:bodyPr wrap="square" rtlCol="0">
            <a:spAutoFit/>
          </a:bodyPr>
          <a:p>
            <a:r>
              <a:rPr lang="zh-CN" altLang="en-US" b="1"/>
              <a:t>前方拥堵</a:t>
            </a:r>
            <a:r>
              <a:rPr lang="zh-CN" altLang="en-US" b="1"/>
              <a:t>提醒</a:t>
            </a:r>
            <a:endParaRPr lang="zh-CN" altLang="en-US" b="1"/>
          </a:p>
        </p:txBody>
      </p:sp>
      <p:sp>
        <p:nvSpPr>
          <p:cNvPr id="4" name="文本框 3"/>
          <p:cNvSpPr txBox="1"/>
          <p:nvPr/>
        </p:nvSpPr>
        <p:spPr>
          <a:xfrm>
            <a:off x="4199890" y="1754505"/>
            <a:ext cx="4645660" cy="922020"/>
          </a:xfrm>
          <a:prstGeom prst="rect">
            <a:avLst/>
          </a:prstGeom>
          <a:noFill/>
        </p:spPr>
        <p:txBody>
          <a:bodyPr wrap="square" rtlCol="0">
            <a:spAutoFit/>
          </a:bodyPr>
          <a:p>
            <a:r>
              <a:rPr lang="zh-CN" altLang="en-US">
                <a:sym typeface="+mn-ea"/>
              </a:rPr>
              <a:t>提醒司机当前道路的</a:t>
            </a:r>
            <a:r>
              <a:rPr lang="zh-CN" altLang="en-US" b="1">
                <a:sym typeface="+mn-ea"/>
              </a:rPr>
              <a:t>限速信息</a:t>
            </a:r>
            <a:r>
              <a:rPr lang="zh-CN" altLang="en-US">
                <a:sym typeface="+mn-ea"/>
              </a:rPr>
              <a:t>，减少违章、超速等危险驾驶行为的出现。</a:t>
            </a:r>
            <a:endParaRPr lang="zh-CN" altLang="en-US"/>
          </a:p>
          <a:p>
            <a:endParaRPr lang="zh-CN" altLang="en-US"/>
          </a:p>
        </p:txBody>
      </p:sp>
      <p:sp>
        <p:nvSpPr>
          <p:cNvPr id="9" name="文本框 8"/>
          <p:cNvSpPr txBox="1"/>
          <p:nvPr/>
        </p:nvSpPr>
        <p:spPr>
          <a:xfrm>
            <a:off x="4199890" y="2814955"/>
            <a:ext cx="4645660" cy="959485"/>
          </a:xfrm>
          <a:prstGeom prst="rect">
            <a:avLst/>
          </a:prstGeom>
          <a:noFill/>
        </p:spPr>
        <p:txBody>
          <a:bodyPr wrap="square" rtlCol="0">
            <a:noAutofit/>
          </a:bodyPr>
          <a:p>
            <a:r>
              <a:rPr lang="zh-CN" altLang="en-US">
                <a:sym typeface="+mn-ea"/>
              </a:rPr>
              <a:t>对交通参与者进行协调，提前</a:t>
            </a:r>
            <a:r>
              <a:rPr lang="zh-CN" altLang="en-US" b="1">
                <a:sym typeface="+mn-ea"/>
              </a:rPr>
              <a:t>给紧急车辆让道</a:t>
            </a:r>
            <a:r>
              <a:rPr lang="zh-CN" altLang="en-US">
                <a:sym typeface="+mn-ea"/>
              </a:rPr>
              <a:t>，满足其快速通行的需要并尽可能减小对当前交通的影响。</a:t>
            </a:r>
            <a:endParaRPr lang="zh-CN" altLang="en-US"/>
          </a:p>
          <a:p>
            <a:endParaRPr lang="zh-CN" altLang="en-US"/>
          </a:p>
        </p:txBody>
      </p:sp>
      <p:sp>
        <p:nvSpPr>
          <p:cNvPr id="35" name="椭圆 34"/>
          <p:cNvSpPr/>
          <p:nvPr>
            <p:custDataLst>
              <p:tags r:id="rId8"/>
            </p:custDataLst>
          </p:nvPr>
        </p:nvSpPr>
        <p:spPr>
          <a:xfrm>
            <a:off x="237446" y="180866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1</a:t>
            </a:r>
            <a:endParaRPr lang="zh-CN" altLang="en-US" sz="1400" b="1" i="1">
              <a:latin typeface="+mj-lt"/>
            </a:endParaRPr>
          </a:p>
        </p:txBody>
      </p:sp>
      <p:sp>
        <p:nvSpPr>
          <p:cNvPr id="14" name="椭圆 13"/>
          <p:cNvSpPr/>
          <p:nvPr>
            <p:custDataLst>
              <p:tags r:id="rId9"/>
            </p:custDataLst>
          </p:nvPr>
        </p:nvSpPr>
        <p:spPr>
          <a:xfrm>
            <a:off x="237446" y="303675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2</a:t>
            </a:r>
            <a:endParaRPr lang="en-US" altLang="zh-CN" sz="1400" b="1" i="1">
              <a:latin typeface="+mj-lt"/>
            </a:endParaRPr>
          </a:p>
        </p:txBody>
      </p:sp>
      <p:sp>
        <p:nvSpPr>
          <p:cNvPr id="16" name="椭圆 15"/>
          <p:cNvSpPr/>
          <p:nvPr>
            <p:custDataLst>
              <p:tags r:id="rId10"/>
            </p:custDataLst>
          </p:nvPr>
        </p:nvSpPr>
        <p:spPr>
          <a:xfrm>
            <a:off x="237446" y="419880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3</a:t>
            </a:r>
            <a:endParaRPr lang="en-US" altLang="zh-CN" sz="1400" b="1" i="1">
              <a:latin typeface="+mj-lt"/>
            </a:endParaRPr>
          </a:p>
        </p:txBody>
      </p:sp>
      <p:sp>
        <p:nvSpPr>
          <p:cNvPr id="17" name="椭圆 16"/>
          <p:cNvSpPr/>
          <p:nvPr>
            <p:custDataLst>
              <p:tags r:id="rId11"/>
            </p:custDataLst>
          </p:nvPr>
        </p:nvSpPr>
        <p:spPr>
          <a:xfrm>
            <a:off x="225381" y="536085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4</a:t>
            </a:r>
            <a:endParaRPr lang="en-US" altLang="zh-CN" sz="1400" b="1" i="1">
              <a:latin typeface="+mj-lt"/>
            </a:endParaRPr>
          </a:p>
        </p:txBody>
      </p:sp>
      <p:cxnSp>
        <p:nvCxnSpPr>
          <p:cNvPr id="19" name="直接箭头连接符 18"/>
          <p:cNvCxnSpPr/>
          <p:nvPr>
            <p:custDataLst>
              <p:tags r:id="rId12"/>
            </p:custDataLst>
          </p:nvPr>
        </p:nvCxnSpPr>
        <p:spPr>
          <a:xfrm>
            <a:off x="2878455" y="2009775"/>
            <a:ext cx="1260000" cy="0"/>
          </a:xfrm>
          <a:prstGeom prst="straightConnector1">
            <a:avLst/>
          </a:prstGeom>
          <a:ln w="66675"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22" name="直接箭头连接符 21"/>
          <p:cNvCxnSpPr/>
          <p:nvPr>
            <p:custDataLst>
              <p:tags r:id="rId13"/>
            </p:custDataLst>
          </p:nvPr>
        </p:nvCxnSpPr>
        <p:spPr>
          <a:xfrm>
            <a:off x="2878455" y="3240405"/>
            <a:ext cx="1260000" cy="0"/>
          </a:xfrm>
          <a:prstGeom prst="straightConnector1">
            <a:avLst/>
          </a:prstGeom>
          <a:ln w="66675"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23" name="直接箭头连接符 22"/>
          <p:cNvCxnSpPr/>
          <p:nvPr>
            <p:custDataLst>
              <p:tags r:id="rId14"/>
            </p:custDataLst>
          </p:nvPr>
        </p:nvCxnSpPr>
        <p:spPr>
          <a:xfrm>
            <a:off x="2878455" y="4381500"/>
            <a:ext cx="1260000" cy="0"/>
          </a:xfrm>
          <a:prstGeom prst="straightConnector1">
            <a:avLst/>
          </a:prstGeom>
          <a:ln w="66675"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custDataLst>
              <p:tags r:id="rId15"/>
            </p:custDataLst>
          </p:nvPr>
        </p:nvCxnSpPr>
        <p:spPr>
          <a:xfrm>
            <a:off x="2878455" y="5608955"/>
            <a:ext cx="1260000" cy="0"/>
          </a:xfrm>
          <a:prstGeom prst="straightConnector1">
            <a:avLst/>
          </a:prstGeom>
          <a:ln w="66675"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4199890" y="5230495"/>
            <a:ext cx="4644390" cy="1198880"/>
          </a:xfrm>
          <a:prstGeom prst="rect">
            <a:avLst/>
          </a:prstGeom>
          <a:noFill/>
        </p:spPr>
        <p:txBody>
          <a:bodyPr wrap="square" rtlCol="0">
            <a:spAutoFit/>
          </a:bodyPr>
          <a:p>
            <a:r>
              <a:rPr lang="zh-CN" altLang="en-US">
                <a:sym typeface="+mn-ea"/>
              </a:rPr>
              <a:t>提醒司机</a:t>
            </a:r>
            <a:r>
              <a:rPr lang="zh-CN" altLang="en-US" b="1">
                <a:sym typeface="+mn-ea"/>
              </a:rPr>
              <a:t>改变行程</a:t>
            </a:r>
            <a:r>
              <a:rPr lang="zh-CN" altLang="en-US">
                <a:sym typeface="+mn-ea"/>
              </a:rPr>
              <a:t>、提前变道规避或者协调道路通行，能有效的提升驾驶体验和提升道路通行效率。</a:t>
            </a:r>
            <a:endParaRPr lang="zh-CN" altLang="en-US"/>
          </a:p>
          <a:p>
            <a:endParaRPr lang="zh-CN" altLang="en-US"/>
          </a:p>
        </p:txBody>
      </p:sp>
      <p:sp>
        <p:nvSpPr>
          <p:cNvPr id="27" name="文本框 26"/>
          <p:cNvSpPr txBox="1"/>
          <p:nvPr/>
        </p:nvSpPr>
        <p:spPr>
          <a:xfrm>
            <a:off x="4199890" y="4180205"/>
            <a:ext cx="4645025" cy="645160"/>
          </a:xfrm>
          <a:prstGeom prst="rect">
            <a:avLst/>
          </a:prstGeom>
          <a:noFill/>
        </p:spPr>
        <p:txBody>
          <a:bodyPr wrap="square" rtlCol="0">
            <a:spAutoFit/>
          </a:bodyPr>
          <a:p>
            <a:r>
              <a:rPr lang="zh-CN" altLang="en-US">
                <a:sym typeface="+mn-ea"/>
              </a:rPr>
              <a:t>让驾驶员提前知晓</a:t>
            </a:r>
            <a:r>
              <a:rPr lang="zh-CN" altLang="en-US" b="1">
                <a:sym typeface="+mn-ea"/>
              </a:rPr>
              <a:t>前方路况</a:t>
            </a:r>
            <a:r>
              <a:rPr lang="zh-CN" altLang="en-US">
                <a:sym typeface="+mn-ea"/>
              </a:rPr>
              <a:t>，从容采取驾驶决策。</a:t>
            </a:r>
            <a:endParaRPr lang="en-US" altLang="zh-CN">
              <a:sym typeface="+mn-ea"/>
            </a:endParaRPr>
          </a:p>
        </p:txBody>
      </p:sp>
    </p:spTree>
  </p:cSld>
  <p:clrMapOvr>
    <a:masterClrMapping/>
  </p:clrMapOvr>
  <p:transition spd="slow"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限速预警技术</a:t>
            </a:r>
            <a:endPar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2" name="图片 1"/>
          <p:cNvPicPr>
            <a:picLocks noChangeAspect="1"/>
          </p:cNvPicPr>
          <p:nvPr/>
        </p:nvPicPr>
        <p:blipFill>
          <a:blip r:embed="rId2"/>
          <a:stretch>
            <a:fillRect/>
          </a:stretch>
        </p:blipFill>
        <p:spPr>
          <a:xfrm>
            <a:off x="3338195" y="2902585"/>
            <a:ext cx="5570220" cy="3581400"/>
          </a:xfrm>
          <a:prstGeom prst="rect">
            <a:avLst/>
          </a:prstGeom>
        </p:spPr>
      </p:pic>
      <p:sp>
        <p:nvSpPr>
          <p:cNvPr id="3" name="文本框 2"/>
          <p:cNvSpPr txBox="1"/>
          <p:nvPr/>
        </p:nvSpPr>
        <p:spPr>
          <a:xfrm>
            <a:off x="237490" y="1570990"/>
            <a:ext cx="8671560" cy="1331595"/>
          </a:xfrm>
          <a:prstGeom prst="rect">
            <a:avLst/>
          </a:prstGeom>
          <a:noFill/>
        </p:spPr>
        <p:txBody>
          <a:bodyPr wrap="square" rtlCol="0">
            <a:noAutofit/>
          </a:bodyPr>
          <a:p>
            <a:pPr indent="457200"/>
            <a:r>
              <a:rPr lang="zh-CN" altLang="en-US" b="1"/>
              <a:t>限速预警（Speed Limit Warning，SLW）</a:t>
            </a:r>
            <a:r>
              <a:rPr lang="zh-CN" altLang="en-US"/>
              <a:t>是指，主车（HV）行驶过程中，在超出限定速度的情况下，限速预警应用</a:t>
            </a:r>
            <a:r>
              <a:rPr lang="zh-CN" altLang="en-US" b="1"/>
              <a:t>对 HV 驾驶员进行预警</a:t>
            </a:r>
            <a:r>
              <a:rPr lang="zh-CN" altLang="en-US"/>
              <a:t>，提醒驾驶员减速行驶。本应用适用于普通道路及高速公路等</a:t>
            </a:r>
            <a:r>
              <a:rPr lang="zh-CN" altLang="en-US" b="1"/>
              <a:t>有限速的道路</a:t>
            </a:r>
            <a:r>
              <a:rPr lang="zh-CN" altLang="en-US"/>
              <a:t>。超速预警应用辅助驾驶员避免超速行驶，消除安全隐患，减少事故发生。</a:t>
            </a:r>
            <a:endParaRPr lang="zh-CN" altLang="en-US"/>
          </a:p>
        </p:txBody>
      </p:sp>
      <p:sp>
        <p:nvSpPr>
          <p:cNvPr id="4" name="文本框 3"/>
          <p:cNvSpPr txBox="1"/>
          <p:nvPr/>
        </p:nvSpPr>
        <p:spPr>
          <a:xfrm>
            <a:off x="95250" y="3429000"/>
            <a:ext cx="3510915" cy="2882265"/>
          </a:xfrm>
          <a:prstGeom prst="rect">
            <a:avLst/>
          </a:prstGeom>
          <a:noFill/>
        </p:spPr>
        <p:txBody>
          <a:bodyPr wrap="square" rtlCol="0">
            <a:noAutofit/>
          </a:bodyPr>
          <a:p>
            <a:pPr indent="457200"/>
            <a:endParaRPr lang="zh-CN" altLang="en-US"/>
          </a:p>
        </p:txBody>
      </p:sp>
      <p:sp>
        <p:nvSpPr>
          <p:cNvPr id="19" name="箭头: 五边形 18"/>
          <p:cNvSpPr/>
          <p:nvPr>
            <p:custDataLst>
              <p:tags r:id="rId3"/>
            </p:custDataLst>
          </p:nvPr>
        </p:nvSpPr>
        <p:spPr>
          <a:xfrm>
            <a:off x="237547" y="1018159"/>
            <a:ext cx="2674768" cy="554447"/>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mj-ea"/>
                <a:ea typeface="+mj-ea"/>
              </a:rPr>
              <a:t>定义</a:t>
            </a:r>
            <a:endParaRPr lang="zh-CN" altLang="en-US" b="1">
              <a:latin typeface="+mj-ea"/>
              <a:ea typeface="+mj-ea"/>
            </a:endParaRPr>
          </a:p>
        </p:txBody>
      </p:sp>
      <p:sp>
        <p:nvSpPr>
          <p:cNvPr id="23" name="箭头: 五边形 22"/>
          <p:cNvSpPr/>
          <p:nvPr>
            <p:custDataLst>
              <p:tags r:id="rId4"/>
            </p:custDataLst>
          </p:nvPr>
        </p:nvSpPr>
        <p:spPr>
          <a:xfrm>
            <a:off x="237293" y="2770759"/>
            <a:ext cx="2674768" cy="554447"/>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mj-ea"/>
                <a:ea typeface="+mj-ea"/>
              </a:rPr>
              <a:t>主要</a:t>
            </a:r>
            <a:r>
              <a:rPr lang="zh-CN" altLang="en-US" b="1">
                <a:latin typeface="+mj-ea"/>
                <a:ea typeface="+mj-ea"/>
              </a:rPr>
              <a:t>场景</a:t>
            </a:r>
            <a:endParaRPr lang="zh-CN" altLang="en-US" b="1">
              <a:latin typeface="+mj-ea"/>
              <a:ea typeface="+mj-ea"/>
            </a:endParaRPr>
          </a:p>
        </p:txBody>
      </p:sp>
      <p:sp>
        <p:nvSpPr>
          <p:cNvPr id="11" name="文本框 10"/>
          <p:cNvSpPr txBox="1"/>
          <p:nvPr/>
        </p:nvSpPr>
        <p:spPr>
          <a:xfrm>
            <a:off x="237490" y="3325495"/>
            <a:ext cx="3582670" cy="3415030"/>
          </a:xfrm>
          <a:prstGeom prst="rect">
            <a:avLst/>
          </a:prstGeom>
          <a:noFill/>
        </p:spPr>
        <p:txBody>
          <a:bodyPr wrap="square" rtlCol="0">
            <a:spAutoFit/>
          </a:bodyPr>
          <a:p>
            <a:pPr>
              <a:lnSpc>
                <a:spcPct val="150000"/>
              </a:lnSpc>
              <a:buFont typeface="Wingdings" panose="05000000000000000000" pitchFamily="2" charset="2"/>
              <a:buChar char="n"/>
            </a:pPr>
            <a:r>
              <a:rPr lang="zh-CN" altLang="en-US">
                <a:sym typeface="+mn-ea"/>
              </a:rPr>
              <a:t>HV 和 RSU 需具备</a:t>
            </a:r>
            <a:r>
              <a:rPr lang="zh-CN" altLang="en-US" b="1">
                <a:sym typeface="+mn-ea"/>
              </a:rPr>
              <a:t>短程无线通信能力</a:t>
            </a:r>
            <a:r>
              <a:rPr lang="zh-CN" altLang="en-US">
                <a:sym typeface="+mn-ea"/>
              </a:rPr>
              <a:t>；</a:t>
            </a:r>
            <a:endParaRPr lang="zh-CN" altLang="en-US"/>
          </a:p>
          <a:p>
            <a:pPr>
              <a:lnSpc>
                <a:spcPct val="150000"/>
              </a:lnSpc>
              <a:buFont typeface="Wingdings" panose="05000000000000000000" pitchFamily="2" charset="2"/>
              <a:buChar char="n"/>
            </a:pPr>
            <a:r>
              <a:rPr lang="zh-CN" altLang="en-US">
                <a:sym typeface="+mn-ea"/>
              </a:rPr>
              <a:t>HV 行驶时，RSU 周期性发送特定路段的</a:t>
            </a:r>
            <a:r>
              <a:rPr lang="zh-CN" altLang="en-US" b="1">
                <a:sym typeface="+mn-ea"/>
              </a:rPr>
              <a:t>限速信息</a:t>
            </a:r>
            <a:r>
              <a:rPr lang="zh-CN" altLang="en-US">
                <a:sym typeface="+mn-ea"/>
              </a:rPr>
              <a:t>；</a:t>
            </a:r>
            <a:endParaRPr lang="zh-CN" altLang="en-US"/>
          </a:p>
          <a:p>
            <a:pPr>
              <a:lnSpc>
                <a:spcPct val="150000"/>
              </a:lnSpc>
              <a:buFont typeface="Wingdings" panose="05000000000000000000" pitchFamily="2" charset="2"/>
              <a:buChar char="n"/>
            </a:pPr>
            <a:r>
              <a:rPr lang="zh-CN" altLang="en-US">
                <a:sym typeface="+mn-ea"/>
              </a:rPr>
              <a:t>当 HV 判断自己在 RSU 指示的特定路段，且车速</a:t>
            </a:r>
            <a:r>
              <a:rPr lang="zh-CN" altLang="en-US" b="1">
                <a:sym typeface="+mn-ea"/>
              </a:rPr>
              <a:t>超过 RSU 的速度限值</a:t>
            </a:r>
            <a:r>
              <a:rPr lang="zh-CN" altLang="en-US">
                <a:sym typeface="+mn-ea"/>
              </a:rPr>
              <a:t>时，SLW应用对 HV 驾驶员发出预警，提醒驾驶员减速行驶。</a:t>
            </a:r>
            <a:endParaRPr lang="zh-CN" altLang="en-US"/>
          </a:p>
        </p:txBody>
      </p:sp>
    </p:spTree>
  </p:cSld>
  <p:clrMapOvr>
    <a:masterClrMapping/>
  </p:clrMapOvr>
  <p:transition spd="slow"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SLW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工作</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原理</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文本框 2"/>
          <p:cNvSpPr txBox="1"/>
          <p:nvPr/>
        </p:nvSpPr>
        <p:spPr>
          <a:xfrm>
            <a:off x="796290" y="4815205"/>
            <a:ext cx="8338185" cy="706755"/>
          </a:xfrm>
          <a:prstGeom prst="rect">
            <a:avLst/>
          </a:prstGeom>
          <a:noFill/>
        </p:spPr>
        <p:txBody>
          <a:bodyPr wrap="square" rtlCol="0">
            <a:spAutoFit/>
          </a:bodyPr>
          <a:p>
            <a:r>
              <a:rPr lang="zh-CN" altLang="en-US" sz="2000"/>
              <a:t>如果不满足限速要求，则触发超速报警。系统通过 HMI 对 HV 驾驶员进行相应的</a:t>
            </a:r>
            <a:r>
              <a:rPr lang="zh-CN" altLang="en-US" sz="2000" b="1"/>
              <a:t>限速预警</a:t>
            </a:r>
            <a:r>
              <a:rPr lang="zh-CN" altLang="en-US" sz="2000"/>
              <a:t>，提醒驾驶员减速。</a:t>
            </a:r>
            <a:endParaRPr lang="zh-CN" altLang="en-US"/>
          </a:p>
        </p:txBody>
      </p:sp>
      <p:sp>
        <p:nvSpPr>
          <p:cNvPr id="35" name="椭圆 34"/>
          <p:cNvSpPr/>
          <p:nvPr>
            <p:custDataLst>
              <p:tags r:id="rId2"/>
            </p:custDataLst>
          </p:nvPr>
        </p:nvSpPr>
        <p:spPr>
          <a:xfrm>
            <a:off x="227921" y="126319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1</a:t>
            </a:r>
            <a:endParaRPr lang="zh-CN" altLang="en-US" sz="1400" b="1" i="1">
              <a:latin typeface="+mj-lt"/>
            </a:endParaRPr>
          </a:p>
        </p:txBody>
      </p:sp>
      <p:sp>
        <p:nvSpPr>
          <p:cNvPr id="14" name="椭圆 13"/>
          <p:cNvSpPr/>
          <p:nvPr>
            <p:custDataLst>
              <p:tags r:id="rId3"/>
            </p:custDataLst>
          </p:nvPr>
        </p:nvSpPr>
        <p:spPr>
          <a:xfrm>
            <a:off x="227921" y="249128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2</a:t>
            </a:r>
            <a:endParaRPr lang="en-US" altLang="zh-CN" sz="1400" b="1" i="1">
              <a:latin typeface="+mj-lt"/>
            </a:endParaRPr>
          </a:p>
        </p:txBody>
      </p:sp>
      <p:sp>
        <p:nvSpPr>
          <p:cNvPr id="16" name="椭圆 15"/>
          <p:cNvSpPr/>
          <p:nvPr>
            <p:custDataLst>
              <p:tags r:id="rId4"/>
            </p:custDataLst>
          </p:nvPr>
        </p:nvSpPr>
        <p:spPr>
          <a:xfrm>
            <a:off x="227921" y="365333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3</a:t>
            </a:r>
            <a:endParaRPr lang="en-US" altLang="zh-CN" sz="1400" b="1" i="1">
              <a:latin typeface="+mj-lt"/>
            </a:endParaRPr>
          </a:p>
        </p:txBody>
      </p:sp>
      <p:sp>
        <p:nvSpPr>
          <p:cNvPr id="17" name="椭圆 16"/>
          <p:cNvSpPr/>
          <p:nvPr>
            <p:custDataLst>
              <p:tags r:id="rId5"/>
            </p:custDataLst>
          </p:nvPr>
        </p:nvSpPr>
        <p:spPr>
          <a:xfrm>
            <a:off x="215856" y="481538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4</a:t>
            </a:r>
            <a:endParaRPr lang="en-US" altLang="zh-CN" sz="1400" b="1" i="1">
              <a:latin typeface="+mj-lt"/>
            </a:endParaRPr>
          </a:p>
        </p:txBody>
      </p:sp>
      <p:sp>
        <p:nvSpPr>
          <p:cNvPr id="4" name="文本框 3"/>
          <p:cNvSpPr txBox="1"/>
          <p:nvPr/>
        </p:nvSpPr>
        <p:spPr>
          <a:xfrm>
            <a:off x="796290" y="1302385"/>
            <a:ext cx="7402830" cy="398780"/>
          </a:xfrm>
          <a:prstGeom prst="rect">
            <a:avLst/>
          </a:prstGeom>
          <a:noFill/>
        </p:spPr>
        <p:txBody>
          <a:bodyPr wrap="square" rtlCol="0">
            <a:spAutoFit/>
          </a:bodyPr>
          <a:p>
            <a:r>
              <a:rPr lang="zh-CN" altLang="en-US" sz="2000">
                <a:sym typeface="+mn-ea"/>
              </a:rPr>
              <a:t>HV 分析接收到的 RSU 消息。提取限速</a:t>
            </a:r>
            <a:r>
              <a:rPr lang="zh-CN" altLang="en-US" sz="2000" b="1">
                <a:sym typeface="+mn-ea"/>
              </a:rPr>
              <a:t>路段信息和具体限速</a:t>
            </a:r>
            <a:r>
              <a:rPr lang="zh-CN" altLang="en-US" sz="2000">
                <a:sym typeface="+mn-ea"/>
              </a:rPr>
              <a:t>大小；</a:t>
            </a:r>
            <a:endParaRPr lang="zh-CN" altLang="en-US" sz="2000"/>
          </a:p>
        </p:txBody>
      </p:sp>
      <p:sp>
        <p:nvSpPr>
          <p:cNvPr id="6" name="文本框 5"/>
          <p:cNvSpPr txBox="1"/>
          <p:nvPr/>
        </p:nvSpPr>
        <p:spPr>
          <a:xfrm>
            <a:off x="796290" y="2519045"/>
            <a:ext cx="7969250" cy="398780"/>
          </a:xfrm>
          <a:prstGeom prst="rect">
            <a:avLst/>
          </a:prstGeom>
          <a:noFill/>
        </p:spPr>
        <p:txBody>
          <a:bodyPr wrap="square" rtlCol="0">
            <a:spAutoFit/>
          </a:bodyPr>
          <a:p>
            <a:r>
              <a:rPr lang="zh-CN" altLang="en-US" sz="2000">
                <a:sym typeface="+mn-ea"/>
              </a:rPr>
              <a:t>HV 根据自车本身的定位和行驶方向，将自身</a:t>
            </a:r>
            <a:r>
              <a:rPr lang="zh-CN" altLang="en-US" sz="2000" b="1">
                <a:sym typeface="+mn-ea"/>
              </a:rPr>
              <a:t>定位</a:t>
            </a:r>
            <a:r>
              <a:rPr lang="zh-CN" altLang="en-US" sz="2000">
                <a:sym typeface="+mn-ea"/>
              </a:rPr>
              <a:t>到特定路段上；</a:t>
            </a:r>
            <a:endParaRPr lang="zh-CN" altLang="en-US" sz="2000"/>
          </a:p>
        </p:txBody>
      </p:sp>
      <p:sp>
        <p:nvSpPr>
          <p:cNvPr id="8" name="文本框 7"/>
          <p:cNvSpPr txBox="1"/>
          <p:nvPr/>
        </p:nvSpPr>
        <p:spPr>
          <a:xfrm>
            <a:off x="796925" y="3667125"/>
            <a:ext cx="8337550" cy="398780"/>
          </a:xfrm>
          <a:prstGeom prst="rect">
            <a:avLst/>
          </a:prstGeom>
          <a:noFill/>
        </p:spPr>
        <p:txBody>
          <a:bodyPr wrap="square" rtlCol="0">
            <a:spAutoFit/>
          </a:bodyPr>
          <a:p>
            <a:r>
              <a:rPr lang="zh-CN" altLang="en-US" sz="2000">
                <a:sym typeface="+mn-ea"/>
              </a:rPr>
              <a:t>如果 HV 检测到自己处在限速路段区域内，则</a:t>
            </a:r>
            <a:r>
              <a:rPr lang="zh-CN" altLang="en-US" sz="2000" b="1">
                <a:sym typeface="+mn-ea"/>
              </a:rPr>
              <a:t>判断自身</a:t>
            </a:r>
            <a:r>
              <a:rPr lang="zh-CN" altLang="en-US" sz="2000">
                <a:sym typeface="+mn-ea"/>
              </a:rPr>
              <a:t>是否在限速范围内；</a:t>
            </a:r>
            <a:endParaRPr lang="zh-CN" altLang="en-US"/>
          </a:p>
        </p:txBody>
      </p:sp>
    </p:spTree>
  </p:cSld>
  <p:clrMapOvr>
    <a:masterClrMapping/>
  </p:clrMapOvr>
  <p:transition spd="slow"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SLW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算法</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实现</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5" name="椭圆 34"/>
          <p:cNvSpPr/>
          <p:nvPr>
            <p:custDataLst>
              <p:tags r:id="rId2"/>
            </p:custDataLst>
          </p:nvPr>
        </p:nvSpPr>
        <p:spPr>
          <a:xfrm>
            <a:off x="206966" y="120350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1</a:t>
            </a:r>
            <a:endParaRPr lang="zh-CN" altLang="en-US" sz="1400" b="1" i="1">
              <a:latin typeface="+mj-lt"/>
            </a:endParaRPr>
          </a:p>
        </p:txBody>
      </p:sp>
      <p:sp>
        <p:nvSpPr>
          <p:cNvPr id="14" name="椭圆 13"/>
          <p:cNvSpPr/>
          <p:nvPr>
            <p:custDataLst>
              <p:tags r:id="rId3"/>
            </p:custDataLst>
          </p:nvPr>
        </p:nvSpPr>
        <p:spPr>
          <a:xfrm>
            <a:off x="176486" y="416133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2</a:t>
            </a:r>
            <a:endParaRPr lang="en-US" altLang="zh-CN" sz="1400" b="1" i="1">
              <a:latin typeface="+mj-lt"/>
            </a:endParaRPr>
          </a:p>
        </p:txBody>
      </p:sp>
      <p:sp>
        <p:nvSpPr>
          <p:cNvPr id="6" name="文本框 5"/>
          <p:cNvSpPr txBox="1"/>
          <p:nvPr/>
        </p:nvSpPr>
        <p:spPr>
          <a:xfrm>
            <a:off x="713105" y="1108710"/>
            <a:ext cx="8079740" cy="645160"/>
          </a:xfrm>
          <a:prstGeom prst="rect">
            <a:avLst/>
          </a:prstGeom>
          <a:noFill/>
        </p:spPr>
        <p:txBody>
          <a:bodyPr wrap="square" rtlCol="0">
            <a:spAutoFit/>
          </a:bodyPr>
          <a:p>
            <a:r>
              <a:rPr lang="zh-CN" altLang="en-US" b="1">
                <a:solidFill>
                  <a:schemeClr val="tx1"/>
                </a:solidFill>
                <a:sym typeface="+mn-ea"/>
              </a:rPr>
              <a:t>定义一个函数 doSLW</a:t>
            </a:r>
            <a:r>
              <a:rPr lang="zh-CN" altLang="en-US">
                <a:sym typeface="+mn-ea"/>
              </a:rPr>
              <a:t>，它接受三个参数：hvInfo 和 spdLmt。hvInfo 表示主车的信息，spdLmt 表示主车所在道路的限速；</a:t>
            </a:r>
            <a:endParaRPr lang="zh-CN" altLang="en-US"/>
          </a:p>
        </p:txBody>
      </p:sp>
      <p:sp>
        <p:nvSpPr>
          <p:cNvPr id="15" name="文本框 14"/>
          <p:cNvSpPr txBox="1"/>
          <p:nvPr/>
        </p:nvSpPr>
        <p:spPr>
          <a:xfrm>
            <a:off x="640715" y="4190365"/>
            <a:ext cx="8152130" cy="922020"/>
          </a:xfrm>
          <a:prstGeom prst="rect">
            <a:avLst/>
          </a:prstGeom>
          <a:noFill/>
        </p:spPr>
        <p:txBody>
          <a:bodyPr wrap="square" rtlCol="0">
            <a:spAutoFit/>
          </a:bodyPr>
          <a:p>
            <a:r>
              <a:rPr lang="zh-CN" altLang="en-US">
                <a:sym typeface="+mn-ea"/>
              </a:rPr>
              <a:t>函数内部首先</a:t>
            </a:r>
            <a:r>
              <a:rPr lang="zh-CN" altLang="en-US" b="1">
                <a:sym typeface="+mn-ea"/>
              </a:rPr>
              <a:t>初始化两个变量</a:t>
            </a:r>
            <a:r>
              <a:rPr lang="zh-CN" altLang="en-US">
                <a:sym typeface="+mn-ea"/>
              </a:rPr>
              <a:t>：warningFlag 和 adviser。warningFlag 表示预警等级，0 表示无需预警，1 表示需要减速预警。adviser 表示建议类型，keep 表示保持当前状态，slow_down 表示减速行驶；</a:t>
            </a:r>
            <a:endParaRPr lang="zh-CN" altLang="en-US"/>
          </a:p>
        </p:txBody>
      </p:sp>
      <p:sp>
        <p:nvSpPr>
          <p:cNvPr id="18" name="文本框 17"/>
          <p:cNvSpPr txBox="1"/>
          <p:nvPr/>
        </p:nvSpPr>
        <p:spPr>
          <a:xfrm>
            <a:off x="713105" y="1818640"/>
            <a:ext cx="4572000" cy="2306955"/>
          </a:xfrm>
          <a:prstGeom prst="rect">
            <a:avLst/>
          </a:prstGeom>
          <a:noFill/>
        </p:spPr>
        <p:txBody>
          <a:bodyPr wrap="square" rtlCol="0" anchor="t">
            <a:spAutoFit/>
          </a:bodyPr>
          <a:p>
            <a:r>
              <a:rPr lang="zh-CN" altLang="en-US">
                <a:sym typeface="+mn-ea"/>
              </a:rPr>
              <a:t>def doSLW(hvInfo:Hv_Info, spdLmt:float):  </a:t>
            </a:r>
            <a:endParaRPr lang="zh-CN" altLang="en-US"/>
          </a:p>
          <a:p>
            <a:r>
              <a:rPr lang="zh-CN" altLang="en-US">
                <a:sym typeface="+mn-ea"/>
              </a:rPr>
              <a:t>     """</a:t>
            </a:r>
            <a:endParaRPr lang="zh-CN" altLang="en-US"/>
          </a:p>
          <a:p>
            <a:r>
              <a:rPr lang="zh-CN" altLang="en-US">
                <a:sym typeface="+mn-ea"/>
              </a:rPr>
              <a:t>     Args:</a:t>
            </a:r>
            <a:endParaRPr lang="zh-CN" altLang="en-US"/>
          </a:p>
          <a:p>
            <a:r>
              <a:rPr lang="zh-CN" altLang="en-US">
                <a:sym typeface="+mn-ea"/>
              </a:rPr>
              <a:t>         hvInfo (Hv_Info): [description]</a:t>
            </a:r>
            <a:endParaRPr lang="zh-CN" altLang="en-US"/>
          </a:p>
          <a:p>
            <a:r>
              <a:rPr lang="zh-CN" altLang="en-US">
                <a:sym typeface="+mn-ea"/>
              </a:rPr>
              <a:t>         spdLmt (float): [description]</a:t>
            </a:r>
            <a:endParaRPr lang="zh-CN" altLang="en-US"/>
          </a:p>
          <a:p>
            <a:r>
              <a:rPr lang="zh-CN" altLang="en-US">
                <a:sym typeface="+mn-ea"/>
              </a:rPr>
              <a:t>     Returns:</a:t>
            </a:r>
            <a:endParaRPr lang="zh-CN" altLang="en-US"/>
          </a:p>
          <a:p>
            <a:r>
              <a:rPr lang="zh-CN" altLang="en-US">
                <a:sym typeface="+mn-ea"/>
              </a:rPr>
              <a:t>         int: [description]</a:t>
            </a:r>
            <a:endParaRPr lang="zh-CN" altLang="en-US"/>
          </a:p>
          <a:p>
            <a:r>
              <a:rPr lang="zh-CN" altLang="en-US">
                <a:sym typeface="+mn-ea"/>
              </a:rPr>
              <a:t>     """      </a:t>
            </a:r>
            <a:endParaRPr lang="zh-CN" altLang="en-US">
              <a:sym typeface="+mn-ea"/>
            </a:endParaRPr>
          </a:p>
        </p:txBody>
      </p:sp>
      <p:sp>
        <p:nvSpPr>
          <p:cNvPr id="19" name="文本框 18"/>
          <p:cNvSpPr txBox="1"/>
          <p:nvPr/>
        </p:nvSpPr>
        <p:spPr>
          <a:xfrm>
            <a:off x="713105" y="5247005"/>
            <a:ext cx="7204710" cy="645160"/>
          </a:xfrm>
          <a:prstGeom prst="rect">
            <a:avLst/>
          </a:prstGeom>
          <a:noFill/>
        </p:spPr>
        <p:txBody>
          <a:bodyPr wrap="square" rtlCol="0">
            <a:spAutoFit/>
          </a:bodyPr>
          <a:p>
            <a:r>
              <a:rPr lang="zh-CN" altLang="en-US">
                <a:sym typeface="+mn-ea"/>
              </a:rPr>
              <a:t>     warningFlag = 0  </a:t>
            </a:r>
            <a:endParaRPr lang="zh-CN" altLang="en-US"/>
          </a:p>
          <a:p>
            <a:r>
              <a:rPr lang="zh-CN" altLang="en-US">
                <a:sym typeface="+mn-ea"/>
              </a:rPr>
              <a:t>     adviser = Advise.keep </a:t>
            </a:r>
            <a:endParaRPr lang="zh-CN" altLang="en-US"/>
          </a:p>
        </p:txBody>
      </p:sp>
    </p:spTree>
  </p:cSld>
  <p:clrMapOvr>
    <a:masterClrMapping/>
  </p:clrMapOvr>
  <p:transition spd="slow"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SLW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算法</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实现</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20" name="椭圆 19"/>
          <p:cNvSpPr/>
          <p:nvPr>
            <p:custDataLst>
              <p:tags r:id="rId2"/>
            </p:custDataLst>
          </p:nvPr>
        </p:nvSpPr>
        <p:spPr>
          <a:xfrm>
            <a:off x="238716" y="119906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3</a:t>
            </a:r>
            <a:endParaRPr lang="en-US" altLang="zh-CN" sz="1400" b="1" i="1">
              <a:latin typeface="+mj-lt"/>
            </a:endParaRPr>
          </a:p>
        </p:txBody>
      </p:sp>
      <p:sp>
        <p:nvSpPr>
          <p:cNvPr id="21" name="文本框 20"/>
          <p:cNvSpPr txBox="1"/>
          <p:nvPr>
            <p:custDataLst>
              <p:tags r:id="rId3"/>
            </p:custDataLst>
          </p:nvPr>
        </p:nvSpPr>
        <p:spPr>
          <a:xfrm>
            <a:off x="753110" y="1198880"/>
            <a:ext cx="8087360" cy="645160"/>
          </a:xfrm>
          <a:prstGeom prst="rect">
            <a:avLst/>
          </a:prstGeom>
          <a:noFill/>
        </p:spPr>
        <p:txBody>
          <a:bodyPr wrap="square" rtlCol="0">
            <a:spAutoFit/>
          </a:bodyPr>
          <a:p>
            <a:r>
              <a:rPr lang="zh-CN" altLang="en-US" b="1">
                <a:sym typeface="+mn-ea"/>
              </a:rPr>
              <a:t>从 hvInfo 中</a:t>
            </a:r>
            <a:r>
              <a:rPr lang="zh-CN" altLang="en-US" b="1">
                <a:sym typeface="+mn-ea"/>
              </a:rPr>
              <a:t>提取主车</a:t>
            </a:r>
            <a:r>
              <a:rPr lang="zh-CN" altLang="en-US">
                <a:sym typeface="+mn-ea"/>
              </a:rPr>
              <a:t>的 xy 坐标、速度、航向角、尺寸和车辆类型，并赋值给相应的变量；</a:t>
            </a:r>
            <a:endParaRPr lang="zh-CN" altLang="en-US"/>
          </a:p>
        </p:txBody>
      </p:sp>
      <p:sp>
        <p:nvSpPr>
          <p:cNvPr id="22" name="文本框 21"/>
          <p:cNvSpPr txBox="1"/>
          <p:nvPr/>
        </p:nvSpPr>
        <p:spPr>
          <a:xfrm>
            <a:off x="648335" y="1996440"/>
            <a:ext cx="8647430" cy="3415030"/>
          </a:xfrm>
          <a:prstGeom prst="rect">
            <a:avLst/>
          </a:prstGeom>
          <a:noFill/>
        </p:spPr>
        <p:txBody>
          <a:bodyPr wrap="square" rtlCol="0">
            <a:spAutoFit/>
          </a:bodyPr>
          <a:p>
            <a:r>
              <a:rPr lang="zh-CN" altLang="en-US">
                <a:sym typeface="+mn-ea"/>
              </a:rPr>
              <a:t>     # 主车 hv 信息  </a:t>
            </a:r>
            <a:endParaRPr lang="zh-CN" altLang="en-US"/>
          </a:p>
          <a:p>
            <a:r>
              <a:rPr lang="zh-CN" altLang="en-US">
                <a:sym typeface="+mn-ea"/>
              </a:rPr>
              <a:t>     # xy 坐标  </a:t>
            </a:r>
            <a:endParaRPr lang="zh-CN" altLang="en-US"/>
          </a:p>
          <a:p>
            <a:r>
              <a:rPr lang="zh-CN" altLang="en-US">
                <a:sym typeface="+mn-ea"/>
              </a:rPr>
              <a:t>     hv_x, hv_y = my_gps2xyz_ver2(hvInfo.lle.longitude_, hvInfo.lle.latitude_)</a:t>
            </a:r>
            <a:endParaRPr lang="zh-CN" altLang="en-US">
              <a:sym typeface="+mn-ea"/>
            </a:endParaRPr>
          </a:p>
          <a:p>
            <a:r>
              <a:rPr lang="zh-CN" altLang="en-US">
                <a:sym typeface="+mn-ea"/>
              </a:rPr>
              <a:t>     # 速度  </a:t>
            </a:r>
            <a:endParaRPr lang="zh-CN" altLang="en-US"/>
          </a:p>
          <a:p>
            <a:r>
              <a:rPr lang="zh-CN" altLang="en-US">
                <a:sym typeface="+mn-ea"/>
              </a:rPr>
              <a:t>     hv_speed = hvInfo.speed  </a:t>
            </a:r>
            <a:endParaRPr lang="zh-CN" altLang="en-US"/>
          </a:p>
          <a:p>
            <a:r>
              <a:rPr lang="zh-CN" altLang="en-US">
                <a:sym typeface="+mn-ea"/>
              </a:rPr>
              <a:t>     # 航向角  </a:t>
            </a:r>
            <a:endParaRPr lang="zh-CN" altLang="en-US"/>
          </a:p>
          <a:p>
            <a:r>
              <a:rPr lang="zh-CN" altLang="en-US">
                <a:sym typeface="+mn-ea"/>
              </a:rPr>
              <a:t>     hv_heading = hvInfo.mv.angle_  </a:t>
            </a:r>
            <a:endParaRPr lang="zh-CN" altLang="en-US"/>
          </a:p>
          <a:p>
            <a:r>
              <a:rPr lang="zh-CN" altLang="en-US">
                <a:sym typeface="+mn-ea"/>
              </a:rPr>
              <a:t>     # 尺寸  </a:t>
            </a:r>
            <a:endParaRPr lang="zh-CN" altLang="en-US"/>
          </a:p>
          <a:p>
            <a:r>
              <a:rPr lang="zh-CN" altLang="en-US">
                <a:sym typeface="+mn-ea"/>
              </a:rPr>
              <a:t>     hv_width, hv_length = hvInfo.size.width_, hvInfo.size.length_  </a:t>
            </a:r>
            <a:endParaRPr lang="zh-CN" altLang="en-US"/>
          </a:p>
          <a:p>
            <a:r>
              <a:rPr lang="zh-CN" altLang="en-US">
                <a:sym typeface="+mn-ea"/>
              </a:rPr>
              <a:t>     # 车辆类型  </a:t>
            </a:r>
            <a:endParaRPr lang="zh-CN" altLang="en-US"/>
          </a:p>
          <a:p>
            <a:r>
              <a:rPr lang="zh-CN" altLang="en-US">
                <a:sym typeface="+mn-ea"/>
              </a:rPr>
              <a:t>     hv_class = hvInfo.vehClass  </a:t>
            </a:r>
            <a:endParaRPr lang="zh-CN" altLang="en-US"/>
          </a:p>
          <a:p>
            <a:endParaRPr lang="zh-CN" altLang="en-US"/>
          </a:p>
        </p:txBody>
      </p:sp>
    </p:spTree>
  </p:cSld>
  <p:clrMapOvr>
    <a:masterClrMapping/>
  </p:clrMapOvr>
  <p:transition spd="slow"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SLW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算法</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实现</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p:cNvSpPr txBox="1"/>
          <p:nvPr/>
        </p:nvSpPr>
        <p:spPr>
          <a:xfrm>
            <a:off x="911225" y="4399915"/>
            <a:ext cx="7280275" cy="368300"/>
          </a:xfrm>
          <a:prstGeom prst="rect">
            <a:avLst/>
          </a:prstGeom>
          <a:noFill/>
        </p:spPr>
        <p:txBody>
          <a:bodyPr wrap="square" rtlCol="0">
            <a:spAutoFit/>
          </a:bodyPr>
          <a:p>
            <a:r>
              <a:rPr lang="zh-CN" altLang="en-US">
                <a:sym typeface="+mn-ea"/>
              </a:rPr>
              <a:t>     return warningFlag, adviser</a:t>
            </a:r>
            <a:endParaRPr lang="zh-CN" altLang="en-US"/>
          </a:p>
        </p:txBody>
      </p:sp>
      <p:sp>
        <p:nvSpPr>
          <p:cNvPr id="6" name="椭圆 5"/>
          <p:cNvSpPr/>
          <p:nvPr>
            <p:custDataLst>
              <p:tags r:id="rId2"/>
            </p:custDataLst>
          </p:nvPr>
        </p:nvSpPr>
        <p:spPr>
          <a:xfrm>
            <a:off x="309836" y="375938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5</a:t>
            </a:r>
            <a:endParaRPr lang="en-US" altLang="zh-CN" sz="1400" b="1" i="1">
              <a:latin typeface="+mj-lt"/>
            </a:endParaRPr>
          </a:p>
        </p:txBody>
      </p:sp>
      <p:sp>
        <p:nvSpPr>
          <p:cNvPr id="12" name="文本框 11"/>
          <p:cNvSpPr txBox="1"/>
          <p:nvPr>
            <p:custDataLst>
              <p:tags r:id="rId3"/>
            </p:custDataLst>
          </p:nvPr>
        </p:nvSpPr>
        <p:spPr>
          <a:xfrm>
            <a:off x="911225" y="3825240"/>
            <a:ext cx="7321550" cy="368300"/>
          </a:xfrm>
          <a:prstGeom prst="rect">
            <a:avLst/>
          </a:prstGeom>
          <a:noFill/>
        </p:spPr>
        <p:txBody>
          <a:bodyPr wrap="square" rtlCol="0">
            <a:spAutoFit/>
          </a:bodyPr>
          <a:p>
            <a:r>
              <a:rPr lang="zh-CN" altLang="en-US">
                <a:sym typeface="+mn-ea"/>
              </a:rPr>
              <a:t>最终</a:t>
            </a:r>
            <a:r>
              <a:rPr lang="zh-CN" altLang="en-US" b="1">
                <a:sym typeface="+mn-ea"/>
              </a:rPr>
              <a:t>返回 </a:t>
            </a:r>
            <a:r>
              <a:rPr lang="zh-CN" altLang="en-US">
                <a:sym typeface="+mn-ea"/>
              </a:rPr>
              <a:t>warningFlag 和 adviser 作为函数输出。</a:t>
            </a:r>
            <a:endParaRPr lang="zh-CN" altLang="en-US"/>
          </a:p>
        </p:txBody>
      </p:sp>
      <p:sp>
        <p:nvSpPr>
          <p:cNvPr id="9" name="椭圆 8"/>
          <p:cNvSpPr/>
          <p:nvPr>
            <p:custDataLst>
              <p:tags r:id="rId4"/>
            </p:custDataLst>
          </p:nvPr>
        </p:nvSpPr>
        <p:spPr>
          <a:xfrm>
            <a:off x="309836" y="126256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4</a:t>
            </a:r>
            <a:endParaRPr lang="en-US" altLang="zh-CN" sz="1400" b="1" i="1">
              <a:latin typeface="+mj-lt"/>
            </a:endParaRPr>
          </a:p>
        </p:txBody>
      </p:sp>
      <p:sp>
        <p:nvSpPr>
          <p:cNvPr id="10" name="文本框 9"/>
          <p:cNvSpPr txBox="1"/>
          <p:nvPr>
            <p:custDataLst>
              <p:tags r:id="rId5"/>
            </p:custDataLst>
          </p:nvPr>
        </p:nvSpPr>
        <p:spPr>
          <a:xfrm>
            <a:off x="911225" y="1262380"/>
            <a:ext cx="7321550" cy="645160"/>
          </a:xfrm>
          <a:prstGeom prst="rect">
            <a:avLst/>
          </a:prstGeom>
          <a:noFill/>
        </p:spPr>
        <p:txBody>
          <a:bodyPr wrap="square" rtlCol="0">
            <a:spAutoFit/>
          </a:bodyPr>
          <a:p>
            <a:r>
              <a:rPr lang="zh-CN" altLang="en-US" b="1">
                <a:sym typeface="+mn-ea"/>
              </a:rPr>
              <a:t>判断主车速度</a:t>
            </a:r>
            <a:r>
              <a:rPr lang="zh-CN" altLang="en-US">
                <a:sym typeface="+mn-ea"/>
              </a:rPr>
              <a:t>是否大于道路限速 spdLmt，如果是，则将 warningFlag 设为 1，并将adviser 设为 slow_down； </a:t>
            </a:r>
            <a:endParaRPr lang="zh-CN" altLang="en-US"/>
          </a:p>
        </p:txBody>
      </p:sp>
      <p:sp>
        <p:nvSpPr>
          <p:cNvPr id="13" name="文本框 12"/>
          <p:cNvSpPr txBox="1"/>
          <p:nvPr/>
        </p:nvSpPr>
        <p:spPr>
          <a:xfrm>
            <a:off x="911225" y="2042795"/>
            <a:ext cx="3533140" cy="1476375"/>
          </a:xfrm>
          <a:prstGeom prst="rect">
            <a:avLst/>
          </a:prstGeom>
          <a:noFill/>
        </p:spPr>
        <p:txBody>
          <a:bodyPr wrap="square" rtlCol="0">
            <a:spAutoFit/>
          </a:bodyPr>
          <a:p>
            <a:r>
              <a:rPr lang="zh-CN" altLang="en-US">
                <a:sym typeface="+mn-ea"/>
              </a:rPr>
              <a:t>     spdLmt = spdLmt / 3.6  </a:t>
            </a:r>
            <a:endParaRPr lang="zh-CN" altLang="en-US"/>
          </a:p>
          <a:p>
            <a:r>
              <a:rPr lang="zh-CN" altLang="en-US">
                <a:sym typeface="+mn-ea"/>
              </a:rPr>
              <a:t>   </a:t>
            </a:r>
            <a:endParaRPr lang="zh-CN" altLang="en-US"/>
          </a:p>
          <a:p>
            <a:r>
              <a:rPr lang="zh-CN" altLang="en-US">
                <a:sym typeface="+mn-ea"/>
              </a:rPr>
              <a:t>     if hv_speed &gt; (spdLmt + 3):  </a:t>
            </a:r>
            <a:endParaRPr lang="zh-CN" altLang="en-US"/>
          </a:p>
          <a:p>
            <a:r>
              <a:rPr lang="zh-CN" altLang="en-US">
                <a:sym typeface="+mn-ea"/>
              </a:rPr>
              <a:t>         warningFlag = 1  </a:t>
            </a:r>
            <a:endParaRPr lang="zh-CN" altLang="en-US"/>
          </a:p>
          <a:p>
            <a:r>
              <a:rPr lang="zh-CN" altLang="en-US">
                <a:sym typeface="+mn-ea"/>
              </a:rPr>
              <a:t>         adviser = Advise.slow_down </a:t>
            </a:r>
            <a:endParaRPr lang="zh-CN" altLang="en-US"/>
          </a:p>
        </p:txBody>
      </p:sp>
    </p:spTree>
  </p:cSld>
  <p:clrMapOvr>
    <a:masterClrMapping/>
  </p:clrMapOvr>
  <p:transition spd="slow"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lgn="l">
              <a:buClrTx/>
              <a:buSzTx/>
              <a:buFontTx/>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紧急车辆提醒技术</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2" name="图片 1"/>
          <p:cNvPicPr>
            <a:picLocks noChangeAspect="1"/>
          </p:cNvPicPr>
          <p:nvPr>
            <p:custDataLst>
              <p:tags r:id="rId2"/>
            </p:custDataLst>
          </p:nvPr>
        </p:nvPicPr>
        <p:blipFill>
          <a:blip r:embed="rId3"/>
          <a:stretch>
            <a:fillRect/>
          </a:stretch>
        </p:blipFill>
        <p:spPr>
          <a:xfrm>
            <a:off x="2743200" y="3094355"/>
            <a:ext cx="6400800" cy="2964180"/>
          </a:xfrm>
          <a:prstGeom prst="rect">
            <a:avLst/>
          </a:prstGeom>
        </p:spPr>
      </p:pic>
      <p:sp>
        <p:nvSpPr>
          <p:cNvPr id="19" name="箭头: 五边形 18"/>
          <p:cNvSpPr/>
          <p:nvPr>
            <p:custDataLst>
              <p:tags r:id="rId4"/>
            </p:custDataLst>
          </p:nvPr>
        </p:nvSpPr>
        <p:spPr>
          <a:xfrm>
            <a:off x="237547" y="1018159"/>
            <a:ext cx="2674768" cy="554447"/>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mj-ea"/>
                <a:ea typeface="+mj-ea"/>
              </a:rPr>
              <a:t>定义</a:t>
            </a:r>
            <a:endParaRPr lang="zh-CN" altLang="en-US" b="1">
              <a:latin typeface="+mj-ea"/>
              <a:ea typeface="+mj-ea"/>
            </a:endParaRPr>
          </a:p>
        </p:txBody>
      </p:sp>
      <p:sp>
        <p:nvSpPr>
          <p:cNvPr id="3" name="文本框 2"/>
          <p:cNvSpPr txBox="1"/>
          <p:nvPr/>
        </p:nvSpPr>
        <p:spPr>
          <a:xfrm>
            <a:off x="237490" y="1711960"/>
            <a:ext cx="8637905" cy="922020"/>
          </a:xfrm>
          <a:prstGeom prst="rect">
            <a:avLst/>
          </a:prstGeom>
          <a:noFill/>
        </p:spPr>
        <p:txBody>
          <a:bodyPr wrap="square" rtlCol="0">
            <a:spAutoFit/>
          </a:bodyPr>
          <a:p>
            <a:pPr indent="457200"/>
            <a:r>
              <a:rPr lang="zh-CN" altLang="en-US" b="1"/>
              <a:t>紧急车辆提醒（Emergency Vehicle Warning，EVW）</a:t>
            </a:r>
            <a:r>
              <a:rPr lang="zh-CN" altLang="en-US"/>
              <a:t>是指，主车（HV）行驶过程中，收到紧急车辆提醒，以对消防车、救护车、警车或其他紧急呼叫车辆等进行</a:t>
            </a:r>
            <a:r>
              <a:rPr lang="zh-CN" altLang="en-US" b="1"/>
              <a:t>让行</a:t>
            </a:r>
            <a:r>
              <a:rPr lang="zh-CN" altLang="en-US"/>
              <a:t>。EVW 使 HV 实现对消防车、救护车、警车或其他</a:t>
            </a:r>
            <a:r>
              <a:rPr lang="zh-CN" altLang="en-US" b="1"/>
              <a:t>紧急呼叫车辆</a:t>
            </a:r>
            <a:r>
              <a:rPr lang="zh-CN" altLang="en-US"/>
              <a:t>的让行。</a:t>
            </a:r>
            <a:endParaRPr lang="zh-CN" altLang="en-US"/>
          </a:p>
        </p:txBody>
      </p:sp>
      <p:sp>
        <p:nvSpPr>
          <p:cNvPr id="23" name="箭头: 五边形 22"/>
          <p:cNvSpPr/>
          <p:nvPr>
            <p:custDataLst>
              <p:tags r:id="rId5"/>
            </p:custDataLst>
          </p:nvPr>
        </p:nvSpPr>
        <p:spPr>
          <a:xfrm>
            <a:off x="237293" y="2920619"/>
            <a:ext cx="2674768" cy="554447"/>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mj-ea"/>
                <a:ea typeface="+mj-ea"/>
              </a:rPr>
              <a:t>主要</a:t>
            </a:r>
            <a:r>
              <a:rPr lang="zh-CN" altLang="en-US" b="1">
                <a:latin typeface="+mj-ea"/>
                <a:ea typeface="+mj-ea"/>
              </a:rPr>
              <a:t>场景</a:t>
            </a:r>
            <a:endParaRPr lang="zh-CN" altLang="en-US" b="1">
              <a:latin typeface="+mj-ea"/>
              <a:ea typeface="+mj-ea"/>
            </a:endParaRPr>
          </a:p>
        </p:txBody>
      </p:sp>
      <p:sp>
        <p:nvSpPr>
          <p:cNvPr id="11" name="文本框 10"/>
          <p:cNvSpPr txBox="1"/>
          <p:nvPr>
            <p:custDataLst>
              <p:tags r:id="rId6"/>
            </p:custDataLst>
          </p:nvPr>
        </p:nvSpPr>
        <p:spPr>
          <a:xfrm>
            <a:off x="237490" y="3475355"/>
            <a:ext cx="2673985" cy="2584450"/>
          </a:xfrm>
          <a:prstGeom prst="rect">
            <a:avLst/>
          </a:prstGeom>
          <a:noFill/>
        </p:spPr>
        <p:txBody>
          <a:bodyPr wrap="square" rtlCol="0">
            <a:spAutoFit/>
          </a:bodyPr>
          <a:p>
            <a:pPr>
              <a:lnSpc>
                <a:spcPct val="150000"/>
              </a:lnSpc>
              <a:buFont typeface="Wingdings" panose="05000000000000000000" pitchFamily="2" charset="2"/>
              <a:buChar char="n"/>
            </a:pPr>
            <a:r>
              <a:rPr lang="zh-CN" altLang="en-US">
                <a:sym typeface="+mn-ea"/>
              </a:rPr>
              <a:t> HV 行驶中，紧急车辆 RV </a:t>
            </a:r>
            <a:r>
              <a:rPr lang="zh-CN" altLang="en-US" b="1">
                <a:sym typeface="+mn-ea"/>
              </a:rPr>
              <a:t>接近 </a:t>
            </a:r>
            <a:r>
              <a:rPr lang="zh-CN" altLang="en-US">
                <a:sym typeface="+mn-ea"/>
              </a:rPr>
              <a:t>HV；</a:t>
            </a:r>
            <a:endParaRPr lang="zh-CN" altLang="en-US">
              <a:sym typeface="+mn-ea"/>
            </a:endParaRPr>
          </a:p>
          <a:p>
            <a:pPr>
              <a:lnSpc>
                <a:spcPct val="150000"/>
              </a:lnSpc>
              <a:buFont typeface="Wingdings" panose="05000000000000000000" pitchFamily="2" charset="2"/>
              <a:buChar char="n"/>
            </a:pPr>
            <a:r>
              <a:rPr lang="zh-CN" altLang="en-US">
                <a:sym typeface="+mn-ea"/>
              </a:rPr>
              <a:t>HV 和 RV</a:t>
            </a:r>
            <a:r>
              <a:rPr lang="zh-CN" altLang="en-US">
                <a:sym typeface="+mn-ea"/>
              </a:rPr>
              <a:t>具备</a:t>
            </a:r>
            <a:r>
              <a:rPr lang="zh-CN" altLang="en-US" b="1">
                <a:sym typeface="+mn-ea"/>
              </a:rPr>
              <a:t>短程无线通信能力</a:t>
            </a:r>
            <a:r>
              <a:rPr lang="zh-CN" altLang="en-US">
                <a:sym typeface="+mn-ea"/>
              </a:rPr>
              <a:t>；</a:t>
            </a:r>
            <a:endParaRPr lang="zh-CN" altLang="en-US" b="1">
              <a:sym typeface="+mn-ea"/>
            </a:endParaRPr>
          </a:p>
          <a:p>
            <a:pPr>
              <a:lnSpc>
                <a:spcPct val="150000"/>
              </a:lnSpc>
              <a:buFont typeface="Wingdings" panose="05000000000000000000" pitchFamily="2" charset="2"/>
              <a:buChar char="n"/>
            </a:pPr>
            <a:r>
              <a:rPr lang="zh-CN" altLang="en-US">
                <a:sym typeface="+mn-ea"/>
              </a:rPr>
              <a:t> HV 收到紧急车提醒时，对紧急车辆 RV 进行</a:t>
            </a:r>
            <a:r>
              <a:rPr lang="zh-CN" altLang="en-US" b="1">
                <a:sym typeface="+mn-ea"/>
              </a:rPr>
              <a:t>让行</a:t>
            </a:r>
            <a:r>
              <a:rPr lang="zh-CN" altLang="en-US">
                <a:sym typeface="+mn-ea"/>
              </a:rPr>
              <a:t>。</a:t>
            </a:r>
            <a:endParaRPr lang="zh-CN" altLang="en-US"/>
          </a:p>
        </p:txBody>
      </p:sp>
    </p:spTree>
  </p:cSld>
  <p:clrMapOvr>
    <a:masterClrMapping/>
  </p:clrMapOvr>
  <p:transition spd="slow"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EVW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工作</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原理</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5" name="椭圆 34"/>
          <p:cNvSpPr/>
          <p:nvPr>
            <p:custDataLst>
              <p:tags r:id="rId2"/>
            </p:custDataLst>
          </p:nvPr>
        </p:nvSpPr>
        <p:spPr>
          <a:xfrm>
            <a:off x="227921" y="126319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1</a:t>
            </a:r>
            <a:endParaRPr lang="zh-CN" altLang="en-US" sz="1400" b="1" i="1">
              <a:latin typeface="+mj-lt"/>
            </a:endParaRPr>
          </a:p>
        </p:txBody>
      </p:sp>
      <p:sp>
        <p:nvSpPr>
          <p:cNvPr id="14" name="椭圆 13"/>
          <p:cNvSpPr/>
          <p:nvPr>
            <p:custDataLst>
              <p:tags r:id="rId3"/>
            </p:custDataLst>
          </p:nvPr>
        </p:nvSpPr>
        <p:spPr>
          <a:xfrm>
            <a:off x="227921" y="249128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2</a:t>
            </a:r>
            <a:endParaRPr lang="en-US" altLang="zh-CN" sz="1400" b="1" i="1">
              <a:latin typeface="+mj-lt"/>
            </a:endParaRPr>
          </a:p>
        </p:txBody>
      </p:sp>
      <p:sp>
        <p:nvSpPr>
          <p:cNvPr id="16" name="椭圆 15"/>
          <p:cNvSpPr/>
          <p:nvPr>
            <p:custDataLst>
              <p:tags r:id="rId4"/>
            </p:custDataLst>
          </p:nvPr>
        </p:nvSpPr>
        <p:spPr>
          <a:xfrm>
            <a:off x="227921" y="365333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3</a:t>
            </a:r>
            <a:endParaRPr lang="en-US" altLang="zh-CN" sz="1400" b="1" i="1">
              <a:latin typeface="+mj-lt"/>
            </a:endParaRPr>
          </a:p>
        </p:txBody>
      </p:sp>
      <p:sp>
        <p:nvSpPr>
          <p:cNvPr id="4" name="文本框 3"/>
          <p:cNvSpPr txBox="1"/>
          <p:nvPr>
            <p:custDataLst>
              <p:tags r:id="rId5"/>
            </p:custDataLst>
          </p:nvPr>
        </p:nvSpPr>
        <p:spPr>
          <a:xfrm>
            <a:off x="796925" y="1302385"/>
            <a:ext cx="7969250" cy="706755"/>
          </a:xfrm>
          <a:prstGeom prst="rect">
            <a:avLst/>
          </a:prstGeom>
          <a:noFill/>
        </p:spPr>
        <p:txBody>
          <a:bodyPr wrap="square" rtlCol="0">
            <a:spAutoFit/>
          </a:bodyPr>
          <a:p>
            <a:r>
              <a:rPr lang="zh-CN" altLang="en-US" sz="2000">
                <a:sym typeface="+mn-ea"/>
              </a:rPr>
              <a:t>分析接收到的紧急车辆 </a:t>
            </a:r>
            <a:r>
              <a:rPr lang="zh-CN" altLang="en-US" sz="2000" b="1">
                <a:sym typeface="+mn-ea"/>
              </a:rPr>
              <a:t>RV 消息</a:t>
            </a:r>
            <a:r>
              <a:rPr lang="zh-CN" altLang="en-US" sz="2000">
                <a:sym typeface="+mn-ea"/>
              </a:rPr>
              <a:t>，</a:t>
            </a:r>
            <a:r>
              <a:rPr lang="zh-CN" altLang="en-US" sz="2000" b="1">
                <a:solidFill>
                  <a:schemeClr val="tx1"/>
                </a:solidFill>
                <a:sym typeface="+mn-ea"/>
              </a:rPr>
              <a:t>筛选</a:t>
            </a:r>
            <a:r>
              <a:rPr lang="zh-CN" altLang="en-US" sz="2000">
                <a:sym typeface="+mn-ea"/>
              </a:rPr>
              <a:t>出位于 HV 受影响区域的紧急车辆 RV; </a:t>
            </a:r>
            <a:endParaRPr lang="zh-CN" altLang="en-US" sz="2000"/>
          </a:p>
        </p:txBody>
      </p:sp>
      <p:sp>
        <p:nvSpPr>
          <p:cNvPr id="6" name="文本框 5"/>
          <p:cNvSpPr txBox="1"/>
          <p:nvPr>
            <p:custDataLst>
              <p:tags r:id="rId6"/>
            </p:custDataLst>
          </p:nvPr>
        </p:nvSpPr>
        <p:spPr>
          <a:xfrm>
            <a:off x="796290" y="2526665"/>
            <a:ext cx="7969250" cy="398780"/>
          </a:xfrm>
          <a:prstGeom prst="rect">
            <a:avLst/>
          </a:prstGeom>
          <a:noFill/>
        </p:spPr>
        <p:txBody>
          <a:bodyPr wrap="square" rtlCol="0">
            <a:spAutoFit/>
          </a:bodyPr>
          <a:p>
            <a:r>
              <a:rPr lang="zh-CN" altLang="en-US" sz="2000">
                <a:sym typeface="+mn-ea"/>
              </a:rPr>
              <a:t>将处于一定范围内的紧急车辆作为</a:t>
            </a:r>
            <a:r>
              <a:rPr lang="zh-CN" altLang="en-US" sz="2000" b="1">
                <a:sym typeface="+mn-ea"/>
              </a:rPr>
              <a:t>优先让行紧急车辆</a:t>
            </a:r>
            <a:r>
              <a:rPr lang="zh-CN" altLang="en-US" sz="2000">
                <a:sym typeface="+mn-ea"/>
              </a:rPr>
              <a:t>；</a:t>
            </a:r>
            <a:endParaRPr lang="zh-CN" altLang="en-US" sz="2000"/>
          </a:p>
        </p:txBody>
      </p:sp>
      <p:sp>
        <p:nvSpPr>
          <p:cNvPr id="8" name="文本框 7"/>
          <p:cNvSpPr txBox="1"/>
          <p:nvPr>
            <p:custDataLst>
              <p:tags r:id="rId7"/>
            </p:custDataLst>
          </p:nvPr>
        </p:nvSpPr>
        <p:spPr>
          <a:xfrm>
            <a:off x="796290" y="3688715"/>
            <a:ext cx="8337550" cy="398780"/>
          </a:xfrm>
          <a:prstGeom prst="rect">
            <a:avLst/>
          </a:prstGeom>
          <a:noFill/>
        </p:spPr>
        <p:txBody>
          <a:bodyPr wrap="square" rtlCol="0">
            <a:spAutoFit/>
          </a:bodyPr>
          <a:p>
            <a:r>
              <a:rPr lang="zh-CN" altLang="en-US" sz="2000" b="1">
                <a:sym typeface="+mn-ea"/>
              </a:rPr>
              <a:t>计算</a:t>
            </a:r>
            <a:r>
              <a:rPr lang="zh-CN" altLang="en-US" sz="2000">
                <a:sym typeface="+mn-ea"/>
              </a:rPr>
              <a:t>优先让行紧急车辆 RV 到达的</a:t>
            </a:r>
            <a:r>
              <a:rPr lang="zh-CN" altLang="en-US" sz="2000" b="1">
                <a:sym typeface="+mn-ea"/>
              </a:rPr>
              <a:t>时间和距离</a:t>
            </a:r>
            <a:r>
              <a:rPr lang="zh-CN" altLang="en-US" sz="2000">
                <a:sym typeface="+mn-ea"/>
              </a:rPr>
              <a:t>。</a:t>
            </a:r>
            <a:endParaRPr lang="zh-CN" altLang="en-US"/>
          </a:p>
        </p:txBody>
      </p:sp>
    </p:spTree>
  </p:cSld>
  <p:clrMapOvr>
    <a:masterClrMapping/>
  </p:clrMapOvr>
  <p:transition spd="slow"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EVW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算法</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实现</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9" name="椭圆 8"/>
          <p:cNvSpPr/>
          <p:nvPr>
            <p:custDataLst>
              <p:tags r:id="rId2"/>
            </p:custDataLst>
          </p:nvPr>
        </p:nvSpPr>
        <p:spPr>
          <a:xfrm>
            <a:off x="309836" y="126256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1</a:t>
            </a:r>
            <a:endParaRPr lang="en-US" altLang="zh-CN" sz="1400" b="1" i="1">
              <a:latin typeface="+mj-lt"/>
            </a:endParaRPr>
          </a:p>
        </p:txBody>
      </p:sp>
      <p:sp>
        <p:nvSpPr>
          <p:cNvPr id="10" name="文本框 9"/>
          <p:cNvSpPr txBox="1"/>
          <p:nvPr>
            <p:custDataLst>
              <p:tags r:id="rId3"/>
            </p:custDataLst>
          </p:nvPr>
        </p:nvSpPr>
        <p:spPr>
          <a:xfrm>
            <a:off x="911225" y="1262380"/>
            <a:ext cx="7863840" cy="645160"/>
          </a:xfrm>
          <a:prstGeom prst="rect">
            <a:avLst/>
          </a:prstGeom>
          <a:noFill/>
        </p:spPr>
        <p:txBody>
          <a:bodyPr wrap="square" rtlCol="0">
            <a:spAutoFit/>
          </a:bodyPr>
          <a:p>
            <a:r>
              <a:rPr lang="zh-CN" altLang="en-US" b="1">
                <a:sym typeface="+mn-ea"/>
              </a:rPr>
              <a:t>定义一个函数 doEVW</a:t>
            </a:r>
            <a:r>
              <a:rPr lang="zh-CN" altLang="en-US">
                <a:sym typeface="+mn-ea"/>
              </a:rPr>
              <a:t>，它接受两个参数：hvInfo 和 rvInfo。hvInfo 和 rvInfo 分别表示主车和远车的信息； </a:t>
            </a:r>
            <a:endParaRPr lang="zh-CN" altLang="en-US"/>
          </a:p>
        </p:txBody>
      </p:sp>
      <p:sp>
        <p:nvSpPr>
          <p:cNvPr id="2" name="文本框 1"/>
          <p:cNvSpPr txBox="1"/>
          <p:nvPr/>
        </p:nvSpPr>
        <p:spPr>
          <a:xfrm>
            <a:off x="934085" y="2181860"/>
            <a:ext cx="4572000" cy="368300"/>
          </a:xfrm>
          <a:prstGeom prst="rect">
            <a:avLst/>
          </a:prstGeom>
          <a:noFill/>
        </p:spPr>
        <p:txBody>
          <a:bodyPr wrap="square" rtlCol="0" anchor="t">
            <a:spAutoFit/>
          </a:bodyPr>
          <a:p>
            <a:r>
              <a:rPr lang="zh-CN" altLang="en-US"/>
              <a:t>def doEVW(hvInfo:Hv_Info, rvInfo:Hv_Info):  </a:t>
            </a:r>
            <a:endParaRPr lang="zh-CN" altLang="en-US"/>
          </a:p>
        </p:txBody>
      </p:sp>
      <p:sp>
        <p:nvSpPr>
          <p:cNvPr id="3" name="椭圆 2"/>
          <p:cNvSpPr/>
          <p:nvPr>
            <p:custDataLst>
              <p:tags r:id="rId4"/>
            </p:custDataLst>
          </p:nvPr>
        </p:nvSpPr>
        <p:spPr>
          <a:xfrm>
            <a:off x="309836" y="275925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2</a:t>
            </a:r>
            <a:endParaRPr lang="en-US" altLang="zh-CN" sz="1400" b="1" i="1">
              <a:latin typeface="+mj-lt"/>
            </a:endParaRPr>
          </a:p>
        </p:txBody>
      </p:sp>
      <p:sp>
        <p:nvSpPr>
          <p:cNvPr id="4" name="文本框 3"/>
          <p:cNvSpPr txBox="1"/>
          <p:nvPr/>
        </p:nvSpPr>
        <p:spPr>
          <a:xfrm>
            <a:off x="934085" y="2759075"/>
            <a:ext cx="7863205" cy="922020"/>
          </a:xfrm>
          <a:prstGeom prst="rect">
            <a:avLst/>
          </a:prstGeom>
          <a:noFill/>
        </p:spPr>
        <p:txBody>
          <a:bodyPr wrap="square" rtlCol="0">
            <a:spAutoFit/>
          </a:bodyPr>
          <a:p>
            <a:r>
              <a:rPr lang="zh-CN" altLang="en-US"/>
              <a:t>函数内部首先</a:t>
            </a:r>
            <a:r>
              <a:rPr lang="zh-CN" altLang="en-US" b="1"/>
              <a:t>初始化两个变量</a:t>
            </a:r>
            <a:r>
              <a:rPr lang="zh-CN" altLang="en-US"/>
              <a:t>：warning_flag 和 adviser。warning_flag 表示预警等级，0 表示无需预警，2 表示需要变道预警。adviser 表示建议类型，keep 表示保持当前状态，lane_change 表示进行变道；</a:t>
            </a:r>
            <a:endParaRPr lang="zh-CN" altLang="en-US"/>
          </a:p>
        </p:txBody>
      </p:sp>
      <p:sp>
        <p:nvSpPr>
          <p:cNvPr id="6" name="文本框 5"/>
          <p:cNvSpPr txBox="1"/>
          <p:nvPr/>
        </p:nvSpPr>
        <p:spPr>
          <a:xfrm>
            <a:off x="934085" y="3890010"/>
            <a:ext cx="5401945" cy="645160"/>
          </a:xfrm>
          <a:prstGeom prst="rect">
            <a:avLst/>
          </a:prstGeom>
          <a:noFill/>
        </p:spPr>
        <p:txBody>
          <a:bodyPr wrap="square" rtlCol="0">
            <a:spAutoFit/>
          </a:bodyPr>
          <a:p>
            <a:r>
              <a:rPr lang="zh-CN" altLang="en-US"/>
              <a:t>warning_flag = 0  </a:t>
            </a:r>
            <a:endParaRPr lang="zh-CN" altLang="en-US"/>
          </a:p>
          <a:p>
            <a:r>
              <a:rPr lang="zh-CN" altLang="en-US"/>
              <a:t>adviser = Advise.keep  </a:t>
            </a:r>
            <a:endParaRPr lang="zh-CN" altLang="en-US"/>
          </a:p>
        </p:txBody>
      </p:sp>
    </p:spTree>
  </p:cSld>
  <p:clrMapOvr>
    <a:masterClrMapping/>
  </p:clrMapOvr>
  <p:transition spd="slow"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EVW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算法</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实现</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11" name="椭圆 10"/>
          <p:cNvSpPr/>
          <p:nvPr>
            <p:custDataLst>
              <p:tags r:id="rId2"/>
            </p:custDataLst>
          </p:nvPr>
        </p:nvSpPr>
        <p:spPr>
          <a:xfrm>
            <a:off x="299676" y="123017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3</a:t>
            </a:r>
            <a:endParaRPr lang="en-US" altLang="zh-CN" sz="1400" b="1" i="1">
              <a:latin typeface="+mj-lt"/>
            </a:endParaRPr>
          </a:p>
        </p:txBody>
      </p:sp>
      <p:sp>
        <p:nvSpPr>
          <p:cNvPr id="12" name="文本框 11"/>
          <p:cNvSpPr txBox="1"/>
          <p:nvPr>
            <p:custDataLst>
              <p:tags r:id="rId3"/>
            </p:custDataLst>
          </p:nvPr>
        </p:nvSpPr>
        <p:spPr>
          <a:xfrm>
            <a:off x="774065" y="1102995"/>
            <a:ext cx="7863840" cy="645160"/>
          </a:xfrm>
          <a:prstGeom prst="rect">
            <a:avLst/>
          </a:prstGeom>
          <a:noFill/>
        </p:spPr>
        <p:txBody>
          <a:bodyPr wrap="square" rtlCol="0">
            <a:spAutoFit/>
          </a:bodyPr>
          <a:p>
            <a:r>
              <a:rPr lang="zh-CN" altLang="en-US">
                <a:sym typeface="+mn-ea"/>
              </a:rPr>
              <a:t>分别</a:t>
            </a:r>
            <a:r>
              <a:rPr lang="zh-CN" altLang="en-US" b="1">
                <a:sym typeface="+mn-ea"/>
              </a:rPr>
              <a:t>从 hvInfo 和 rvInfo 中提取主车和远车</a:t>
            </a:r>
            <a:r>
              <a:rPr lang="zh-CN" altLang="en-US">
                <a:sym typeface="+mn-ea"/>
              </a:rPr>
              <a:t>的 xy 坐标、速度、航向角、尺寸和车辆类型，以及远车的刹车、灯光和 abs 状态，并赋值给相应的变量； </a:t>
            </a:r>
            <a:endParaRPr lang="zh-CN" altLang="en-US"/>
          </a:p>
        </p:txBody>
      </p:sp>
      <p:sp>
        <p:nvSpPr>
          <p:cNvPr id="13" name="文本框 12"/>
          <p:cNvSpPr txBox="1"/>
          <p:nvPr>
            <p:custDataLst>
              <p:tags r:id="rId4"/>
            </p:custDataLst>
          </p:nvPr>
        </p:nvSpPr>
        <p:spPr>
          <a:xfrm>
            <a:off x="733425" y="1822450"/>
            <a:ext cx="7892415" cy="3692525"/>
          </a:xfrm>
          <a:prstGeom prst="rect">
            <a:avLst/>
          </a:prstGeom>
          <a:noFill/>
        </p:spPr>
        <p:txBody>
          <a:bodyPr wrap="square" rtlCol="0">
            <a:spAutoFit/>
          </a:bodyPr>
          <a:p>
            <a:r>
              <a:rPr lang="zh-CN" altLang="en-US">
                <a:sym typeface="+mn-ea"/>
              </a:rPr>
              <a:t> </a:t>
            </a:r>
            <a:r>
              <a:rPr lang="en-US" altLang="zh-CN">
                <a:sym typeface="+mn-ea"/>
              </a:rPr>
              <a:t>  </a:t>
            </a:r>
            <a:r>
              <a:rPr lang="en-US" altLang="zh-CN">
                <a:solidFill>
                  <a:schemeClr val="accent1"/>
                </a:solidFill>
                <a:sym typeface="+mn-ea"/>
              </a:rPr>
              <a:t>  </a:t>
            </a:r>
            <a:r>
              <a:rPr lang="zh-CN" altLang="en-US">
                <a:solidFill>
                  <a:schemeClr val="accent1">
                    <a:lumMod val="75000"/>
                  </a:schemeClr>
                </a:solidFill>
                <a:sym typeface="+mn-ea"/>
              </a:rPr>
              <a:t># 主车 hv 信息  </a:t>
            </a:r>
            <a:endParaRPr lang="zh-CN" altLang="en-US">
              <a:solidFill>
                <a:schemeClr val="accent1"/>
              </a:solidFill>
            </a:endParaRPr>
          </a:p>
          <a:p>
            <a:r>
              <a:rPr lang="zh-CN" altLang="en-US">
                <a:sym typeface="+mn-ea"/>
              </a:rPr>
              <a:t>     # xy 坐标  </a:t>
            </a:r>
            <a:endParaRPr lang="zh-CN" altLang="en-US"/>
          </a:p>
          <a:p>
            <a:r>
              <a:rPr lang="zh-CN" altLang="en-US">
                <a:sym typeface="+mn-ea"/>
              </a:rPr>
              <a:t>     hv_x, hv_y = my_gps2xyz_ver2(hvInfo.lle.longitude_, hvInfo.lle.latitude_)</a:t>
            </a:r>
            <a:endParaRPr lang="zh-CN" altLang="en-US"/>
          </a:p>
          <a:p>
            <a:r>
              <a:rPr lang="zh-CN" altLang="en-US">
                <a:sym typeface="+mn-ea"/>
              </a:rPr>
              <a:t> </a:t>
            </a:r>
            <a:endParaRPr lang="zh-CN" altLang="en-US">
              <a:sym typeface="+mn-ea"/>
            </a:endParaRPr>
          </a:p>
          <a:p>
            <a:r>
              <a:rPr lang="zh-CN" altLang="en-US">
                <a:sym typeface="+mn-ea"/>
              </a:rPr>
              <a:t>     </a:t>
            </a:r>
            <a:r>
              <a:rPr lang="zh-CN" altLang="en-US">
                <a:sym typeface="+mn-ea"/>
              </a:rPr>
              <a:t># 速度  </a:t>
            </a:r>
            <a:endParaRPr lang="zh-CN" altLang="en-US"/>
          </a:p>
          <a:p>
            <a:r>
              <a:rPr lang="zh-CN" altLang="en-US">
                <a:sym typeface="+mn-ea"/>
              </a:rPr>
              <a:t>     hv_speed = hvInfo.speed  </a:t>
            </a:r>
            <a:endParaRPr lang="zh-CN" altLang="en-US"/>
          </a:p>
          <a:p>
            <a:r>
              <a:rPr lang="zh-CN" altLang="en-US">
                <a:sym typeface="+mn-ea"/>
              </a:rPr>
              <a:t>     # 航向角  </a:t>
            </a:r>
            <a:endParaRPr lang="zh-CN" altLang="en-US"/>
          </a:p>
          <a:p>
            <a:r>
              <a:rPr lang="zh-CN" altLang="en-US">
                <a:sym typeface="+mn-ea"/>
              </a:rPr>
              <a:t>     hv_heading = hvInfo.mv.angle_  </a:t>
            </a:r>
            <a:endParaRPr lang="zh-CN" altLang="en-US"/>
          </a:p>
          <a:p>
            <a:r>
              <a:rPr lang="zh-CN" altLang="en-US">
                <a:sym typeface="+mn-ea"/>
              </a:rPr>
              <a:t>     # 尺寸  </a:t>
            </a:r>
            <a:endParaRPr lang="zh-CN" altLang="en-US"/>
          </a:p>
          <a:p>
            <a:r>
              <a:rPr lang="zh-CN" altLang="en-US">
                <a:sym typeface="+mn-ea"/>
              </a:rPr>
              <a:t>     hv_width, hv_length = hvInfo.size.width_, hvInfo.size.length_  </a:t>
            </a:r>
            <a:endParaRPr lang="zh-CN" altLang="en-US"/>
          </a:p>
          <a:p>
            <a:r>
              <a:rPr lang="zh-CN" altLang="en-US">
                <a:sym typeface="+mn-ea"/>
              </a:rPr>
              <a:t>     # 车辆类型  </a:t>
            </a:r>
            <a:endParaRPr lang="zh-CN" altLang="en-US"/>
          </a:p>
          <a:p>
            <a:r>
              <a:rPr lang="zh-CN" altLang="en-US">
                <a:sym typeface="+mn-ea"/>
              </a:rPr>
              <a:t>     hv_class = hvInfo.vehClass  </a:t>
            </a:r>
            <a:endParaRPr lang="zh-CN" altLang="en-US">
              <a:sym typeface="+mn-ea"/>
            </a:endParaRPr>
          </a:p>
          <a:p>
            <a:endParaRPr lang="zh-CN" altLang="en-US"/>
          </a:p>
        </p:txBody>
      </p:sp>
    </p:spTree>
  </p:cSld>
  <p:clrMapOvr>
    <a:masterClrMapping/>
  </p:clrMapOvr>
  <p:transition spd="slow"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EVW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算法</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实现</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8" name="文本框 7"/>
          <p:cNvSpPr txBox="1"/>
          <p:nvPr>
            <p:custDataLst>
              <p:tags r:id="rId2"/>
            </p:custDataLst>
          </p:nvPr>
        </p:nvSpPr>
        <p:spPr>
          <a:xfrm>
            <a:off x="530225" y="1024255"/>
            <a:ext cx="9357995" cy="5077460"/>
          </a:xfrm>
          <a:prstGeom prst="rect">
            <a:avLst/>
          </a:prstGeom>
          <a:noFill/>
        </p:spPr>
        <p:txBody>
          <a:bodyPr wrap="square" rtlCol="0">
            <a:spAutoFit/>
          </a:bodyPr>
          <a:p>
            <a:r>
              <a:rPr lang="en-US" altLang="zh-CN"/>
              <a:t>     </a:t>
            </a:r>
            <a:r>
              <a:rPr lang="zh-CN" altLang="en-US">
                <a:solidFill>
                  <a:schemeClr val="accent1">
                    <a:lumMod val="75000"/>
                  </a:schemeClr>
                </a:solidFill>
              </a:rPr>
              <a:t># 远车 rv 信息</a:t>
            </a:r>
            <a:r>
              <a:rPr lang="zh-CN" altLang="en-US"/>
              <a:t>  </a:t>
            </a:r>
            <a:endParaRPr lang="zh-CN" altLang="en-US"/>
          </a:p>
          <a:p>
            <a:r>
              <a:rPr lang="zh-CN" altLang="en-US"/>
              <a:t>     # xy 坐标  </a:t>
            </a:r>
            <a:endParaRPr lang="zh-CN" altLang="en-US"/>
          </a:p>
          <a:p>
            <a:r>
              <a:rPr lang="zh-CN" altLang="en-US"/>
              <a:t>     rv_x, rv_y = my_gps2xyz_ver2(rvInfo.lle.longitude_, rvInfo.lle.latitude_)</a:t>
            </a:r>
            <a:endParaRPr lang="zh-CN" altLang="en-US"/>
          </a:p>
          <a:p>
            <a:r>
              <a:rPr lang="zh-CN" altLang="en-US"/>
              <a:t>  </a:t>
            </a:r>
            <a:endParaRPr lang="zh-CN" altLang="en-US"/>
          </a:p>
          <a:p>
            <a:r>
              <a:rPr lang="zh-CN" altLang="en-US"/>
              <a:t>     # 速度  </a:t>
            </a:r>
            <a:endParaRPr lang="zh-CN" altLang="en-US"/>
          </a:p>
          <a:p>
            <a:r>
              <a:rPr lang="zh-CN" altLang="en-US"/>
              <a:t>     rv_speed = rvInfo.speed  </a:t>
            </a:r>
            <a:endParaRPr lang="zh-CN" altLang="en-US"/>
          </a:p>
          <a:p>
            <a:r>
              <a:rPr lang="zh-CN" altLang="en-US"/>
              <a:t>     # 航向角  </a:t>
            </a:r>
            <a:endParaRPr lang="zh-CN" altLang="en-US"/>
          </a:p>
          <a:p>
            <a:r>
              <a:rPr lang="zh-CN" altLang="en-US"/>
              <a:t>     rv_heading = rvInfo.mv.angle_  </a:t>
            </a:r>
            <a:endParaRPr lang="zh-CN" altLang="en-US"/>
          </a:p>
          <a:p>
            <a:r>
              <a:rPr lang="zh-CN" altLang="en-US"/>
              <a:t>     # 尺寸  </a:t>
            </a:r>
            <a:endParaRPr lang="zh-CN" altLang="en-US"/>
          </a:p>
          <a:p>
            <a:r>
              <a:rPr lang="zh-CN" altLang="en-US"/>
              <a:t>     rv_width, rv_length = rvInfo.size.width_, rvInfo.size.length_  </a:t>
            </a:r>
            <a:endParaRPr lang="zh-CN" altLang="en-US"/>
          </a:p>
          <a:p>
            <a:r>
              <a:rPr lang="zh-CN" altLang="en-US"/>
              <a:t>     # 车辆类型  </a:t>
            </a:r>
            <a:endParaRPr lang="zh-CN" altLang="en-US"/>
          </a:p>
          <a:p>
            <a:r>
              <a:rPr lang="zh-CN" altLang="en-US"/>
              <a:t>     rv_class = rvInfo.vehClass  </a:t>
            </a:r>
            <a:endParaRPr lang="zh-CN" altLang="en-US"/>
          </a:p>
          <a:p>
            <a:r>
              <a:rPr lang="zh-CN" altLang="en-US"/>
              <a:t>     # 刹车状态  </a:t>
            </a:r>
            <a:endParaRPr lang="zh-CN" altLang="en-US"/>
          </a:p>
          <a:p>
            <a:r>
              <a:rPr lang="zh-CN" altLang="en-US"/>
              <a:t>     rv_brake = rvInfo.brakeSys.brake_pedal_status_  </a:t>
            </a:r>
            <a:endParaRPr lang="zh-CN" altLang="en-US"/>
          </a:p>
          <a:p>
            <a:r>
              <a:rPr lang="zh-CN" altLang="en-US"/>
              <a:t>     # 灯光状态  </a:t>
            </a:r>
            <a:endParaRPr lang="zh-CN" altLang="en-US"/>
          </a:p>
          <a:p>
            <a:r>
              <a:rPr lang="zh-CN" altLang="en-US"/>
              <a:t>     rv_light = rvInfo.vehLight.hazardSignalOn  </a:t>
            </a:r>
            <a:endParaRPr lang="zh-CN" altLang="en-US"/>
          </a:p>
          <a:p>
            <a:r>
              <a:rPr lang="zh-CN" altLang="en-US"/>
              <a:t>     # abs 状态  </a:t>
            </a:r>
            <a:endParaRPr lang="zh-CN" altLang="en-US"/>
          </a:p>
          <a:p>
            <a:r>
              <a:rPr lang="zh-CN" altLang="en-US"/>
              <a:t>     rv_abs = rvInfo.brakeSys.antilock_brake_status_  </a:t>
            </a:r>
            <a:endParaRPr lang="zh-CN" altLang="en-US"/>
          </a:p>
        </p:txBody>
      </p:sp>
    </p:spTree>
  </p:cSld>
  <p:clrMapOvr>
    <a:masterClrMapping/>
  </p:clrMapOvr>
  <p:transition spd="slow"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EVW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算法</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实现</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9" name="椭圆 8"/>
          <p:cNvSpPr/>
          <p:nvPr>
            <p:custDataLst>
              <p:tags r:id="rId2"/>
            </p:custDataLst>
          </p:nvPr>
        </p:nvSpPr>
        <p:spPr>
          <a:xfrm>
            <a:off x="309836" y="126256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4</a:t>
            </a:r>
            <a:endParaRPr lang="en-US" altLang="zh-CN" sz="1400" b="1" i="1">
              <a:latin typeface="+mj-lt"/>
            </a:endParaRPr>
          </a:p>
        </p:txBody>
      </p:sp>
      <p:sp>
        <p:nvSpPr>
          <p:cNvPr id="10" name="文本框 9"/>
          <p:cNvSpPr txBox="1"/>
          <p:nvPr>
            <p:custDataLst>
              <p:tags r:id="rId3"/>
            </p:custDataLst>
          </p:nvPr>
        </p:nvSpPr>
        <p:spPr>
          <a:xfrm>
            <a:off x="911225" y="1225550"/>
            <a:ext cx="7863840" cy="645160"/>
          </a:xfrm>
          <a:prstGeom prst="rect">
            <a:avLst/>
          </a:prstGeom>
          <a:noFill/>
        </p:spPr>
        <p:txBody>
          <a:bodyPr wrap="square" rtlCol="0">
            <a:spAutoFit/>
          </a:bodyPr>
          <a:p>
            <a:r>
              <a:rPr lang="zh-CN" altLang="en-US">
                <a:sym typeface="+mn-ea"/>
              </a:rPr>
              <a:t>调用 my_calc_distance 自定义函数，</a:t>
            </a:r>
            <a:r>
              <a:rPr lang="zh-CN" altLang="en-US" b="1">
                <a:sym typeface="+mn-ea"/>
              </a:rPr>
              <a:t>计算主车和远车之间</a:t>
            </a:r>
            <a:r>
              <a:rPr lang="zh-CN" altLang="en-US">
                <a:sym typeface="+mn-ea"/>
              </a:rPr>
              <a:t>的纵向、横向和直线距离以及相对位置关系；</a:t>
            </a:r>
            <a:endParaRPr lang="zh-CN" altLang="en-US">
              <a:sym typeface="+mn-ea"/>
            </a:endParaRPr>
          </a:p>
        </p:txBody>
      </p:sp>
      <p:sp>
        <p:nvSpPr>
          <p:cNvPr id="2" name="文本框 1"/>
          <p:cNvSpPr txBox="1"/>
          <p:nvPr/>
        </p:nvSpPr>
        <p:spPr>
          <a:xfrm>
            <a:off x="930910" y="1942465"/>
            <a:ext cx="7882890" cy="645160"/>
          </a:xfrm>
          <a:prstGeom prst="rect">
            <a:avLst/>
          </a:prstGeom>
          <a:noFill/>
        </p:spPr>
        <p:txBody>
          <a:bodyPr wrap="square" rtlCol="0" anchor="t">
            <a:spAutoFit/>
          </a:bodyPr>
          <a:p>
            <a:r>
              <a:rPr lang="zh-CN" altLang="en-US"/>
              <a:t>longi_dist, lati_dist, dist = my_calc_distance([hv_x, hv_y, hv_heading],</a:t>
            </a:r>
            <a:endParaRPr lang="zh-CN" altLang="en-US"/>
          </a:p>
          <a:p>
            <a:r>
              <a:rPr lang="zh-CN" altLang="en-US"/>
              <a:t>[rv_x, rv_y, rv_heading])</a:t>
            </a:r>
            <a:endParaRPr lang="zh-CN" altLang="en-US"/>
          </a:p>
        </p:txBody>
      </p:sp>
      <p:sp>
        <p:nvSpPr>
          <p:cNvPr id="3" name="椭圆 2"/>
          <p:cNvSpPr/>
          <p:nvPr>
            <p:custDataLst>
              <p:tags r:id="rId4"/>
            </p:custDataLst>
          </p:nvPr>
        </p:nvSpPr>
        <p:spPr>
          <a:xfrm>
            <a:off x="310471" y="265956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5</a:t>
            </a:r>
            <a:endParaRPr lang="en-US" altLang="zh-CN" sz="1400" b="1" i="1">
              <a:latin typeface="+mj-lt"/>
            </a:endParaRPr>
          </a:p>
        </p:txBody>
      </p:sp>
      <p:sp>
        <p:nvSpPr>
          <p:cNvPr id="4" name="文本框 3"/>
          <p:cNvSpPr txBox="1"/>
          <p:nvPr/>
        </p:nvSpPr>
        <p:spPr>
          <a:xfrm>
            <a:off x="911860" y="2659380"/>
            <a:ext cx="7863205" cy="645160"/>
          </a:xfrm>
          <a:prstGeom prst="rect">
            <a:avLst/>
          </a:prstGeom>
          <a:noFill/>
        </p:spPr>
        <p:txBody>
          <a:bodyPr wrap="square" rtlCol="0">
            <a:spAutoFit/>
          </a:bodyPr>
          <a:p>
            <a:r>
              <a:rPr lang="zh-CN" altLang="en-US" b="1"/>
              <a:t>判断远车是否为紧急车辆</a:t>
            </a:r>
            <a:r>
              <a:rPr lang="zh-CN" altLang="en-US"/>
              <a:t>：主车速度大于 0.1 且远车位于主车后方距离小于 80m，若同时满足以上条件，则将 warning_flag 设为 1，并进行下一步判断；</a:t>
            </a:r>
            <a:endParaRPr lang="zh-CN" altLang="en-US"/>
          </a:p>
        </p:txBody>
      </p:sp>
      <p:sp>
        <p:nvSpPr>
          <p:cNvPr id="6" name="文本框 5"/>
          <p:cNvSpPr txBox="1"/>
          <p:nvPr/>
        </p:nvSpPr>
        <p:spPr>
          <a:xfrm>
            <a:off x="702945" y="3329305"/>
            <a:ext cx="8006715" cy="645160"/>
          </a:xfrm>
          <a:prstGeom prst="rect">
            <a:avLst/>
          </a:prstGeom>
          <a:noFill/>
        </p:spPr>
        <p:txBody>
          <a:bodyPr wrap="square" rtlCol="0">
            <a:spAutoFit/>
          </a:bodyPr>
          <a:p>
            <a:r>
              <a:rPr lang="zh-CN" altLang="en-US"/>
              <a:t>     if (60 &lt;= rv_class &lt;= 70) and (hv_speed &gt; 0.1) and (‐80 &lt;= longi_dist &lt;= 0):  </a:t>
            </a:r>
            <a:endParaRPr lang="zh-CN" altLang="en-US"/>
          </a:p>
          <a:p>
            <a:r>
              <a:rPr lang="zh-CN" altLang="en-US"/>
              <a:t>         warning_flag = 1 </a:t>
            </a:r>
            <a:endParaRPr lang="zh-CN" altLang="en-US"/>
          </a:p>
        </p:txBody>
      </p:sp>
      <p:sp>
        <p:nvSpPr>
          <p:cNvPr id="8" name="椭圆 7"/>
          <p:cNvSpPr/>
          <p:nvPr>
            <p:custDataLst>
              <p:tags r:id="rId5"/>
            </p:custDataLst>
          </p:nvPr>
        </p:nvSpPr>
        <p:spPr>
          <a:xfrm>
            <a:off x="310471" y="412641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6</a:t>
            </a:r>
            <a:endParaRPr lang="en-US" altLang="zh-CN" sz="1400" b="1" i="1">
              <a:latin typeface="+mj-lt"/>
            </a:endParaRPr>
          </a:p>
        </p:txBody>
      </p:sp>
      <p:sp>
        <p:nvSpPr>
          <p:cNvPr id="11" name="文本框 10"/>
          <p:cNvSpPr txBox="1"/>
          <p:nvPr>
            <p:custDataLst>
              <p:tags r:id="rId6"/>
            </p:custDataLst>
          </p:nvPr>
        </p:nvSpPr>
        <p:spPr>
          <a:xfrm>
            <a:off x="931545" y="4126230"/>
            <a:ext cx="7863205" cy="645160"/>
          </a:xfrm>
          <a:prstGeom prst="rect">
            <a:avLst/>
          </a:prstGeom>
          <a:noFill/>
        </p:spPr>
        <p:txBody>
          <a:bodyPr wrap="square" rtlCol="0">
            <a:spAutoFit/>
          </a:bodyPr>
          <a:p>
            <a:r>
              <a:rPr lang="zh-CN" altLang="en-US"/>
              <a:t>若两车位于同一车道且远车位于主车后方 20m 范围内，则将 warning_flag 设为 2，并将 adviser 设为 lane_change；</a:t>
            </a:r>
            <a:endParaRPr lang="zh-CN" altLang="en-US"/>
          </a:p>
        </p:txBody>
      </p:sp>
      <p:sp>
        <p:nvSpPr>
          <p:cNvPr id="12" name="文本框 11"/>
          <p:cNvSpPr txBox="1"/>
          <p:nvPr/>
        </p:nvSpPr>
        <p:spPr>
          <a:xfrm>
            <a:off x="931545" y="4771390"/>
            <a:ext cx="7336155" cy="922020"/>
          </a:xfrm>
          <a:prstGeom prst="rect">
            <a:avLst/>
          </a:prstGeom>
          <a:noFill/>
        </p:spPr>
        <p:txBody>
          <a:bodyPr wrap="square" rtlCol="0">
            <a:spAutoFit/>
          </a:bodyPr>
          <a:p>
            <a:r>
              <a:rPr lang="zh-CN" altLang="en-US"/>
              <a:t>         if (abs(lati_dist) &lt; DEFAULT_LANE_WIDTH) and (‐20 &lt;= longi_dist &lt;= 0):  </a:t>
            </a:r>
            <a:endParaRPr lang="zh-CN" altLang="en-US"/>
          </a:p>
          <a:p>
            <a:r>
              <a:rPr lang="zh-CN" altLang="en-US"/>
              <a:t>             warning_flag = 2  </a:t>
            </a:r>
            <a:endParaRPr lang="zh-CN" altLang="en-US"/>
          </a:p>
          <a:p>
            <a:r>
              <a:rPr lang="zh-CN" altLang="en-US"/>
              <a:t>             adviser = Advise.lane_change  </a:t>
            </a:r>
            <a:endParaRPr lang="zh-CN" altLang="en-US"/>
          </a:p>
        </p:txBody>
      </p:sp>
      <p:sp>
        <p:nvSpPr>
          <p:cNvPr id="13" name="椭圆 12"/>
          <p:cNvSpPr/>
          <p:nvPr>
            <p:custDataLst>
              <p:tags r:id="rId7"/>
            </p:custDataLst>
          </p:nvPr>
        </p:nvSpPr>
        <p:spPr>
          <a:xfrm>
            <a:off x="269196" y="560215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7</a:t>
            </a:r>
            <a:endParaRPr lang="en-US" altLang="zh-CN" sz="1400" b="1" i="1">
              <a:latin typeface="+mj-lt"/>
            </a:endParaRPr>
          </a:p>
        </p:txBody>
      </p:sp>
      <p:sp>
        <p:nvSpPr>
          <p:cNvPr id="14" name="文本框 13"/>
          <p:cNvSpPr txBox="1"/>
          <p:nvPr>
            <p:custDataLst>
              <p:tags r:id="rId8"/>
            </p:custDataLst>
          </p:nvPr>
        </p:nvSpPr>
        <p:spPr>
          <a:xfrm>
            <a:off x="911225" y="5693410"/>
            <a:ext cx="7863840" cy="368300"/>
          </a:xfrm>
          <a:prstGeom prst="rect">
            <a:avLst/>
          </a:prstGeom>
          <a:noFill/>
        </p:spPr>
        <p:txBody>
          <a:bodyPr wrap="square" rtlCol="0">
            <a:spAutoFit/>
          </a:bodyPr>
          <a:p>
            <a:r>
              <a:rPr lang="zh-CN" altLang="en-US">
                <a:sym typeface="+mn-ea"/>
              </a:rPr>
              <a:t>最终</a:t>
            </a:r>
            <a:r>
              <a:rPr lang="zh-CN" altLang="en-US" b="1">
                <a:sym typeface="+mn-ea"/>
              </a:rPr>
              <a:t>返回</a:t>
            </a:r>
            <a:r>
              <a:rPr lang="zh-CN" altLang="en-US">
                <a:sym typeface="+mn-ea"/>
              </a:rPr>
              <a:t> warning_flag 和 adviser 作为函数输出。</a:t>
            </a:r>
            <a:endParaRPr lang="zh-CN" altLang="en-US">
              <a:sym typeface="+mn-ea"/>
            </a:endParaRPr>
          </a:p>
        </p:txBody>
      </p:sp>
      <p:sp>
        <p:nvSpPr>
          <p:cNvPr id="15" name="文本框 14"/>
          <p:cNvSpPr txBox="1"/>
          <p:nvPr/>
        </p:nvSpPr>
        <p:spPr>
          <a:xfrm>
            <a:off x="911860" y="6061710"/>
            <a:ext cx="5382895" cy="368300"/>
          </a:xfrm>
          <a:prstGeom prst="rect">
            <a:avLst/>
          </a:prstGeom>
          <a:noFill/>
        </p:spPr>
        <p:txBody>
          <a:bodyPr wrap="square" rtlCol="0">
            <a:spAutoFit/>
          </a:bodyPr>
          <a:p>
            <a:r>
              <a:rPr lang="zh-CN" altLang="en-US"/>
              <a:t> return warning_flag, adviser</a:t>
            </a:r>
            <a:endParaRPr lang="zh-CN" altLang="en-US"/>
          </a:p>
        </p:txBody>
      </p:sp>
    </p:spTree>
  </p:cSld>
  <p:clrMapOvr>
    <a:masterClrMapping/>
  </p:clrMapOvr>
  <p:transition spd="slow"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lgn="l">
              <a:buClrTx/>
              <a:buSzTx/>
              <a:buFontTx/>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道路危险状况技术</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2" name="图片 1"/>
          <p:cNvPicPr>
            <a:picLocks noChangeAspect="1"/>
          </p:cNvPicPr>
          <p:nvPr>
            <p:custDataLst>
              <p:tags r:id="rId2"/>
            </p:custDataLst>
          </p:nvPr>
        </p:nvPicPr>
        <p:blipFill>
          <a:blip r:embed="rId3"/>
          <a:stretch>
            <a:fillRect/>
          </a:stretch>
        </p:blipFill>
        <p:spPr>
          <a:xfrm>
            <a:off x="4107180" y="3639820"/>
            <a:ext cx="5036820" cy="2948940"/>
          </a:xfrm>
          <a:prstGeom prst="rect">
            <a:avLst/>
          </a:prstGeom>
        </p:spPr>
      </p:pic>
      <p:sp>
        <p:nvSpPr>
          <p:cNvPr id="19" name="箭头: 五边形 18"/>
          <p:cNvSpPr/>
          <p:nvPr>
            <p:custDataLst>
              <p:tags r:id="rId4"/>
            </p:custDataLst>
          </p:nvPr>
        </p:nvSpPr>
        <p:spPr>
          <a:xfrm>
            <a:off x="237547" y="1018159"/>
            <a:ext cx="2674768" cy="554447"/>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mj-ea"/>
                <a:ea typeface="+mj-ea"/>
              </a:rPr>
              <a:t>定义</a:t>
            </a:r>
            <a:endParaRPr lang="zh-CN" altLang="en-US" b="1">
              <a:latin typeface="+mj-ea"/>
              <a:ea typeface="+mj-ea"/>
            </a:endParaRPr>
          </a:p>
        </p:txBody>
      </p:sp>
      <p:sp>
        <p:nvSpPr>
          <p:cNvPr id="23" name="箭头: 五边形 22"/>
          <p:cNvSpPr/>
          <p:nvPr>
            <p:custDataLst>
              <p:tags r:id="rId5"/>
            </p:custDataLst>
          </p:nvPr>
        </p:nvSpPr>
        <p:spPr>
          <a:xfrm>
            <a:off x="237293" y="3640074"/>
            <a:ext cx="2674768" cy="554447"/>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mj-ea"/>
                <a:ea typeface="+mj-ea"/>
              </a:rPr>
              <a:t>主要</a:t>
            </a:r>
            <a:r>
              <a:rPr lang="zh-CN" altLang="en-US" b="1">
                <a:latin typeface="+mj-ea"/>
                <a:ea typeface="+mj-ea"/>
              </a:rPr>
              <a:t>场景</a:t>
            </a:r>
            <a:endParaRPr lang="zh-CN" altLang="en-US" b="1">
              <a:latin typeface="+mj-ea"/>
              <a:ea typeface="+mj-ea"/>
            </a:endParaRPr>
          </a:p>
        </p:txBody>
      </p:sp>
      <p:sp>
        <p:nvSpPr>
          <p:cNvPr id="3" name="文本框 2"/>
          <p:cNvSpPr txBox="1"/>
          <p:nvPr/>
        </p:nvSpPr>
        <p:spPr>
          <a:xfrm>
            <a:off x="237490" y="1609725"/>
            <a:ext cx="8035290" cy="2030095"/>
          </a:xfrm>
          <a:prstGeom prst="rect">
            <a:avLst/>
          </a:prstGeom>
          <a:noFill/>
        </p:spPr>
        <p:txBody>
          <a:bodyPr wrap="square" rtlCol="0">
            <a:spAutoFit/>
          </a:bodyPr>
          <a:p>
            <a:pPr indent="457200"/>
            <a:r>
              <a:rPr lang="zh-CN" altLang="en-US" b="1"/>
              <a:t>道路危险状况提示（Hazardous Location warning，HLW）</a:t>
            </a:r>
            <a:r>
              <a:rPr lang="zh-CN" altLang="en-US"/>
              <a:t>是指，主车（HV）行驶到</a:t>
            </a:r>
            <a:r>
              <a:rPr lang="zh-CN" altLang="en-US" b="1"/>
              <a:t>潜在危险状况</a:t>
            </a:r>
            <a:r>
              <a:rPr lang="zh-CN" altLang="en-US"/>
              <a:t>（如桥下存在较深积水、路面有深坑、道路湿滑、前方急转弯等）路段，存在发生事故风险时，HLW 应用</a:t>
            </a:r>
            <a:r>
              <a:rPr lang="zh-CN" altLang="en-US" b="1"/>
              <a:t>对 HV 驾驶员进行预警</a:t>
            </a:r>
            <a:r>
              <a:rPr lang="zh-CN" altLang="en-US"/>
              <a:t>。本应用适用于城市道路、郊区道路和高速公路等容易发生危险状况的路段或者临时性存在道路危险状况的路段。</a:t>
            </a:r>
            <a:endParaRPr lang="zh-CN" altLang="en-US"/>
          </a:p>
          <a:p>
            <a:pPr indent="457200"/>
            <a:r>
              <a:rPr lang="zh-CN" altLang="en-US"/>
              <a:t>HLW 应用将道路危险状况</a:t>
            </a:r>
            <a:r>
              <a:rPr lang="zh-CN" altLang="en-US" b="1"/>
              <a:t>及时通知周围车辆</a:t>
            </a:r>
            <a:r>
              <a:rPr lang="zh-CN" altLang="en-US"/>
              <a:t>，便于驾驶员提前进行处置，提高车辆对危险路况的感知能力，降低驶入该危险区域的车辆发生事故的风险。</a:t>
            </a:r>
            <a:endParaRPr lang="zh-CN" altLang="en-US"/>
          </a:p>
        </p:txBody>
      </p:sp>
      <p:sp>
        <p:nvSpPr>
          <p:cNvPr id="4" name="文本框 3"/>
          <p:cNvSpPr txBox="1"/>
          <p:nvPr/>
        </p:nvSpPr>
        <p:spPr>
          <a:xfrm>
            <a:off x="237490" y="4260850"/>
            <a:ext cx="3677920" cy="1753235"/>
          </a:xfrm>
          <a:prstGeom prst="rect">
            <a:avLst/>
          </a:prstGeom>
          <a:noFill/>
        </p:spPr>
        <p:txBody>
          <a:bodyPr wrap="square" rtlCol="0">
            <a:spAutoFit/>
          </a:bodyPr>
          <a:p>
            <a:pPr indent="457200"/>
            <a:r>
              <a:rPr lang="zh-CN" altLang="en-US"/>
              <a:t>当道路</a:t>
            </a:r>
            <a:r>
              <a:rPr lang="zh-CN" altLang="en-US" b="1"/>
              <a:t>存在危险状况时</a:t>
            </a:r>
            <a:r>
              <a:rPr lang="zh-CN" altLang="en-US"/>
              <a:t>，附近路侧单元（RSU）或临时路侧设备对外广播道路危险状况</a:t>
            </a:r>
            <a:r>
              <a:rPr lang="zh-CN" altLang="en-US" b="1"/>
              <a:t>提示信息</a:t>
            </a:r>
            <a:r>
              <a:rPr lang="zh-CN" altLang="en-US"/>
              <a:t>，包括，位置、危险类型、危险描述等，行经该路段的 HV 根据信息及时采取</a:t>
            </a:r>
            <a:r>
              <a:rPr lang="zh-CN" altLang="en-US" b="1"/>
              <a:t>避让措施</a:t>
            </a:r>
            <a:r>
              <a:rPr lang="zh-CN" altLang="en-US"/>
              <a:t>，避免发生事故。</a:t>
            </a:r>
            <a:endParaRPr lang="zh-CN" altLang="en-US"/>
          </a:p>
        </p:txBody>
      </p:sp>
    </p:spTree>
  </p:cSld>
  <p:clrMapOvr>
    <a:masterClrMapping/>
  </p:clrMapOvr>
  <p:transition spd="slow"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HLW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工作</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原理</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文本框 2"/>
          <p:cNvSpPr txBox="1"/>
          <p:nvPr>
            <p:custDataLst>
              <p:tags r:id="rId2"/>
            </p:custDataLst>
          </p:nvPr>
        </p:nvSpPr>
        <p:spPr>
          <a:xfrm>
            <a:off x="796290" y="4815205"/>
            <a:ext cx="8338185" cy="398780"/>
          </a:xfrm>
          <a:prstGeom prst="rect">
            <a:avLst/>
          </a:prstGeom>
          <a:noFill/>
        </p:spPr>
        <p:txBody>
          <a:bodyPr wrap="square" rtlCol="0">
            <a:spAutoFit/>
          </a:bodyPr>
          <a:p>
            <a:r>
              <a:rPr lang="zh-CN" altLang="en-US" sz="2000">
                <a:sym typeface="+mn-ea"/>
              </a:rPr>
              <a:t>系统通过 HMI 对驾驶员进行及时的</a:t>
            </a:r>
            <a:r>
              <a:rPr lang="zh-CN" altLang="en-US" sz="2000" b="1">
                <a:sym typeface="+mn-ea"/>
              </a:rPr>
              <a:t>预警</a:t>
            </a:r>
            <a:r>
              <a:rPr lang="zh-CN" altLang="en-US" sz="2000">
                <a:sym typeface="+mn-ea"/>
              </a:rPr>
              <a:t>。</a:t>
            </a:r>
            <a:endParaRPr lang="zh-CN" altLang="en-US"/>
          </a:p>
        </p:txBody>
      </p:sp>
      <p:sp>
        <p:nvSpPr>
          <p:cNvPr id="35" name="椭圆 34"/>
          <p:cNvSpPr/>
          <p:nvPr>
            <p:custDataLst>
              <p:tags r:id="rId3"/>
            </p:custDataLst>
          </p:nvPr>
        </p:nvSpPr>
        <p:spPr>
          <a:xfrm>
            <a:off x="227921" y="126319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1</a:t>
            </a:r>
            <a:endParaRPr lang="zh-CN" altLang="en-US" sz="1400" b="1" i="1">
              <a:latin typeface="+mj-lt"/>
            </a:endParaRPr>
          </a:p>
        </p:txBody>
      </p:sp>
      <p:sp>
        <p:nvSpPr>
          <p:cNvPr id="14" name="椭圆 13"/>
          <p:cNvSpPr/>
          <p:nvPr>
            <p:custDataLst>
              <p:tags r:id="rId4"/>
            </p:custDataLst>
          </p:nvPr>
        </p:nvSpPr>
        <p:spPr>
          <a:xfrm>
            <a:off x="227921" y="249128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2</a:t>
            </a:r>
            <a:endParaRPr lang="en-US" altLang="zh-CN" sz="1400" b="1" i="1">
              <a:latin typeface="+mj-lt"/>
            </a:endParaRPr>
          </a:p>
        </p:txBody>
      </p:sp>
      <p:sp>
        <p:nvSpPr>
          <p:cNvPr id="16" name="椭圆 15"/>
          <p:cNvSpPr/>
          <p:nvPr>
            <p:custDataLst>
              <p:tags r:id="rId5"/>
            </p:custDataLst>
          </p:nvPr>
        </p:nvSpPr>
        <p:spPr>
          <a:xfrm>
            <a:off x="227921" y="365333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3</a:t>
            </a:r>
            <a:endParaRPr lang="en-US" altLang="zh-CN" sz="1400" b="1" i="1">
              <a:latin typeface="+mj-lt"/>
            </a:endParaRPr>
          </a:p>
        </p:txBody>
      </p:sp>
      <p:sp>
        <p:nvSpPr>
          <p:cNvPr id="17" name="椭圆 16"/>
          <p:cNvSpPr/>
          <p:nvPr>
            <p:custDataLst>
              <p:tags r:id="rId6"/>
            </p:custDataLst>
          </p:nvPr>
        </p:nvSpPr>
        <p:spPr>
          <a:xfrm>
            <a:off x="215856" y="481538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4</a:t>
            </a:r>
            <a:endParaRPr lang="en-US" altLang="zh-CN" sz="1400" b="1" i="1">
              <a:latin typeface="+mj-lt"/>
            </a:endParaRPr>
          </a:p>
        </p:txBody>
      </p:sp>
      <p:sp>
        <p:nvSpPr>
          <p:cNvPr id="4" name="文本框 3"/>
          <p:cNvSpPr txBox="1"/>
          <p:nvPr>
            <p:custDataLst>
              <p:tags r:id="rId7"/>
            </p:custDataLst>
          </p:nvPr>
        </p:nvSpPr>
        <p:spPr>
          <a:xfrm>
            <a:off x="796290" y="1302385"/>
            <a:ext cx="7402830" cy="706755"/>
          </a:xfrm>
          <a:prstGeom prst="rect">
            <a:avLst/>
          </a:prstGeom>
          <a:noFill/>
        </p:spPr>
        <p:txBody>
          <a:bodyPr wrap="square" rtlCol="0">
            <a:spAutoFit/>
          </a:bodyPr>
          <a:p>
            <a:r>
              <a:rPr lang="zh-CN" altLang="en-US" sz="2000">
                <a:sym typeface="+mn-ea"/>
              </a:rPr>
              <a:t>具备短程无线通信能力的路侧单元（RSU）</a:t>
            </a:r>
            <a:r>
              <a:rPr lang="zh-CN" altLang="en-US" sz="2000" b="1">
                <a:sym typeface="+mn-ea"/>
              </a:rPr>
              <a:t>周期性</a:t>
            </a:r>
            <a:r>
              <a:rPr lang="zh-CN" altLang="en-US" sz="2000">
                <a:sym typeface="+mn-ea"/>
              </a:rPr>
              <a:t>对外广播道路危险状况</a:t>
            </a:r>
            <a:r>
              <a:rPr lang="zh-CN" altLang="en-US" sz="2000" b="1">
                <a:sym typeface="+mn-ea"/>
              </a:rPr>
              <a:t>提示信息</a:t>
            </a:r>
            <a:r>
              <a:rPr lang="zh-CN" altLang="en-US" sz="2000">
                <a:sym typeface="+mn-ea"/>
              </a:rPr>
              <a:t>；</a:t>
            </a:r>
            <a:endParaRPr lang="zh-CN" altLang="en-US" sz="2000"/>
          </a:p>
        </p:txBody>
      </p:sp>
      <p:sp>
        <p:nvSpPr>
          <p:cNvPr id="6" name="文本框 5"/>
          <p:cNvSpPr txBox="1"/>
          <p:nvPr>
            <p:custDataLst>
              <p:tags r:id="rId8"/>
            </p:custDataLst>
          </p:nvPr>
        </p:nvSpPr>
        <p:spPr>
          <a:xfrm>
            <a:off x="796290" y="2519045"/>
            <a:ext cx="7969250" cy="706755"/>
          </a:xfrm>
          <a:prstGeom prst="rect">
            <a:avLst/>
          </a:prstGeom>
          <a:noFill/>
        </p:spPr>
        <p:txBody>
          <a:bodyPr wrap="square" rtlCol="0">
            <a:spAutoFit/>
          </a:bodyPr>
          <a:p>
            <a:r>
              <a:rPr lang="zh-CN" altLang="en-US" sz="2000">
                <a:sym typeface="+mn-ea"/>
              </a:rPr>
              <a:t>HV 依据自身位置信息和道路危险状况提示信息，</a:t>
            </a:r>
            <a:r>
              <a:rPr lang="zh-CN" altLang="en-US" sz="2000" b="1">
                <a:sym typeface="+mn-ea"/>
              </a:rPr>
              <a:t>计算与道路危险区域的距离</a:t>
            </a:r>
            <a:r>
              <a:rPr lang="zh-CN" altLang="en-US" sz="2000">
                <a:sym typeface="+mn-ea"/>
              </a:rPr>
              <a:t>；</a:t>
            </a:r>
            <a:endParaRPr lang="zh-CN" altLang="en-US" sz="2000">
              <a:sym typeface="+mn-ea"/>
            </a:endParaRPr>
          </a:p>
        </p:txBody>
      </p:sp>
      <p:sp>
        <p:nvSpPr>
          <p:cNvPr id="8" name="文本框 7"/>
          <p:cNvSpPr txBox="1"/>
          <p:nvPr>
            <p:custDataLst>
              <p:tags r:id="rId9"/>
            </p:custDataLst>
          </p:nvPr>
        </p:nvSpPr>
        <p:spPr>
          <a:xfrm>
            <a:off x="796925" y="3667125"/>
            <a:ext cx="8337550" cy="398780"/>
          </a:xfrm>
          <a:prstGeom prst="rect">
            <a:avLst/>
          </a:prstGeom>
          <a:noFill/>
        </p:spPr>
        <p:txBody>
          <a:bodyPr wrap="square" rtlCol="0">
            <a:spAutoFit/>
          </a:bodyPr>
          <a:p>
            <a:r>
              <a:rPr lang="zh-CN" altLang="en-US" sz="2000">
                <a:sym typeface="+mn-ea"/>
              </a:rPr>
              <a:t>HV 依据当前速度</a:t>
            </a:r>
            <a:r>
              <a:rPr lang="zh-CN" altLang="en-US" sz="2000" b="1">
                <a:sym typeface="+mn-ea"/>
              </a:rPr>
              <a:t>计算到达道路危险区域的</a:t>
            </a:r>
            <a:r>
              <a:rPr lang="zh-CN" altLang="en-US" sz="2000" b="1">
                <a:sym typeface="+mn-ea"/>
              </a:rPr>
              <a:t>时间</a:t>
            </a:r>
            <a:r>
              <a:rPr lang="zh-CN" altLang="en-US" sz="2000">
                <a:sym typeface="+mn-ea"/>
              </a:rPr>
              <a:t>；</a:t>
            </a:r>
            <a:endParaRPr lang="zh-CN" altLang="en-US"/>
          </a:p>
        </p:txBody>
      </p:sp>
    </p:spTree>
  </p:cSld>
  <p:clrMapOvr>
    <a:masterClrMapping/>
  </p:clrMapOvr>
  <p:transition spd="slow"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HLW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算法</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实现</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9" name="椭圆 8"/>
          <p:cNvSpPr/>
          <p:nvPr>
            <p:custDataLst>
              <p:tags r:id="rId2"/>
            </p:custDataLst>
          </p:nvPr>
        </p:nvSpPr>
        <p:spPr>
          <a:xfrm>
            <a:off x="309836" y="126256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1</a:t>
            </a:r>
            <a:endParaRPr lang="en-US" altLang="zh-CN" sz="1400" b="1" i="1">
              <a:latin typeface="+mj-lt"/>
            </a:endParaRPr>
          </a:p>
        </p:txBody>
      </p:sp>
      <p:sp>
        <p:nvSpPr>
          <p:cNvPr id="10" name="文本框 9"/>
          <p:cNvSpPr txBox="1"/>
          <p:nvPr>
            <p:custDataLst>
              <p:tags r:id="rId3"/>
            </p:custDataLst>
          </p:nvPr>
        </p:nvSpPr>
        <p:spPr>
          <a:xfrm>
            <a:off x="911225" y="1262380"/>
            <a:ext cx="7863840" cy="645160"/>
          </a:xfrm>
          <a:prstGeom prst="rect">
            <a:avLst/>
          </a:prstGeom>
          <a:noFill/>
        </p:spPr>
        <p:txBody>
          <a:bodyPr wrap="square" rtlCol="0">
            <a:spAutoFit/>
          </a:bodyPr>
          <a:p>
            <a:r>
              <a:rPr lang="zh-CN" altLang="en-US" b="1">
                <a:sym typeface="+mn-ea"/>
              </a:rPr>
              <a:t>定义一个函数 doHLW</a:t>
            </a:r>
            <a:r>
              <a:rPr lang="zh-CN" altLang="en-US">
                <a:sym typeface="+mn-ea"/>
              </a:rPr>
              <a:t>，它接受两个参数：hvInfo 和 rteInfo。hvInfo 表示主车信息，rteInfo 表示 RSI 信息； </a:t>
            </a:r>
            <a:endParaRPr lang="zh-CN" altLang="en-US"/>
          </a:p>
        </p:txBody>
      </p:sp>
      <p:sp>
        <p:nvSpPr>
          <p:cNvPr id="2" name="文本框 1"/>
          <p:cNvSpPr txBox="1"/>
          <p:nvPr/>
        </p:nvSpPr>
        <p:spPr>
          <a:xfrm>
            <a:off x="923925" y="1984375"/>
            <a:ext cx="5814060" cy="1753235"/>
          </a:xfrm>
          <a:prstGeom prst="rect">
            <a:avLst/>
          </a:prstGeom>
          <a:noFill/>
        </p:spPr>
        <p:txBody>
          <a:bodyPr wrap="square" rtlCol="0">
            <a:spAutoFit/>
          </a:bodyPr>
          <a:p>
            <a:r>
              <a:rPr lang="zh-CN" altLang="en-US"/>
              <a:t> def doHLW(hvInfo:Hv_Info, rteInfo:s_RSI):  </a:t>
            </a:r>
            <a:endParaRPr lang="zh-CN" altLang="en-US"/>
          </a:p>
          <a:p>
            <a:r>
              <a:rPr lang="zh-CN" altLang="en-US"/>
              <a:t>     """</a:t>
            </a:r>
            <a:endParaRPr lang="zh-CN" altLang="en-US"/>
          </a:p>
          <a:p>
            <a:r>
              <a:rPr lang="zh-CN" altLang="en-US"/>
              <a:t>     Args:</a:t>
            </a:r>
            <a:endParaRPr lang="zh-CN" altLang="en-US"/>
          </a:p>
          <a:p>
            <a:r>
              <a:rPr lang="zh-CN" altLang="en-US"/>
              <a:t>         hvInfo (Hv_Info): [description]</a:t>
            </a:r>
            <a:endParaRPr lang="zh-CN" altLang="en-US"/>
          </a:p>
          <a:p>
            <a:r>
              <a:rPr lang="zh-CN" altLang="en-US"/>
              <a:t>         rteInfo (s_RSI): [description]</a:t>
            </a:r>
            <a:endParaRPr lang="zh-CN" altLang="en-US"/>
          </a:p>
          <a:p>
            <a:r>
              <a:rPr lang="zh-CN" altLang="en-US"/>
              <a:t>     """ </a:t>
            </a:r>
            <a:endParaRPr lang="zh-CN" altLang="en-US"/>
          </a:p>
        </p:txBody>
      </p:sp>
      <p:sp>
        <p:nvSpPr>
          <p:cNvPr id="3" name="椭圆 2"/>
          <p:cNvSpPr/>
          <p:nvPr>
            <p:custDataLst>
              <p:tags r:id="rId4"/>
            </p:custDataLst>
          </p:nvPr>
        </p:nvSpPr>
        <p:spPr>
          <a:xfrm>
            <a:off x="309836" y="367937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2</a:t>
            </a:r>
            <a:endParaRPr lang="en-US" altLang="zh-CN" sz="1400" b="1" i="1">
              <a:latin typeface="+mj-lt"/>
            </a:endParaRPr>
          </a:p>
        </p:txBody>
      </p:sp>
      <p:sp>
        <p:nvSpPr>
          <p:cNvPr id="4" name="文本框 3"/>
          <p:cNvSpPr txBox="1"/>
          <p:nvPr>
            <p:custDataLst>
              <p:tags r:id="rId5"/>
            </p:custDataLst>
          </p:nvPr>
        </p:nvSpPr>
        <p:spPr>
          <a:xfrm>
            <a:off x="911225" y="3679190"/>
            <a:ext cx="7863840" cy="645160"/>
          </a:xfrm>
          <a:prstGeom prst="rect">
            <a:avLst/>
          </a:prstGeom>
          <a:noFill/>
        </p:spPr>
        <p:txBody>
          <a:bodyPr wrap="square" rtlCol="0">
            <a:spAutoFit/>
          </a:bodyPr>
          <a:p>
            <a:r>
              <a:rPr lang="zh-CN" altLang="en-US">
                <a:sym typeface="+mn-ea"/>
              </a:rPr>
              <a:t>函数内部首先</a:t>
            </a:r>
            <a:r>
              <a:rPr lang="zh-CN" altLang="en-US" b="1">
                <a:sym typeface="+mn-ea"/>
              </a:rPr>
              <a:t>初始化一个变量</a:t>
            </a:r>
            <a:r>
              <a:rPr lang="zh-CN" altLang="en-US">
                <a:sym typeface="+mn-ea"/>
              </a:rPr>
              <a:t>：warning_flag。 warning_flag 表示预警等级，0 表示无需预警，1 表示需要道路危险状况提示预警； </a:t>
            </a:r>
            <a:endParaRPr lang="zh-CN" altLang="en-US"/>
          </a:p>
        </p:txBody>
      </p:sp>
      <p:sp>
        <p:nvSpPr>
          <p:cNvPr id="6" name="文本框 5"/>
          <p:cNvSpPr txBox="1"/>
          <p:nvPr/>
        </p:nvSpPr>
        <p:spPr>
          <a:xfrm>
            <a:off x="1058545" y="4414520"/>
            <a:ext cx="5449570" cy="368300"/>
          </a:xfrm>
          <a:prstGeom prst="rect">
            <a:avLst/>
          </a:prstGeom>
          <a:noFill/>
        </p:spPr>
        <p:txBody>
          <a:bodyPr wrap="square" rtlCol="0">
            <a:spAutoFit/>
          </a:bodyPr>
          <a:p>
            <a:r>
              <a:rPr lang="zh-CN" altLang="en-US"/>
              <a:t>warningFlag = 0 </a:t>
            </a:r>
            <a:endParaRPr lang="zh-CN" altLang="en-US"/>
          </a:p>
        </p:txBody>
      </p:sp>
    </p:spTree>
  </p:cSld>
  <p:clrMapOvr>
    <a:masterClrMapping/>
  </p:clrMapOvr>
  <p:transition spd="slow"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HLW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算法</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实现</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12" name="文本框 11"/>
          <p:cNvSpPr txBox="1"/>
          <p:nvPr/>
        </p:nvSpPr>
        <p:spPr>
          <a:xfrm>
            <a:off x="361315" y="1649730"/>
            <a:ext cx="9003665" cy="5354320"/>
          </a:xfrm>
          <a:prstGeom prst="rect">
            <a:avLst/>
          </a:prstGeom>
          <a:noFill/>
        </p:spPr>
        <p:txBody>
          <a:bodyPr wrap="square" rtlCol="0">
            <a:spAutoFit/>
          </a:bodyPr>
          <a:p>
            <a:r>
              <a:rPr lang="zh-CN" altLang="en-US"/>
              <a:t> </a:t>
            </a:r>
            <a:r>
              <a:rPr lang="en-US" altLang="zh-CN"/>
              <a:t>   </a:t>
            </a:r>
            <a:r>
              <a:rPr lang="en-US" altLang="zh-CN">
                <a:solidFill>
                  <a:schemeClr val="accent1">
                    <a:lumMod val="75000"/>
                  </a:schemeClr>
                </a:solidFill>
              </a:rPr>
              <a:t> </a:t>
            </a:r>
            <a:r>
              <a:rPr lang="zh-CN" altLang="en-US">
                <a:solidFill>
                  <a:schemeClr val="accent1">
                    <a:lumMod val="75000"/>
                  </a:schemeClr>
                </a:solidFill>
              </a:rPr>
              <a:t># 主车 hv 信息  </a:t>
            </a:r>
            <a:endParaRPr lang="zh-CN" altLang="en-US">
              <a:solidFill>
                <a:schemeClr val="accent1">
                  <a:lumMod val="75000"/>
                </a:schemeClr>
              </a:solidFill>
            </a:endParaRPr>
          </a:p>
          <a:p>
            <a:r>
              <a:rPr lang="zh-CN" altLang="en-US"/>
              <a:t>     # xy 坐标  </a:t>
            </a:r>
            <a:endParaRPr lang="zh-CN" altLang="en-US"/>
          </a:p>
          <a:p>
            <a:r>
              <a:rPr lang="zh-CN" altLang="en-US"/>
              <a:t>     hv_x, hv_y = my_gps2xyz_ver2(hvInfo.lle.longitude_, hvInfo.lle.latitude_)</a:t>
            </a:r>
            <a:endParaRPr lang="zh-CN" altLang="en-US"/>
          </a:p>
          <a:p>
            <a:r>
              <a:rPr lang="zh-CN" altLang="en-US"/>
              <a:t>     # 速度  </a:t>
            </a:r>
            <a:endParaRPr lang="zh-CN" altLang="en-US"/>
          </a:p>
          <a:p>
            <a:r>
              <a:rPr lang="zh-CN" altLang="en-US"/>
              <a:t>     hv_speed = hvInfo.speed  </a:t>
            </a:r>
            <a:endParaRPr lang="zh-CN" altLang="en-US"/>
          </a:p>
          <a:p>
            <a:r>
              <a:rPr lang="zh-CN" altLang="en-US"/>
              <a:t>     # 航向角  </a:t>
            </a:r>
            <a:endParaRPr lang="zh-CN" altLang="en-US"/>
          </a:p>
          <a:p>
            <a:r>
              <a:rPr lang="zh-CN" altLang="en-US"/>
              <a:t>     hv_heading = hvInfo.mv.angle_  </a:t>
            </a:r>
            <a:endParaRPr lang="zh-CN" altLang="en-US"/>
          </a:p>
          <a:p>
            <a:r>
              <a:rPr lang="zh-CN" altLang="en-US"/>
              <a:t>     # 尺寸  </a:t>
            </a:r>
            <a:endParaRPr lang="zh-CN" altLang="en-US"/>
          </a:p>
          <a:p>
            <a:r>
              <a:rPr lang="zh-CN" altLang="en-US"/>
              <a:t>     hv_width, hv_length = hvInfo.size.width_, hvInfo.size.length_  </a:t>
            </a:r>
            <a:endParaRPr lang="zh-CN" altLang="en-US"/>
          </a:p>
          <a:p>
            <a:r>
              <a:rPr lang="zh-CN" altLang="en-US"/>
              <a:t>     # 车辆类型  </a:t>
            </a:r>
            <a:endParaRPr lang="zh-CN" altLang="en-US"/>
          </a:p>
          <a:p>
            <a:r>
              <a:rPr lang="zh-CN" altLang="en-US"/>
              <a:t>     hv_class = hvInfo.vehClass  </a:t>
            </a:r>
            <a:endParaRPr lang="zh-CN" altLang="en-US"/>
          </a:p>
          <a:p>
            <a:r>
              <a:rPr lang="zh-CN" altLang="en-US"/>
              <a:t>  </a:t>
            </a:r>
            <a:r>
              <a:rPr lang="zh-CN" altLang="en-US">
                <a:solidFill>
                  <a:schemeClr val="accent1">
                    <a:lumMod val="75000"/>
                  </a:schemeClr>
                </a:solidFill>
              </a:rPr>
              <a:t>   # 道路施工信息  </a:t>
            </a:r>
            <a:endParaRPr lang="zh-CN" altLang="en-US">
              <a:solidFill>
                <a:schemeClr val="accent1">
                  <a:lumMod val="75000"/>
                </a:schemeClr>
              </a:solidFill>
            </a:endParaRPr>
          </a:p>
          <a:p>
            <a:r>
              <a:rPr lang="zh-CN" altLang="en-US"/>
              <a:t>     # 涉及范围(两个圆平移覆盖的范围)  </a:t>
            </a:r>
            <a:endParaRPr lang="zh-CN" altLang="en-US"/>
          </a:p>
          <a:p>
            <a:r>
              <a:rPr lang="zh-CN" altLang="en-US"/>
              <a:t>     radius = rteInfo.radius  </a:t>
            </a:r>
            <a:endParaRPr lang="zh-CN" altLang="en-US"/>
          </a:p>
          <a:p>
            <a:r>
              <a:rPr lang="en-US" altLang="zh-CN">
                <a:sym typeface="+mn-ea"/>
              </a:rPr>
              <a:t>     </a:t>
            </a:r>
            <a:r>
              <a:rPr lang="zh-CN" altLang="en-US">
                <a:sym typeface="+mn-ea"/>
              </a:rPr>
              <a:t># 开始点  </a:t>
            </a:r>
            <a:endParaRPr lang="zh-CN" altLang="en-US"/>
          </a:p>
          <a:p>
            <a:r>
              <a:rPr lang="zh-CN" altLang="en-US">
                <a:sym typeface="+mn-ea"/>
              </a:rPr>
              <a:t>     s_x, s_y = my_gps2xyz_ver2(rteInfo.startLLE.longitude_, rteInfo.startLLE.latitude_)  </a:t>
            </a:r>
            <a:endParaRPr lang="zh-CN" altLang="en-US"/>
          </a:p>
          <a:p>
            <a:r>
              <a:rPr lang="zh-CN" altLang="en-US">
                <a:sym typeface="+mn-ea"/>
              </a:rPr>
              <a:t>     # 结束点  </a:t>
            </a:r>
            <a:endParaRPr lang="zh-CN" altLang="en-US"/>
          </a:p>
          <a:p>
            <a:r>
              <a:rPr lang="zh-CN" altLang="en-US">
                <a:sym typeface="+mn-ea"/>
              </a:rPr>
              <a:t>     e_x, e_y = my_gps2xyz_ver2(rteInfo.endLLE.longitude_, rteInfo.endLLE.latitude_) </a:t>
            </a:r>
            <a:endParaRPr lang="zh-CN" altLang="en-US"/>
          </a:p>
          <a:p>
            <a:endParaRPr lang="zh-CN" altLang="en-US"/>
          </a:p>
        </p:txBody>
      </p:sp>
      <p:sp>
        <p:nvSpPr>
          <p:cNvPr id="13" name="椭圆 12"/>
          <p:cNvSpPr/>
          <p:nvPr>
            <p:custDataLst>
              <p:tags r:id="rId2"/>
            </p:custDataLst>
          </p:nvPr>
        </p:nvSpPr>
        <p:spPr>
          <a:xfrm>
            <a:off x="288881" y="100475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3</a:t>
            </a:r>
            <a:endParaRPr lang="en-US" altLang="zh-CN" sz="1400" b="1" i="1">
              <a:latin typeface="+mj-lt"/>
            </a:endParaRPr>
          </a:p>
        </p:txBody>
      </p:sp>
      <p:sp>
        <p:nvSpPr>
          <p:cNvPr id="14" name="文本框 13"/>
          <p:cNvSpPr txBox="1"/>
          <p:nvPr>
            <p:custDataLst>
              <p:tags r:id="rId3"/>
            </p:custDataLst>
          </p:nvPr>
        </p:nvSpPr>
        <p:spPr>
          <a:xfrm>
            <a:off x="774065" y="1004570"/>
            <a:ext cx="7863840" cy="645160"/>
          </a:xfrm>
          <a:prstGeom prst="rect">
            <a:avLst/>
          </a:prstGeom>
          <a:noFill/>
        </p:spPr>
        <p:txBody>
          <a:bodyPr wrap="square" rtlCol="0">
            <a:spAutoFit/>
          </a:bodyPr>
          <a:p>
            <a:r>
              <a:rPr lang="zh-CN" altLang="en-US" b="1">
                <a:sym typeface="+mn-ea"/>
              </a:rPr>
              <a:t>从 hvInfo 中提取主车</a:t>
            </a:r>
            <a:r>
              <a:rPr lang="zh-CN" altLang="en-US">
                <a:sym typeface="+mn-ea"/>
              </a:rPr>
              <a:t>的 xy 坐标、速度、航向角、尺寸和车辆类型，</a:t>
            </a:r>
            <a:r>
              <a:rPr lang="zh-CN" altLang="en-US" b="1">
                <a:sym typeface="+mn-ea"/>
              </a:rPr>
              <a:t>从 rteInfo 中提取危险路况或道路施工范围</a:t>
            </a:r>
            <a:r>
              <a:rPr lang="zh-CN" altLang="en-US">
                <a:sym typeface="+mn-ea"/>
              </a:rPr>
              <a:t>，并赋值给相应的变量；</a:t>
            </a:r>
            <a:endParaRPr lang="zh-CN" altLang="en-US"/>
          </a:p>
        </p:txBody>
      </p:sp>
    </p:spTree>
  </p:cSld>
  <p:clrMapOvr>
    <a:masterClrMapping/>
  </p:clrMapOvr>
  <p:transition spd="slow"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HLW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算法</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实现</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6" name="椭圆 5"/>
          <p:cNvSpPr/>
          <p:nvPr>
            <p:custDataLst>
              <p:tags r:id="rId2"/>
            </p:custDataLst>
          </p:nvPr>
        </p:nvSpPr>
        <p:spPr>
          <a:xfrm>
            <a:off x="309836" y="126256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4</a:t>
            </a:r>
            <a:endParaRPr lang="en-US" altLang="zh-CN" sz="1400" b="1" i="1">
              <a:latin typeface="+mj-lt"/>
            </a:endParaRPr>
          </a:p>
        </p:txBody>
      </p:sp>
      <p:sp>
        <p:nvSpPr>
          <p:cNvPr id="8" name="文本框 7"/>
          <p:cNvSpPr txBox="1"/>
          <p:nvPr>
            <p:custDataLst>
              <p:tags r:id="rId3"/>
            </p:custDataLst>
          </p:nvPr>
        </p:nvSpPr>
        <p:spPr>
          <a:xfrm>
            <a:off x="844550" y="1262380"/>
            <a:ext cx="7863840" cy="368300"/>
          </a:xfrm>
          <a:prstGeom prst="rect">
            <a:avLst/>
          </a:prstGeom>
          <a:noFill/>
        </p:spPr>
        <p:txBody>
          <a:bodyPr wrap="square" rtlCol="0">
            <a:spAutoFit/>
          </a:bodyPr>
          <a:p>
            <a:r>
              <a:rPr lang="zh-CN" altLang="en-US">
                <a:sym typeface="+mn-ea"/>
              </a:rPr>
              <a:t>调用 distance 函数，</a:t>
            </a:r>
            <a:r>
              <a:rPr lang="zh-CN" altLang="en-US" b="1">
                <a:sym typeface="+mn-ea"/>
              </a:rPr>
              <a:t>计算</a:t>
            </a:r>
            <a:r>
              <a:rPr lang="zh-CN" altLang="en-US" b="1">
                <a:sym typeface="+mn-ea"/>
              </a:rPr>
              <a:t>主车和危险路段之间的距离</a:t>
            </a:r>
            <a:r>
              <a:rPr lang="zh-CN" altLang="en-US">
                <a:sym typeface="+mn-ea"/>
              </a:rPr>
              <a:t>； </a:t>
            </a:r>
            <a:endParaRPr lang="zh-CN" altLang="en-US"/>
          </a:p>
        </p:txBody>
      </p:sp>
      <p:sp>
        <p:nvSpPr>
          <p:cNvPr id="11" name="文本框 10"/>
          <p:cNvSpPr txBox="1"/>
          <p:nvPr/>
        </p:nvSpPr>
        <p:spPr>
          <a:xfrm>
            <a:off x="844550" y="1802130"/>
            <a:ext cx="4568825" cy="368300"/>
          </a:xfrm>
          <a:prstGeom prst="rect">
            <a:avLst/>
          </a:prstGeom>
          <a:noFill/>
        </p:spPr>
        <p:txBody>
          <a:bodyPr wrap="square" rtlCol="0">
            <a:spAutoFit/>
          </a:bodyPr>
          <a:p>
            <a:r>
              <a:rPr lang="zh-CN" altLang="en-US"/>
              <a:t> dist_2s = distance([s_x, s_y], [hv_x, hv_y])</a:t>
            </a:r>
            <a:endParaRPr lang="zh-CN" altLang="en-US"/>
          </a:p>
        </p:txBody>
      </p:sp>
      <p:sp>
        <p:nvSpPr>
          <p:cNvPr id="13" name="椭圆 12"/>
          <p:cNvSpPr/>
          <p:nvPr>
            <p:custDataLst>
              <p:tags r:id="rId4"/>
            </p:custDataLst>
          </p:nvPr>
        </p:nvSpPr>
        <p:spPr>
          <a:xfrm>
            <a:off x="309836" y="236682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5</a:t>
            </a:r>
            <a:endParaRPr lang="en-US" altLang="zh-CN" sz="1400" b="1" i="1">
              <a:latin typeface="+mj-lt"/>
            </a:endParaRPr>
          </a:p>
        </p:txBody>
      </p:sp>
      <p:sp>
        <p:nvSpPr>
          <p:cNvPr id="14" name="文本框 13"/>
          <p:cNvSpPr txBox="1"/>
          <p:nvPr>
            <p:custDataLst>
              <p:tags r:id="rId5"/>
            </p:custDataLst>
          </p:nvPr>
        </p:nvSpPr>
        <p:spPr>
          <a:xfrm>
            <a:off x="844550" y="2432685"/>
            <a:ext cx="7863840" cy="368300"/>
          </a:xfrm>
          <a:prstGeom prst="rect">
            <a:avLst/>
          </a:prstGeom>
          <a:noFill/>
        </p:spPr>
        <p:txBody>
          <a:bodyPr wrap="square" rtlCol="0">
            <a:spAutoFit/>
          </a:bodyPr>
          <a:p>
            <a:r>
              <a:rPr lang="zh-CN" altLang="en-US">
                <a:sym typeface="+mn-ea"/>
              </a:rPr>
              <a:t>若距离小于</a:t>
            </a:r>
            <a:r>
              <a:rPr lang="zh-CN" altLang="en-US" b="1">
                <a:sym typeface="+mn-ea"/>
              </a:rPr>
              <a:t>安全阈值</a:t>
            </a:r>
            <a:r>
              <a:rPr lang="zh-CN" altLang="en-US">
                <a:sym typeface="+mn-ea"/>
              </a:rPr>
              <a:t>，则将 warning_flag 设为 1；</a:t>
            </a:r>
            <a:endParaRPr lang="zh-CN" altLang="en-US">
              <a:sym typeface="+mn-ea"/>
            </a:endParaRPr>
          </a:p>
        </p:txBody>
      </p:sp>
      <p:sp>
        <p:nvSpPr>
          <p:cNvPr id="15" name="文本框 14"/>
          <p:cNvSpPr txBox="1"/>
          <p:nvPr/>
        </p:nvSpPr>
        <p:spPr>
          <a:xfrm>
            <a:off x="685800" y="2981325"/>
            <a:ext cx="2796540" cy="645160"/>
          </a:xfrm>
          <a:prstGeom prst="rect">
            <a:avLst/>
          </a:prstGeom>
          <a:noFill/>
        </p:spPr>
        <p:txBody>
          <a:bodyPr wrap="square" rtlCol="0">
            <a:spAutoFit/>
          </a:bodyPr>
          <a:p>
            <a:r>
              <a:rPr lang="zh-CN" altLang="en-US"/>
              <a:t>     if (dist_2s &lt; 3*radius):  </a:t>
            </a:r>
            <a:endParaRPr lang="zh-CN" altLang="en-US"/>
          </a:p>
          <a:p>
            <a:r>
              <a:rPr lang="zh-CN" altLang="en-US"/>
              <a:t>         warningFlag = 1  </a:t>
            </a:r>
            <a:endParaRPr lang="zh-CN" altLang="en-US"/>
          </a:p>
        </p:txBody>
      </p:sp>
      <p:sp>
        <p:nvSpPr>
          <p:cNvPr id="16" name="椭圆 15"/>
          <p:cNvSpPr/>
          <p:nvPr>
            <p:custDataLst>
              <p:tags r:id="rId6"/>
            </p:custDataLst>
          </p:nvPr>
        </p:nvSpPr>
        <p:spPr>
          <a:xfrm>
            <a:off x="309836" y="367937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6</a:t>
            </a:r>
            <a:endParaRPr lang="en-US" altLang="zh-CN" sz="1400" b="1" i="1">
              <a:latin typeface="+mj-lt"/>
            </a:endParaRPr>
          </a:p>
        </p:txBody>
      </p:sp>
      <p:sp>
        <p:nvSpPr>
          <p:cNvPr id="17" name="文本框 16"/>
          <p:cNvSpPr txBox="1"/>
          <p:nvPr>
            <p:custDataLst>
              <p:tags r:id="rId7"/>
            </p:custDataLst>
          </p:nvPr>
        </p:nvSpPr>
        <p:spPr>
          <a:xfrm>
            <a:off x="911225" y="3745230"/>
            <a:ext cx="7863840" cy="368300"/>
          </a:xfrm>
          <a:prstGeom prst="rect">
            <a:avLst/>
          </a:prstGeom>
          <a:noFill/>
        </p:spPr>
        <p:txBody>
          <a:bodyPr wrap="square" rtlCol="0">
            <a:spAutoFit/>
          </a:bodyPr>
          <a:p>
            <a:r>
              <a:rPr lang="zh-CN" altLang="en-US">
                <a:sym typeface="+mn-ea"/>
              </a:rPr>
              <a:t>最终</a:t>
            </a:r>
            <a:r>
              <a:rPr lang="zh-CN" altLang="en-US" b="1">
                <a:sym typeface="+mn-ea"/>
              </a:rPr>
              <a:t>返回</a:t>
            </a:r>
            <a:r>
              <a:rPr lang="zh-CN" altLang="en-US">
                <a:sym typeface="+mn-ea"/>
              </a:rPr>
              <a:t> warning_flag 作为函数输出。</a:t>
            </a:r>
            <a:endParaRPr lang="zh-CN" altLang="en-US">
              <a:sym typeface="+mn-ea"/>
            </a:endParaRPr>
          </a:p>
        </p:txBody>
      </p:sp>
      <p:sp>
        <p:nvSpPr>
          <p:cNvPr id="18" name="文本框 17"/>
          <p:cNvSpPr txBox="1"/>
          <p:nvPr>
            <p:custDataLst>
              <p:tags r:id="rId8"/>
            </p:custDataLst>
          </p:nvPr>
        </p:nvSpPr>
        <p:spPr>
          <a:xfrm>
            <a:off x="911225" y="4297680"/>
            <a:ext cx="5449570" cy="368300"/>
          </a:xfrm>
          <a:prstGeom prst="rect">
            <a:avLst/>
          </a:prstGeom>
          <a:noFill/>
        </p:spPr>
        <p:txBody>
          <a:bodyPr wrap="square" rtlCol="0">
            <a:spAutoFit/>
          </a:bodyPr>
          <a:p>
            <a:r>
              <a:rPr lang="zh-CN" altLang="en-US"/>
              <a:t>return warningFlag   </a:t>
            </a:r>
            <a:endParaRPr lang="zh-CN" altLang="en-US"/>
          </a:p>
        </p:txBody>
      </p:sp>
    </p:spTree>
  </p:cSld>
  <p:clrMapOvr>
    <a:masterClrMapping/>
  </p:clrMapOvr>
  <p:transition spd="slow"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lgn="l">
              <a:buClrTx/>
              <a:buSzTx/>
              <a:buFontTx/>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前方拥堵提醒</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19" name="箭头: 五边形 18"/>
          <p:cNvSpPr/>
          <p:nvPr>
            <p:custDataLst>
              <p:tags r:id="rId2"/>
            </p:custDataLst>
          </p:nvPr>
        </p:nvSpPr>
        <p:spPr>
          <a:xfrm>
            <a:off x="237547" y="1018159"/>
            <a:ext cx="2674768" cy="554447"/>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mj-ea"/>
                <a:ea typeface="+mj-ea"/>
              </a:rPr>
              <a:t>定义</a:t>
            </a:r>
            <a:endParaRPr lang="zh-CN" altLang="en-US" b="1">
              <a:latin typeface="+mj-ea"/>
              <a:ea typeface="+mj-ea"/>
            </a:endParaRPr>
          </a:p>
        </p:txBody>
      </p:sp>
      <p:sp>
        <p:nvSpPr>
          <p:cNvPr id="23" name="箭头: 五边形 22"/>
          <p:cNvSpPr/>
          <p:nvPr>
            <p:custDataLst>
              <p:tags r:id="rId3"/>
            </p:custDataLst>
          </p:nvPr>
        </p:nvSpPr>
        <p:spPr>
          <a:xfrm>
            <a:off x="224593" y="2825369"/>
            <a:ext cx="2674768" cy="554447"/>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mj-ea"/>
                <a:ea typeface="+mj-ea"/>
              </a:rPr>
              <a:t>主要</a:t>
            </a:r>
            <a:r>
              <a:rPr lang="zh-CN" altLang="en-US" b="1">
                <a:latin typeface="+mj-ea"/>
                <a:ea typeface="+mj-ea"/>
              </a:rPr>
              <a:t>场景</a:t>
            </a:r>
            <a:endParaRPr lang="zh-CN" altLang="en-US" b="1">
              <a:latin typeface="+mj-ea"/>
              <a:ea typeface="+mj-ea"/>
            </a:endParaRPr>
          </a:p>
        </p:txBody>
      </p:sp>
      <p:sp>
        <p:nvSpPr>
          <p:cNvPr id="2" name="文本框 1"/>
          <p:cNvSpPr txBox="1"/>
          <p:nvPr/>
        </p:nvSpPr>
        <p:spPr>
          <a:xfrm>
            <a:off x="224790" y="1719580"/>
            <a:ext cx="8601075" cy="922020"/>
          </a:xfrm>
          <a:prstGeom prst="rect">
            <a:avLst/>
          </a:prstGeom>
          <a:noFill/>
        </p:spPr>
        <p:txBody>
          <a:bodyPr wrap="square" rtlCol="0">
            <a:spAutoFit/>
          </a:bodyPr>
          <a:p>
            <a:pPr indent="457200"/>
            <a:r>
              <a:rPr lang="zh-CN" altLang="en-US" b="1"/>
              <a:t>前方拥堵提醒（Traffic Jam Warning，TJW）</a:t>
            </a:r>
            <a:r>
              <a:rPr lang="zh-CN" altLang="en-US"/>
              <a:t>是指，主车（HV）行驶前方发生交通拥堵状况，路侧单元（RSU）将拥堵路段信息发送给 HV，TJW 应用将对驾驶员进行提醒。本应用适用于城市及郊区普通道 路及高速公路</a:t>
            </a:r>
            <a:r>
              <a:rPr lang="zh-CN" altLang="en-US" b="1"/>
              <a:t>拥堵路段</a:t>
            </a:r>
            <a:r>
              <a:rPr lang="zh-CN" altLang="en-US"/>
              <a:t>的预警。</a:t>
            </a:r>
            <a:endParaRPr lang="zh-CN" altLang="en-US"/>
          </a:p>
        </p:txBody>
      </p:sp>
      <p:sp>
        <p:nvSpPr>
          <p:cNvPr id="11" name="文本框 10"/>
          <p:cNvSpPr txBox="1"/>
          <p:nvPr>
            <p:custDataLst>
              <p:tags r:id="rId4"/>
            </p:custDataLst>
          </p:nvPr>
        </p:nvSpPr>
        <p:spPr>
          <a:xfrm>
            <a:off x="237490" y="3562350"/>
            <a:ext cx="8589010" cy="2168525"/>
          </a:xfrm>
          <a:prstGeom prst="rect">
            <a:avLst/>
          </a:prstGeom>
          <a:noFill/>
        </p:spPr>
        <p:txBody>
          <a:bodyPr wrap="square" rtlCol="0">
            <a:spAutoFit/>
          </a:bodyPr>
          <a:p>
            <a:pPr>
              <a:lnSpc>
                <a:spcPct val="150000"/>
              </a:lnSpc>
              <a:buFont typeface="Wingdings" panose="05000000000000000000" pitchFamily="2" charset="2"/>
              <a:buChar char="n"/>
            </a:pPr>
            <a:r>
              <a:rPr lang="zh-CN" altLang="en-US">
                <a:sym typeface="+mn-ea"/>
              </a:rPr>
              <a:t>HV 从远处接近相应的路侧单元（RSU），路侧单元（RSU）周期性广播局部道路</a:t>
            </a:r>
            <a:r>
              <a:rPr lang="zh-CN" altLang="en-US" b="1">
                <a:sym typeface="+mn-ea"/>
              </a:rPr>
              <a:t>拥堵数据信息</a:t>
            </a:r>
            <a:r>
              <a:rPr lang="zh-CN" altLang="en-US">
                <a:sym typeface="+mn-ea"/>
              </a:rPr>
              <a:t>；</a:t>
            </a:r>
            <a:endParaRPr lang="zh-CN" altLang="en-US">
              <a:sym typeface="+mn-ea"/>
            </a:endParaRPr>
          </a:p>
          <a:p>
            <a:pPr>
              <a:lnSpc>
                <a:spcPct val="150000"/>
              </a:lnSpc>
              <a:buFont typeface="Wingdings" panose="05000000000000000000" pitchFamily="2" charset="2"/>
              <a:buChar char="n"/>
            </a:pPr>
            <a:r>
              <a:rPr lang="zh-CN" altLang="en-US">
                <a:sym typeface="+mn-ea"/>
              </a:rPr>
              <a:t>TJW 应用根据上述信息，结合本车的定位和行驶状态，计算出本车在路网中的位置，并</a:t>
            </a:r>
            <a:r>
              <a:rPr lang="zh-CN" altLang="en-US" b="1">
                <a:sym typeface="+mn-ea"/>
              </a:rPr>
              <a:t>判断前方是否有拥堵</a:t>
            </a:r>
            <a:r>
              <a:rPr lang="zh-CN" altLang="en-US">
                <a:sym typeface="+mn-ea"/>
              </a:rPr>
              <a:t>；</a:t>
            </a:r>
            <a:endParaRPr lang="zh-CN" altLang="en-US">
              <a:sym typeface="+mn-ea"/>
            </a:endParaRPr>
          </a:p>
          <a:p>
            <a:pPr>
              <a:lnSpc>
                <a:spcPct val="150000"/>
              </a:lnSpc>
              <a:buFont typeface="Wingdings" panose="05000000000000000000" pitchFamily="2" charset="2"/>
              <a:buChar char="n"/>
            </a:pPr>
            <a:r>
              <a:rPr lang="zh-CN" altLang="en-US">
                <a:sym typeface="+mn-ea"/>
              </a:rPr>
              <a:t> </a:t>
            </a:r>
            <a:r>
              <a:rPr lang="zh-CN" altLang="en-US">
                <a:sym typeface="+mn-ea"/>
              </a:rPr>
              <a:t>如果有，则对驾驶员进行前方拥堵的</a:t>
            </a:r>
            <a:r>
              <a:rPr lang="zh-CN" altLang="en-US" b="1">
                <a:sym typeface="+mn-ea"/>
              </a:rPr>
              <a:t>提示</a:t>
            </a:r>
            <a:r>
              <a:rPr lang="zh-CN" altLang="en-US">
                <a:sym typeface="+mn-ea"/>
              </a:rPr>
              <a:t>。</a:t>
            </a:r>
            <a:endParaRPr lang="zh-CN" altLang="en-US"/>
          </a:p>
        </p:txBody>
      </p:sp>
    </p:spTree>
  </p:cSld>
  <p:clrMapOvr>
    <a:masterClrMapping/>
  </p:clrMapOvr>
  <p:transition spd="slow"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TJW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工作</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原理</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5" name="椭圆 34"/>
          <p:cNvSpPr/>
          <p:nvPr>
            <p:custDataLst>
              <p:tags r:id="rId2"/>
            </p:custDataLst>
          </p:nvPr>
        </p:nvSpPr>
        <p:spPr>
          <a:xfrm>
            <a:off x="227921" y="126319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1</a:t>
            </a:r>
            <a:endParaRPr lang="zh-CN" altLang="en-US" sz="1400" b="1" i="1">
              <a:latin typeface="+mj-lt"/>
            </a:endParaRPr>
          </a:p>
        </p:txBody>
      </p:sp>
      <p:sp>
        <p:nvSpPr>
          <p:cNvPr id="14" name="椭圆 13"/>
          <p:cNvSpPr/>
          <p:nvPr>
            <p:custDataLst>
              <p:tags r:id="rId3"/>
            </p:custDataLst>
          </p:nvPr>
        </p:nvSpPr>
        <p:spPr>
          <a:xfrm>
            <a:off x="227921" y="249128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2</a:t>
            </a:r>
            <a:endParaRPr lang="en-US" altLang="zh-CN" sz="1400" b="1" i="1">
              <a:latin typeface="+mj-lt"/>
            </a:endParaRPr>
          </a:p>
        </p:txBody>
      </p:sp>
      <p:sp>
        <p:nvSpPr>
          <p:cNvPr id="4" name="文本框 3"/>
          <p:cNvSpPr txBox="1"/>
          <p:nvPr>
            <p:custDataLst>
              <p:tags r:id="rId4"/>
            </p:custDataLst>
          </p:nvPr>
        </p:nvSpPr>
        <p:spPr>
          <a:xfrm>
            <a:off x="796290" y="1302385"/>
            <a:ext cx="7402830" cy="706755"/>
          </a:xfrm>
          <a:prstGeom prst="rect">
            <a:avLst/>
          </a:prstGeom>
          <a:noFill/>
        </p:spPr>
        <p:txBody>
          <a:bodyPr wrap="square" rtlCol="0">
            <a:spAutoFit/>
          </a:bodyPr>
          <a:p>
            <a:r>
              <a:rPr lang="zh-CN" altLang="en-US" sz="2000">
                <a:sym typeface="+mn-ea"/>
              </a:rPr>
              <a:t>HV 根据收到的道路数据，以及本车的定位和运行数据，</a:t>
            </a:r>
            <a:r>
              <a:rPr lang="zh-CN" altLang="en-US" sz="2000" b="1">
                <a:sym typeface="+mn-ea"/>
              </a:rPr>
              <a:t>判定本车</a:t>
            </a:r>
            <a:r>
              <a:rPr lang="zh-CN" altLang="en-US" sz="2000">
                <a:sym typeface="+mn-ea"/>
              </a:rPr>
              <a:t>在路网中所处的</a:t>
            </a:r>
            <a:r>
              <a:rPr lang="zh-CN" altLang="en-US" sz="2000" b="1">
                <a:sym typeface="+mn-ea"/>
              </a:rPr>
              <a:t>位置和运行方向</a:t>
            </a:r>
            <a:r>
              <a:rPr lang="zh-CN" altLang="en-US" sz="2000">
                <a:sym typeface="+mn-ea"/>
              </a:rPr>
              <a:t>; </a:t>
            </a:r>
            <a:endParaRPr lang="zh-CN" altLang="en-US" sz="2000"/>
          </a:p>
        </p:txBody>
      </p:sp>
      <p:sp>
        <p:nvSpPr>
          <p:cNvPr id="6" name="文本框 5"/>
          <p:cNvSpPr txBox="1"/>
          <p:nvPr>
            <p:custDataLst>
              <p:tags r:id="rId5"/>
            </p:custDataLst>
          </p:nvPr>
        </p:nvSpPr>
        <p:spPr>
          <a:xfrm>
            <a:off x="796290" y="2519045"/>
            <a:ext cx="7969250" cy="398780"/>
          </a:xfrm>
          <a:prstGeom prst="rect">
            <a:avLst/>
          </a:prstGeom>
          <a:noFill/>
        </p:spPr>
        <p:txBody>
          <a:bodyPr wrap="square" rtlCol="0">
            <a:spAutoFit/>
          </a:bodyPr>
          <a:p>
            <a:r>
              <a:rPr lang="zh-CN" altLang="en-US" sz="2000" b="1">
                <a:sym typeface="+mn-ea"/>
              </a:rPr>
              <a:t>判断</a:t>
            </a:r>
            <a:r>
              <a:rPr lang="zh-CN" altLang="en-US" sz="2000">
                <a:sym typeface="+mn-ea"/>
              </a:rPr>
              <a:t>车辆前方道路是否有</a:t>
            </a:r>
            <a:r>
              <a:rPr lang="zh-CN" altLang="en-US" sz="2000" b="1">
                <a:sym typeface="+mn-ea"/>
              </a:rPr>
              <a:t>交通拥堵</a:t>
            </a:r>
            <a:r>
              <a:rPr lang="zh-CN" altLang="en-US" sz="2000">
                <a:sym typeface="+mn-ea"/>
              </a:rPr>
              <a:t>。若有，则直接提醒驾驶员。</a:t>
            </a:r>
            <a:endParaRPr lang="zh-CN" altLang="en-US" sz="2000"/>
          </a:p>
        </p:txBody>
      </p:sp>
    </p:spTree>
  </p:cSld>
  <p:clrMapOvr>
    <a:masterClrMapping/>
  </p:clrMapOvr>
  <p:transition spd="slow"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TJW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算法</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实现</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文本框 2"/>
          <p:cNvSpPr txBox="1"/>
          <p:nvPr/>
        </p:nvSpPr>
        <p:spPr>
          <a:xfrm>
            <a:off x="4803140" y="1177290"/>
            <a:ext cx="4760595" cy="368300"/>
          </a:xfrm>
          <a:prstGeom prst="rect">
            <a:avLst/>
          </a:prstGeom>
          <a:noFill/>
        </p:spPr>
        <p:txBody>
          <a:bodyPr wrap="square" rtlCol="0">
            <a:spAutoFit/>
          </a:bodyPr>
          <a:p>
            <a:endParaRPr lang="zh-CN" altLang="en-US"/>
          </a:p>
        </p:txBody>
      </p:sp>
      <p:sp>
        <p:nvSpPr>
          <p:cNvPr id="9" name="椭圆 8"/>
          <p:cNvSpPr/>
          <p:nvPr>
            <p:custDataLst>
              <p:tags r:id="rId2"/>
            </p:custDataLst>
          </p:nvPr>
        </p:nvSpPr>
        <p:spPr>
          <a:xfrm>
            <a:off x="309836" y="126256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1</a:t>
            </a:r>
            <a:endParaRPr lang="en-US" altLang="zh-CN" sz="1400" b="1" i="1">
              <a:latin typeface="+mj-lt"/>
            </a:endParaRPr>
          </a:p>
        </p:txBody>
      </p:sp>
      <p:sp>
        <p:nvSpPr>
          <p:cNvPr id="10" name="文本框 9"/>
          <p:cNvSpPr txBox="1"/>
          <p:nvPr>
            <p:custDataLst>
              <p:tags r:id="rId3"/>
            </p:custDataLst>
          </p:nvPr>
        </p:nvSpPr>
        <p:spPr>
          <a:xfrm>
            <a:off x="911225" y="1262380"/>
            <a:ext cx="7863840" cy="645160"/>
          </a:xfrm>
          <a:prstGeom prst="rect">
            <a:avLst/>
          </a:prstGeom>
          <a:noFill/>
        </p:spPr>
        <p:txBody>
          <a:bodyPr wrap="square" rtlCol="0">
            <a:spAutoFit/>
          </a:bodyPr>
          <a:p>
            <a:r>
              <a:rPr lang="zh-CN" altLang="en-US" b="1">
                <a:sym typeface="+mn-ea"/>
              </a:rPr>
              <a:t>定义一个函数 doTJW</a:t>
            </a:r>
            <a:r>
              <a:rPr lang="zh-CN" altLang="en-US">
                <a:sym typeface="+mn-ea"/>
              </a:rPr>
              <a:t>，它接受两个参数：hvInfo 和 rteInfo。hvInfo 表示主车信息，rteInfo 表示 RSI 信息 ；</a:t>
            </a:r>
            <a:endParaRPr lang="zh-CN" altLang="en-US"/>
          </a:p>
        </p:txBody>
      </p:sp>
      <p:sp>
        <p:nvSpPr>
          <p:cNvPr id="2" name="文本框 1"/>
          <p:cNvSpPr txBox="1"/>
          <p:nvPr>
            <p:custDataLst>
              <p:tags r:id="rId4"/>
            </p:custDataLst>
          </p:nvPr>
        </p:nvSpPr>
        <p:spPr>
          <a:xfrm>
            <a:off x="923925" y="1984375"/>
            <a:ext cx="5814060" cy="1753235"/>
          </a:xfrm>
          <a:prstGeom prst="rect">
            <a:avLst/>
          </a:prstGeom>
          <a:noFill/>
        </p:spPr>
        <p:txBody>
          <a:bodyPr wrap="square" rtlCol="0">
            <a:spAutoFit/>
          </a:bodyPr>
          <a:p>
            <a:r>
              <a:rPr lang="zh-CN" altLang="en-US"/>
              <a:t> </a:t>
            </a:r>
            <a:r>
              <a:rPr lang="zh-CN" altLang="en-US">
                <a:sym typeface="+mn-ea"/>
              </a:rPr>
              <a:t>def doTJW(hvInfo:Hv_Info, rteInfo:s_RSI):  </a:t>
            </a:r>
            <a:endParaRPr lang="zh-CN" altLang="en-US"/>
          </a:p>
          <a:p>
            <a:r>
              <a:rPr lang="zh-CN" altLang="en-US">
                <a:sym typeface="+mn-ea"/>
              </a:rPr>
              <a:t>     """</a:t>
            </a:r>
            <a:endParaRPr lang="zh-CN" altLang="en-US"/>
          </a:p>
          <a:p>
            <a:r>
              <a:rPr lang="zh-CN" altLang="en-US">
                <a:sym typeface="+mn-ea"/>
              </a:rPr>
              <a:t>     Args:</a:t>
            </a:r>
            <a:endParaRPr lang="zh-CN" altLang="en-US"/>
          </a:p>
          <a:p>
            <a:r>
              <a:rPr lang="zh-CN" altLang="en-US">
                <a:sym typeface="+mn-ea"/>
              </a:rPr>
              <a:t>         hvInfo (Hv_Info): [description]</a:t>
            </a:r>
            <a:endParaRPr lang="zh-CN" altLang="en-US"/>
          </a:p>
          <a:p>
            <a:r>
              <a:rPr lang="zh-CN" altLang="en-US">
                <a:sym typeface="+mn-ea"/>
              </a:rPr>
              <a:t>         rteInfo (s_RSI): [description]</a:t>
            </a:r>
            <a:endParaRPr lang="zh-CN" altLang="en-US"/>
          </a:p>
          <a:p>
            <a:r>
              <a:rPr lang="zh-CN" altLang="en-US">
                <a:sym typeface="+mn-ea"/>
              </a:rPr>
              <a:t>     """ </a:t>
            </a:r>
            <a:endParaRPr lang="zh-CN" altLang="en-US"/>
          </a:p>
        </p:txBody>
      </p:sp>
      <p:sp>
        <p:nvSpPr>
          <p:cNvPr id="4" name="椭圆 3"/>
          <p:cNvSpPr/>
          <p:nvPr>
            <p:custDataLst>
              <p:tags r:id="rId5"/>
            </p:custDataLst>
          </p:nvPr>
        </p:nvSpPr>
        <p:spPr>
          <a:xfrm>
            <a:off x="309836" y="367937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2</a:t>
            </a:r>
            <a:endParaRPr lang="en-US" altLang="zh-CN" sz="1400" b="1" i="1">
              <a:latin typeface="+mj-lt"/>
            </a:endParaRPr>
          </a:p>
        </p:txBody>
      </p:sp>
      <p:sp>
        <p:nvSpPr>
          <p:cNvPr id="6" name="文本框 5"/>
          <p:cNvSpPr txBox="1"/>
          <p:nvPr>
            <p:custDataLst>
              <p:tags r:id="rId6"/>
            </p:custDataLst>
          </p:nvPr>
        </p:nvSpPr>
        <p:spPr>
          <a:xfrm>
            <a:off x="911225" y="3679190"/>
            <a:ext cx="7863840" cy="645160"/>
          </a:xfrm>
          <a:prstGeom prst="rect">
            <a:avLst/>
          </a:prstGeom>
          <a:noFill/>
        </p:spPr>
        <p:txBody>
          <a:bodyPr wrap="square" rtlCol="0">
            <a:spAutoFit/>
          </a:bodyPr>
          <a:p>
            <a:r>
              <a:rPr lang="zh-CN" altLang="en-US">
                <a:sym typeface="+mn-ea"/>
              </a:rPr>
              <a:t>函数内部首先</a:t>
            </a:r>
            <a:r>
              <a:rPr lang="zh-CN" altLang="en-US" b="1">
                <a:sym typeface="+mn-ea"/>
              </a:rPr>
              <a:t>初始化一个变量</a:t>
            </a:r>
            <a:r>
              <a:rPr lang="zh-CN" altLang="en-US">
                <a:sym typeface="+mn-ea"/>
              </a:rPr>
              <a:t>：warning_flag。 warning_flag 表示预警等级，0 表示无需预警，1 表示前方拥堵提醒；</a:t>
            </a:r>
            <a:endParaRPr lang="zh-CN" altLang="en-US">
              <a:sym typeface="+mn-ea"/>
            </a:endParaRPr>
          </a:p>
        </p:txBody>
      </p:sp>
      <p:sp>
        <p:nvSpPr>
          <p:cNvPr id="8" name="文本框 7"/>
          <p:cNvSpPr txBox="1"/>
          <p:nvPr>
            <p:custDataLst>
              <p:tags r:id="rId7"/>
            </p:custDataLst>
          </p:nvPr>
        </p:nvSpPr>
        <p:spPr>
          <a:xfrm>
            <a:off x="1058545" y="4414520"/>
            <a:ext cx="5449570" cy="368300"/>
          </a:xfrm>
          <a:prstGeom prst="rect">
            <a:avLst/>
          </a:prstGeom>
          <a:noFill/>
        </p:spPr>
        <p:txBody>
          <a:bodyPr wrap="square" rtlCol="0">
            <a:spAutoFit/>
          </a:bodyPr>
          <a:p>
            <a:r>
              <a:rPr lang="zh-CN" altLang="en-US">
                <a:sym typeface="+mn-ea"/>
              </a:rPr>
              <a:t>warningFlag = 0  </a:t>
            </a:r>
            <a:endParaRPr lang="zh-CN" altLang="en-US"/>
          </a:p>
        </p:txBody>
      </p:sp>
    </p:spTree>
  </p:cSld>
  <p:clrMapOvr>
    <a:masterClrMapping/>
  </p:clrMapOvr>
  <p:transition spd="slow"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TJW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算法</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实现</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12" name="文本框 11"/>
          <p:cNvSpPr txBox="1"/>
          <p:nvPr>
            <p:custDataLst>
              <p:tags r:id="rId2"/>
            </p:custDataLst>
          </p:nvPr>
        </p:nvSpPr>
        <p:spPr>
          <a:xfrm>
            <a:off x="485140" y="1964690"/>
            <a:ext cx="9003665" cy="3969385"/>
          </a:xfrm>
          <a:prstGeom prst="rect">
            <a:avLst/>
          </a:prstGeom>
          <a:noFill/>
        </p:spPr>
        <p:txBody>
          <a:bodyPr wrap="square" rtlCol="0">
            <a:spAutoFit/>
          </a:bodyPr>
          <a:p>
            <a:r>
              <a:rPr lang="zh-CN" altLang="en-US"/>
              <a:t> </a:t>
            </a:r>
            <a:r>
              <a:rPr lang="en-US" altLang="zh-CN"/>
              <a:t>   </a:t>
            </a:r>
            <a:r>
              <a:rPr lang="zh-CN" altLang="en-US">
                <a:solidFill>
                  <a:schemeClr val="accent1">
                    <a:lumMod val="75000"/>
                  </a:schemeClr>
                </a:solidFill>
                <a:sym typeface="+mn-ea"/>
              </a:rPr>
              <a:t> # 主车 hv 信息  </a:t>
            </a:r>
            <a:endParaRPr lang="zh-CN" altLang="en-US"/>
          </a:p>
          <a:p>
            <a:r>
              <a:rPr lang="zh-CN" altLang="en-US">
                <a:sym typeface="+mn-ea"/>
              </a:rPr>
              <a:t>     # xy 坐标  </a:t>
            </a:r>
            <a:endParaRPr lang="zh-CN" altLang="en-US"/>
          </a:p>
          <a:p>
            <a:r>
              <a:rPr lang="zh-CN" altLang="en-US">
                <a:sym typeface="+mn-ea"/>
              </a:rPr>
              <a:t>     hv_x, hv_y = my_gps2xyz_ver2(hvInfo.lle.longitude_, hvInfo.lle.latitude_)</a:t>
            </a:r>
            <a:endParaRPr lang="zh-CN" altLang="en-US"/>
          </a:p>
          <a:p>
            <a:r>
              <a:rPr lang="zh-CN" altLang="en-US">
                <a:sym typeface="+mn-ea"/>
              </a:rPr>
              <a:t>     # 速度  </a:t>
            </a:r>
            <a:endParaRPr lang="zh-CN" altLang="en-US"/>
          </a:p>
          <a:p>
            <a:r>
              <a:rPr lang="zh-CN" altLang="en-US">
                <a:sym typeface="+mn-ea"/>
              </a:rPr>
              <a:t>     hv_speed = hvInfo.speed  </a:t>
            </a:r>
            <a:endParaRPr lang="zh-CN" altLang="en-US"/>
          </a:p>
          <a:p>
            <a:r>
              <a:rPr lang="zh-CN" altLang="en-US">
                <a:sym typeface="+mn-ea"/>
              </a:rPr>
              <a:t>     # 航向角  </a:t>
            </a:r>
            <a:endParaRPr lang="zh-CN" altLang="en-US"/>
          </a:p>
          <a:p>
            <a:r>
              <a:rPr lang="zh-CN" altLang="en-US">
                <a:sym typeface="+mn-ea"/>
              </a:rPr>
              <a:t>     hv_heading = hvInfo.mv.angle_  </a:t>
            </a:r>
            <a:endParaRPr lang="zh-CN" altLang="en-US"/>
          </a:p>
          <a:p>
            <a:r>
              <a:rPr lang="zh-CN" altLang="en-US">
                <a:sym typeface="+mn-ea"/>
              </a:rPr>
              <a:t>     # 尺寸  </a:t>
            </a:r>
            <a:endParaRPr lang="zh-CN" altLang="en-US"/>
          </a:p>
          <a:p>
            <a:r>
              <a:rPr lang="zh-CN" altLang="en-US">
                <a:sym typeface="+mn-ea"/>
              </a:rPr>
              <a:t>     hv_width, hv_length = hvInfo.size.width_, hvInfo.size.length_  </a:t>
            </a:r>
            <a:endParaRPr lang="zh-CN" altLang="en-US"/>
          </a:p>
          <a:p>
            <a:r>
              <a:rPr lang="zh-CN" altLang="en-US">
                <a:sym typeface="+mn-ea"/>
              </a:rPr>
              <a:t>     # 车辆类型  </a:t>
            </a:r>
            <a:endParaRPr lang="zh-CN" altLang="en-US"/>
          </a:p>
          <a:p>
            <a:r>
              <a:rPr lang="zh-CN" altLang="en-US">
                <a:sym typeface="+mn-ea"/>
              </a:rPr>
              <a:t>     hv_class = hvInfo.vehClass  </a:t>
            </a:r>
            <a:endParaRPr lang="zh-CN" altLang="en-US"/>
          </a:p>
          <a:p>
            <a:r>
              <a:rPr lang="zh-CN" altLang="en-US">
                <a:sym typeface="+mn-ea"/>
              </a:rPr>
              <a:t>     # 所在车道</a:t>
            </a:r>
            <a:endParaRPr lang="zh-CN" altLang="en-US"/>
          </a:p>
          <a:p>
            <a:r>
              <a:rPr lang="zh-CN" altLang="en-US">
                <a:sym typeface="+mn-ea"/>
              </a:rPr>
              <a:t>     hv_lane = hvInfo.lane</a:t>
            </a:r>
            <a:endParaRPr lang="zh-CN" altLang="en-US"/>
          </a:p>
          <a:p>
            <a:r>
              <a:rPr lang="zh-CN" altLang="en-US"/>
              <a:t>  </a:t>
            </a:r>
            <a:r>
              <a:rPr lang="zh-CN" altLang="en-US">
                <a:solidFill>
                  <a:schemeClr val="accent1">
                    <a:lumMod val="75000"/>
                  </a:schemeClr>
                </a:solidFill>
              </a:rPr>
              <a:t>  </a:t>
            </a:r>
            <a:r>
              <a:rPr lang="en-US" altLang="zh-CN">
                <a:solidFill>
                  <a:schemeClr val="accent1">
                    <a:lumMod val="75000"/>
                  </a:schemeClr>
                </a:solidFill>
              </a:rPr>
              <a:t> </a:t>
            </a:r>
            <a:r>
              <a:rPr lang="zh-CN" altLang="en-US">
                <a:sym typeface="+mn-ea"/>
              </a:rPr>
              <a:t> </a:t>
            </a:r>
            <a:endParaRPr lang="zh-CN" altLang="en-US"/>
          </a:p>
        </p:txBody>
      </p:sp>
      <p:sp>
        <p:nvSpPr>
          <p:cNvPr id="13" name="椭圆 12"/>
          <p:cNvSpPr/>
          <p:nvPr>
            <p:custDataLst>
              <p:tags r:id="rId3"/>
            </p:custDataLst>
          </p:nvPr>
        </p:nvSpPr>
        <p:spPr>
          <a:xfrm>
            <a:off x="288881" y="125367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3</a:t>
            </a:r>
            <a:endParaRPr lang="en-US" altLang="zh-CN" sz="1400" b="1" i="1">
              <a:latin typeface="+mj-lt"/>
            </a:endParaRPr>
          </a:p>
        </p:txBody>
      </p:sp>
      <p:sp>
        <p:nvSpPr>
          <p:cNvPr id="14" name="文本框 13"/>
          <p:cNvSpPr txBox="1"/>
          <p:nvPr>
            <p:custDataLst>
              <p:tags r:id="rId4"/>
            </p:custDataLst>
          </p:nvPr>
        </p:nvSpPr>
        <p:spPr>
          <a:xfrm>
            <a:off x="774065" y="1253490"/>
            <a:ext cx="7863840" cy="645160"/>
          </a:xfrm>
          <a:prstGeom prst="rect">
            <a:avLst/>
          </a:prstGeom>
          <a:noFill/>
        </p:spPr>
        <p:txBody>
          <a:bodyPr wrap="square" rtlCol="0">
            <a:spAutoFit/>
          </a:bodyPr>
          <a:p>
            <a:r>
              <a:rPr lang="zh-CN" altLang="en-US" b="1">
                <a:sym typeface="+mn-ea"/>
              </a:rPr>
              <a:t>从 hvInfo 中提取主车</a:t>
            </a:r>
            <a:r>
              <a:rPr lang="zh-CN" altLang="en-US">
                <a:sym typeface="+mn-ea"/>
              </a:rPr>
              <a:t>的 xy 坐标、速度、航向角、尺寸、车辆类型和所在车道，</a:t>
            </a:r>
            <a:r>
              <a:rPr lang="zh-CN" altLang="en-US" b="1">
                <a:sym typeface="+mn-ea"/>
              </a:rPr>
              <a:t>从rteInfo 中提取道路拥堵状况和拥堵范围</a:t>
            </a:r>
            <a:r>
              <a:rPr lang="zh-CN" altLang="en-US">
                <a:sym typeface="+mn-ea"/>
              </a:rPr>
              <a:t>，并赋值给相应的变量；</a:t>
            </a:r>
            <a:endParaRPr lang="zh-CN" altLang="en-US">
              <a:sym typeface="+mn-ea"/>
            </a:endParaRPr>
          </a:p>
        </p:txBody>
      </p:sp>
    </p:spTree>
  </p:cSld>
  <p:clrMapOvr>
    <a:masterClrMapping/>
  </p:clrMapOvr>
  <p:transition spd="slow"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TJW</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算法</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实现</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文本框 2"/>
          <p:cNvSpPr txBox="1"/>
          <p:nvPr/>
        </p:nvSpPr>
        <p:spPr>
          <a:xfrm>
            <a:off x="4803140" y="1177290"/>
            <a:ext cx="4760595" cy="368300"/>
          </a:xfrm>
          <a:prstGeom prst="rect">
            <a:avLst/>
          </a:prstGeom>
          <a:noFill/>
        </p:spPr>
        <p:txBody>
          <a:bodyPr wrap="square" rtlCol="0">
            <a:spAutoFit/>
          </a:bodyPr>
          <a:p>
            <a:endParaRPr lang="zh-CN" altLang="en-US"/>
          </a:p>
        </p:txBody>
      </p:sp>
      <p:sp>
        <p:nvSpPr>
          <p:cNvPr id="2" name="文本框 1"/>
          <p:cNvSpPr txBox="1"/>
          <p:nvPr>
            <p:custDataLst>
              <p:tags r:id="rId2"/>
            </p:custDataLst>
          </p:nvPr>
        </p:nvSpPr>
        <p:spPr>
          <a:xfrm>
            <a:off x="237490" y="935990"/>
            <a:ext cx="9070340" cy="1198880"/>
          </a:xfrm>
          <a:prstGeom prst="rect">
            <a:avLst/>
          </a:prstGeom>
          <a:noFill/>
        </p:spPr>
        <p:txBody>
          <a:bodyPr wrap="square" rtlCol="0">
            <a:spAutoFit/>
          </a:bodyPr>
          <a:p>
            <a:r>
              <a:rPr lang="zh-CN" altLang="en-US"/>
              <a:t>     </a:t>
            </a:r>
            <a:endParaRPr lang="zh-CN" altLang="en-US"/>
          </a:p>
          <a:p>
            <a:r>
              <a:rPr lang="zh-CN" altLang="en-US"/>
              <a:t>   </a:t>
            </a:r>
            <a:endParaRPr lang="zh-CN" altLang="en-US"/>
          </a:p>
          <a:p>
            <a:r>
              <a:rPr lang="zh-CN" altLang="en-US"/>
              <a:t>       </a:t>
            </a:r>
            <a:endParaRPr lang="zh-CN" altLang="en-US"/>
          </a:p>
          <a:p>
            <a:endParaRPr lang="zh-CN" altLang="en-US"/>
          </a:p>
        </p:txBody>
      </p:sp>
      <p:sp>
        <p:nvSpPr>
          <p:cNvPr id="6" name="文本框 5"/>
          <p:cNvSpPr txBox="1"/>
          <p:nvPr/>
        </p:nvSpPr>
        <p:spPr>
          <a:xfrm>
            <a:off x="704215" y="1015365"/>
            <a:ext cx="8412480" cy="2306955"/>
          </a:xfrm>
          <a:prstGeom prst="rect">
            <a:avLst/>
          </a:prstGeom>
          <a:noFill/>
        </p:spPr>
        <p:txBody>
          <a:bodyPr wrap="square" rtlCol="0">
            <a:spAutoFit/>
          </a:bodyPr>
          <a:p>
            <a:r>
              <a:rPr lang="en-US" altLang="zh-CN">
                <a:solidFill>
                  <a:schemeClr val="accent1">
                    <a:lumMod val="75000"/>
                  </a:schemeClr>
                </a:solidFill>
                <a:sym typeface="+mn-ea"/>
              </a:rPr>
              <a:t>     </a:t>
            </a:r>
            <a:r>
              <a:rPr lang="zh-CN" altLang="en-US">
                <a:solidFill>
                  <a:schemeClr val="accent1">
                    <a:lumMod val="75000"/>
                  </a:schemeClr>
                </a:solidFill>
                <a:sym typeface="+mn-ea"/>
              </a:rPr>
              <a:t># 道路拥堵信息 </a:t>
            </a:r>
            <a:r>
              <a:rPr lang="zh-CN" altLang="en-US">
                <a:sym typeface="+mn-ea"/>
              </a:rPr>
              <a:t> </a:t>
            </a:r>
            <a:endParaRPr lang="zh-CN" altLang="en-US"/>
          </a:p>
          <a:p>
            <a:r>
              <a:rPr lang="zh-CN" altLang="en-US">
                <a:sym typeface="+mn-ea"/>
              </a:rPr>
              <a:t>     # 涉及范围(两个圆平移覆盖的范围)  </a:t>
            </a:r>
            <a:endParaRPr lang="zh-CN" altLang="en-US"/>
          </a:p>
          <a:p>
            <a:r>
              <a:rPr lang="zh-CN" altLang="en-US">
                <a:sym typeface="+mn-ea"/>
              </a:rPr>
              <a:t>     radius = rteInfo.radius  </a:t>
            </a:r>
            <a:endParaRPr lang="zh-CN" altLang="en-US"/>
          </a:p>
          <a:p>
            <a:r>
              <a:rPr lang="zh-CN" altLang="en-US">
                <a:sym typeface="+mn-ea"/>
              </a:rPr>
              <a:t>     Lane = rteInfo.lane</a:t>
            </a:r>
            <a:endParaRPr lang="zh-CN" altLang="en-US"/>
          </a:p>
          <a:p>
            <a:r>
              <a:rPr lang="zh-CN" altLang="en-US">
                <a:sym typeface="+mn-ea"/>
              </a:rPr>
              <a:t>     # 开始点  </a:t>
            </a:r>
            <a:endParaRPr lang="zh-CN" altLang="en-US"/>
          </a:p>
          <a:p>
            <a:r>
              <a:rPr lang="zh-CN" altLang="en-US">
                <a:sym typeface="+mn-ea"/>
              </a:rPr>
              <a:t>     s_x, s_y = my_gps2xyz_ver2(rteInfo.startLLE.longitude_, rteInfo.startLLE.latitude_)  </a:t>
            </a:r>
            <a:endParaRPr lang="zh-CN" altLang="en-US"/>
          </a:p>
          <a:p>
            <a:r>
              <a:rPr lang="zh-CN" altLang="en-US">
                <a:sym typeface="+mn-ea"/>
              </a:rPr>
              <a:t>     # 结束点  </a:t>
            </a:r>
            <a:endParaRPr lang="zh-CN" altLang="en-US"/>
          </a:p>
          <a:p>
            <a:r>
              <a:rPr lang="zh-CN" altLang="en-US">
                <a:sym typeface="+mn-ea"/>
              </a:rPr>
              <a:t>     e_x, e_y = my_gps2xyz_ver2(rteInfo.endLLE.longitude_, rteInfo.endLLE.latitude_) </a:t>
            </a:r>
            <a:endParaRPr lang="zh-CN" altLang="en-US"/>
          </a:p>
        </p:txBody>
      </p:sp>
      <p:sp>
        <p:nvSpPr>
          <p:cNvPr id="8" name="椭圆 7"/>
          <p:cNvSpPr/>
          <p:nvPr>
            <p:custDataLst>
              <p:tags r:id="rId3"/>
            </p:custDataLst>
          </p:nvPr>
        </p:nvSpPr>
        <p:spPr>
          <a:xfrm>
            <a:off x="399371" y="330472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4</a:t>
            </a:r>
            <a:endParaRPr lang="en-US" altLang="zh-CN" sz="1400" b="1" i="1">
              <a:latin typeface="+mj-lt"/>
            </a:endParaRPr>
          </a:p>
        </p:txBody>
      </p:sp>
      <p:sp>
        <p:nvSpPr>
          <p:cNvPr id="9" name="文本框 8"/>
          <p:cNvSpPr txBox="1"/>
          <p:nvPr>
            <p:custDataLst>
              <p:tags r:id="rId4"/>
            </p:custDataLst>
          </p:nvPr>
        </p:nvSpPr>
        <p:spPr>
          <a:xfrm>
            <a:off x="934085" y="3314700"/>
            <a:ext cx="7863840" cy="368300"/>
          </a:xfrm>
          <a:prstGeom prst="rect">
            <a:avLst/>
          </a:prstGeom>
          <a:noFill/>
        </p:spPr>
        <p:txBody>
          <a:bodyPr wrap="square" rtlCol="0">
            <a:spAutoFit/>
          </a:bodyPr>
          <a:p>
            <a:r>
              <a:rPr lang="zh-CN" altLang="en-US">
                <a:sym typeface="+mn-ea"/>
              </a:rPr>
              <a:t>调用 distance 函数，计算主车和拥堵路段之间的距离及相对位置关系；</a:t>
            </a:r>
            <a:endParaRPr lang="zh-CN" altLang="en-US">
              <a:sym typeface="+mn-ea"/>
            </a:endParaRPr>
          </a:p>
        </p:txBody>
      </p:sp>
      <p:sp>
        <p:nvSpPr>
          <p:cNvPr id="11" name="文本框 10"/>
          <p:cNvSpPr txBox="1"/>
          <p:nvPr>
            <p:custDataLst>
              <p:tags r:id="rId5"/>
            </p:custDataLst>
          </p:nvPr>
        </p:nvSpPr>
        <p:spPr>
          <a:xfrm>
            <a:off x="934085" y="3787775"/>
            <a:ext cx="4568825" cy="368300"/>
          </a:xfrm>
          <a:prstGeom prst="rect">
            <a:avLst/>
          </a:prstGeom>
          <a:noFill/>
        </p:spPr>
        <p:txBody>
          <a:bodyPr wrap="square" rtlCol="0">
            <a:spAutoFit/>
          </a:bodyPr>
          <a:p>
            <a:r>
              <a:rPr lang="zh-CN" altLang="en-US">
                <a:sym typeface="+mn-ea"/>
              </a:rPr>
              <a:t> dist_2s = distance([s_x, s_y], [hv_x, hv_y])  </a:t>
            </a:r>
            <a:endParaRPr lang="zh-CN" altLang="en-US"/>
          </a:p>
        </p:txBody>
      </p:sp>
      <p:sp>
        <p:nvSpPr>
          <p:cNvPr id="10" name="文本框 9"/>
          <p:cNvSpPr txBox="1"/>
          <p:nvPr>
            <p:custDataLst>
              <p:tags r:id="rId6"/>
            </p:custDataLst>
          </p:nvPr>
        </p:nvSpPr>
        <p:spPr>
          <a:xfrm>
            <a:off x="5034280" y="4323715"/>
            <a:ext cx="4760595" cy="368300"/>
          </a:xfrm>
          <a:prstGeom prst="rect">
            <a:avLst/>
          </a:prstGeom>
          <a:noFill/>
        </p:spPr>
        <p:txBody>
          <a:bodyPr wrap="square" rtlCol="0">
            <a:spAutoFit/>
          </a:bodyPr>
          <a:p>
            <a:endParaRPr lang="zh-CN" altLang="en-US"/>
          </a:p>
        </p:txBody>
      </p:sp>
      <p:sp>
        <p:nvSpPr>
          <p:cNvPr id="12" name="文本框 11"/>
          <p:cNvSpPr txBox="1"/>
          <p:nvPr>
            <p:custDataLst>
              <p:tags r:id="rId7"/>
            </p:custDataLst>
          </p:nvPr>
        </p:nvSpPr>
        <p:spPr>
          <a:xfrm>
            <a:off x="468630" y="4082415"/>
            <a:ext cx="9070340" cy="1198880"/>
          </a:xfrm>
          <a:prstGeom prst="rect">
            <a:avLst/>
          </a:prstGeom>
          <a:noFill/>
        </p:spPr>
        <p:txBody>
          <a:bodyPr wrap="square" rtlCol="0">
            <a:spAutoFit/>
          </a:bodyPr>
          <a:p>
            <a:r>
              <a:rPr lang="zh-CN" altLang="en-US"/>
              <a:t>     </a:t>
            </a:r>
            <a:endParaRPr lang="zh-CN" altLang="en-US"/>
          </a:p>
          <a:p>
            <a:r>
              <a:rPr lang="zh-CN" altLang="en-US"/>
              <a:t>   </a:t>
            </a:r>
            <a:endParaRPr lang="zh-CN" altLang="en-US"/>
          </a:p>
          <a:p>
            <a:r>
              <a:rPr lang="zh-CN" altLang="en-US"/>
              <a:t>       </a:t>
            </a:r>
            <a:endParaRPr lang="zh-CN" altLang="en-US"/>
          </a:p>
          <a:p>
            <a:endParaRPr lang="zh-CN" altLang="en-US"/>
          </a:p>
        </p:txBody>
      </p:sp>
      <p:sp>
        <p:nvSpPr>
          <p:cNvPr id="19" name="椭圆 18"/>
          <p:cNvSpPr/>
          <p:nvPr>
            <p:custDataLst>
              <p:tags r:id="rId8"/>
            </p:custDataLst>
          </p:nvPr>
        </p:nvSpPr>
        <p:spPr>
          <a:xfrm>
            <a:off x="399371" y="421277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5</a:t>
            </a:r>
            <a:endParaRPr lang="en-US" altLang="zh-CN" sz="1400" b="1" i="1">
              <a:latin typeface="+mj-lt"/>
            </a:endParaRPr>
          </a:p>
        </p:txBody>
      </p:sp>
      <p:sp>
        <p:nvSpPr>
          <p:cNvPr id="20" name="文本框 19"/>
          <p:cNvSpPr txBox="1"/>
          <p:nvPr>
            <p:custDataLst>
              <p:tags r:id="rId9"/>
            </p:custDataLst>
          </p:nvPr>
        </p:nvSpPr>
        <p:spPr>
          <a:xfrm>
            <a:off x="934085" y="4260850"/>
            <a:ext cx="7863840" cy="368300"/>
          </a:xfrm>
          <a:prstGeom prst="rect">
            <a:avLst/>
          </a:prstGeom>
          <a:noFill/>
        </p:spPr>
        <p:txBody>
          <a:bodyPr wrap="square" rtlCol="0">
            <a:spAutoFit/>
          </a:bodyPr>
          <a:p>
            <a:r>
              <a:rPr lang="zh-CN" altLang="en-US">
                <a:sym typeface="+mn-ea"/>
              </a:rPr>
              <a:t>若距离小于所设阈值且主车位于拥堵路段所在车道，则将 warning_flag 设为 1；</a:t>
            </a:r>
            <a:endParaRPr lang="zh-CN" altLang="en-US">
              <a:sym typeface="+mn-ea"/>
            </a:endParaRPr>
          </a:p>
        </p:txBody>
      </p:sp>
      <p:sp>
        <p:nvSpPr>
          <p:cNvPr id="21" name="文本框 20"/>
          <p:cNvSpPr txBox="1"/>
          <p:nvPr>
            <p:custDataLst>
              <p:tags r:id="rId10"/>
            </p:custDataLst>
          </p:nvPr>
        </p:nvSpPr>
        <p:spPr>
          <a:xfrm>
            <a:off x="704215" y="4819015"/>
            <a:ext cx="6940550" cy="645160"/>
          </a:xfrm>
          <a:prstGeom prst="rect">
            <a:avLst/>
          </a:prstGeom>
          <a:noFill/>
        </p:spPr>
        <p:txBody>
          <a:bodyPr wrap="square" rtlCol="0">
            <a:spAutoFit/>
          </a:bodyPr>
          <a:p>
            <a:r>
              <a:rPr lang="zh-CN" altLang="en-US"/>
              <a:t>     </a:t>
            </a:r>
            <a:r>
              <a:rPr lang="zh-CN" altLang="en-US">
                <a:sym typeface="+mn-ea"/>
              </a:rPr>
              <a:t> if (dist_2s &lt; 3*radius) and (hv_lane == Lane):  </a:t>
            </a:r>
            <a:endParaRPr lang="zh-CN" altLang="en-US"/>
          </a:p>
          <a:p>
            <a:r>
              <a:rPr lang="zh-CN" altLang="en-US">
                <a:sym typeface="+mn-ea"/>
              </a:rPr>
              <a:t>         warningFlag = 1  </a:t>
            </a:r>
            <a:endParaRPr lang="zh-CN" altLang="en-US"/>
          </a:p>
        </p:txBody>
      </p:sp>
      <p:sp>
        <p:nvSpPr>
          <p:cNvPr id="22" name="椭圆 21"/>
          <p:cNvSpPr/>
          <p:nvPr>
            <p:custDataLst>
              <p:tags r:id="rId11"/>
            </p:custDataLst>
          </p:nvPr>
        </p:nvSpPr>
        <p:spPr>
          <a:xfrm>
            <a:off x="399371" y="552531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6</a:t>
            </a:r>
            <a:endParaRPr lang="en-US" altLang="zh-CN" sz="1400" b="1" i="1">
              <a:latin typeface="+mj-lt"/>
            </a:endParaRPr>
          </a:p>
        </p:txBody>
      </p:sp>
      <p:sp>
        <p:nvSpPr>
          <p:cNvPr id="23" name="文本框 22"/>
          <p:cNvSpPr txBox="1"/>
          <p:nvPr>
            <p:custDataLst>
              <p:tags r:id="rId12"/>
            </p:custDataLst>
          </p:nvPr>
        </p:nvSpPr>
        <p:spPr>
          <a:xfrm>
            <a:off x="1000760" y="5549265"/>
            <a:ext cx="7863840" cy="368300"/>
          </a:xfrm>
          <a:prstGeom prst="rect">
            <a:avLst/>
          </a:prstGeom>
          <a:noFill/>
        </p:spPr>
        <p:txBody>
          <a:bodyPr wrap="square" rtlCol="0">
            <a:spAutoFit/>
          </a:bodyPr>
          <a:p>
            <a:r>
              <a:rPr lang="zh-CN" altLang="en-US">
                <a:sym typeface="+mn-ea"/>
              </a:rPr>
              <a:t>最终</a:t>
            </a:r>
            <a:r>
              <a:rPr lang="zh-CN" altLang="en-US" b="1">
                <a:sym typeface="+mn-ea"/>
              </a:rPr>
              <a:t>返回</a:t>
            </a:r>
            <a:r>
              <a:rPr lang="zh-CN" altLang="en-US">
                <a:sym typeface="+mn-ea"/>
              </a:rPr>
              <a:t> warning_flag 作为函数输出。</a:t>
            </a:r>
            <a:endParaRPr lang="zh-CN" altLang="en-US">
              <a:sym typeface="+mn-ea"/>
            </a:endParaRPr>
          </a:p>
        </p:txBody>
      </p:sp>
      <p:sp>
        <p:nvSpPr>
          <p:cNvPr id="24" name="文本框 23"/>
          <p:cNvSpPr txBox="1"/>
          <p:nvPr>
            <p:custDataLst>
              <p:tags r:id="rId13"/>
            </p:custDataLst>
          </p:nvPr>
        </p:nvSpPr>
        <p:spPr>
          <a:xfrm>
            <a:off x="1000760" y="6002655"/>
            <a:ext cx="5449570" cy="368300"/>
          </a:xfrm>
          <a:prstGeom prst="rect">
            <a:avLst/>
          </a:prstGeom>
          <a:noFill/>
        </p:spPr>
        <p:txBody>
          <a:bodyPr wrap="square" rtlCol="0">
            <a:spAutoFit/>
          </a:bodyPr>
          <a:p>
            <a:r>
              <a:rPr lang="zh-CN" altLang="en-US"/>
              <a:t>return warningFlag   </a:t>
            </a:r>
            <a:endParaRPr lang="zh-CN" altLang="en-US"/>
          </a:p>
        </p:txBody>
      </p:sp>
    </p:spTree>
  </p:cSld>
  <p:clrMapOvr>
    <a:masterClrMapping/>
  </p:clrMapOvr>
  <p:transition spd="slow" advClick="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algn="l">
              <a:lnSpc>
                <a:spcPct val="100000"/>
              </a:lnSpc>
              <a:buClrTx/>
              <a:buSzTx/>
              <a:buFontTx/>
              <a:buNone/>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交通事件场景应用台架实验</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3" name="文本框 2"/>
          <p:cNvSpPr txBox="1"/>
          <p:nvPr>
            <p:custDataLst>
              <p:tags r:id="rId2"/>
            </p:custDataLst>
          </p:nvPr>
        </p:nvSpPr>
        <p:spPr>
          <a:xfrm>
            <a:off x="796925" y="1047115"/>
            <a:ext cx="3323590" cy="398780"/>
          </a:xfrm>
          <a:prstGeom prst="rect">
            <a:avLst/>
          </a:prstGeom>
          <a:noFill/>
        </p:spPr>
        <p:txBody>
          <a:bodyPr wrap="square" rtlCol="0">
            <a:spAutoFit/>
          </a:bodyPr>
          <a:p>
            <a:r>
              <a:rPr lang="zh-CN" altLang="en-US" sz="2000">
                <a:solidFill>
                  <a:schemeClr val="accent1">
                    <a:lumMod val="75000"/>
                  </a:schemeClr>
                </a:solidFill>
              </a:rPr>
              <a:t>实验</a:t>
            </a:r>
            <a:r>
              <a:rPr lang="zh-CN" altLang="en-US" sz="2000">
                <a:solidFill>
                  <a:schemeClr val="accent1">
                    <a:lumMod val="75000"/>
                  </a:schemeClr>
                </a:solidFill>
              </a:rPr>
              <a:t>目的</a:t>
            </a:r>
            <a:endParaRPr lang="zh-CN" altLang="en-US" sz="2000">
              <a:solidFill>
                <a:schemeClr val="accent1">
                  <a:lumMod val="75000"/>
                </a:schemeClr>
              </a:solidFill>
            </a:endParaRPr>
          </a:p>
        </p:txBody>
      </p:sp>
      <p:sp>
        <p:nvSpPr>
          <p:cNvPr id="17" name="菱形 16"/>
          <p:cNvSpPr/>
          <p:nvPr>
            <p:custDataLst>
              <p:tags r:id="rId3"/>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
        <p:nvSpPr>
          <p:cNvPr id="35" name="椭圆 34"/>
          <p:cNvSpPr/>
          <p:nvPr>
            <p:custDataLst>
              <p:tags r:id="rId4"/>
            </p:custDataLst>
          </p:nvPr>
        </p:nvSpPr>
        <p:spPr>
          <a:xfrm>
            <a:off x="227921" y="190899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1</a:t>
            </a:r>
            <a:endParaRPr lang="zh-CN" altLang="en-US" sz="1400" b="1" i="1">
              <a:latin typeface="+mj-lt"/>
            </a:endParaRPr>
          </a:p>
        </p:txBody>
      </p:sp>
      <p:sp>
        <p:nvSpPr>
          <p:cNvPr id="14" name="椭圆 13"/>
          <p:cNvSpPr/>
          <p:nvPr>
            <p:custDataLst>
              <p:tags r:id="rId5"/>
            </p:custDataLst>
          </p:nvPr>
        </p:nvSpPr>
        <p:spPr>
          <a:xfrm>
            <a:off x="227921" y="308310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2</a:t>
            </a:r>
            <a:endParaRPr lang="en-US" altLang="zh-CN" sz="1400" b="1" i="1">
              <a:latin typeface="+mj-lt"/>
            </a:endParaRPr>
          </a:p>
        </p:txBody>
      </p:sp>
      <p:sp>
        <p:nvSpPr>
          <p:cNvPr id="16" name="椭圆 15"/>
          <p:cNvSpPr/>
          <p:nvPr>
            <p:custDataLst>
              <p:tags r:id="rId6"/>
            </p:custDataLst>
          </p:nvPr>
        </p:nvSpPr>
        <p:spPr>
          <a:xfrm>
            <a:off x="227921" y="4299134"/>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3</a:t>
            </a:r>
            <a:endParaRPr lang="en-US" altLang="zh-CN" sz="1400" b="1" i="1">
              <a:latin typeface="+mj-lt"/>
            </a:endParaRPr>
          </a:p>
        </p:txBody>
      </p:sp>
      <p:sp>
        <p:nvSpPr>
          <p:cNvPr id="10" name="文本框 9"/>
          <p:cNvSpPr txBox="1"/>
          <p:nvPr>
            <p:custDataLst>
              <p:tags r:id="rId7"/>
            </p:custDataLst>
          </p:nvPr>
        </p:nvSpPr>
        <p:spPr>
          <a:xfrm>
            <a:off x="796290" y="1908810"/>
            <a:ext cx="7969885" cy="368300"/>
          </a:xfrm>
          <a:prstGeom prst="rect">
            <a:avLst/>
          </a:prstGeom>
          <a:noFill/>
        </p:spPr>
        <p:txBody>
          <a:bodyPr wrap="square" rtlCol="0">
            <a:spAutoFit/>
          </a:bodyPr>
          <a:p>
            <a:r>
              <a:rPr lang="zh-CN" altLang="en-US">
                <a:sym typeface="+mn-ea"/>
              </a:rPr>
              <a:t>通过对交通事件场景进行实验操作，熟悉不同交通事件场景的</a:t>
            </a:r>
            <a:r>
              <a:rPr lang="zh-CN" altLang="en-US" b="1">
                <a:sym typeface="+mn-ea"/>
              </a:rPr>
              <a:t>关键指标参数</a:t>
            </a:r>
            <a:r>
              <a:rPr lang="zh-CN" altLang="en-US">
                <a:sym typeface="+mn-ea"/>
              </a:rPr>
              <a:t>；</a:t>
            </a:r>
            <a:endParaRPr lang="zh-CN" altLang="en-US">
              <a:sym typeface="+mn-ea"/>
            </a:endParaRPr>
          </a:p>
        </p:txBody>
      </p:sp>
      <p:sp>
        <p:nvSpPr>
          <p:cNvPr id="11" name="文本框 10"/>
          <p:cNvSpPr txBox="1"/>
          <p:nvPr>
            <p:custDataLst>
              <p:tags r:id="rId8"/>
            </p:custDataLst>
          </p:nvPr>
        </p:nvSpPr>
        <p:spPr>
          <a:xfrm>
            <a:off x="796290" y="3110865"/>
            <a:ext cx="7969250" cy="368300"/>
          </a:xfrm>
          <a:prstGeom prst="rect">
            <a:avLst/>
          </a:prstGeom>
          <a:noFill/>
        </p:spPr>
        <p:txBody>
          <a:bodyPr wrap="square" rtlCol="0">
            <a:spAutoFit/>
          </a:bodyPr>
          <a:p>
            <a:r>
              <a:rPr lang="zh-CN" altLang="en-US">
                <a:sym typeface="+mn-ea"/>
              </a:rPr>
              <a:t>了解交通事件场景的</a:t>
            </a:r>
            <a:r>
              <a:rPr lang="zh-CN" altLang="en-US" b="1">
                <a:sym typeface="+mn-ea"/>
              </a:rPr>
              <a:t>算法配置</a:t>
            </a:r>
            <a:r>
              <a:rPr lang="zh-CN" altLang="en-US">
                <a:sym typeface="+mn-ea"/>
              </a:rPr>
              <a:t>；</a:t>
            </a:r>
            <a:endParaRPr lang="zh-CN" altLang="en-US">
              <a:sym typeface="+mn-ea"/>
            </a:endParaRPr>
          </a:p>
        </p:txBody>
      </p:sp>
      <p:sp>
        <p:nvSpPr>
          <p:cNvPr id="12" name="文本框 11"/>
          <p:cNvSpPr txBox="1"/>
          <p:nvPr>
            <p:custDataLst>
              <p:tags r:id="rId9"/>
            </p:custDataLst>
          </p:nvPr>
        </p:nvSpPr>
        <p:spPr>
          <a:xfrm>
            <a:off x="796925" y="4312920"/>
            <a:ext cx="8337550" cy="368300"/>
          </a:xfrm>
          <a:prstGeom prst="rect">
            <a:avLst/>
          </a:prstGeom>
          <a:noFill/>
        </p:spPr>
        <p:txBody>
          <a:bodyPr wrap="square" rtlCol="0">
            <a:spAutoFit/>
          </a:bodyPr>
          <a:p>
            <a:r>
              <a:rPr lang="zh-CN" altLang="en-US">
                <a:sym typeface="+mn-ea"/>
              </a:rPr>
              <a:t>了解交通事件场景算法的</a:t>
            </a:r>
            <a:r>
              <a:rPr lang="zh-CN" altLang="en-US" b="1">
                <a:sym typeface="+mn-ea"/>
              </a:rPr>
              <a:t>代码实现</a:t>
            </a:r>
            <a:r>
              <a:rPr lang="zh-CN" altLang="en-US">
                <a:sym typeface="+mn-ea"/>
              </a:rPr>
              <a:t>，尝试对场景算法进行修改和设计。</a:t>
            </a:r>
            <a:endParaRPr lang="zh-CN" altLang="en-US">
              <a:sym typeface="+mn-ea"/>
            </a:endParaRPr>
          </a:p>
        </p:txBody>
      </p:sp>
    </p:spTree>
  </p:cSld>
  <p:clrMapOvr>
    <a:masterClrMapping/>
  </p:clrMapOvr>
  <p:transition spd="slow" advClick="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道路施工</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预警</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2" name="图片 1"/>
          <p:cNvPicPr>
            <a:picLocks noChangeAspect="1"/>
          </p:cNvPicPr>
          <p:nvPr>
            <p:custDataLst>
              <p:tags r:id="rId2"/>
            </p:custDataLst>
          </p:nvPr>
        </p:nvPicPr>
        <p:blipFill>
          <a:blip r:embed="rId3"/>
          <a:stretch>
            <a:fillRect/>
          </a:stretch>
        </p:blipFill>
        <p:spPr>
          <a:xfrm>
            <a:off x="4973955" y="902335"/>
            <a:ext cx="3385820" cy="5430520"/>
          </a:xfrm>
          <a:prstGeom prst="rect">
            <a:avLst/>
          </a:prstGeom>
        </p:spPr>
      </p:pic>
      <p:sp>
        <p:nvSpPr>
          <p:cNvPr id="17" name="菱形 16"/>
          <p:cNvSpPr/>
          <p:nvPr>
            <p:custDataLst>
              <p:tags r:id="rId4"/>
            </p:custDataLst>
          </p:nvPr>
        </p:nvSpPr>
        <p:spPr>
          <a:xfrm>
            <a:off x="4364355" y="1048385"/>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
        <p:nvSpPr>
          <p:cNvPr id="3" name="文本框 2"/>
          <p:cNvSpPr txBox="1"/>
          <p:nvPr>
            <p:custDataLst>
              <p:tags r:id="rId5"/>
            </p:custDataLst>
          </p:nvPr>
        </p:nvSpPr>
        <p:spPr>
          <a:xfrm>
            <a:off x="4973955" y="1047115"/>
            <a:ext cx="3323590" cy="398780"/>
          </a:xfrm>
          <a:prstGeom prst="rect">
            <a:avLst/>
          </a:prstGeom>
          <a:noFill/>
        </p:spPr>
        <p:txBody>
          <a:bodyPr wrap="square" rtlCol="0">
            <a:spAutoFit/>
          </a:bodyPr>
          <a:p>
            <a:r>
              <a:rPr lang="zh-CN" altLang="en-US" sz="2000">
                <a:solidFill>
                  <a:schemeClr val="accent1">
                    <a:lumMod val="75000"/>
                  </a:schemeClr>
                </a:solidFill>
              </a:rPr>
              <a:t>算法</a:t>
            </a:r>
            <a:r>
              <a:rPr lang="zh-CN" altLang="en-US" sz="2000">
                <a:solidFill>
                  <a:schemeClr val="accent1">
                    <a:lumMod val="75000"/>
                  </a:schemeClr>
                </a:solidFill>
              </a:rPr>
              <a:t>原理</a:t>
            </a:r>
            <a:endParaRPr lang="zh-CN" altLang="en-US" sz="2000">
              <a:solidFill>
                <a:schemeClr val="accent1">
                  <a:lumMod val="75000"/>
                </a:schemeClr>
              </a:solidFill>
            </a:endParaRPr>
          </a:p>
        </p:txBody>
      </p:sp>
      <p:sp>
        <p:nvSpPr>
          <p:cNvPr id="8" name="文本框 7"/>
          <p:cNvSpPr txBox="1"/>
          <p:nvPr>
            <p:custDataLst>
              <p:tags r:id="rId6"/>
            </p:custDataLst>
          </p:nvPr>
        </p:nvSpPr>
        <p:spPr>
          <a:xfrm>
            <a:off x="796925" y="1047115"/>
            <a:ext cx="3323590" cy="398780"/>
          </a:xfrm>
          <a:prstGeom prst="rect">
            <a:avLst/>
          </a:prstGeom>
          <a:noFill/>
        </p:spPr>
        <p:txBody>
          <a:bodyPr wrap="square" rtlCol="0">
            <a:spAutoFit/>
          </a:bodyPr>
          <a:p>
            <a:r>
              <a:rPr lang="zh-CN" altLang="en-US" sz="2000">
                <a:solidFill>
                  <a:schemeClr val="accent1">
                    <a:lumMod val="75000"/>
                  </a:schemeClr>
                </a:solidFill>
              </a:rPr>
              <a:t>场景介绍</a:t>
            </a:r>
            <a:endParaRPr lang="zh-CN" altLang="en-US" sz="2000">
              <a:solidFill>
                <a:schemeClr val="accent1">
                  <a:lumMod val="75000"/>
                </a:schemeClr>
              </a:solidFill>
            </a:endParaRPr>
          </a:p>
        </p:txBody>
      </p:sp>
      <p:sp>
        <p:nvSpPr>
          <p:cNvPr id="9" name="菱形 8"/>
          <p:cNvSpPr/>
          <p:nvPr>
            <p:custDataLst>
              <p:tags r:id="rId7"/>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
        <p:nvSpPr>
          <p:cNvPr id="11" name="文本框 10"/>
          <p:cNvSpPr txBox="1"/>
          <p:nvPr>
            <p:custDataLst>
              <p:tags r:id="rId8"/>
            </p:custDataLst>
          </p:nvPr>
        </p:nvSpPr>
        <p:spPr>
          <a:xfrm>
            <a:off x="224155" y="1621790"/>
            <a:ext cx="4347845" cy="5077460"/>
          </a:xfrm>
          <a:prstGeom prst="rect">
            <a:avLst/>
          </a:prstGeom>
          <a:noFill/>
        </p:spPr>
        <p:txBody>
          <a:bodyPr wrap="square" rtlCol="0">
            <a:spAutoFit/>
          </a:bodyPr>
          <a:p>
            <a:pPr marL="342900" indent="-342900">
              <a:lnSpc>
                <a:spcPct val="150000"/>
              </a:lnSpc>
              <a:buFont typeface="+mj-lt"/>
              <a:buAutoNum type="arabicPeriod"/>
            </a:pPr>
            <a:r>
              <a:rPr lang="zh-CN" altLang="en-US">
                <a:sym typeface="+mn-ea"/>
              </a:rPr>
              <a:t>主车支持通过 C-V2X 通信，获取</a:t>
            </a:r>
            <a:r>
              <a:rPr lang="zh-CN" altLang="en-US" b="1">
                <a:sym typeface="+mn-ea"/>
              </a:rPr>
              <a:t>路侧设备共享的信息</a:t>
            </a:r>
            <a:r>
              <a:rPr lang="zh-CN" altLang="en-US">
                <a:sym typeface="+mn-ea"/>
              </a:rPr>
              <a:t>；</a:t>
            </a:r>
            <a:endParaRPr lang="zh-CN" altLang="en-US">
              <a:sym typeface="+mn-ea"/>
            </a:endParaRPr>
          </a:p>
          <a:p>
            <a:pPr marL="342900" indent="-342900">
              <a:lnSpc>
                <a:spcPct val="150000"/>
              </a:lnSpc>
              <a:buFont typeface="+mj-lt"/>
              <a:buAutoNum type="arabicPeriod"/>
            </a:pPr>
            <a:r>
              <a:rPr lang="zh-CN" altLang="en-US">
                <a:sym typeface="+mn-ea"/>
              </a:rPr>
              <a:t>临近施工区域，主车接收RSU 广播的道路施工</a:t>
            </a:r>
            <a:r>
              <a:rPr lang="zh-CN" altLang="en-US" b="1">
                <a:sym typeface="+mn-ea"/>
              </a:rPr>
              <a:t> RSI 消息</a:t>
            </a:r>
            <a:r>
              <a:rPr lang="zh-CN" altLang="en-US">
                <a:sym typeface="+mn-ea"/>
              </a:rPr>
              <a:t>，获得 RSU 和施工区域的位置；</a:t>
            </a:r>
            <a:endParaRPr lang="zh-CN" altLang="en-US">
              <a:sym typeface="+mn-ea"/>
            </a:endParaRPr>
          </a:p>
          <a:p>
            <a:pPr marL="342900" indent="-342900">
              <a:lnSpc>
                <a:spcPct val="150000"/>
              </a:lnSpc>
              <a:buFont typeface="+mj-lt"/>
              <a:buAutoNum type="arabicPeriod"/>
            </a:pPr>
            <a:r>
              <a:rPr lang="zh-CN" altLang="en-US" b="1">
                <a:sym typeface="+mn-ea"/>
              </a:rPr>
              <a:t>判断</a:t>
            </a:r>
            <a:r>
              <a:rPr lang="zh-CN" altLang="en-US">
                <a:sym typeface="+mn-ea"/>
              </a:rPr>
              <a:t>是否进行道路施工预警；</a:t>
            </a:r>
            <a:endParaRPr lang="zh-CN" altLang="en-US">
              <a:sym typeface="+mn-ea"/>
            </a:endParaRPr>
          </a:p>
          <a:p>
            <a:pPr marL="342900" indent="-342900">
              <a:lnSpc>
                <a:spcPct val="150000"/>
              </a:lnSpc>
              <a:buFont typeface="+mj-lt"/>
              <a:buAutoNum type="arabicPeriod"/>
            </a:pPr>
            <a:r>
              <a:rPr lang="zh-CN" altLang="en-US">
                <a:sym typeface="+mn-ea"/>
              </a:rPr>
              <a:t>若存在发生事故风险，则对驾驶员进行</a:t>
            </a:r>
            <a:r>
              <a:rPr lang="zh-CN" altLang="en-US" b="1">
                <a:sym typeface="+mn-ea"/>
              </a:rPr>
              <a:t>预警</a:t>
            </a:r>
            <a:r>
              <a:rPr lang="zh-CN" altLang="en-US">
                <a:sym typeface="+mn-ea"/>
              </a:rPr>
              <a:t>；</a:t>
            </a:r>
            <a:endParaRPr lang="zh-CN" altLang="en-US">
              <a:sym typeface="+mn-ea"/>
            </a:endParaRPr>
          </a:p>
          <a:p>
            <a:pPr marL="342900" indent="-342900">
              <a:lnSpc>
                <a:spcPct val="150000"/>
              </a:lnSpc>
              <a:buFont typeface="+mj-lt"/>
              <a:buAutoNum type="arabicPeriod"/>
            </a:pPr>
            <a:r>
              <a:rPr lang="zh-CN" altLang="en-US">
                <a:sym typeface="+mn-ea"/>
              </a:rPr>
              <a:t>当主车通过施工区域后，道路施工</a:t>
            </a:r>
            <a:r>
              <a:rPr lang="zh-CN" altLang="en-US" b="1">
                <a:sym typeface="+mn-ea"/>
              </a:rPr>
              <a:t>预警信息取消</a:t>
            </a:r>
            <a:r>
              <a:rPr lang="zh-CN" altLang="en-US">
                <a:sym typeface="+mn-ea"/>
              </a:rPr>
              <a:t>。</a:t>
            </a:r>
            <a:endParaRPr lang="zh-CN" altLang="en-US"/>
          </a:p>
          <a:p>
            <a:pPr marL="342900" indent="-342900">
              <a:lnSpc>
                <a:spcPct val="150000"/>
              </a:lnSpc>
              <a:buFont typeface="+mj-lt"/>
              <a:buAutoNum type="arabicPeriod"/>
            </a:pPr>
            <a:endParaRPr lang="zh-CN" altLang="en-US">
              <a:sym typeface="+mn-ea"/>
            </a:endParaRPr>
          </a:p>
          <a:p>
            <a:pPr marL="342900" indent="-342900">
              <a:lnSpc>
                <a:spcPct val="150000"/>
              </a:lnSpc>
              <a:buFont typeface="+mj-lt"/>
              <a:buAutoNum type="arabicPeriod"/>
            </a:pPr>
            <a:endParaRPr lang="zh-CN" altLang="en-US"/>
          </a:p>
        </p:txBody>
      </p:sp>
    </p:spTree>
  </p:cSld>
  <p:clrMapOvr>
    <a:masterClrMapping/>
  </p:clrMapOvr>
  <p:transition spd="slow" advClick="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道路施工预警</a:t>
            </a:r>
            <a:endPar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2" name="图片 1"/>
          <p:cNvPicPr>
            <a:picLocks noChangeAspect="1"/>
          </p:cNvPicPr>
          <p:nvPr>
            <p:custDataLst>
              <p:tags r:id="rId2"/>
            </p:custDataLst>
          </p:nvPr>
        </p:nvPicPr>
        <p:blipFill>
          <a:blip r:embed="rId3"/>
          <a:srcRect l="2005" t="7244" r="5616" b="1676"/>
          <a:stretch>
            <a:fillRect/>
          </a:stretch>
        </p:blipFill>
        <p:spPr>
          <a:xfrm>
            <a:off x="1916430" y="1445895"/>
            <a:ext cx="5702935" cy="5200650"/>
          </a:xfrm>
          <a:prstGeom prst="rect">
            <a:avLst/>
          </a:prstGeom>
        </p:spPr>
      </p:pic>
      <p:sp>
        <p:nvSpPr>
          <p:cNvPr id="8" name="文本框 7"/>
          <p:cNvSpPr txBox="1"/>
          <p:nvPr>
            <p:custDataLst>
              <p:tags r:id="rId4"/>
            </p:custDataLst>
          </p:nvPr>
        </p:nvSpPr>
        <p:spPr>
          <a:xfrm>
            <a:off x="796925" y="1047115"/>
            <a:ext cx="3323590" cy="398780"/>
          </a:xfrm>
          <a:prstGeom prst="rect">
            <a:avLst/>
          </a:prstGeom>
          <a:noFill/>
        </p:spPr>
        <p:txBody>
          <a:bodyPr wrap="square" rtlCol="0">
            <a:spAutoFit/>
          </a:bodyPr>
          <a:p>
            <a:r>
              <a:rPr lang="zh-CN" altLang="en-US" sz="2000">
                <a:solidFill>
                  <a:schemeClr val="accent1">
                    <a:lumMod val="75000"/>
                  </a:schemeClr>
                </a:solidFill>
              </a:rPr>
              <a:t>算法数据</a:t>
            </a:r>
            <a:r>
              <a:rPr lang="zh-CN" altLang="en-US" sz="2000">
                <a:solidFill>
                  <a:schemeClr val="accent1">
                    <a:lumMod val="75000"/>
                  </a:schemeClr>
                </a:solidFill>
              </a:rPr>
              <a:t>流程图</a:t>
            </a:r>
            <a:endParaRPr lang="zh-CN" altLang="en-US" sz="2000">
              <a:solidFill>
                <a:schemeClr val="accent1">
                  <a:lumMod val="75000"/>
                </a:schemeClr>
              </a:solidFill>
            </a:endParaRPr>
          </a:p>
        </p:txBody>
      </p:sp>
      <p:sp>
        <p:nvSpPr>
          <p:cNvPr id="9" name="菱形 8"/>
          <p:cNvSpPr/>
          <p:nvPr>
            <p:custDataLst>
              <p:tags r:id="rId5"/>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Tree>
  </p:cSld>
  <p:clrMapOvr>
    <a:masterClrMapping/>
  </p:clrMapOvr>
  <p:transition spd="slow" advClick="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限速预警</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17" name="菱形 16"/>
          <p:cNvSpPr/>
          <p:nvPr>
            <p:custDataLst>
              <p:tags r:id="rId2"/>
            </p:custDataLst>
          </p:nvPr>
        </p:nvSpPr>
        <p:spPr>
          <a:xfrm>
            <a:off x="4396105" y="1047115"/>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
        <p:nvSpPr>
          <p:cNvPr id="6" name="文本框 5"/>
          <p:cNvSpPr txBox="1"/>
          <p:nvPr/>
        </p:nvSpPr>
        <p:spPr>
          <a:xfrm>
            <a:off x="225425" y="1733550"/>
            <a:ext cx="4347210" cy="4740275"/>
          </a:xfrm>
          <a:prstGeom prst="rect">
            <a:avLst/>
          </a:prstGeom>
          <a:noFill/>
        </p:spPr>
        <p:txBody>
          <a:bodyPr wrap="square" rtlCol="0">
            <a:noAutofit/>
          </a:bodyPr>
          <a:p>
            <a:pPr marL="342900" indent="-342900" algn="l">
              <a:lnSpc>
                <a:spcPct val="150000"/>
              </a:lnSpc>
              <a:buClrTx/>
              <a:buSzTx/>
              <a:buFont typeface="+mj-lt"/>
              <a:buAutoNum type="arabicPeriod"/>
            </a:pPr>
            <a:r>
              <a:rPr lang="zh-CN" altLang="en-US"/>
              <a:t>主车支持通过 C-V2X 通信，获取</a:t>
            </a:r>
            <a:r>
              <a:rPr lang="zh-CN" altLang="en-US" b="1"/>
              <a:t>路侧设备共享的信息</a:t>
            </a:r>
            <a:r>
              <a:rPr lang="zh-CN" altLang="en-US"/>
              <a:t>；</a:t>
            </a:r>
            <a:endParaRPr lang="zh-CN" altLang="en-US"/>
          </a:p>
          <a:p>
            <a:pPr marL="342900" indent="-342900" algn="l">
              <a:lnSpc>
                <a:spcPct val="150000"/>
              </a:lnSpc>
              <a:buClrTx/>
              <a:buSzTx/>
              <a:buFont typeface="+mj-lt"/>
              <a:buAutoNum type="arabicPeriod"/>
            </a:pPr>
            <a:r>
              <a:rPr lang="zh-CN" altLang="en-US"/>
              <a:t>主车接收 RSU 广播的 </a:t>
            </a:r>
            <a:r>
              <a:rPr lang="zh-CN" altLang="en-US" b="1"/>
              <a:t>MAP消息</a:t>
            </a:r>
            <a:r>
              <a:rPr lang="zh-CN" altLang="en-US"/>
              <a:t>，获取地图数据以及道路限速；</a:t>
            </a:r>
            <a:endParaRPr lang="zh-CN" altLang="en-US"/>
          </a:p>
          <a:p>
            <a:pPr marL="342900" indent="-342900" algn="l">
              <a:lnSpc>
                <a:spcPct val="150000"/>
              </a:lnSpc>
              <a:buClrTx/>
              <a:buSzTx/>
              <a:buFont typeface="+mj-lt"/>
              <a:buAutoNum type="arabicPeriod"/>
            </a:pPr>
            <a:r>
              <a:rPr lang="zh-CN" altLang="en-US"/>
              <a:t>若位于地图数据中的某条道路，</a:t>
            </a:r>
            <a:r>
              <a:rPr lang="zh-CN" altLang="en-US" b="1"/>
              <a:t>判断</a:t>
            </a:r>
            <a:r>
              <a:rPr lang="zh-CN" altLang="en-US"/>
              <a:t>主车是否超速；</a:t>
            </a:r>
            <a:endParaRPr lang="zh-CN" altLang="en-US"/>
          </a:p>
          <a:p>
            <a:pPr marL="342900" indent="-342900" algn="l">
              <a:lnSpc>
                <a:spcPct val="150000"/>
              </a:lnSpc>
              <a:buClrTx/>
              <a:buSzTx/>
              <a:buFont typeface="+mj-lt"/>
              <a:buAutoNum type="arabicPeriod"/>
            </a:pPr>
            <a:r>
              <a:rPr lang="zh-CN" altLang="en-US"/>
              <a:t>若超速则对驾驶员进行</a:t>
            </a:r>
            <a:r>
              <a:rPr lang="zh-CN" altLang="en-US" b="1"/>
              <a:t>预警</a:t>
            </a:r>
            <a:r>
              <a:rPr lang="zh-CN" altLang="en-US"/>
              <a:t>；</a:t>
            </a:r>
            <a:endParaRPr lang="zh-CN" altLang="en-US"/>
          </a:p>
          <a:p>
            <a:pPr marL="342900" indent="-342900" algn="l">
              <a:lnSpc>
                <a:spcPct val="150000"/>
              </a:lnSpc>
              <a:buClrTx/>
              <a:buSzTx/>
              <a:buFont typeface="+mj-lt"/>
              <a:buAutoNum type="arabicPeriod"/>
            </a:pPr>
            <a:r>
              <a:rPr lang="zh-CN" altLang="en-US"/>
              <a:t>当主车速度低于限速后，</a:t>
            </a:r>
            <a:r>
              <a:rPr lang="zh-CN" altLang="en-US" b="1"/>
              <a:t>预警信息取消</a:t>
            </a:r>
            <a:r>
              <a:rPr lang="zh-CN" altLang="en-US"/>
              <a:t>。</a:t>
            </a:r>
            <a:endParaRPr lang="zh-CN" altLang="en-US"/>
          </a:p>
        </p:txBody>
      </p:sp>
      <p:sp>
        <p:nvSpPr>
          <p:cNvPr id="8" name="文本框 7"/>
          <p:cNvSpPr txBox="1"/>
          <p:nvPr>
            <p:custDataLst>
              <p:tags r:id="rId3"/>
            </p:custDataLst>
          </p:nvPr>
        </p:nvSpPr>
        <p:spPr>
          <a:xfrm>
            <a:off x="796925" y="1047115"/>
            <a:ext cx="3323590" cy="398780"/>
          </a:xfrm>
          <a:prstGeom prst="rect">
            <a:avLst/>
          </a:prstGeom>
          <a:noFill/>
        </p:spPr>
        <p:txBody>
          <a:bodyPr wrap="square" rtlCol="0">
            <a:spAutoFit/>
          </a:bodyPr>
          <a:p>
            <a:r>
              <a:rPr lang="zh-CN" altLang="en-US" sz="2000">
                <a:solidFill>
                  <a:schemeClr val="accent1">
                    <a:lumMod val="75000"/>
                  </a:schemeClr>
                </a:solidFill>
              </a:rPr>
              <a:t>场景介绍</a:t>
            </a:r>
            <a:endParaRPr lang="zh-CN" altLang="en-US" sz="2000">
              <a:solidFill>
                <a:schemeClr val="accent1">
                  <a:lumMod val="75000"/>
                </a:schemeClr>
              </a:solidFill>
            </a:endParaRPr>
          </a:p>
        </p:txBody>
      </p:sp>
      <p:sp>
        <p:nvSpPr>
          <p:cNvPr id="9" name="菱形 8"/>
          <p:cNvSpPr/>
          <p:nvPr>
            <p:custDataLst>
              <p:tags r:id="rId4"/>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pic>
        <p:nvPicPr>
          <p:cNvPr id="4" name="图片 3"/>
          <p:cNvPicPr>
            <a:picLocks noChangeAspect="1"/>
          </p:cNvPicPr>
          <p:nvPr>
            <p:custDataLst>
              <p:tags r:id="rId5"/>
            </p:custDataLst>
          </p:nvPr>
        </p:nvPicPr>
        <p:blipFill>
          <a:blip r:embed="rId6"/>
          <a:stretch>
            <a:fillRect/>
          </a:stretch>
        </p:blipFill>
        <p:spPr>
          <a:xfrm>
            <a:off x="4811395" y="936625"/>
            <a:ext cx="3891280" cy="5609590"/>
          </a:xfrm>
          <a:prstGeom prst="rect">
            <a:avLst/>
          </a:prstGeom>
        </p:spPr>
      </p:pic>
      <p:sp>
        <p:nvSpPr>
          <p:cNvPr id="10" name="文本框 9"/>
          <p:cNvSpPr txBox="1"/>
          <p:nvPr/>
        </p:nvSpPr>
        <p:spPr>
          <a:xfrm>
            <a:off x="4897120" y="1049020"/>
            <a:ext cx="2092960" cy="398780"/>
          </a:xfrm>
          <a:prstGeom prst="rect">
            <a:avLst/>
          </a:prstGeom>
          <a:noFill/>
        </p:spPr>
        <p:txBody>
          <a:bodyPr wrap="square" rtlCol="0">
            <a:spAutoFit/>
          </a:bodyPr>
          <a:p>
            <a:r>
              <a:rPr lang="zh-CN" altLang="en-US" sz="2000">
                <a:solidFill>
                  <a:schemeClr val="accent1">
                    <a:lumMod val="75000"/>
                  </a:schemeClr>
                </a:solidFill>
              </a:rPr>
              <a:t>算法原理</a:t>
            </a:r>
            <a:endParaRPr lang="zh-CN" altLang="en-US"/>
          </a:p>
        </p:txBody>
      </p:sp>
    </p:spTree>
  </p:cSld>
  <p:clrMapOvr>
    <a:masterClrMapping/>
  </p:clrMapOvr>
  <p:transition spd="slow"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限速预警</a:t>
            </a:r>
            <a:endPar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8" name="文本框 7"/>
          <p:cNvSpPr txBox="1"/>
          <p:nvPr>
            <p:custDataLst>
              <p:tags r:id="rId2"/>
            </p:custDataLst>
          </p:nvPr>
        </p:nvSpPr>
        <p:spPr>
          <a:xfrm>
            <a:off x="796925" y="1047115"/>
            <a:ext cx="3323590" cy="398780"/>
          </a:xfrm>
          <a:prstGeom prst="rect">
            <a:avLst/>
          </a:prstGeom>
          <a:noFill/>
        </p:spPr>
        <p:txBody>
          <a:bodyPr wrap="square" rtlCol="0">
            <a:spAutoFit/>
          </a:bodyPr>
          <a:p>
            <a:r>
              <a:rPr lang="zh-CN" altLang="en-US" sz="2000">
                <a:solidFill>
                  <a:schemeClr val="accent1">
                    <a:lumMod val="75000"/>
                  </a:schemeClr>
                </a:solidFill>
              </a:rPr>
              <a:t>算法数据</a:t>
            </a:r>
            <a:r>
              <a:rPr lang="zh-CN" altLang="en-US" sz="2000">
                <a:solidFill>
                  <a:schemeClr val="accent1">
                    <a:lumMod val="75000"/>
                  </a:schemeClr>
                </a:solidFill>
              </a:rPr>
              <a:t>流程图</a:t>
            </a:r>
            <a:endParaRPr lang="zh-CN" altLang="en-US" sz="2000">
              <a:solidFill>
                <a:schemeClr val="accent1">
                  <a:lumMod val="75000"/>
                </a:schemeClr>
              </a:solidFill>
            </a:endParaRPr>
          </a:p>
        </p:txBody>
      </p:sp>
      <p:sp>
        <p:nvSpPr>
          <p:cNvPr id="9" name="菱形 8"/>
          <p:cNvSpPr/>
          <p:nvPr>
            <p:custDataLst>
              <p:tags r:id="rId3"/>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pic>
        <p:nvPicPr>
          <p:cNvPr id="3" name="图片 2"/>
          <p:cNvPicPr>
            <a:picLocks noChangeAspect="1"/>
          </p:cNvPicPr>
          <p:nvPr>
            <p:custDataLst>
              <p:tags r:id="rId4"/>
            </p:custDataLst>
          </p:nvPr>
        </p:nvPicPr>
        <p:blipFill>
          <a:blip r:embed="rId5"/>
          <a:srcRect l="1133" t="6905" r="1380" b="570"/>
          <a:stretch>
            <a:fillRect/>
          </a:stretch>
        </p:blipFill>
        <p:spPr>
          <a:xfrm>
            <a:off x="1998980" y="1445895"/>
            <a:ext cx="5516880" cy="5258435"/>
          </a:xfrm>
          <a:prstGeom prst="rect">
            <a:avLst/>
          </a:prstGeom>
        </p:spPr>
      </p:pic>
    </p:spTree>
  </p:cSld>
  <p:clrMapOvr>
    <a:masterClrMapping/>
  </p:clrMapOvr>
  <p:transition spd="slow" advClick="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紧急</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车辆预警</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17" name="菱形 16"/>
          <p:cNvSpPr/>
          <p:nvPr>
            <p:custDataLst>
              <p:tags r:id="rId2"/>
            </p:custDataLst>
          </p:nvPr>
        </p:nvSpPr>
        <p:spPr>
          <a:xfrm>
            <a:off x="4493260"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
        <p:nvSpPr>
          <p:cNvPr id="6" name="文本框 5"/>
          <p:cNvSpPr txBox="1"/>
          <p:nvPr/>
        </p:nvSpPr>
        <p:spPr>
          <a:xfrm>
            <a:off x="225425" y="1733550"/>
            <a:ext cx="4346575" cy="4432300"/>
          </a:xfrm>
          <a:prstGeom prst="rect">
            <a:avLst/>
          </a:prstGeom>
          <a:noFill/>
        </p:spPr>
        <p:txBody>
          <a:bodyPr wrap="square" rtlCol="0">
            <a:noAutofit/>
          </a:bodyPr>
          <a:p>
            <a:pPr marL="342900" indent="-342900" algn="l">
              <a:lnSpc>
                <a:spcPct val="150000"/>
              </a:lnSpc>
              <a:buClrTx/>
              <a:buSzTx/>
              <a:buFont typeface="+mj-lt"/>
              <a:buAutoNum type="arabicPeriod"/>
            </a:pPr>
            <a:r>
              <a:rPr lang="zh-CN" altLang="en-US"/>
              <a:t>主车和远车均支持通过 C-V2X 通信交互</a:t>
            </a:r>
            <a:r>
              <a:rPr lang="zh-CN" altLang="en-US" b="1"/>
              <a:t>自身位置和运行状态</a:t>
            </a:r>
            <a:r>
              <a:rPr lang="zh-CN" altLang="en-US"/>
              <a:t>信息；</a:t>
            </a:r>
            <a:endParaRPr lang="zh-CN" altLang="en-US"/>
          </a:p>
          <a:p>
            <a:pPr marL="342900" indent="-342900" algn="l">
              <a:lnSpc>
                <a:spcPct val="150000"/>
              </a:lnSpc>
              <a:buClrTx/>
              <a:buSzTx/>
              <a:buFont typeface="+mj-lt"/>
              <a:buAutoNum type="arabicPeriod"/>
            </a:pPr>
            <a:r>
              <a:rPr lang="zh-CN" altLang="en-US"/>
              <a:t>若远车是紧急车辆或特殊车辆，</a:t>
            </a:r>
            <a:r>
              <a:rPr lang="zh-CN" altLang="en-US" b="1"/>
              <a:t>判断</a:t>
            </a:r>
            <a:r>
              <a:rPr lang="zh-CN" altLang="en-US"/>
              <a:t>远车是否位于主车同一车道后方且距离小于阈值；</a:t>
            </a:r>
            <a:endParaRPr lang="zh-CN" altLang="en-US"/>
          </a:p>
          <a:p>
            <a:pPr marL="342900" indent="-342900" algn="l">
              <a:lnSpc>
                <a:spcPct val="150000"/>
              </a:lnSpc>
              <a:buClrTx/>
              <a:buSzTx/>
              <a:buFont typeface="+mj-lt"/>
              <a:buAutoNum type="arabicPeriod"/>
            </a:pPr>
            <a:r>
              <a:rPr lang="zh-CN" altLang="en-US"/>
              <a:t>若存在影响紧急车辆前行的可能，显示紧急车辆</a:t>
            </a:r>
            <a:r>
              <a:rPr lang="zh-CN" altLang="en-US" b="1"/>
              <a:t>预警信息</a:t>
            </a:r>
            <a:r>
              <a:rPr lang="zh-CN" altLang="en-US"/>
              <a:t>，提醒主车驾驶员对紧急车辆让行。</a:t>
            </a:r>
            <a:endParaRPr lang="zh-CN" altLang="en-US"/>
          </a:p>
        </p:txBody>
      </p:sp>
      <p:sp>
        <p:nvSpPr>
          <p:cNvPr id="8" name="文本框 7"/>
          <p:cNvSpPr txBox="1"/>
          <p:nvPr>
            <p:custDataLst>
              <p:tags r:id="rId3"/>
            </p:custDataLst>
          </p:nvPr>
        </p:nvSpPr>
        <p:spPr>
          <a:xfrm>
            <a:off x="796925" y="1047115"/>
            <a:ext cx="3323590" cy="398780"/>
          </a:xfrm>
          <a:prstGeom prst="rect">
            <a:avLst/>
          </a:prstGeom>
          <a:noFill/>
        </p:spPr>
        <p:txBody>
          <a:bodyPr wrap="square" rtlCol="0">
            <a:spAutoFit/>
          </a:bodyPr>
          <a:p>
            <a:r>
              <a:rPr lang="zh-CN" altLang="en-US" sz="2000">
                <a:solidFill>
                  <a:schemeClr val="accent1">
                    <a:lumMod val="75000"/>
                  </a:schemeClr>
                </a:solidFill>
              </a:rPr>
              <a:t>场景介绍</a:t>
            </a:r>
            <a:endParaRPr lang="zh-CN" altLang="en-US" sz="2000">
              <a:solidFill>
                <a:schemeClr val="accent1">
                  <a:lumMod val="75000"/>
                </a:schemeClr>
              </a:solidFill>
            </a:endParaRPr>
          </a:p>
        </p:txBody>
      </p:sp>
      <p:sp>
        <p:nvSpPr>
          <p:cNvPr id="9" name="菱形 8"/>
          <p:cNvSpPr/>
          <p:nvPr>
            <p:custDataLst>
              <p:tags r:id="rId4"/>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pic>
        <p:nvPicPr>
          <p:cNvPr id="2" name="图片 1"/>
          <p:cNvPicPr>
            <a:picLocks noChangeAspect="1"/>
          </p:cNvPicPr>
          <p:nvPr>
            <p:custDataLst>
              <p:tags r:id="rId5"/>
            </p:custDataLst>
          </p:nvPr>
        </p:nvPicPr>
        <p:blipFill>
          <a:blip r:embed="rId6"/>
          <a:stretch>
            <a:fillRect/>
          </a:stretch>
        </p:blipFill>
        <p:spPr>
          <a:xfrm>
            <a:off x="4908550" y="932180"/>
            <a:ext cx="3614420" cy="5628640"/>
          </a:xfrm>
          <a:prstGeom prst="rect">
            <a:avLst/>
          </a:prstGeom>
        </p:spPr>
      </p:pic>
      <p:sp>
        <p:nvSpPr>
          <p:cNvPr id="3" name="文本框 2"/>
          <p:cNvSpPr txBox="1"/>
          <p:nvPr/>
        </p:nvSpPr>
        <p:spPr>
          <a:xfrm>
            <a:off x="5053330" y="1047115"/>
            <a:ext cx="1361440" cy="398780"/>
          </a:xfrm>
          <a:prstGeom prst="rect">
            <a:avLst/>
          </a:prstGeom>
          <a:noFill/>
        </p:spPr>
        <p:txBody>
          <a:bodyPr wrap="square" rtlCol="0">
            <a:spAutoFit/>
          </a:bodyPr>
          <a:p>
            <a:pPr algn="l">
              <a:buClrTx/>
              <a:buSzTx/>
              <a:buFontTx/>
            </a:pPr>
            <a:r>
              <a:rPr lang="zh-CN" altLang="en-US" sz="2000">
                <a:solidFill>
                  <a:schemeClr val="accent1">
                    <a:lumMod val="75000"/>
                  </a:schemeClr>
                </a:solidFill>
              </a:rPr>
              <a:t>算法原理</a:t>
            </a:r>
            <a:endParaRPr lang="zh-CN" altLang="en-US" sz="2000">
              <a:solidFill>
                <a:schemeClr val="accent1">
                  <a:lumMod val="75000"/>
                </a:schemeClr>
              </a:solidFill>
            </a:endParaRPr>
          </a:p>
        </p:txBody>
      </p:sp>
    </p:spTree>
  </p:cSld>
  <p:clrMapOvr>
    <a:masterClrMapping/>
  </p:clrMapOvr>
  <p:transition spd="slow" advClick="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紧急</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车辆预警</a:t>
            </a:r>
            <a:endPar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8" name="文本框 7"/>
          <p:cNvSpPr txBox="1"/>
          <p:nvPr>
            <p:custDataLst>
              <p:tags r:id="rId2"/>
            </p:custDataLst>
          </p:nvPr>
        </p:nvSpPr>
        <p:spPr>
          <a:xfrm>
            <a:off x="796925" y="1047115"/>
            <a:ext cx="3323590" cy="398780"/>
          </a:xfrm>
          <a:prstGeom prst="rect">
            <a:avLst/>
          </a:prstGeom>
          <a:noFill/>
        </p:spPr>
        <p:txBody>
          <a:bodyPr wrap="square" rtlCol="0">
            <a:spAutoFit/>
          </a:bodyPr>
          <a:p>
            <a:r>
              <a:rPr lang="zh-CN" altLang="en-US" sz="2000">
                <a:solidFill>
                  <a:schemeClr val="accent1">
                    <a:lumMod val="75000"/>
                  </a:schemeClr>
                </a:solidFill>
              </a:rPr>
              <a:t>算法数据</a:t>
            </a:r>
            <a:r>
              <a:rPr lang="zh-CN" altLang="en-US" sz="2000">
                <a:solidFill>
                  <a:schemeClr val="accent1">
                    <a:lumMod val="75000"/>
                  </a:schemeClr>
                </a:solidFill>
              </a:rPr>
              <a:t>流程图</a:t>
            </a:r>
            <a:endParaRPr lang="zh-CN" altLang="en-US" sz="2000">
              <a:solidFill>
                <a:schemeClr val="accent1">
                  <a:lumMod val="75000"/>
                </a:schemeClr>
              </a:solidFill>
            </a:endParaRPr>
          </a:p>
        </p:txBody>
      </p:sp>
      <p:sp>
        <p:nvSpPr>
          <p:cNvPr id="9" name="菱形 8"/>
          <p:cNvSpPr/>
          <p:nvPr>
            <p:custDataLst>
              <p:tags r:id="rId3"/>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pic>
        <p:nvPicPr>
          <p:cNvPr id="2" name="图片 1"/>
          <p:cNvPicPr>
            <a:picLocks noChangeAspect="1"/>
          </p:cNvPicPr>
          <p:nvPr>
            <p:custDataLst>
              <p:tags r:id="rId4"/>
            </p:custDataLst>
          </p:nvPr>
        </p:nvPicPr>
        <p:blipFill>
          <a:blip r:embed="rId5"/>
          <a:srcRect l="1752" t="7136" r="427" b="965"/>
          <a:stretch>
            <a:fillRect/>
          </a:stretch>
        </p:blipFill>
        <p:spPr>
          <a:xfrm>
            <a:off x="2016125" y="1445895"/>
            <a:ext cx="5814060" cy="5201285"/>
          </a:xfrm>
          <a:prstGeom prst="rect">
            <a:avLst/>
          </a:prstGeom>
        </p:spPr>
      </p:pic>
    </p:spTree>
  </p:cSld>
  <p:clrMapOvr>
    <a:masterClrMapping/>
  </p:clrMapOvr>
  <p:transition spd="slow"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实验内容</a:t>
            </a: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主菜单</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2" name="图片 1"/>
          <p:cNvPicPr>
            <a:picLocks noChangeAspect="1"/>
          </p:cNvPicPr>
          <p:nvPr>
            <p:custDataLst>
              <p:tags r:id="rId2"/>
            </p:custDataLst>
          </p:nvPr>
        </p:nvPicPr>
        <p:blipFill>
          <a:blip r:embed="rId3"/>
          <a:stretch>
            <a:fillRect/>
          </a:stretch>
        </p:blipFill>
        <p:spPr>
          <a:xfrm>
            <a:off x="563880" y="1995805"/>
            <a:ext cx="8131810" cy="4632325"/>
          </a:xfrm>
          <a:prstGeom prst="rect">
            <a:avLst/>
          </a:prstGeom>
        </p:spPr>
      </p:pic>
      <p:sp>
        <p:nvSpPr>
          <p:cNvPr id="8" name="文本框 7"/>
          <p:cNvSpPr txBox="1"/>
          <p:nvPr>
            <p:custDataLst>
              <p:tags r:id="rId4"/>
            </p:custDataLst>
          </p:nvPr>
        </p:nvSpPr>
        <p:spPr>
          <a:xfrm>
            <a:off x="796925" y="1047115"/>
            <a:ext cx="3323590" cy="398780"/>
          </a:xfrm>
          <a:prstGeom prst="rect">
            <a:avLst/>
          </a:prstGeom>
          <a:noFill/>
        </p:spPr>
        <p:txBody>
          <a:bodyPr wrap="square" rtlCol="0">
            <a:spAutoFit/>
          </a:bodyPr>
          <a:p>
            <a:r>
              <a:rPr lang="zh-CN" altLang="en-US" sz="2000">
                <a:solidFill>
                  <a:schemeClr val="accent1">
                    <a:lumMod val="75000"/>
                  </a:schemeClr>
                </a:solidFill>
              </a:rPr>
              <a:t>主菜单</a:t>
            </a:r>
            <a:endParaRPr lang="zh-CN" altLang="en-US" sz="2000">
              <a:solidFill>
                <a:schemeClr val="accent1">
                  <a:lumMod val="75000"/>
                </a:schemeClr>
              </a:solidFill>
            </a:endParaRPr>
          </a:p>
        </p:txBody>
      </p:sp>
      <p:sp>
        <p:nvSpPr>
          <p:cNvPr id="9" name="菱形 8"/>
          <p:cNvSpPr/>
          <p:nvPr>
            <p:custDataLst>
              <p:tags r:id="rId5"/>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
        <p:nvSpPr>
          <p:cNvPr id="6" name="文本框 5"/>
          <p:cNvSpPr txBox="1"/>
          <p:nvPr/>
        </p:nvSpPr>
        <p:spPr>
          <a:xfrm>
            <a:off x="796925" y="1536700"/>
            <a:ext cx="4683760" cy="368300"/>
          </a:xfrm>
          <a:prstGeom prst="rect">
            <a:avLst/>
          </a:prstGeom>
          <a:noFill/>
        </p:spPr>
        <p:txBody>
          <a:bodyPr wrap="square" rtlCol="0">
            <a:spAutoFit/>
          </a:bodyPr>
          <a:p>
            <a:r>
              <a:rPr lang="zh-CN" altLang="en-US"/>
              <a:t>点击“交通事件类场景实验”进入本次实验</a:t>
            </a:r>
            <a:endParaRPr lang="zh-CN" altLang="en-US"/>
          </a:p>
        </p:txBody>
      </p:sp>
    </p:spTree>
  </p:cSld>
  <p:clrMapOvr>
    <a:masterClrMapping/>
  </p:clrMapOvr>
  <p:transition spd="slow"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实验内容</a:t>
            </a: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道路施工</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预警</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3" name="图片 2"/>
          <p:cNvPicPr>
            <a:picLocks noChangeAspect="1"/>
          </p:cNvPicPr>
          <p:nvPr>
            <p:custDataLst>
              <p:tags r:id="rId2"/>
            </p:custDataLst>
          </p:nvPr>
        </p:nvPicPr>
        <p:blipFill>
          <a:blip r:embed="rId3"/>
          <a:srcRect l="1230" t="1787" r="717"/>
          <a:stretch>
            <a:fillRect/>
          </a:stretch>
        </p:blipFill>
        <p:spPr>
          <a:xfrm>
            <a:off x="565785" y="1973580"/>
            <a:ext cx="8132400" cy="4618525"/>
          </a:xfrm>
          <a:prstGeom prst="rect">
            <a:avLst/>
          </a:prstGeom>
        </p:spPr>
      </p:pic>
      <p:sp>
        <p:nvSpPr>
          <p:cNvPr id="8" name="文本框 7"/>
          <p:cNvSpPr txBox="1"/>
          <p:nvPr>
            <p:custDataLst>
              <p:tags r:id="rId4"/>
            </p:custDataLst>
          </p:nvPr>
        </p:nvSpPr>
        <p:spPr>
          <a:xfrm>
            <a:off x="796925" y="1047115"/>
            <a:ext cx="3917950" cy="398780"/>
          </a:xfrm>
          <a:prstGeom prst="rect">
            <a:avLst/>
          </a:prstGeom>
          <a:noFill/>
        </p:spPr>
        <p:txBody>
          <a:bodyPr wrap="square" rtlCol="0">
            <a:spAutoFit/>
          </a:bodyPr>
          <a:p>
            <a:pPr algn="l">
              <a:buClrTx/>
              <a:buSzTx/>
              <a:buFontTx/>
            </a:pPr>
            <a:r>
              <a:rPr lang="zh-CN" altLang="en-US" sz="2000">
                <a:solidFill>
                  <a:schemeClr val="accent1">
                    <a:lumMod val="75000"/>
                  </a:schemeClr>
                </a:solidFill>
                <a:sym typeface="+mn-ea"/>
              </a:rPr>
              <a:t>场景介绍及算法流程图</a:t>
            </a:r>
            <a:endParaRPr lang="zh-CN" altLang="en-US" sz="2000">
              <a:solidFill>
                <a:schemeClr val="accent1">
                  <a:lumMod val="75000"/>
                </a:schemeClr>
              </a:solidFill>
            </a:endParaRPr>
          </a:p>
        </p:txBody>
      </p:sp>
      <p:sp>
        <p:nvSpPr>
          <p:cNvPr id="9" name="菱形 8"/>
          <p:cNvSpPr/>
          <p:nvPr>
            <p:custDataLst>
              <p:tags r:id="rId5"/>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
        <p:nvSpPr>
          <p:cNvPr id="4" name="文本框 3"/>
          <p:cNvSpPr txBox="1"/>
          <p:nvPr/>
        </p:nvSpPr>
        <p:spPr>
          <a:xfrm>
            <a:off x="796925" y="1525270"/>
            <a:ext cx="8468360" cy="368300"/>
          </a:xfrm>
          <a:prstGeom prst="rect">
            <a:avLst/>
          </a:prstGeom>
          <a:noFill/>
        </p:spPr>
        <p:txBody>
          <a:bodyPr wrap="square" rtlCol="0">
            <a:spAutoFit/>
          </a:bodyPr>
          <a:p>
            <a:r>
              <a:rPr lang="zh-CN" altLang="en-US"/>
              <a:t>点击</a:t>
            </a:r>
            <a:r>
              <a:rPr lang="zh-CN" altLang="en-US" b="1"/>
              <a:t>上部菜单</a:t>
            </a:r>
            <a:r>
              <a:rPr lang="zh-CN" altLang="en-US"/>
              <a:t>切换实验场景</a:t>
            </a:r>
            <a:r>
              <a:rPr lang="en-US" altLang="zh-CN"/>
              <a:t>        </a:t>
            </a:r>
            <a:r>
              <a:rPr lang="zh-CN" altLang="en-US">
                <a:sym typeface="+mn-ea"/>
              </a:rPr>
              <a:t>点击</a:t>
            </a:r>
            <a:r>
              <a:rPr lang="zh-CN" altLang="en-US" b="1">
                <a:sym typeface="+mn-ea"/>
              </a:rPr>
              <a:t>场景示例</a:t>
            </a:r>
            <a:r>
              <a:rPr lang="zh-CN" altLang="en-US">
                <a:sym typeface="+mn-ea"/>
              </a:rPr>
              <a:t>可以查看对应场景的实验示例</a:t>
            </a:r>
            <a:endParaRPr lang="zh-CN" altLang="en-US"/>
          </a:p>
        </p:txBody>
      </p:sp>
    </p:spTree>
  </p:cSld>
  <p:clrMapOvr>
    <a:masterClrMapping/>
  </p:clrMapOvr>
  <p:transition spd="slow" advClick="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实验内容</a:t>
            </a: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道路施工预警</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2" name="图片 1"/>
          <p:cNvPicPr>
            <a:picLocks noChangeAspect="1"/>
          </p:cNvPicPr>
          <p:nvPr>
            <p:custDataLst>
              <p:tags r:id="rId2"/>
            </p:custDataLst>
          </p:nvPr>
        </p:nvPicPr>
        <p:blipFill>
          <a:blip r:embed="rId3"/>
          <a:srcRect l="1117" t="1899" r="1015" b="1377"/>
          <a:stretch>
            <a:fillRect/>
          </a:stretch>
        </p:blipFill>
        <p:spPr>
          <a:xfrm>
            <a:off x="563245" y="1975485"/>
            <a:ext cx="8132445" cy="4594225"/>
          </a:xfrm>
          <a:prstGeom prst="rect">
            <a:avLst/>
          </a:prstGeom>
        </p:spPr>
      </p:pic>
      <p:sp>
        <p:nvSpPr>
          <p:cNvPr id="3" name="文本框 2"/>
          <p:cNvSpPr txBox="1"/>
          <p:nvPr/>
        </p:nvSpPr>
        <p:spPr>
          <a:xfrm>
            <a:off x="796925" y="1388110"/>
            <a:ext cx="8114665" cy="645160"/>
          </a:xfrm>
          <a:prstGeom prst="rect">
            <a:avLst/>
          </a:prstGeom>
          <a:noFill/>
        </p:spPr>
        <p:txBody>
          <a:bodyPr wrap="square" rtlCol="0">
            <a:spAutoFit/>
          </a:bodyPr>
          <a:p>
            <a:r>
              <a:rPr lang="zh-CN" altLang="en-US"/>
              <a:t>进入道路施工预警场景示例后，系统首先以</a:t>
            </a:r>
            <a:r>
              <a:rPr lang="zh-CN" altLang="en-US" b="1"/>
              <a:t>默认参数</a:t>
            </a:r>
            <a:r>
              <a:rPr lang="zh-CN" altLang="en-US"/>
              <a:t>进行仿真，界面主体为仿真场景，</a:t>
            </a:r>
            <a:r>
              <a:rPr lang="zh-CN" altLang="en-US" b="1"/>
              <a:t>左侧显示相关消息</a:t>
            </a:r>
            <a:r>
              <a:rPr lang="zh-CN" altLang="en-US"/>
              <a:t>，当触发预警时弹出警报。</a:t>
            </a:r>
            <a:endParaRPr lang="zh-CN" altLang="en-US"/>
          </a:p>
        </p:txBody>
      </p:sp>
      <p:sp>
        <p:nvSpPr>
          <p:cNvPr id="8" name="文本框 7"/>
          <p:cNvSpPr txBox="1"/>
          <p:nvPr>
            <p:custDataLst>
              <p:tags r:id="rId4"/>
            </p:custDataLst>
          </p:nvPr>
        </p:nvSpPr>
        <p:spPr>
          <a:xfrm>
            <a:off x="796925" y="1047115"/>
            <a:ext cx="3917950" cy="398780"/>
          </a:xfrm>
          <a:prstGeom prst="rect">
            <a:avLst/>
          </a:prstGeom>
          <a:noFill/>
        </p:spPr>
        <p:txBody>
          <a:bodyPr wrap="square" rtlCol="0">
            <a:spAutoFit/>
          </a:bodyPr>
          <a:p>
            <a:pPr algn="l">
              <a:buClrTx/>
              <a:buSzTx/>
              <a:buFontTx/>
            </a:pPr>
            <a:r>
              <a:rPr lang="zh-CN" altLang="en-US" sz="2000">
                <a:solidFill>
                  <a:schemeClr val="accent1">
                    <a:lumMod val="75000"/>
                  </a:schemeClr>
                </a:solidFill>
              </a:rPr>
              <a:t>场景</a:t>
            </a:r>
            <a:r>
              <a:rPr lang="zh-CN" altLang="en-US" sz="2000">
                <a:solidFill>
                  <a:schemeClr val="accent1">
                    <a:lumMod val="75000"/>
                  </a:schemeClr>
                </a:solidFill>
              </a:rPr>
              <a:t>示例</a:t>
            </a:r>
            <a:endParaRPr lang="zh-CN" altLang="en-US" sz="2000">
              <a:solidFill>
                <a:schemeClr val="accent1">
                  <a:lumMod val="75000"/>
                </a:schemeClr>
              </a:solidFill>
            </a:endParaRPr>
          </a:p>
        </p:txBody>
      </p:sp>
      <p:sp>
        <p:nvSpPr>
          <p:cNvPr id="9" name="菱形 8"/>
          <p:cNvSpPr/>
          <p:nvPr>
            <p:custDataLst>
              <p:tags r:id="rId5"/>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Tree>
  </p:cSld>
  <p:clrMapOvr>
    <a:masterClrMapping/>
  </p:clrMapOvr>
  <p:transition spd="slow" advClick="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实验内容</a:t>
            </a: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道路施工预警</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3" name="图片 2"/>
          <p:cNvPicPr>
            <a:picLocks noChangeAspect="1"/>
          </p:cNvPicPr>
          <p:nvPr>
            <p:custDataLst>
              <p:tags r:id="rId2"/>
            </p:custDataLst>
          </p:nvPr>
        </p:nvPicPr>
        <p:blipFill>
          <a:blip r:embed="rId3"/>
          <a:srcRect l="1679" t="1424" r="1163" b="2137"/>
          <a:stretch>
            <a:fillRect/>
          </a:stretch>
        </p:blipFill>
        <p:spPr>
          <a:xfrm>
            <a:off x="527685" y="2051685"/>
            <a:ext cx="8132400" cy="4601802"/>
          </a:xfrm>
          <a:prstGeom prst="rect">
            <a:avLst/>
          </a:prstGeom>
        </p:spPr>
      </p:pic>
      <p:sp>
        <p:nvSpPr>
          <p:cNvPr id="4" name="文本框 3"/>
          <p:cNvSpPr txBox="1"/>
          <p:nvPr/>
        </p:nvSpPr>
        <p:spPr>
          <a:xfrm>
            <a:off x="796925" y="1445895"/>
            <a:ext cx="8132445" cy="645160"/>
          </a:xfrm>
          <a:prstGeom prst="rect">
            <a:avLst/>
          </a:prstGeom>
          <a:noFill/>
        </p:spPr>
        <p:txBody>
          <a:bodyPr wrap="square" rtlCol="0">
            <a:spAutoFit/>
          </a:bodyPr>
          <a:p>
            <a:r>
              <a:rPr lang="zh-CN" altLang="en-US"/>
              <a:t>点击</a:t>
            </a:r>
            <a:r>
              <a:rPr lang="zh-CN" altLang="en-US" b="1"/>
              <a:t>“参数配置”</a:t>
            </a:r>
            <a:r>
              <a:rPr lang="zh-CN" altLang="en-US"/>
              <a:t>弹出参数编辑窗口，输入相关参数后点击</a:t>
            </a:r>
            <a:r>
              <a:rPr lang="zh-CN" altLang="en-US" b="1"/>
              <a:t>“确定”</a:t>
            </a:r>
            <a:r>
              <a:rPr lang="zh-CN" altLang="en-US"/>
              <a:t>，系统根据新参数重新进行仿真并加载仿真界面。</a:t>
            </a:r>
            <a:endParaRPr lang="zh-CN" altLang="en-US"/>
          </a:p>
        </p:txBody>
      </p:sp>
      <p:sp>
        <p:nvSpPr>
          <p:cNvPr id="8" name="文本框 7"/>
          <p:cNvSpPr txBox="1"/>
          <p:nvPr>
            <p:custDataLst>
              <p:tags r:id="rId4"/>
            </p:custDataLst>
          </p:nvPr>
        </p:nvSpPr>
        <p:spPr>
          <a:xfrm>
            <a:off x="796925" y="1047115"/>
            <a:ext cx="3917950" cy="398780"/>
          </a:xfrm>
          <a:prstGeom prst="rect">
            <a:avLst/>
          </a:prstGeom>
          <a:noFill/>
        </p:spPr>
        <p:txBody>
          <a:bodyPr wrap="square" rtlCol="0">
            <a:spAutoFit/>
          </a:bodyPr>
          <a:p>
            <a:pPr algn="l">
              <a:buClrTx/>
              <a:buSzTx/>
              <a:buFontTx/>
            </a:pPr>
            <a:r>
              <a:rPr lang="zh-CN" altLang="en-US" sz="2000">
                <a:solidFill>
                  <a:schemeClr val="accent1">
                    <a:lumMod val="75000"/>
                  </a:schemeClr>
                </a:solidFill>
              </a:rPr>
              <a:t>参数</a:t>
            </a:r>
            <a:r>
              <a:rPr lang="zh-CN" altLang="en-US" sz="2000">
                <a:solidFill>
                  <a:schemeClr val="accent1">
                    <a:lumMod val="75000"/>
                  </a:schemeClr>
                </a:solidFill>
              </a:rPr>
              <a:t>配置</a:t>
            </a:r>
            <a:endParaRPr lang="zh-CN" altLang="en-US" sz="2000">
              <a:solidFill>
                <a:schemeClr val="accent1">
                  <a:lumMod val="75000"/>
                </a:schemeClr>
              </a:solidFill>
            </a:endParaRPr>
          </a:p>
        </p:txBody>
      </p:sp>
      <p:sp>
        <p:nvSpPr>
          <p:cNvPr id="9" name="菱形 8"/>
          <p:cNvSpPr/>
          <p:nvPr>
            <p:custDataLst>
              <p:tags r:id="rId5"/>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Tree>
  </p:cSld>
  <p:clrMapOvr>
    <a:masterClrMapping/>
  </p:clrMapOvr>
  <p:transition spd="slow" advClick="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实验内容</a:t>
            </a: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限速</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预警</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2" name="图片 1"/>
          <p:cNvPicPr>
            <a:picLocks noChangeAspect="1"/>
          </p:cNvPicPr>
          <p:nvPr>
            <p:custDataLst>
              <p:tags r:id="rId2"/>
            </p:custDataLst>
          </p:nvPr>
        </p:nvPicPr>
        <p:blipFill>
          <a:blip r:embed="rId3"/>
          <a:srcRect l="1015" t="1709" r="1351" b="1420"/>
          <a:stretch>
            <a:fillRect/>
          </a:stretch>
        </p:blipFill>
        <p:spPr>
          <a:xfrm>
            <a:off x="582930" y="1972310"/>
            <a:ext cx="8132400" cy="4571548"/>
          </a:xfrm>
          <a:prstGeom prst="rect">
            <a:avLst/>
          </a:prstGeom>
        </p:spPr>
      </p:pic>
      <p:sp>
        <p:nvSpPr>
          <p:cNvPr id="8" name="文本框 7"/>
          <p:cNvSpPr txBox="1"/>
          <p:nvPr>
            <p:custDataLst>
              <p:tags r:id="rId4"/>
            </p:custDataLst>
          </p:nvPr>
        </p:nvSpPr>
        <p:spPr>
          <a:xfrm>
            <a:off x="796925" y="1047115"/>
            <a:ext cx="3917950" cy="398780"/>
          </a:xfrm>
          <a:prstGeom prst="rect">
            <a:avLst/>
          </a:prstGeom>
          <a:noFill/>
        </p:spPr>
        <p:txBody>
          <a:bodyPr wrap="square" rtlCol="0">
            <a:spAutoFit/>
          </a:bodyPr>
          <a:p>
            <a:pPr algn="l">
              <a:buClrTx/>
              <a:buSzTx/>
              <a:buFontTx/>
            </a:pPr>
            <a:r>
              <a:rPr lang="zh-CN" altLang="en-US" sz="2000">
                <a:solidFill>
                  <a:schemeClr val="accent1">
                    <a:lumMod val="75000"/>
                  </a:schemeClr>
                </a:solidFill>
                <a:sym typeface="+mn-ea"/>
              </a:rPr>
              <a:t>限速预警介绍及算法流程图</a:t>
            </a:r>
            <a:endParaRPr lang="zh-CN" altLang="en-US" sz="2000">
              <a:solidFill>
                <a:schemeClr val="accent1">
                  <a:lumMod val="75000"/>
                </a:schemeClr>
              </a:solidFill>
              <a:sym typeface="+mn-ea"/>
            </a:endParaRPr>
          </a:p>
        </p:txBody>
      </p:sp>
      <p:sp>
        <p:nvSpPr>
          <p:cNvPr id="9" name="菱形 8"/>
          <p:cNvSpPr/>
          <p:nvPr>
            <p:custDataLst>
              <p:tags r:id="rId5"/>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Tree>
  </p:cSld>
  <p:clrMapOvr>
    <a:masterClrMapping/>
  </p:clrMapOvr>
  <p:transition spd="slow" advClick="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实验内容</a:t>
            </a: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限速预警</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2" name="图片 1"/>
          <p:cNvPicPr>
            <a:picLocks noChangeAspect="1"/>
          </p:cNvPicPr>
          <p:nvPr>
            <p:custDataLst>
              <p:tags r:id="rId2"/>
            </p:custDataLst>
          </p:nvPr>
        </p:nvPicPr>
        <p:blipFill>
          <a:blip r:embed="rId3"/>
          <a:srcRect l="1026" t="2004" r="1482" b="2381"/>
          <a:stretch>
            <a:fillRect/>
          </a:stretch>
        </p:blipFill>
        <p:spPr>
          <a:xfrm>
            <a:off x="579755" y="2005965"/>
            <a:ext cx="8132400" cy="4582557"/>
          </a:xfrm>
          <a:prstGeom prst="rect">
            <a:avLst/>
          </a:prstGeom>
        </p:spPr>
      </p:pic>
      <p:sp>
        <p:nvSpPr>
          <p:cNvPr id="4" name="文本框 3"/>
          <p:cNvSpPr txBox="1"/>
          <p:nvPr>
            <p:custDataLst>
              <p:tags r:id="rId4"/>
            </p:custDataLst>
          </p:nvPr>
        </p:nvSpPr>
        <p:spPr>
          <a:xfrm>
            <a:off x="796925" y="1360805"/>
            <a:ext cx="8133080" cy="645160"/>
          </a:xfrm>
          <a:prstGeom prst="rect">
            <a:avLst/>
          </a:prstGeom>
          <a:noFill/>
        </p:spPr>
        <p:txBody>
          <a:bodyPr wrap="square" rtlCol="0">
            <a:spAutoFit/>
          </a:bodyPr>
          <a:p>
            <a:r>
              <a:rPr lang="zh-CN" altLang="en-US"/>
              <a:t>进入限速预警场景示例后，系统首先以</a:t>
            </a:r>
            <a:r>
              <a:rPr lang="zh-CN" altLang="en-US" b="1"/>
              <a:t>默认参数</a:t>
            </a:r>
            <a:r>
              <a:rPr lang="zh-CN" altLang="en-US"/>
              <a:t>进行仿真，界面主体为仿真场景，</a:t>
            </a:r>
            <a:r>
              <a:rPr lang="zh-CN" altLang="en-US" b="1"/>
              <a:t>左侧显示相关消息</a:t>
            </a:r>
            <a:r>
              <a:rPr lang="zh-CN" altLang="en-US"/>
              <a:t>，当触发预警时弹出警报。</a:t>
            </a:r>
            <a:endParaRPr lang="zh-CN" altLang="en-US"/>
          </a:p>
        </p:txBody>
      </p:sp>
      <p:sp>
        <p:nvSpPr>
          <p:cNvPr id="8" name="文本框 7"/>
          <p:cNvSpPr txBox="1"/>
          <p:nvPr>
            <p:custDataLst>
              <p:tags r:id="rId5"/>
            </p:custDataLst>
          </p:nvPr>
        </p:nvSpPr>
        <p:spPr>
          <a:xfrm>
            <a:off x="796925" y="1047115"/>
            <a:ext cx="3917950" cy="398780"/>
          </a:xfrm>
          <a:prstGeom prst="rect">
            <a:avLst/>
          </a:prstGeom>
          <a:noFill/>
        </p:spPr>
        <p:txBody>
          <a:bodyPr wrap="square" rtlCol="0">
            <a:spAutoFit/>
          </a:bodyPr>
          <a:p>
            <a:pPr algn="l">
              <a:buClrTx/>
              <a:buSzTx/>
              <a:buFontTx/>
            </a:pPr>
            <a:r>
              <a:rPr lang="zh-CN" altLang="en-US" sz="2000">
                <a:solidFill>
                  <a:schemeClr val="accent1">
                    <a:lumMod val="75000"/>
                  </a:schemeClr>
                </a:solidFill>
              </a:rPr>
              <a:t>场景</a:t>
            </a:r>
            <a:r>
              <a:rPr lang="zh-CN" altLang="en-US" sz="2000">
                <a:solidFill>
                  <a:schemeClr val="accent1">
                    <a:lumMod val="75000"/>
                  </a:schemeClr>
                </a:solidFill>
              </a:rPr>
              <a:t>示例</a:t>
            </a:r>
            <a:endParaRPr lang="zh-CN" altLang="en-US" sz="2000">
              <a:solidFill>
                <a:schemeClr val="accent1">
                  <a:lumMod val="75000"/>
                </a:schemeClr>
              </a:solidFill>
            </a:endParaRPr>
          </a:p>
        </p:txBody>
      </p:sp>
      <p:sp>
        <p:nvSpPr>
          <p:cNvPr id="9" name="菱形 8"/>
          <p:cNvSpPr/>
          <p:nvPr>
            <p:custDataLst>
              <p:tags r:id="rId6"/>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Tree>
  </p:cSld>
  <p:clrMapOvr>
    <a:masterClrMapping/>
  </p:clrMapOvr>
  <p:transition spd="slow" advClick="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实验内容</a:t>
            </a: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限速预警</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3" name="图片 2"/>
          <p:cNvPicPr>
            <a:picLocks noChangeAspect="1"/>
          </p:cNvPicPr>
          <p:nvPr>
            <p:custDataLst>
              <p:tags r:id="rId2"/>
            </p:custDataLst>
          </p:nvPr>
        </p:nvPicPr>
        <p:blipFill>
          <a:blip r:embed="rId3"/>
          <a:srcRect l="1645" t="2939" r="2430" b="2295"/>
          <a:stretch>
            <a:fillRect/>
          </a:stretch>
        </p:blipFill>
        <p:spPr>
          <a:xfrm>
            <a:off x="583565" y="2033270"/>
            <a:ext cx="8132400" cy="4532655"/>
          </a:xfrm>
          <a:prstGeom prst="rect">
            <a:avLst/>
          </a:prstGeom>
        </p:spPr>
      </p:pic>
      <p:sp>
        <p:nvSpPr>
          <p:cNvPr id="2" name="文本框 1"/>
          <p:cNvSpPr txBox="1"/>
          <p:nvPr/>
        </p:nvSpPr>
        <p:spPr>
          <a:xfrm>
            <a:off x="796925" y="1445895"/>
            <a:ext cx="8133080" cy="645160"/>
          </a:xfrm>
          <a:prstGeom prst="rect">
            <a:avLst/>
          </a:prstGeom>
          <a:noFill/>
        </p:spPr>
        <p:txBody>
          <a:bodyPr wrap="square" rtlCol="0">
            <a:spAutoFit/>
          </a:bodyPr>
          <a:p>
            <a:r>
              <a:rPr lang="zh-CN" altLang="en-US"/>
              <a:t>点击</a:t>
            </a:r>
            <a:r>
              <a:rPr lang="zh-CN" altLang="en-US" b="1"/>
              <a:t>“参数配置”</a:t>
            </a:r>
            <a:r>
              <a:rPr lang="zh-CN" altLang="en-US"/>
              <a:t>弹出参数编辑窗口，如图 7.18 所示，输入相关参数后点击</a:t>
            </a:r>
            <a:r>
              <a:rPr lang="zh-CN" altLang="en-US" b="1"/>
              <a:t>“确定”</a:t>
            </a:r>
            <a:r>
              <a:rPr lang="zh-CN" altLang="en-US"/>
              <a:t>，系统根据新参数重新进行仿真并加载仿真界面。</a:t>
            </a:r>
            <a:endParaRPr lang="zh-CN" altLang="en-US"/>
          </a:p>
        </p:txBody>
      </p:sp>
      <p:sp>
        <p:nvSpPr>
          <p:cNvPr id="8" name="文本框 7"/>
          <p:cNvSpPr txBox="1"/>
          <p:nvPr>
            <p:custDataLst>
              <p:tags r:id="rId4"/>
            </p:custDataLst>
          </p:nvPr>
        </p:nvSpPr>
        <p:spPr>
          <a:xfrm>
            <a:off x="796925" y="1047115"/>
            <a:ext cx="3917950" cy="398780"/>
          </a:xfrm>
          <a:prstGeom prst="rect">
            <a:avLst/>
          </a:prstGeom>
          <a:noFill/>
        </p:spPr>
        <p:txBody>
          <a:bodyPr wrap="square" rtlCol="0">
            <a:spAutoFit/>
          </a:bodyPr>
          <a:p>
            <a:pPr algn="l">
              <a:buClrTx/>
              <a:buSzTx/>
              <a:buFontTx/>
            </a:pPr>
            <a:r>
              <a:rPr lang="zh-CN" altLang="en-US" sz="2000">
                <a:solidFill>
                  <a:schemeClr val="accent1">
                    <a:lumMod val="75000"/>
                  </a:schemeClr>
                </a:solidFill>
              </a:rPr>
              <a:t>参数</a:t>
            </a:r>
            <a:r>
              <a:rPr lang="zh-CN" altLang="en-US" sz="2000">
                <a:solidFill>
                  <a:schemeClr val="accent1">
                    <a:lumMod val="75000"/>
                  </a:schemeClr>
                </a:solidFill>
              </a:rPr>
              <a:t>配置</a:t>
            </a:r>
            <a:endParaRPr lang="zh-CN" altLang="en-US" sz="2000">
              <a:solidFill>
                <a:schemeClr val="accent1">
                  <a:lumMod val="75000"/>
                </a:schemeClr>
              </a:solidFill>
            </a:endParaRPr>
          </a:p>
        </p:txBody>
      </p:sp>
      <p:sp>
        <p:nvSpPr>
          <p:cNvPr id="9" name="菱形 8"/>
          <p:cNvSpPr/>
          <p:nvPr>
            <p:custDataLst>
              <p:tags r:id="rId5"/>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Tree>
  </p:cSld>
  <p:clrMapOvr>
    <a:masterClrMapping/>
  </p:clrMapOvr>
  <p:transition spd="slow" advClick="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实验内容</a:t>
            </a: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rPr>
              <a:t>——</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紧急车辆</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预警</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3" name="图片 2"/>
          <p:cNvPicPr>
            <a:picLocks noChangeAspect="1"/>
          </p:cNvPicPr>
          <p:nvPr>
            <p:custDataLst>
              <p:tags r:id="rId2"/>
            </p:custDataLst>
          </p:nvPr>
        </p:nvPicPr>
        <p:blipFill>
          <a:blip r:embed="rId3"/>
          <a:srcRect l="573" t="1735" r="1043" b="1776"/>
          <a:stretch>
            <a:fillRect/>
          </a:stretch>
        </p:blipFill>
        <p:spPr>
          <a:xfrm>
            <a:off x="563245" y="2035175"/>
            <a:ext cx="8132400" cy="4530949"/>
          </a:xfrm>
          <a:prstGeom prst="rect">
            <a:avLst/>
          </a:prstGeom>
        </p:spPr>
      </p:pic>
      <p:sp>
        <p:nvSpPr>
          <p:cNvPr id="8" name="文本框 7"/>
          <p:cNvSpPr txBox="1"/>
          <p:nvPr>
            <p:custDataLst>
              <p:tags r:id="rId4"/>
            </p:custDataLst>
          </p:nvPr>
        </p:nvSpPr>
        <p:spPr>
          <a:xfrm>
            <a:off x="796925" y="1047115"/>
            <a:ext cx="3917950" cy="398780"/>
          </a:xfrm>
          <a:prstGeom prst="rect">
            <a:avLst/>
          </a:prstGeom>
          <a:noFill/>
        </p:spPr>
        <p:txBody>
          <a:bodyPr wrap="square" rtlCol="0">
            <a:spAutoFit/>
          </a:bodyPr>
          <a:p>
            <a:pPr algn="l">
              <a:buClrTx/>
              <a:buSzTx/>
              <a:buFontTx/>
            </a:pPr>
            <a:r>
              <a:rPr lang="zh-CN" altLang="en-US" sz="2000">
                <a:solidFill>
                  <a:schemeClr val="accent1">
                    <a:lumMod val="75000"/>
                  </a:schemeClr>
                </a:solidFill>
                <a:sym typeface="+mn-ea"/>
              </a:rPr>
              <a:t>紧急车辆预警介绍及算法流程图</a:t>
            </a:r>
            <a:endParaRPr lang="zh-CN" altLang="en-US" sz="2000">
              <a:solidFill>
                <a:schemeClr val="accent1">
                  <a:lumMod val="75000"/>
                </a:schemeClr>
              </a:solidFill>
              <a:sym typeface="+mn-ea"/>
            </a:endParaRPr>
          </a:p>
        </p:txBody>
      </p:sp>
      <p:sp>
        <p:nvSpPr>
          <p:cNvPr id="9" name="菱形 8"/>
          <p:cNvSpPr/>
          <p:nvPr>
            <p:custDataLst>
              <p:tags r:id="rId5"/>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Tree>
  </p:cSld>
  <p:clrMapOvr>
    <a:masterClrMapping/>
  </p:clrMapOvr>
  <p:transition spd="slow" advClick="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实验内容</a:t>
            </a: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紧急车辆预警</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2" name="图片 1"/>
          <p:cNvPicPr>
            <a:picLocks noChangeAspect="1"/>
          </p:cNvPicPr>
          <p:nvPr>
            <p:custDataLst>
              <p:tags r:id="rId2"/>
            </p:custDataLst>
          </p:nvPr>
        </p:nvPicPr>
        <p:blipFill>
          <a:blip r:embed="rId3"/>
          <a:srcRect l="1610" t="2931" r="737"/>
          <a:stretch>
            <a:fillRect/>
          </a:stretch>
        </p:blipFill>
        <p:spPr>
          <a:xfrm>
            <a:off x="583565" y="1978025"/>
            <a:ext cx="8132400" cy="4597313"/>
          </a:xfrm>
          <a:prstGeom prst="rect">
            <a:avLst/>
          </a:prstGeom>
        </p:spPr>
      </p:pic>
      <p:sp>
        <p:nvSpPr>
          <p:cNvPr id="4" name="文本框 3"/>
          <p:cNvSpPr txBox="1"/>
          <p:nvPr>
            <p:custDataLst>
              <p:tags r:id="rId4"/>
            </p:custDataLst>
          </p:nvPr>
        </p:nvSpPr>
        <p:spPr>
          <a:xfrm>
            <a:off x="796925" y="1332865"/>
            <a:ext cx="8132445" cy="645160"/>
          </a:xfrm>
          <a:prstGeom prst="rect">
            <a:avLst/>
          </a:prstGeom>
          <a:noFill/>
        </p:spPr>
        <p:txBody>
          <a:bodyPr wrap="square" rtlCol="0">
            <a:spAutoFit/>
          </a:bodyPr>
          <a:p>
            <a:r>
              <a:rPr lang="zh-CN" altLang="en-US"/>
              <a:t>进入紧急车辆预警场景示例后，系统首先以</a:t>
            </a:r>
            <a:r>
              <a:rPr lang="zh-CN" altLang="en-US" b="1"/>
              <a:t>默认参数</a:t>
            </a:r>
            <a:r>
              <a:rPr lang="zh-CN" altLang="en-US"/>
              <a:t>进行仿真，界面主体为仿真场景，</a:t>
            </a:r>
            <a:r>
              <a:rPr lang="zh-CN" altLang="en-US" b="1"/>
              <a:t>左侧显示相关消息</a:t>
            </a:r>
            <a:r>
              <a:rPr lang="zh-CN" altLang="en-US"/>
              <a:t>，当触发预警时弹出警报。</a:t>
            </a:r>
            <a:endParaRPr lang="zh-CN" altLang="en-US"/>
          </a:p>
        </p:txBody>
      </p:sp>
      <p:sp>
        <p:nvSpPr>
          <p:cNvPr id="8" name="文本框 7"/>
          <p:cNvSpPr txBox="1"/>
          <p:nvPr>
            <p:custDataLst>
              <p:tags r:id="rId5"/>
            </p:custDataLst>
          </p:nvPr>
        </p:nvSpPr>
        <p:spPr>
          <a:xfrm>
            <a:off x="796925" y="1047115"/>
            <a:ext cx="3917950" cy="398780"/>
          </a:xfrm>
          <a:prstGeom prst="rect">
            <a:avLst/>
          </a:prstGeom>
          <a:noFill/>
        </p:spPr>
        <p:txBody>
          <a:bodyPr wrap="square" rtlCol="0">
            <a:spAutoFit/>
          </a:bodyPr>
          <a:p>
            <a:pPr algn="l">
              <a:buClrTx/>
              <a:buSzTx/>
              <a:buFontTx/>
            </a:pPr>
            <a:r>
              <a:rPr lang="zh-CN" altLang="en-US" sz="2000">
                <a:solidFill>
                  <a:schemeClr val="accent1">
                    <a:lumMod val="75000"/>
                  </a:schemeClr>
                </a:solidFill>
              </a:rPr>
              <a:t>场景</a:t>
            </a:r>
            <a:r>
              <a:rPr lang="zh-CN" altLang="en-US" sz="2000">
                <a:solidFill>
                  <a:schemeClr val="accent1">
                    <a:lumMod val="75000"/>
                  </a:schemeClr>
                </a:solidFill>
              </a:rPr>
              <a:t>示例</a:t>
            </a:r>
            <a:endParaRPr lang="zh-CN" altLang="en-US" sz="2000">
              <a:solidFill>
                <a:schemeClr val="accent1">
                  <a:lumMod val="75000"/>
                </a:schemeClr>
              </a:solidFill>
            </a:endParaRPr>
          </a:p>
        </p:txBody>
      </p:sp>
      <p:sp>
        <p:nvSpPr>
          <p:cNvPr id="9" name="菱形 8"/>
          <p:cNvSpPr/>
          <p:nvPr>
            <p:custDataLst>
              <p:tags r:id="rId6"/>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Tree>
  </p:cSld>
  <p:clrMapOvr>
    <a:masterClrMapping/>
  </p:clrMapOvr>
  <p:transition spd="slow" advClick="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实验内容</a:t>
            </a:r>
            <a:r>
              <a:rPr lang="en-US" altLang="zh-CN"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sym typeface="+mn-ea"/>
              </a:rPr>
              <a:t>紧急车辆预警</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pic>
        <p:nvPicPr>
          <p:cNvPr id="3" name="图片 2"/>
          <p:cNvPicPr>
            <a:picLocks noChangeAspect="1"/>
          </p:cNvPicPr>
          <p:nvPr>
            <p:custDataLst>
              <p:tags r:id="rId2"/>
            </p:custDataLst>
          </p:nvPr>
        </p:nvPicPr>
        <p:blipFill>
          <a:blip r:embed="rId3"/>
          <a:srcRect l="1359" t="2253" r="3170" b="2432"/>
          <a:stretch>
            <a:fillRect/>
          </a:stretch>
        </p:blipFill>
        <p:spPr>
          <a:xfrm>
            <a:off x="573405" y="1981835"/>
            <a:ext cx="8132400" cy="4611125"/>
          </a:xfrm>
          <a:prstGeom prst="rect">
            <a:avLst/>
          </a:prstGeom>
        </p:spPr>
      </p:pic>
      <p:sp>
        <p:nvSpPr>
          <p:cNvPr id="2" name="文本框 1"/>
          <p:cNvSpPr txBox="1"/>
          <p:nvPr/>
        </p:nvSpPr>
        <p:spPr>
          <a:xfrm>
            <a:off x="796925" y="1336675"/>
            <a:ext cx="8133080" cy="645160"/>
          </a:xfrm>
          <a:prstGeom prst="rect">
            <a:avLst/>
          </a:prstGeom>
          <a:noFill/>
        </p:spPr>
        <p:txBody>
          <a:bodyPr wrap="square" rtlCol="0">
            <a:spAutoFit/>
          </a:bodyPr>
          <a:p>
            <a:r>
              <a:rPr lang="zh-CN" altLang="en-US"/>
              <a:t>点击</a:t>
            </a:r>
            <a:r>
              <a:rPr lang="zh-CN" altLang="en-US" b="1"/>
              <a:t>“参数配置”</a:t>
            </a:r>
            <a:r>
              <a:rPr lang="zh-CN" altLang="en-US"/>
              <a:t>弹出参数编辑窗口，输入相关参数后点击</a:t>
            </a:r>
            <a:r>
              <a:rPr lang="zh-CN" altLang="en-US" b="1"/>
              <a:t>“确定”</a:t>
            </a:r>
            <a:r>
              <a:rPr lang="zh-CN" altLang="en-US"/>
              <a:t>，系统根据新参数重新进行仿真并加载仿真界面。</a:t>
            </a:r>
            <a:endParaRPr lang="zh-CN" altLang="en-US"/>
          </a:p>
        </p:txBody>
      </p:sp>
      <p:sp>
        <p:nvSpPr>
          <p:cNvPr id="8" name="文本框 7"/>
          <p:cNvSpPr txBox="1"/>
          <p:nvPr>
            <p:custDataLst>
              <p:tags r:id="rId4"/>
            </p:custDataLst>
          </p:nvPr>
        </p:nvSpPr>
        <p:spPr>
          <a:xfrm>
            <a:off x="796925" y="1047115"/>
            <a:ext cx="3917950" cy="398780"/>
          </a:xfrm>
          <a:prstGeom prst="rect">
            <a:avLst/>
          </a:prstGeom>
          <a:noFill/>
        </p:spPr>
        <p:txBody>
          <a:bodyPr wrap="square" rtlCol="0">
            <a:spAutoFit/>
          </a:bodyPr>
          <a:p>
            <a:pPr algn="l">
              <a:buClrTx/>
              <a:buSzTx/>
              <a:buFontTx/>
            </a:pPr>
            <a:r>
              <a:rPr lang="zh-CN" altLang="en-US" sz="2000">
                <a:solidFill>
                  <a:schemeClr val="accent1">
                    <a:lumMod val="75000"/>
                  </a:schemeClr>
                </a:solidFill>
              </a:rPr>
              <a:t>参数</a:t>
            </a:r>
            <a:r>
              <a:rPr lang="zh-CN" altLang="en-US" sz="2000">
                <a:solidFill>
                  <a:schemeClr val="accent1">
                    <a:lumMod val="75000"/>
                  </a:schemeClr>
                </a:solidFill>
              </a:rPr>
              <a:t>配置</a:t>
            </a:r>
            <a:endParaRPr lang="zh-CN" altLang="en-US" sz="2000">
              <a:solidFill>
                <a:schemeClr val="accent1">
                  <a:lumMod val="75000"/>
                </a:schemeClr>
              </a:solidFill>
            </a:endParaRPr>
          </a:p>
        </p:txBody>
      </p:sp>
      <p:sp>
        <p:nvSpPr>
          <p:cNvPr id="9" name="菱形 8"/>
          <p:cNvSpPr/>
          <p:nvPr>
            <p:custDataLst>
              <p:tags r:id="rId5"/>
            </p:custDataLst>
          </p:nvPr>
        </p:nvSpPr>
        <p:spPr>
          <a:xfrm>
            <a:off x="225425" y="1049020"/>
            <a:ext cx="415290" cy="396875"/>
          </a:xfrm>
          <a:prstGeom prst="diamond">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旗黑-55简" panose="00020600040101010101" charset="-128"/>
            </a:endParaRPr>
          </a:p>
        </p:txBody>
      </p:sp>
    </p:spTree>
  </p:cSld>
  <p:clrMapOvr>
    <a:masterClrMapping/>
  </p:clrMapOvr>
  <p:transition spd="slow" advClick="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rPr>
              <a:t>思考题</a:t>
            </a:r>
            <a:endParaRPr lang="zh-CN" altLang="en-US" sz="3600" b="1" dirty="0">
              <a:solidFill>
                <a:srgbClr val="00458E"/>
              </a:solidFill>
              <a:latin typeface="微软雅黑" panose="020B0503020204020204" charset="-122"/>
              <a:ea typeface="微软雅黑" panose="020B0503020204020204" charset="-122"/>
              <a:cs typeface="Times New Roman" panose="02020603050405020304" pitchFamily="18" charset="0"/>
            </a:endParaRPr>
          </a:p>
        </p:txBody>
      </p:sp>
      <p:pic>
        <p:nvPicPr>
          <p:cNvPr id="7" name="Picture 11" descr="program-ciat202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9" name="文本框 8"/>
          <p:cNvSpPr txBox="1"/>
          <p:nvPr>
            <p:custDataLst>
              <p:tags r:id="rId2"/>
            </p:custDataLst>
          </p:nvPr>
        </p:nvSpPr>
        <p:spPr>
          <a:xfrm>
            <a:off x="796925" y="4681855"/>
            <a:ext cx="8338185" cy="706755"/>
          </a:xfrm>
          <a:prstGeom prst="rect">
            <a:avLst/>
          </a:prstGeom>
          <a:noFill/>
        </p:spPr>
        <p:txBody>
          <a:bodyPr wrap="square" rtlCol="0">
            <a:spAutoFit/>
          </a:bodyPr>
          <a:p>
            <a:r>
              <a:rPr lang="zh-CN" altLang="en-US" sz="2000">
                <a:sym typeface="+mn-ea"/>
              </a:rPr>
              <a:t>根据交通事件类场景应用的工作原理和算法实现，分析它们与碰撞预警类以及信号灯路口场景的</a:t>
            </a:r>
            <a:r>
              <a:rPr lang="zh-CN" altLang="en-US" sz="2000" b="1">
                <a:sym typeface="+mn-ea"/>
              </a:rPr>
              <a:t>异同</a:t>
            </a:r>
            <a:r>
              <a:rPr lang="zh-CN" altLang="en-US" sz="2000">
                <a:sym typeface="+mn-ea"/>
              </a:rPr>
              <a:t>。</a:t>
            </a:r>
            <a:endParaRPr lang="zh-CN" altLang="en-US"/>
          </a:p>
        </p:txBody>
      </p:sp>
      <p:sp>
        <p:nvSpPr>
          <p:cNvPr id="10" name="椭圆 9"/>
          <p:cNvSpPr/>
          <p:nvPr>
            <p:custDataLst>
              <p:tags r:id="rId3"/>
            </p:custDataLst>
          </p:nvPr>
        </p:nvSpPr>
        <p:spPr>
          <a:xfrm>
            <a:off x="227921" y="126319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1</a:t>
            </a:r>
            <a:endParaRPr lang="zh-CN" altLang="en-US" sz="1400" b="1" i="1">
              <a:latin typeface="+mj-lt"/>
            </a:endParaRPr>
          </a:p>
        </p:txBody>
      </p:sp>
      <p:sp>
        <p:nvSpPr>
          <p:cNvPr id="11" name="椭圆 10"/>
          <p:cNvSpPr/>
          <p:nvPr>
            <p:custDataLst>
              <p:tags r:id="rId4"/>
            </p:custDataLst>
          </p:nvPr>
        </p:nvSpPr>
        <p:spPr>
          <a:xfrm>
            <a:off x="228556" y="235793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2</a:t>
            </a:r>
            <a:endParaRPr lang="en-US" altLang="zh-CN" sz="1400" b="1" i="1">
              <a:latin typeface="+mj-lt"/>
            </a:endParaRPr>
          </a:p>
        </p:txBody>
      </p:sp>
      <p:sp>
        <p:nvSpPr>
          <p:cNvPr id="12" name="椭圆 11"/>
          <p:cNvSpPr/>
          <p:nvPr>
            <p:custDataLst>
              <p:tags r:id="rId5"/>
            </p:custDataLst>
          </p:nvPr>
        </p:nvSpPr>
        <p:spPr>
          <a:xfrm>
            <a:off x="228556" y="351998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3</a:t>
            </a:r>
            <a:endParaRPr lang="en-US" altLang="zh-CN" sz="1400" b="1" i="1">
              <a:latin typeface="+mj-lt"/>
            </a:endParaRPr>
          </a:p>
        </p:txBody>
      </p:sp>
      <p:sp>
        <p:nvSpPr>
          <p:cNvPr id="13" name="椭圆 12"/>
          <p:cNvSpPr/>
          <p:nvPr>
            <p:custDataLst>
              <p:tags r:id="rId6"/>
            </p:custDataLst>
          </p:nvPr>
        </p:nvSpPr>
        <p:spPr>
          <a:xfrm>
            <a:off x="216491" y="4682039"/>
            <a:ext cx="433953" cy="43395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i="1">
                <a:latin typeface="+mj-lt"/>
              </a:rPr>
              <a:t>4</a:t>
            </a:r>
            <a:endParaRPr lang="en-US" altLang="zh-CN" sz="1400" b="1" i="1">
              <a:latin typeface="+mj-lt"/>
            </a:endParaRPr>
          </a:p>
        </p:txBody>
      </p:sp>
      <p:sp>
        <p:nvSpPr>
          <p:cNvPr id="15" name="文本框 14"/>
          <p:cNvSpPr txBox="1"/>
          <p:nvPr>
            <p:custDataLst>
              <p:tags r:id="rId7"/>
            </p:custDataLst>
          </p:nvPr>
        </p:nvSpPr>
        <p:spPr>
          <a:xfrm>
            <a:off x="796290" y="1302385"/>
            <a:ext cx="7402830" cy="398780"/>
          </a:xfrm>
          <a:prstGeom prst="rect">
            <a:avLst/>
          </a:prstGeom>
          <a:noFill/>
        </p:spPr>
        <p:txBody>
          <a:bodyPr wrap="square" rtlCol="0">
            <a:spAutoFit/>
          </a:bodyPr>
          <a:p>
            <a:r>
              <a:rPr lang="zh-CN" altLang="en-US" sz="2000">
                <a:sym typeface="+mn-ea"/>
              </a:rPr>
              <a:t>总结交通事件类场景应用的</a:t>
            </a:r>
            <a:r>
              <a:rPr lang="zh-CN" altLang="en-US" sz="2000" b="1">
                <a:sym typeface="+mn-ea"/>
              </a:rPr>
              <a:t>关键判定过程</a:t>
            </a:r>
            <a:r>
              <a:rPr lang="zh-CN" altLang="en-US" sz="2000">
                <a:sym typeface="+mn-ea"/>
              </a:rPr>
              <a:t>。</a:t>
            </a:r>
            <a:endParaRPr lang="zh-CN" altLang="en-US" sz="2000"/>
          </a:p>
        </p:txBody>
      </p:sp>
      <p:sp>
        <p:nvSpPr>
          <p:cNvPr id="18" name="文本框 17"/>
          <p:cNvSpPr txBox="1"/>
          <p:nvPr>
            <p:custDataLst>
              <p:tags r:id="rId8"/>
            </p:custDataLst>
          </p:nvPr>
        </p:nvSpPr>
        <p:spPr>
          <a:xfrm>
            <a:off x="796925" y="2385695"/>
            <a:ext cx="7969250" cy="706755"/>
          </a:xfrm>
          <a:prstGeom prst="rect">
            <a:avLst/>
          </a:prstGeom>
          <a:noFill/>
        </p:spPr>
        <p:txBody>
          <a:bodyPr wrap="square" rtlCol="0">
            <a:spAutoFit/>
          </a:bodyPr>
          <a:p>
            <a:r>
              <a:rPr lang="zh-CN" altLang="en-US" sz="2000">
                <a:sym typeface="+mn-ea"/>
              </a:rPr>
              <a:t>请结合前面基本消息类型考虑交通事件类场景应用需要哪些</a:t>
            </a:r>
            <a:r>
              <a:rPr lang="zh-CN" altLang="en-US" sz="2000" b="1">
                <a:sym typeface="+mn-ea"/>
              </a:rPr>
              <a:t>基本消息类型</a:t>
            </a:r>
            <a:r>
              <a:rPr lang="zh-CN" altLang="en-US" sz="2000">
                <a:sym typeface="+mn-ea"/>
              </a:rPr>
              <a:t>的支撑。</a:t>
            </a:r>
            <a:endParaRPr lang="zh-CN" altLang="en-US" sz="2000"/>
          </a:p>
        </p:txBody>
      </p:sp>
      <p:sp>
        <p:nvSpPr>
          <p:cNvPr id="19" name="文本框 18"/>
          <p:cNvSpPr txBox="1"/>
          <p:nvPr>
            <p:custDataLst>
              <p:tags r:id="rId9"/>
            </p:custDataLst>
          </p:nvPr>
        </p:nvSpPr>
        <p:spPr>
          <a:xfrm>
            <a:off x="797560" y="3533775"/>
            <a:ext cx="8337550" cy="706755"/>
          </a:xfrm>
          <a:prstGeom prst="rect">
            <a:avLst/>
          </a:prstGeom>
          <a:noFill/>
        </p:spPr>
        <p:txBody>
          <a:bodyPr wrap="square" rtlCol="0">
            <a:spAutoFit/>
          </a:bodyPr>
          <a:p>
            <a:r>
              <a:rPr lang="zh-CN" altLang="en-US" sz="2000">
                <a:sym typeface="+mn-ea"/>
              </a:rPr>
              <a:t>除了本书介绍的几种交通事件类场景，试列举出 1-2 种</a:t>
            </a:r>
            <a:r>
              <a:rPr lang="zh-CN" altLang="en-US" sz="2000" b="1">
                <a:sym typeface="+mn-ea"/>
              </a:rPr>
              <a:t>其他的交通事件类场景</a:t>
            </a:r>
            <a:r>
              <a:rPr lang="zh-CN" altLang="en-US" sz="2000">
                <a:sym typeface="+mn-ea"/>
              </a:rPr>
              <a:t>，并简要阐述其基本原理。</a:t>
            </a:r>
            <a:endParaRPr lang="zh-CN" altLang="en-US"/>
          </a:p>
        </p:txBody>
      </p:sp>
    </p:spTree>
  </p:cSld>
  <p:clrMapOvr>
    <a:masterClrMapping/>
  </p:clrMapOvr>
  <p:transition spd="slow" advClick="0"/>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COMMONDATA" val="eyJoZGlkIjoiMjllOWNhMWZiZDFiOTRhNTgzNzAwODEwZTcxYzJmZjAifQ=="/>
</p:tagLst>
</file>

<file path=ppt/theme/theme1.xml><?xml version="1.0" encoding="utf-8"?>
<a:theme xmlns:a="http://schemas.openxmlformats.org/drawingml/2006/main" name="WPS">
  <a:themeElements>
    <a:clrScheme name="WPS">
      <a:dk1>
        <a:srgbClr val="000000"/>
      </a:dk1>
      <a:lt1>
        <a:srgbClr val="FFFFFF"/>
      </a:lt1>
      <a:dk2>
        <a:srgbClr val="0F1423"/>
      </a:dk2>
      <a:lt2>
        <a:srgbClr val="FFFFFF"/>
      </a:lt2>
      <a:accent1>
        <a:srgbClr val="4874CB"/>
      </a:accent1>
      <a:accent2>
        <a:srgbClr val="E6724B"/>
      </a:accent2>
      <a:accent3>
        <a:srgbClr val="EFBB1F"/>
      </a:accent3>
      <a:accent4>
        <a:srgbClr val="75BD42"/>
      </a:accent4>
      <a:accent5>
        <a:srgbClr val="30C0B4"/>
      </a:accent5>
      <a:accent6>
        <a:srgbClr val="E05269"/>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8885</Words>
  <Application>WPS 演示</Application>
  <PresentationFormat>宽屏</PresentationFormat>
  <Paragraphs>588</Paragraphs>
  <Slides>43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43</vt:i4>
      </vt:variant>
    </vt:vector>
  </HeadingPairs>
  <TitlesOfParts>
    <vt:vector size="54" baseType="lpstr">
      <vt:lpstr>Arial</vt:lpstr>
      <vt:lpstr>宋体</vt:lpstr>
      <vt:lpstr>Wingdings</vt:lpstr>
      <vt:lpstr>微软雅黑</vt:lpstr>
      <vt:lpstr>Times New Roman</vt:lpstr>
      <vt:lpstr>汉仪旗黑-55简</vt:lpstr>
      <vt:lpstr>Arial Unicode MS</vt:lpstr>
      <vt:lpstr>Calibri</vt:lpstr>
      <vt:lpstr>黑体</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12</cp:revision>
  <dcterms:created xsi:type="dcterms:W3CDTF">2023-08-30T08:12:00Z</dcterms:created>
  <dcterms:modified xsi:type="dcterms:W3CDTF">2023-09-01T11:51:22Z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8FB87AE173CD4FD38E47B7AC01A35806_12</vt:lpwstr>
  </property>
  <property fmtid="{D5CDD505-2E9C-101B-9397-08002B2CF9AE}" pid="3" name="KSOProductBuildVer">
    <vt:lpwstr>2052-12.1.0.15066</vt:lpwstr>
  </property>
</Properties>
</file>
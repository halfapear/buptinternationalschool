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57"/>
  </p:notesMasterIdLst>
  <p:sldIdLst>
    <p:sldId id="256" r:id="rId2"/>
    <p:sldId id="302" r:id="rId3"/>
    <p:sldId id="315" r:id="rId4"/>
    <p:sldId id="344" r:id="rId5"/>
    <p:sldId id="337" r:id="rId6"/>
    <p:sldId id="699" r:id="rId7"/>
    <p:sldId id="698" r:id="rId8"/>
    <p:sldId id="742" r:id="rId9"/>
    <p:sldId id="701" r:id="rId10"/>
    <p:sldId id="702" r:id="rId11"/>
    <p:sldId id="703" r:id="rId12"/>
    <p:sldId id="335" r:id="rId13"/>
    <p:sldId id="743" r:id="rId14"/>
    <p:sldId id="704" r:id="rId15"/>
    <p:sldId id="744" r:id="rId16"/>
    <p:sldId id="705" r:id="rId17"/>
    <p:sldId id="745" r:id="rId18"/>
    <p:sldId id="706" r:id="rId19"/>
    <p:sldId id="707" r:id="rId20"/>
    <p:sldId id="708" r:id="rId21"/>
    <p:sldId id="709" r:id="rId22"/>
    <p:sldId id="710" r:id="rId23"/>
    <p:sldId id="711" r:id="rId24"/>
    <p:sldId id="712" r:id="rId25"/>
    <p:sldId id="713" r:id="rId26"/>
    <p:sldId id="714" r:id="rId27"/>
    <p:sldId id="715" r:id="rId28"/>
    <p:sldId id="716" r:id="rId29"/>
    <p:sldId id="717" r:id="rId30"/>
    <p:sldId id="718" r:id="rId31"/>
    <p:sldId id="746" r:id="rId32"/>
    <p:sldId id="719" r:id="rId33"/>
    <p:sldId id="720" r:id="rId34"/>
    <p:sldId id="721" r:id="rId35"/>
    <p:sldId id="722" r:id="rId36"/>
    <p:sldId id="747" r:id="rId37"/>
    <p:sldId id="723" r:id="rId38"/>
    <p:sldId id="724" r:id="rId39"/>
    <p:sldId id="725" r:id="rId40"/>
    <p:sldId id="726" r:id="rId41"/>
    <p:sldId id="727" r:id="rId42"/>
    <p:sldId id="684" r:id="rId43"/>
    <p:sldId id="728" r:id="rId44"/>
    <p:sldId id="731" r:id="rId45"/>
    <p:sldId id="729" r:id="rId46"/>
    <p:sldId id="732" r:id="rId47"/>
    <p:sldId id="730" r:id="rId48"/>
    <p:sldId id="734" r:id="rId49"/>
    <p:sldId id="735" r:id="rId50"/>
    <p:sldId id="736" r:id="rId51"/>
    <p:sldId id="737" r:id="rId52"/>
    <p:sldId id="738" r:id="rId53"/>
    <p:sldId id="739" r:id="rId54"/>
    <p:sldId id="740" r:id="rId55"/>
    <p:sldId id="741" r:id="rId5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47674"/>
    <a:srgbClr val="E8D3D1"/>
    <a:srgbClr val="92ADCD"/>
    <a:srgbClr val="D2D8EB"/>
    <a:srgbClr val="C47673"/>
    <a:srgbClr val="E7D2D1"/>
    <a:srgbClr val="D2D8EA"/>
    <a:srgbClr val="91ADCD"/>
    <a:srgbClr val="789BC1"/>
    <a:srgbClr val="BDD7E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92" autoAdjust="0"/>
    <p:restoredTop sz="94694"/>
  </p:normalViewPr>
  <p:slideViewPr>
    <p:cSldViewPr snapToGrid="0" snapToObjects="1">
      <p:cViewPr varScale="1">
        <p:scale>
          <a:sx n="153" d="100"/>
          <a:sy n="153" d="100"/>
        </p:scale>
        <p:origin x="1998" y="150"/>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C2D3433-A48E-4365-955B-C870E4793D2E}" type="datetimeFigureOut">
              <a:rPr lang="zh-CN" altLang="en-US" smtClean="0"/>
              <a:t>2023/9/9</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635553A-4799-4292-9A96-D7FF6EBCC302}" type="slidenum">
              <a:rPr lang="zh-CN" altLang="en-US" smtClean="0"/>
              <a:t>‹#›</a:t>
            </a:fld>
            <a:endParaRPr lang="zh-CN" altLang="en-US"/>
          </a:p>
        </p:txBody>
      </p:sp>
    </p:spTree>
    <p:extLst>
      <p:ext uri="{BB962C8B-B14F-4D97-AF65-F5344CB8AC3E}">
        <p14:creationId xmlns:p14="http://schemas.microsoft.com/office/powerpoint/2010/main" val="17532780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635553A-4799-4292-9A96-D7FF6EBCC302}" type="slidenum">
              <a:rPr lang="zh-CN" altLang="en-US" smtClean="0"/>
              <a:t>1</a:t>
            </a:fld>
            <a:endParaRPr lang="zh-CN" altLang="en-US"/>
          </a:p>
        </p:txBody>
      </p:sp>
    </p:spTree>
    <p:extLst>
      <p:ext uri="{BB962C8B-B14F-4D97-AF65-F5344CB8AC3E}">
        <p14:creationId xmlns:p14="http://schemas.microsoft.com/office/powerpoint/2010/main" val="36816344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525B5D9E-E480-EA4D-A4CA-3410628D1379}" type="datetimeFigureOut">
              <a:rPr kumimoji="1" lang="zh-CN" altLang="en-US" smtClean="0"/>
              <a:t>2023/9/9</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9C1BCB49-7C48-3549-A498-0CC4BF8CF3CA}" type="slidenum">
              <a:rPr kumimoji="1" lang="zh-CN" altLang="en-US" smtClean="0"/>
              <a:t>‹#›</a:t>
            </a:fld>
            <a:endParaRPr kumimoji="1" lang="zh-CN" altLang="en-US"/>
          </a:p>
        </p:txBody>
      </p:sp>
    </p:spTree>
    <p:extLst>
      <p:ext uri="{BB962C8B-B14F-4D97-AF65-F5344CB8AC3E}">
        <p14:creationId xmlns:p14="http://schemas.microsoft.com/office/powerpoint/2010/main" val="17553086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525B5D9E-E480-EA4D-A4CA-3410628D1379}" type="datetimeFigureOut">
              <a:rPr kumimoji="1" lang="zh-CN" altLang="en-US" smtClean="0"/>
              <a:t>2023/9/9</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9C1BCB49-7C48-3549-A498-0CC4BF8CF3CA}" type="slidenum">
              <a:rPr kumimoji="1" lang="zh-CN" altLang="en-US" smtClean="0"/>
              <a:t>‹#›</a:t>
            </a:fld>
            <a:endParaRPr kumimoji="1" lang="zh-CN" altLang="en-US"/>
          </a:p>
        </p:txBody>
      </p:sp>
    </p:spTree>
    <p:extLst>
      <p:ext uri="{BB962C8B-B14F-4D97-AF65-F5344CB8AC3E}">
        <p14:creationId xmlns:p14="http://schemas.microsoft.com/office/powerpoint/2010/main" val="36995555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525B5D9E-E480-EA4D-A4CA-3410628D1379}" type="datetimeFigureOut">
              <a:rPr kumimoji="1" lang="zh-CN" altLang="en-US" smtClean="0"/>
              <a:t>2023/9/9</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9C1BCB49-7C48-3549-A498-0CC4BF8CF3CA}" type="slidenum">
              <a:rPr kumimoji="1" lang="zh-CN" altLang="en-US" smtClean="0"/>
              <a:t>‹#›</a:t>
            </a:fld>
            <a:endParaRPr kumimoji="1" lang="zh-CN" altLang="en-US"/>
          </a:p>
        </p:txBody>
      </p:sp>
    </p:spTree>
    <p:extLst>
      <p:ext uri="{BB962C8B-B14F-4D97-AF65-F5344CB8AC3E}">
        <p14:creationId xmlns:p14="http://schemas.microsoft.com/office/powerpoint/2010/main" val="13231501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525B5D9E-E480-EA4D-A4CA-3410628D1379}" type="datetimeFigureOut">
              <a:rPr kumimoji="1" lang="zh-CN" altLang="en-US" smtClean="0"/>
              <a:t>2023/9/9</a:t>
            </a:fld>
            <a:endParaRPr kumimoji="1" lang="zh-CN" altLang="en-US"/>
          </a:p>
        </p:txBody>
      </p:sp>
      <p:sp>
        <p:nvSpPr>
          <p:cNvPr id="6" name="Footer Placeholder 5"/>
          <p:cNvSpPr>
            <a:spLocks noGrp="1"/>
          </p:cNvSpPr>
          <p:nvPr>
            <p:ph type="ftr" sz="quarter" idx="11"/>
          </p:nvPr>
        </p:nvSpPr>
        <p:spPr/>
        <p:txBody>
          <a:bodyPr/>
          <a:lstStyle/>
          <a:p>
            <a:endParaRPr kumimoji="1" lang="zh-CN" altLang="en-US"/>
          </a:p>
        </p:txBody>
      </p:sp>
      <p:sp>
        <p:nvSpPr>
          <p:cNvPr id="7" name="Slide Number Placeholder 6"/>
          <p:cNvSpPr>
            <a:spLocks noGrp="1"/>
          </p:cNvSpPr>
          <p:nvPr>
            <p:ph type="sldNum" sz="quarter" idx="12"/>
          </p:nvPr>
        </p:nvSpPr>
        <p:spPr/>
        <p:txBody>
          <a:bodyPr/>
          <a:lstStyle/>
          <a:p>
            <a:fld id="{9C1BCB49-7C48-3549-A498-0CC4BF8CF3CA}" type="slidenum">
              <a:rPr kumimoji="1" lang="zh-CN" altLang="en-US" smtClean="0"/>
              <a:t>‹#›</a:t>
            </a:fld>
            <a:endParaRPr kumimoji="1" lang="zh-CN" altLang="en-US"/>
          </a:p>
        </p:txBody>
      </p:sp>
    </p:spTree>
    <p:extLst>
      <p:ext uri="{BB962C8B-B14F-4D97-AF65-F5344CB8AC3E}">
        <p14:creationId xmlns:p14="http://schemas.microsoft.com/office/powerpoint/2010/main" val="32105836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525B5D9E-E480-EA4D-A4CA-3410628D1379}" type="datetimeFigureOut">
              <a:rPr kumimoji="1" lang="zh-CN" altLang="en-US" smtClean="0"/>
              <a:t>2023/9/9</a:t>
            </a:fld>
            <a:endParaRPr kumimoji="1" lang="zh-CN" altLang="en-US"/>
          </a:p>
        </p:txBody>
      </p:sp>
      <p:sp>
        <p:nvSpPr>
          <p:cNvPr id="8" name="Footer Placeholder 7"/>
          <p:cNvSpPr>
            <a:spLocks noGrp="1"/>
          </p:cNvSpPr>
          <p:nvPr>
            <p:ph type="ftr" sz="quarter" idx="11"/>
          </p:nvPr>
        </p:nvSpPr>
        <p:spPr/>
        <p:txBody>
          <a:bodyPr/>
          <a:lstStyle/>
          <a:p>
            <a:endParaRPr kumimoji="1" lang="zh-CN" altLang="en-US"/>
          </a:p>
        </p:txBody>
      </p:sp>
      <p:sp>
        <p:nvSpPr>
          <p:cNvPr id="9" name="Slide Number Placeholder 8"/>
          <p:cNvSpPr>
            <a:spLocks noGrp="1"/>
          </p:cNvSpPr>
          <p:nvPr>
            <p:ph type="sldNum" sz="quarter" idx="12"/>
          </p:nvPr>
        </p:nvSpPr>
        <p:spPr/>
        <p:txBody>
          <a:bodyPr/>
          <a:lstStyle/>
          <a:p>
            <a:fld id="{9C1BCB49-7C48-3549-A498-0CC4BF8CF3CA}" type="slidenum">
              <a:rPr kumimoji="1" lang="zh-CN" altLang="en-US" smtClean="0"/>
              <a:t>‹#›</a:t>
            </a:fld>
            <a:endParaRPr kumimoji="1" lang="zh-CN" altLang="en-US"/>
          </a:p>
        </p:txBody>
      </p:sp>
    </p:spTree>
    <p:extLst>
      <p:ext uri="{BB962C8B-B14F-4D97-AF65-F5344CB8AC3E}">
        <p14:creationId xmlns:p14="http://schemas.microsoft.com/office/powerpoint/2010/main" val="15571063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525B5D9E-E480-EA4D-A4CA-3410628D1379}" type="datetimeFigureOut">
              <a:rPr kumimoji="1" lang="zh-CN" altLang="en-US" smtClean="0"/>
              <a:t>2023/9/9</a:t>
            </a:fld>
            <a:endParaRPr kumimoji="1" lang="zh-CN" altLang="en-US"/>
          </a:p>
        </p:txBody>
      </p:sp>
      <p:sp>
        <p:nvSpPr>
          <p:cNvPr id="4" name="Footer Placeholder 3"/>
          <p:cNvSpPr>
            <a:spLocks noGrp="1"/>
          </p:cNvSpPr>
          <p:nvPr>
            <p:ph type="ftr" sz="quarter" idx="11"/>
          </p:nvPr>
        </p:nvSpPr>
        <p:spPr/>
        <p:txBody>
          <a:bodyPr/>
          <a:lstStyle/>
          <a:p>
            <a:endParaRPr kumimoji="1" lang="zh-CN" altLang="en-US"/>
          </a:p>
        </p:txBody>
      </p:sp>
      <p:sp>
        <p:nvSpPr>
          <p:cNvPr id="5" name="Slide Number Placeholder 4"/>
          <p:cNvSpPr>
            <a:spLocks noGrp="1"/>
          </p:cNvSpPr>
          <p:nvPr>
            <p:ph type="sldNum" sz="quarter" idx="12"/>
          </p:nvPr>
        </p:nvSpPr>
        <p:spPr/>
        <p:txBody>
          <a:bodyPr/>
          <a:lstStyle/>
          <a:p>
            <a:fld id="{9C1BCB49-7C48-3549-A498-0CC4BF8CF3CA}" type="slidenum">
              <a:rPr kumimoji="1" lang="zh-CN" altLang="en-US" smtClean="0"/>
              <a:t>‹#›</a:t>
            </a:fld>
            <a:endParaRPr kumimoji="1" lang="zh-CN" altLang="en-US"/>
          </a:p>
        </p:txBody>
      </p:sp>
    </p:spTree>
    <p:extLst>
      <p:ext uri="{BB962C8B-B14F-4D97-AF65-F5344CB8AC3E}">
        <p14:creationId xmlns:p14="http://schemas.microsoft.com/office/powerpoint/2010/main" val="21158099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25B5D9E-E480-EA4D-A4CA-3410628D1379}" type="datetimeFigureOut">
              <a:rPr kumimoji="1" lang="zh-CN" altLang="en-US" smtClean="0"/>
              <a:t>2023/9/9</a:t>
            </a:fld>
            <a:endParaRPr kumimoji="1" lang="zh-CN" altLang="en-US"/>
          </a:p>
        </p:txBody>
      </p:sp>
      <p:sp>
        <p:nvSpPr>
          <p:cNvPr id="3" name="Footer Placeholder 2"/>
          <p:cNvSpPr>
            <a:spLocks noGrp="1"/>
          </p:cNvSpPr>
          <p:nvPr>
            <p:ph type="ftr" sz="quarter" idx="11"/>
          </p:nvPr>
        </p:nvSpPr>
        <p:spPr/>
        <p:txBody>
          <a:bodyPr/>
          <a:lstStyle/>
          <a:p>
            <a:endParaRPr kumimoji="1" lang="zh-CN" altLang="en-US"/>
          </a:p>
        </p:txBody>
      </p:sp>
      <p:sp>
        <p:nvSpPr>
          <p:cNvPr id="4" name="Slide Number Placeholder 3"/>
          <p:cNvSpPr>
            <a:spLocks noGrp="1"/>
          </p:cNvSpPr>
          <p:nvPr>
            <p:ph type="sldNum" sz="quarter" idx="12"/>
          </p:nvPr>
        </p:nvSpPr>
        <p:spPr/>
        <p:txBody>
          <a:bodyPr/>
          <a:lstStyle/>
          <a:p>
            <a:fld id="{9C1BCB49-7C48-3549-A498-0CC4BF8CF3CA}" type="slidenum">
              <a:rPr kumimoji="1" lang="zh-CN" altLang="en-US" smtClean="0"/>
              <a:t>‹#›</a:t>
            </a:fld>
            <a:endParaRPr kumimoji="1" lang="zh-CN" altLang="en-US"/>
          </a:p>
        </p:txBody>
      </p:sp>
    </p:spTree>
    <p:extLst>
      <p:ext uri="{BB962C8B-B14F-4D97-AF65-F5344CB8AC3E}">
        <p14:creationId xmlns:p14="http://schemas.microsoft.com/office/powerpoint/2010/main" val="15324216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525B5D9E-E480-EA4D-A4CA-3410628D1379}" type="datetimeFigureOut">
              <a:rPr kumimoji="1" lang="zh-CN" altLang="en-US" smtClean="0"/>
              <a:t>2023/9/9</a:t>
            </a:fld>
            <a:endParaRPr kumimoji="1" lang="zh-CN" altLang="en-US"/>
          </a:p>
        </p:txBody>
      </p:sp>
      <p:sp>
        <p:nvSpPr>
          <p:cNvPr id="6" name="Footer Placeholder 5"/>
          <p:cNvSpPr>
            <a:spLocks noGrp="1"/>
          </p:cNvSpPr>
          <p:nvPr>
            <p:ph type="ftr" sz="quarter" idx="11"/>
          </p:nvPr>
        </p:nvSpPr>
        <p:spPr/>
        <p:txBody>
          <a:bodyPr/>
          <a:lstStyle/>
          <a:p>
            <a:endParaRPr kumimoji="1" lang="zh-CN" altLang="en-US"/>
          </a:p>
        </p:txBody>
      </p:sp>
      <p:sp>
        <p:nvSpPr>
          <p:cNvPr id="7" name="Slide Number Placeholder 6"/>
          <p:cNvSpPr>
            <a:spLocks noGrp="1"/>
          </p:cNvSpPr>
          <p:nvPr>
            <p:ph type="sldNum" sz="quarter" idx="12"/>
          </p:nvPr>
        </p:nvSpPr>
        <p:spPr/>
        <p:txBody>
          <a:bodyPr/>
          <a:lstStyle/>
          <a:p>
            <a:fld id="{9C1BCB49-7C48-3549-A498-0CC4BF8CF3CA}" type="slidenum">
              <a:rPr kumimoji="1" lang="zh-CN" altLang="en-US" smtClean="0"/>
              <a:t>‹#›</a:t>
            </a:fld>
            <a:endParaRPr kumimoji="1" lang="zh-CN" altLang="en-US"/>
          </a:p>
        </p:txBody>
      </p:sp>
    </p:spTree>
    <p:extLst>
      <p:ext uri="{BB962C8B-B14F-4D97-AF65-F5344CB8AC3E}">
        <p14:creationId xmlns:p14="http://schemas.microsoft.com/office/powerpoint/2010/main" val="15317815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525B5D9E-E480-EA4D-A4CA-3410628D1379}" type="datetimeFigureOut">
              <a:rPr kumimoji="1" lang="zh-CN" altLang="en-US" smtClean="0"/>
              <a:t>2023/9/9</a:t>
            </a:fld>
            <a:endParaRPr kumimoji="1" lang="zh-CN" altLang="en-US"/>
          </a:p>
        </p:txBody>
      </p:sp>
      <p:sp>
        <p:nvSpPr>
          <p:cNvPr id="6" name="Footer Placeholder 5"/>
          <p:cNvSpPr>
            <a:spLocks noGrp="1"/>
          </p:cNvSpPr>
          <p:nvPr>
            <p:ph type="ftr" sz="quarter" idx="11"/>
          </p:nvPr>
        </p:nvSpPr>
        <p:spPr/>
        <p:txBody>
          <a:bodyPr/>
          <a:lstStyle/>
          <a:p>
            <a:endParaRPr kumimoji="1" lang="zh-CN" altLang="en-US"/>
          </a:p>
        </p:txBody>
      </p:sp>
      <p:sp>
        <p:nvSpPr>
          <p:cNvPr id="7" name="Slide Number Placeholder 6"/>
          <p:cNvSpPr>
            <a:spLocks noGrp="1"/>
          </p:cNvSpPr>
          <p:nvPr>
            <p:ph type="sldNum" sz="quarter" idx="12"/>
          </p:nvPr>
        </p:nvSpPr>
        <p:spPr/>
        <p:txBody>
          <a:bodyPr/>
          <a:lstStyle/>
          <a:p>
            <a:fld id="{9C1BCB49-7C48-3549-A498-0CC4BF8CF3CA}" type="slidenum">
              <a:rPr kumimoji="1" lang="zh-CN" altLang="en-US" smtClean="0"/>
              <a:t>‹#›</a:t>
            </a:fld>
            <a:endParaRPr kumimoji="1" lang="zh-CN" altLang="en-US"/>
          </a:p>
        </p:txBody>
      </p:sp>
    </p:spTree>
    <p:extLst>
      <p:ext uri="{BB962C8B-B14F-4D97-AF65-F5344CB8AC3E}">
        <p14:creationId xmlns:p14="http://schemas.microsoft.com/office/powerpoint/2010/main" val="30483848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525B5D9E-E480-EA4D-A4CA-3410628D1379}" type="datetimeFigureOut">
              <a:rPr kumimoji="1" lang="zh-CN" altLang="en-US" smtClean="0"/>
              <a:t>2023/9/9</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9C1BCB49-7C48-3549-A498-0CC4BF8CF3CA}" type="slidenum">
              <a:rPr kumimoji="1" lang="zh-CN" altLang="en-US" smtClean="0"/>
              <a:t>‹#›</a:t>
            </a:fld>
            <a:endParaRPr kumimoji="1" lang="zh-CN" altLang="en-US"/>
          </a:p>
        </p:txBody>
      </p:sp>
    </p:spTree>
    <p:extLst>
      <p:ext uri="{BB962C8B-B14F-4D97-AF65-F5344CB8AC3E}">
        <p14:creationId xmlns:p14="http://schemas.microsoft.com/office/powerpoint/2010/main" val="14114784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525B5D9E-E480-EA4D-A4CA-3410628D1379}" type="datetimeFigureOut">
              <a:rPr kumimoji="1" lang="zh-CN" altLang="en-US" smtClean="0"/>
              <a:t>2023/9/9</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9C1BCB49-7C48-3549-A498-0CC4BF8CF3CA}" type="slidenum">
              <a:rPr kumimoji="1" lang="zh-CN" altLang="en-US" smtClean="0"/>
              <a:t>‹#›</a:t>
            </a:fld>
            <a:endParaRPr kumimoji="1" lang="zh-CN" altLang="en-US"/>
          </a:p>
        </p:txBody>
      </p:sp>
    </p:spTree>
    <p:extLst>
      <p:ext uri="{BB962C8B-B14F-4D97-AF65-F5344CB8AC3E}">
        <p14:creationId xmlns:p14="http://schemas.microsoft.com/office/powerpoint/2010/main" val="3223578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正文-横线">
    <p:spTree>
      <p:nvGrpSpPr>
        <p:cNvPr id="1" name=""/>
        <p:cNvGrpSpPr/>
        <p:nvPr/>
      </p:nvGrpSpPr>
      <p:grpSpPr>
        <a:xfrm>
          <a:off x="0" y="0"/>
          <a:ext cx="0" cy="0"/>
          <a:chOff x="0" y="0"/>
          <a:chExt cx="0" cy="0"/>
        </a:xfrm>
      </p:grpSpPr>
      <p:sp>
        <p:nvSpPr>
          <p:cNvPr id="2" name="矩形 1"/>
          <p:cNvSpPr/>
          <p:nvPr userDrawn="1"/>
        </p:nvSpPr>
        <p:spPr>
          <a:xfrm>
            <a:off x="8351913" y="764704"/>
            <a:ext cx="792088" cy="3600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0" name="矩形 9"/>
          <p:cNvSpPr/>
          <p:nvPr userDrawn="1"/>
        </p:nvSpPr>
        <p:spPr>
          <a:xfrm>
            <a:off x="3448" y="6531431"/>
            <a:ext cx="9144000" cy="351621"/>
          </a:xfrm>
          <a:prstGeom prst="rect">
            <a:avLst/>
          </a:prstGeom>
          <a:gradFill>
            <a:gsLst>
              <a:gs pos="0">
                <a:schemeClr val="bg1"/>
              </a:gs>
              <a:gs pos="60000">
                <a:schemeClr val="accent1">
                  <a:lumMod val="45000"/>
                  <a:lumOff val="55000"/>
                </a:schemeClr>
              </a:gs>
              <a:gs pos="100000">
                <a:schemeClr val="accent1">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4" name="灯片编号占位符 5"/>
          <p:cNvSpPr txBox="1"/>
          <p:nvPr userDrawn="1"/>
        </p:nvSpPr>
        <p:spPr>
          <a:xfrm>
            <a:off x="6732240" y="6492877"/>
            <a:ext cx="2133600" cy="365125"/>
          </a:xfrm>
          <a:prstGeom prst="rect">
            <a:avLst/>
          </a:prstGeom>
        </p:spPr>
        <p:txBody>
          <a:bodyPr vert="horz" lIns="68580" tIns="34290" rIns="68580" bIns="34290" rtlCol="0" anchor="ctr"/>
          <a:lstStyle>
            <a:defPPr>
              <a:defRPr lang="zh-CN"/>
            </a:defPPr>
            <a:lvl1pPr marL="0" algn="r"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C913308-F349-4B6D-A68A-DD1791B4A57B}" type="slidenum">
              <a:rPr lang="zh-CN" altLang="en-US" sz="900" smtClean="0"/>
              <a:t>‹#›</a:t>
            </a:fld>
            <a:endParaRPr lang="zh-CN" altLang="en-US" sz="900" dirty="0"/>
          </a:p>
        </p:txBody>
      </p:sp>
    </p:spTree>
    <p:extLst>
      <p:ext uri="{BB962C8B-B14F-4D97-AF65-F5344CB8AC3E}">
        <p14:creationId xmlns:p14="http://schemas.microsoft.com/office/powerpoint/2010/main" val="404665852"/>
      </p:ext>
    </p:extLst>
  </p:cSld>
  <p:clrMapOvr>
    <a:masterClrMapping/>
  </p:clrMapOvr>
  <p:transition spd="slow" advClick="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25B5D9E-E480-EA4D-A4CA-3410628D1379}" type="datetimeFigureOut">
              <a:rPr kumimoji="1" lang="zh-CN" altLang="en-US" smtClean="0"/>
              <a:t>2023/9/9</a:t>
            </a:fld>
            <a:endParaRPr kumimoji="1"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C1BCB49-7C48-3549-A498-0CC4BF8CF3CA}" type="slidenum">
              <a:rPr kumimoji="1" lang="zh-CN" altLang="en-US" smtClean="0"/>
              <a:t>‹#›</a:t>
            </a:fld>
            <a:endParaRPr kumimoji="1" lang="zh-CN" altLang="en-US"/>
          </a:p>
        </p:txBody>
      </p:sp>
    </p:spTree>
    <p:extLst>
      <p:ext uri="{BB962C8B-B14F-4D97-AF65-F5344CB8AC3E}">
        <p14:creationId xmlns:p14="http://schemas.microsoft.com/office/powerpoint/2010/main" val="2417682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jpeg"/><Relationship Id="rId1" Type="http://schemas.openxmlformats.org/officeDocument/2006/relationships/slideLayout" Target="../slideLayouts/slideLayout12.xml"/><Relationship Id="rId4" Type="http://schemas.openxmlformats.org/officeDocument/2006/relationships/image" Target="../media/image12.png"/></Relationships>
</file>

<file path=ppt/slides/_rels/slide4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jpeg"/><Relationship Id="rId1" Type="http://schemas.openxmlformats.org/officeDocument/2006/relationships/slideLayout" Target="../slideLayouts/slideLayout12.xml"/><Relationship Id="rId4" Type="http://schemas.openxmlformats.org/officeDocument/2006/relationships/image" Target="../media/image14.png"/></Relationships>
</file>

<file path=ppt/slides/_rels/slide5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jpeg"/><Relationship Id="rId1" Type="http://schemas.openxmlformats.org/officeDocument/2006/relationships/slideLayout" Target="../slideLayouts/slideLayout12.xml"/><Relationship Id="rId4" Type="http://schemas.openxmlformats.org/officeDocument/2006/relationships/image" Target="../media/image18.png"/></Relationships>
</file>

<file path=ppt/slides/_rels/slide5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jpeg"/><Relationship Id="rId1" Type="http://schemas.openxmlformats.org/officeDocument/2006/relationships/slideLayout" Target="../slideLayouts/slideLayout12.xml"/><Relationship Id="rId4" Type="http://schemas.openxmlformats.org/officeDocument/2006/relationships/image" Target="../media/image21.png"/></Relationships>
</file>

<file path=ppt/slides/_rels/slide5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C386E96A-4242-934C-9346-230F0B020756}"/>
              </a:ext>
            </a:extLst>
          </p:cNvPr>
          <p:cNvSpPr/>
          <p:nvPr/>
        </p:nvSpPr>
        <p:spPr>
          <a:xfrm>
            <a:off x="-20688" y="2354322"/>
            <a:ext cx="9164688" cy="769441"/>
          </a:xfrm>
          <a:prstGeom prst="rect">
            <a:avLst/>
          </a:prstGeom>
        </p:spPr>
        <p:txBody>
          <a:bodyPr wrap="none">
            <a:spAutoFit/>
          </a:bodyPr>
          <a:lstStyle/>
          <a:p>
            <a:r>
              <a:rPr lang="zh-CN" altLang="en-US" sz="4400" b="1" dirty="0">
                <a:solidFill>
                  <a:srgbClr val="01468E"/>
                </a:solidFill>
                <a:latin typeface="Microsoft YaHei" panose="020B0503020204020204" pitchFamily="34" charset="-122"/>
                <a:ea typeface="Microsoft YaHei" panose="020B0503020204020204" pitchFamily="34" charset="-122"/>
              </a:rPr>
              <a:t>第</a:t>
            </a:r>
            <a:r>
              <a:rPr lang="en-US" altLang="zh-CN" sz="4400" b="1" dirty="0">
                <a:solidFill>
                  <a:srgbClr val="01468E"/>
                </a:solidFill>
                <a:latin typeface="Microsoft YaHei" panose="020B0503020204020204" pitchFamily="34" charset="-122"/>
                <a:ea typeface="Microsoft YaHei" panose="020B0503020204020204" pitchFamily="34" charset="-122"/>
              </a:rPr>
              <a:t>3 </a:t>
            </a:r>
            <a:r>
              <a:rPr lang="zh-CN" altLang="en-US" sz="4400" b="1" dirty="0">
                <a:solidFill>
                  <a:srgbClr val="01468E"/>
                </a:solidFill>
                <a:latin typeface="Microsoft YaHei" panose="020B0503020204020204" pitchFamily="34" charset="-122"/>
                <a:ea typeface="Microsoft YaHei" panose="020B0503020204020204" pitchFamily="34" charset="-122"/>
              </a:rPr>
              <a:t>章：智能网联驾驶无线通信技术</a:t>
            </a:r>
            <a:endParaRPr lang="zh-CN" altLang="en-US" sz="4400" b="1" dirty="0"/>
          </a:p>
        </p:txBody>
      </p:sp>
      <p:sp>
        <p:nvSpPr>
          <p:cNvPr id="5" name="副标题 2">
            <a:extLst>
              <a:ext uri="{FF2B5EF4-FFF2-40B4-BE49-F238E27FC236}">
                <a16:creationId xmlns:a16="http://schemas.microsoft.com/office/drawing/2014/main" id="{6942F38C-DA38-3A41-ADE0-9E5DC6ADF4D4}"/>
              </a:ext>
            </a:extLst>
          </p:cNvPr>
          <p:cNvSpPr txBox="1"/>
          <p:nvPr/>
        </p:nvSpPr>
        <p:spPr bwMode="auto">
          <a:xfrm>
            <a:off x="1371600" y="4196680"/>
            <a:ext cx="6400800"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a:lstStyle>
          <a:p>
            <a:pPr marL="0" indent="0" algn="ctr">
              <a:buNone/>
              <a:defRPr/>
            </a:pPr>
            <a:r>
              <a:rPr lang="zh-CN" altLang="en-US" sz="2800" kern="0" dirty="0">
                <a:solidFill>
                  <a:srgbClr val="00458E"/>
                </a:solidFill>
                <a:latin typeface="Microsoft YaHei" panose="020B0503020204020204" pitchFamily="34" charset="-122"/>
                <a:ea typeface="Microsoft YaHei" panose="020B0503020204020204" pitchFamily="34" charset="-122"/>
              </a:rPr>
              <a:t>朱孔林</a:t>
            </a:r>
            <a:endParaRPr lang="en-US" altLang="zh-CN" sz="2800" kern="0" dirty="0">
              <a:solidFill>
                <a:srgbClr val="00458E"/>
              </a:solidFill>
              <a:latin typeface="Microsoft YaHei" panose="020B0503020204020204" pitchFamily="34" charset="-122"/>
              <a:ea typeface="Microsoft YaHei" panose="020B0503020204020204" pitchFamily="34" charset="-122"/>
            </a:endParaRPr>
          </a:p>
          <a:p>
            <a:pPr marL="0" indent="0" algn="ctr">
              <a:buNone/>
              <a:defRPr/>
            </a:pPr>
            <a:r>
              <a:rPr lang="en-US" altLang="zh-CN" sz="2800" kern="0" dirty="0" err="1">
                <a:solidFill>
                  <a:srgbClr val="00458E"/>
                </a:solidFill>
                <a:latin typeface="Microsoft YaHei" panose="020B0503020204020204" pitchFamily="34" charset="-122"/>
                <a:ea typeface="Microsoft YaHei" panose="020B0503020204020204" pitchFamily="34" charset="-122"/>
              </a:rPr>
              <a:t>klzhu@bupt.edu.cn</a:t>
            </a:r>
            <a:endParaRPr lang="zh-CN" altLang="en-US" sz="2800" kern="0" dirty="0">
              <a:solidFill>
                <a:srgbClr val="00458E"/>
              </a:solidFill>
              <a:latin typeface="Microsoft YaHei" panose="020B0503020204020204" pitchFamily="34" charset="-122"/>
              <a:ea typeface="Microsoft YaHei" panose="020B0503020204020204" pitchFamily="34" charset="-122"/>
            </a:endParaRPr>
          </a:p>
        </p:txBody>
      </p:sp>
      <p:pic>
        <p:nvPicPr>
          <p:cNvPr id="6" name="Picture 11" descr="program-ciat2020">
            <a:extLst>
              <a:ext uri="{FF2B5EF4-FFF2-40B4-BE49-F238E27FC236}">
                <a16:creationId xmlns:a16="http://schemas.microsoft.com/office/drawing/2014/main" id="{2530BBCD-C7A1-6E45-95CE-4FDF1C85147E}"/>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0" y="-18832"/>
            <a:ext cx="3316428" cy="999370"/>
          </a:xfrm>
          <a:prstGeom prst="rect">
            <a:avLst/>
          </a:prstGeom>
          <a:noFill/>
          <a:ln>
            <a:noFill/>
          </a:ln>
        </p:spPr>
      </p:pic>
      <p:pic>
        <p:nvPicPr>
          <p:cNvPr id="7" name="图片 6">
            <a:extLst>
              <a:ext uri="{FF2B5EF4-FFF2-40B4-BE49-F238E27FC236}">
                <a16:creationId xmlns:a16="http://schemas.microsoft.com/office/drawing/2014/main" id="{C99838FD-A6D9-374C-9D21-3B8D245AE5A2}"/>
              </a:ext>
            </a:extLst>
          </p:cNvPr>
          <p:cNvPicPr>
            <a:picLocks noChangeAspect="1"/>
          </p:cNvPicPr>
          <p:nvPr/>
        </p:nvPicPr>
        <p:blipFill>
          <a:blip r:embed="rId4"/>
          <a:stretch>
            <a:fillRect/>
          </a:stretch>
        </p:blipFill>
        <p:spPr>
          <a:xfrm>
            <a:off x="990000" y="3276600"/>
            <a:ext cx="8166100" cy="304800"/>
          </a:xfrm>
          <a:prstGeom prst="rect">
            <a:avLst/>
          </a:prstGeom>
        </p:spPr>
      </p:pic>
    </p:spTree>
    <p:extLst>
      <p:ext uri="{BB962C8B-B14F-4D97-AF65-F5344CB8AC3E}">
        <p14:creationId xmlns:p14="http://schemas.microsoft.com/office/powerpoint/2010/main" val="31721237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237392" y="191297"/>
            <a:ext cx="9251576" cy="679847"/>
          </a:xfrm>
          <a:prstGeom prst="rect">
            <a:avLst/>
          </a:prstGeom>
        </p:spPr>
        <p:txBody>
          <a:bodyPr vert="horz" lIns="68580" tIns="34290" rIns="68580" bIns="34290" rtlCol="0" anchor="ctr">
            <a:normAutofit/>
          </a:bodyPr>
          <a:lstStyle/>
          <a:p>
            <a:pPr lvl="0">
              <a:spcBef>
                <a:spcPct val="0"/>
              </a:spcBef>
              <a:defRPr/>
            </a:pPr>
            <a:r>
              <a:rPr lang="zh-CN" altLang="en-US" sz="34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主要</a:t>
            </a:r>
            <a:r>
              <a:rPr lang="zh-CN" altLang="en-US" sz="36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内容</a:t>
            </a:r>
            <a:endParaRPr lang="en-US" altLang="zh-CN" sz="36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6" name="矩形 5"/>
          <p:cNvSpPr/>
          <p:nvPr/>
        </p:nvSpPr>
        <p:spPr>
          <a:xfrm>
            <a:off x="237392" y="998362"/>
            <a:ext cx="8906608" cy="3323987"/>
          </a:xfrm>
          <a:prstGeom prst="rect">
            <a:avLst/>
          </a:prstGeom>
        </p:spPr>
        <p:txBody>
          <a:bodyPr wrap="square">
            <a:spAutoFit/>
          </a:bodyPr>
          <a:lstStyle/>
          <a:p>
            <a:pPr marL="285750" indent="-285750">
              <a:lnSpc>
                <a:spcPct val="150000"/>
              </a:lnSpc>
              <a:buFont typeface="Wingdings" panose="05000000000000000000" pitchFamily="2" charset="2"/>
              <a:buChar char="p"/>
              <a:defRPr/>
            </a:pPr>
            <a:r>
              <a:rPr lang="zh-CN" altLang="en-US" sz="2800" kern="0" dirty="0" smtClean="0">
                <a:latin typeface="Microsoft YaHei" panose="020B0503020204020204" pitchFamily="34" charset="-122"/>
                <a:ea typeface="Microsoft YaHei" panose="020B0503020204020204" pitchFamily="34" charset="-122"/>
              </a:rPr>
              <a:t>智能网</a:t>
            </a:r>
            <a:r>
              <a:rPr lang="zh-CN" altLang="en-US" sz="2800" kern="0" dirty="0">
                <a:latin typeface="Microsoft YaHei" panose="020B0503020204020204" pitchFamily="34" charset="-122"/>
                <a:ea typeface="Microsoft YaHei" panose="020B0503020204020204" pitchFamily="34" charset="-122"/>
              </a:rPr>
              <a:t>联驾驶无线通信技术</a:t>
            </a:r>
            <a:r>
              <a:rPr lang="zh-CN" altLang="en-US" sz="2800" kern="0" dirty="0" smtClean="0">
                <a:latin typeface="Microsoft YaHei" panose="020B0503020204020204" pitchFamily="34" charset="-122"/>
                <a:ea typeface="Microsoft YaHei" panose="020B0503020204020204" pitchFamily="34" charset="-122"/>
              </a:rPr>
              <a:t>概述</a:t>
            </a:r>
            <a:endParaRPr lang="en-US" altLang="zh-CN" sz="2800" kern="0" dirty="0" smtClean="0">
              <a:latin typeface="Microsoft YaHei" panose="020B0503020204020204" pitchFamily="34" charset="-122"/>
              <a:ea typeface="Microsoft YaHei" panose="020B0503020204020204" pitchFamily="34" charset="-122"/>
            </a:endParaRPr>
          </a:p>
          <a:p>
            <a:pPr marL="285750" indent="-285750">
              <a:lnSpc>
                <a:spcPct val="150000"/>
              </a:lnSpc>
              <a:buFont typeface="Wingdings" panose="05000000000000000000" pitchFamily="2" charset="2"/>
              <a:buChar char="p"/>
              <a:defRPr/>
            </a:pPr>
            <a:r>
              <a:rPr lang="en-US" altLang="zh-CN" sz="2800" kern="0" dirty="0" smtClean="0">
                <a:latin typeface="Microsoft YaHei" panose="020B0503020204020204" pitchFamily="34" charset="-122"/>
                <a:ea typeface="Microsoft YaHei" panose="020B0503020204020204" pitchFamily="34" charset="-122"/>
              </a:rPr>
              <a:t>LTE-V2X </a:t>
            </a:r>
            <a:r>
              <a:rPr lang="zh-CN" altLang="en-US" sz="2800" kern="0" dirty="0" smtClean="0">
                <a:latin typeface="Microsoft YaHei" panose="020B0503020204020204" pitchFamily="34" charset="-122"/>
                <a:ea typeface="Microsoft YaHei" panose="020B0503020204020204" pitchFamily="34" charset="-122"/>
              </a:rPr>
              <a:t>技术</a:t>
            </a:r>
            <a:endParaRPr lang="en-US" altLang="zh-CN" sz="2800" kern="0" dirty="0" smtClean="0">
              <a:latin typeface="Microsoft YaHei" panose="020B0503020204020204" pitchFamily="34" charset="-122"/>
              <a:ea typeface="Microsoft YaHei" panose="020B0503020204020204" pitchFamily="34" charset="-122"/>
            </a:endParaRPr>
          </a:p>
          <a:p>
            <a:pPr marL="285750" indent="-285750">
              <a:lnSpc>
                <a:spcPct val="150000"/>
              </a:lnSpc>
              <a:buFont typeface="Wingdings" panose="05000000000000000000" pitchFamily="2" charset="2"/>
              <a:buChar char="p"/>
              <a:defRPr/>
            </a:pPr>
            <a:r>
              <a:rPr lang="en-US" altLang="zh-CN" sz="2800" kern="0" dirty="0" smtClean="0">
                <a:latin typeface="Microsoft YaHei" panose="020B0503020204020204" pitchFamily="34" charset="-122"/>
                <a:ea typeface="Microsoft YaHei" panose="020B0503020204020204" pitchFamily="34" charset="-122"/>
              </a:rPr>
              <a:t>5G-V2X </a:t>
            </a:r>
            <a:r>
              <a:rPr lang="zh-CN" altLang="en-US" sz="2800" kern="0" dirty="0" smtClean="0">
                <a:latin typeface="Microsoft YaHei" panose="020B0503020204020204" pitchFamily="34" charset="-122"/>
                <a:ea typeface="Microsoft YaHei" panose="020B0503020204020204" pitchFamily="34" charset="-122"/>
              </a:rPr>
              <a:t>技术</a:t>
            </a:r>
            <a:endParaRPr lang="en-US" altLang="zh-CN" sz="2800" kern="0" dirty="0" smtClean="0">
              <a:latin typeface="Microsoft YaHei" panose="020B0503020204020204" pitchFamily="34" charset="-122"/>
              <a:ea typeface="Microsoft YaHei" panose="020B0503020204020204" pitchFamily="34" charset="-122"/>
            </a:endParaRPr>
          </a:p>
          <a:p>
            <a:pPr marL="285750" indent="-285750">
              <a:lnSpc>
                <a:spcPct val="150000"/>
              </a:lnSpc>
              <a:buFont typeface="Wingdings" panose="05000000000000000000" pitchFamily="2" charset="2"/>
              <a:buChar char="p"/>
              <a:defRPr/>
            </a:pPr>
            <a:r>
              <a:rPr lang="zh-CN" altLang="en-US" sz="2800" kern="0" dirty="0" smtClean="0">
                <a:latin typeface="Microsoft YaHei" panose="020B0503020204020204" pitchFamily="34" charset="-122"/>
                <a:ea typeface="Microsoft YaHei" panose="020B0503020204020204" pitchFamily="34" charset="-122"/>
              </a:rPr>
              <a:t>智能网</a:t>
            </a:r>
            <a:r>
              <a:rPr lang="zh-CN" altLang="en-US" sz="2800" kern="0" dirty="0">
                <a:latin typeface="Microsoft YaHei" panose="020B0503020204020204" pitchFamily="34" charset="-122"/>
                <a:ea typeface="Microsoft YaHei" panose="020B0503020204020204" pitchFamily="34" charset="-122"/>
              </a:rPr>
              <a:t>联驾驶无线通信设备</a:t>
            </a:r>
            <a:endParaRPr lang="en-US" altLang="zh-CN" sz="2800" kern="0" dirty="0">
              <a:latin typeface="Microsoft YaHei" panose="020B0503020204020204" pitchFamily="34" charset="-122"/>
              <a:ea typeface="Microsoft YaHei" panose="020B0503020204020204" pitchFamily="34" charset="-122"/>
            </a:endParaRPr>
          </a:p>
          <a:p>
            <a:pPr marL="285750" indent="-285750">
              <a:lnSpc>
                <a:spcPct val="150000"/>
              </a:lnSpc>
              <a:buFont typeface="Wingdings" panose="05000000000000000000" pitchFamily="2" charset="2"/>
              <a:buChar char="p"/>
              <a:defRPr/>
            </a:pPr>
            <a:r>
              <a:rPr lang="zh-CN" altLang="en-US" sz="2800" kern="0" dirty="0" smtClean="0">
                <a:latin typeface="Microsoft YaHei" panose="020B0503020204020204" pitchFamily="34" charset="-122"/>
                <a:ea typeface="Microsoft YaHei" panose="020B0503020204020204" pitchFamily="34" charset="-122"/>
              </a:rPr>
              <a:t>智能网</a:t>
            </a:r>
            <a:r>
              <a:rPr lang="zh-CN" altLang="en-US" sz="2800" kern="0" dirty="0">
                <a:latin typeface="Microsoft YaHei" panose="020B0503020204020204" pitchFamily="34" charset="-122"/>
                <a:ea typeface="Microsoft YaHei" panose="020B0503020204020204" pitchFamily="34" charset="-122"/>
              </a:rPr>
              <a:t>联驾驶无线通信台架实验</a:t>
            </a:r>
            <a:endParaRPr lang="en-US" altLang="zh-CN" sz="2800" kern="0" dirty="0">
              <a:latin typeface="Microsoft YaHei" panose="020B0503020204020204" pitchFamily="34" charset="-122"/>
              <a:ea typeface="Microsoft YaHei" panose="020B0503020204020204" pitchFamily="34" charset="-122"/>
            </a:endParaRPr>
          </a:p>
        </p:txBody>
      </p:sp>
      <p:pic>
        <p:nvPicPr>
          <p:cNvPr id="7" name="Picture 11" descr="program-ciat2020"/>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spTree>
  </p:cSld>
  <p:clrMapOvr>
    <a:masterClrMapping/>
  </p:clrMapOvr>
  <p:transition spd="slow" advClick="0"/>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标题 1">
            <a:extLst>
              <a:ext uri="{FF2B5EF4-FFF2-40B4-BE49-F238E27FC236}">
                <a16:creationId xmlns:a16="http://schemas.microsoft.com/office/drawing/2014/main" id="{A1B259F4-61D9-D54A-A46D-A8AB65FCCBE6}"/>
              </a:ext>
            </a:extLst>
          </p:cNvPr>
          <p:cNvSpPr txBox="1"/>
          <p:nvPr/>
        </p:nvSpPr>
        <p:spPr>
          <a:xfrm>
            <a:off x="237392" y="191297"/>
            <a:ext cx="9251576" cy="679847"/>
          </a:xfrm>
          <a:prstGeom prst="rect">
            <a:avLst/>
          </a:prstGeom>
        </p:spPr>
        <p:txBody>
          <a:bodyPr vert="horz" lIns="68580" tIns="34290" rIns="68580" bIns="34290" rtlCol="0" anchor="ctr">
            <a:normAutofit/>
          </a:bodyPr>
          <a:lstStyle/>
          <a:p>
            <a:pPr lvl="0">
              <a:spcBef>
                <a:spcPct val="0"/>
              </a:spcBef>
              <a:defRPr/>
            </a:pPr>
            <a:r>
              <a:rPr lang="zh-CN" altLang="en-US" sz="34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智能网</a:t>
            </a:r>
            <a:r>
              <a:rPr lang="zh-CN" altLang="en-US" sz="34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联驾驶无线通信技术</a:t>
            </a:r>
            <a:endParaRPr lang="en-US" altLang="zh-CN" sz="36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pic>
        <p:nvPicPr>
          <p:cNvPr id="31" name="Picture 11" descr="program-ciat2020">
            <a:extLst>
              <a:ext uri="{FF2B5EF4-FFF2-40B4-BE49-F238E27FC236}">
                <a16:creationId xmlns:a16="http://schemas.microsoft.com/office/drawing/2014/main" id="{590FEF71-8EB3-6941-9167-6129C74764E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sp>
        <p:nvSpPr>
          <p:cNvPr id="33" name="内容占位符 4">
            <a:extLst>
              <a:ext uri="{FF2B5EF4-FFF2-40B4-BE49-F238E27FC236}">
                <a16:creationId xmlns:a16="http://schemas.microsoft.com/office/drawing/2014/main" id="{52330D8D-DD3A-1C4D-8181-387620645B69}"/>
              </a:ext>
            </a:extLst>
          </p:cNvPr>
          <p:cNvSpPr txBox="1">
            <a:spLocks/>
          </p:cNvSpPr>
          <p:nvPr/>
        </p:nvSpPr>
        <p:spPr bwMode="auto">
          <a:xfrm>
            <a:off x="237391" y="1062441"/>
            <a:ext cx="8710665" cy="48387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marL="342900" indent="-342900">
              <a:defRPr kumimoji="1" sz="2400">
                <a:solidFill>
                  <a:schemeClr val="tx1"/>
                </a:solidFill>
                <a:latin typeface="Arial" charset="0"/>
                <a:ea typeface="宋体" charset="0"/>
                <a:cs typeface="宋体" charset="0"/>
              </a:defRPr>
            </a:lvl1pPr>
            <a:lvl2pPr marL="742950" indent="-285750">
              <a:defRPr kumimoji="1" sz="2400">
                <a:solidFill>
                  <a:schemeClr val="tx1"/>
                </a:solidFill>
                <a:latin typeface="Arial" charset="0"/>
                <a:ea typeface="宋体" charset="0"/>
              </a:defRPr>
            </a:lvl2pPr>
            <a:lvl3pPr marL="1143000" indent="-228600">
              <a:defRPr kumimoji="1" sz="2400">
                <a:solidFill>
                  <a:schemeClr val="tx1"/>
                </a:solidFill>
                <a:latin typeface="Arial" charset="0"/>
                <a:ea typeface="宋体" charset="0"/>
              </a:defRPr>
            </a:lvl3pPr>
            <a:lvl4pPr marL="1600200" indent="-228600">
              <a:defRPr kumimoji="1" sz="2400">
                <a:solidFill>
                  <a:schemeClr val="tx1"/>
                </a:solidFill>
                <a:latin typeface="Arial" charset="0"/>
                <a:ea typeface="宋体" charset="0"/>
              </a:defRPr>
            </a:lvl4pPr>
            <a:lvl5pPr marL="2057400" indent="-228600">
              <a:defRPr kumimoji="1" sz="2400">
                <a:solidFill>
                  <a:schemeClr val="tx1"/>
                </a:solidFill>
                <a:latin typeface="Arial" charset="0"/>
                <a:ea typeface="宋体" charset="0"/>
              </a:defRPr>
            </a:lvl5pPr>
            <a:lvl6pPr marL="2514600" indent="-228600" fontAlgn="base">
              <a:spcBef>
                <a:spcPct val="0"/>
              </a:spcBef>
              <a:spcAft>
                <a:spcPct val="0"/>
              </a:spcAft>
              <a:defRPr kumimoji="1" sz="2400">
                <a:solidFill>
                  <a:schemeClr val="tx1"/>
                </a:solidFill>
                <a:latin typeface="Arial" charset="0"/>
                <a:ea typeface="宋体" charset="0"/>
              </a:defRPr>
            </a:lvl6pPr>
            <a:lvl7pPr marL="2971800" indent="-228600" fontAlgn="base">
              <a:spcBef>
                <a:spcPct val="0"/>
              </a:spcBef>
              <a:spcAft>
                <a:spcPct val="0"/>
              </a:spcAft>
              <a:defRPr kumimoji="1" sz="2400">
                <a:solidFill>
                  <a:schemeClr val="tx1"/>
                </a:solidFill>
                <a:latin typeface="Arial" charset="0"/>
                <a:ea typeface="宋体" charset="0"/>
              </a:defRPr>
            </a:lvl7pPr>
            <a:lvl8pPr marL="3429000" indent="-228600" fontAlgn="base">
              <a:spcBef>
                <a:spcPct val="0"/>
              </a:spcBef>
              <a:spcAft>
                <a:spcPct val="0"/>
              </a:spcAft>
              <a:defRPr kumimoji="1" sz="2400">
                <a:solidFill>
                  <a:schemeClr val="tx1"/>
                </a:solidFill>
                <a:latin typeface="Arial" charset="0"/>
                <a:ea typeface="宋体" charset="0"/>
              </a:defRPr>
            </a:lvl8pPr>
            <a:lvl9pPr marL="3886200" indent="-228600" fontAlgn="base">
              <a:spcBef>
                <a:spcPct val="0"/>
              </a:spcBef>
              <a:spcAft>
                <a:spcPct val="0"/>
              </a:spcAft>
              <a:defRPr kumimoji="1" sz="2400">
                <a:solidFill>
                  <a:schemeClr val="tx1"/>
                </a:solidFill>
                <a:latin typeface="Arial" charset="0"/>
                <a:ea typeface="宋体" charset="0"/>
              </a:defRPr>
            </a:lvl9pPr>
          </a:lstStyle>
          <a:p>
            <a:pPr marL="0" indent="0" eaLnBrk="0" hangingPunct="0">
              <a:lnSpc>
                <a:spcPct val="150000"/>
              </a:lnSpc>
              <a:spcBef>
                <a:spcPct val="20000"/>
              </a:spcBef>
              <a:buClr>
                <a:schemeClr val="tx1"/>
              </a:buClr>
            </a:pPr>
            <a:r>
              <a:rPr lang="zh-CN" altLang="en-US" sz="2000" dirty="0">
                <a:latin typeface="Microsoft YaHei" panose="020B0503020204020204" pitchFamily="34" charset="-122"/>
                <a:ea typeface="Microsoft YaHei" panose="020B0503020204020204" pitchFamily="34" charset="-122"/>
                <a:cs typeface="微软雅黑" charset="0"/>
              </a:rPr>
              <a:t>智能网联驾驶中的核心关键技术是无线通信技术。无线通信技术决定了车际网和车载移动互联网等网络间大范围、大容量数据的交互、共享的实时性和有效性，是当前国内外技术演进的研究热点</a:t>
            </a:r>
            <a:r>
              <a:rPr lang="zh-CN" altLang="en-US" sz="2000" dirty="0" smtClean="0">
                <a:latin typeface="Microsoft YaHei" panose="020B0503020204020204" pitchFamily="34" charset="-122"/>
                <a:ea typeface="Microsoft YaHei" panose="020B0503020204020204" pitchFamily="34" charset="-122"/>
                <a:cs typeface="微软雅黑" charset="0"/>
              </a:rPr>
              <a:t>。</a:t>
            </a:r>
            <a:endParaRPr lang="en-US" altLang="zh-CN" sz="2000" dirty="0" smtClean="0">
              <a:latin typeface="Microsoft YaHei" panose="020B0503020204020204" pitchFamily="34" charset="-122"/>
              <a:ea typeface="Microsoft YaHei" panose="020B0503020204020204" pitchFamily="34" charset="-122"/>
              <a:cs typeface="微软雅黑" charset="0"/>
            </a:endParaRPr>
          </a:p>
          <a:p>
            <a:pPr marL="0" indent="0" eaLnBrk="0" hangingPunct="0">
              <a:lnSpc>
                <a:spcPct val="150000"/>
              </a:lnSpc>
              <a:spcBef>
                <a:spcPct val="20000"/>
              </a:spcBef>
              <a:buClr>
                <a:schemeClr val="tx1"/>
              </a:buClr>
            </a:pPr>
            <a:r>
              <a:rPr lang="zh-CN" altLang="en-US" sz="2000" dirty="0" smtClean="0">
                <a:latin typeface="Microsoft YaHei" panose="020B0503020204020204" pitchFamily="34" charset="-122"/>
                <a:ea typeface="Microsoft YaHei" panose="020B0503020204020204" pitchFamily="34" charset="-122"/>
                <a:cs typeface="微软雅黑" charset="0"/>
              </a:rPr>
              <a:t>主流技术：</a:t>
            </a:r>
            <a:endParaRPr lang="en-US" altLang="zh-CN" sz="2000" dirty="0" smtClean="0">
              <a:latin typeface="Microsoft YaHei" panose="020B0503020204020204" pitchFamily="34" charset="-122"/>
              <a:ea typeface="Microsoft YaHei" panose="020B0503020204020204" pitchFamily="34" charset="-122"/>
              <a:cs typeface="微软雅黑" charset="0"/>
            </a:endParaRPr>
          </a:p>
          <a:p>
            <a:pPr eaLnBrk="0" hangingPunct="0">
              <a:lnSpc>
                <a:spcPct val="150000"/>
              </a:lnSpc>
              <a:spcBef>
                <a:spcPct val="20000"/>
              </a:spcBef>
              <a:buClr>
                <a:schemeClr val="tx1"/>
              </a:buClr>
              <a:buFont typeface="Wingdings" panose="05000000000000000000" pitchFamily="2" charset="2"/>
              <a:buChar char="Ø"/>
            </a:pPr>
            <a:r>
              <a:rPr lang="zh-CN" altLang="en-US" sz="2000" b="1" dirty="0">
                <a:latin typeface="Microsoft YaHei" panose="020B0503020204020204" pitchFamily="34" charset="-122"/>
                <a:ea typeface="Microsoft YaHei" panose="020B0503020204020204" pitchFamily="34" charset="-122"/>
                <a:cs typeface="微软雅黑" charset="0"/>
              </a:rPr>
              <a:t>专用短程通信 </a:t>
            </a:r>
            <a:r>
              <a:rPr lang="en-US" altLang="zh-CN" sz="2000" b="1" dirty="0">
                <a:latin typeface="Microsoft YaHei" panose="020B0503020204020204" pitchFamily="34" charset="-122"/>
                <a:ea typeface="Microsoft YaHei" panose="020B0503020204020204" pitchFamily="34" charset="-122"/>
                <a:cs typeface="微软雅黑" charset="0"/>
              </a:rPr>
              <a:t>DSRC </a:t>
            </a:r>
            <a:r>
              <a:rPr lang="zh-CN" altLang="en-US" sz="2000" b="1" dirty="0" smtClean="0">
                <a:latin typeface="Microsoft YaHei" panose="020B0503020204020204" pitchFamily="34" charset="-122"/>
                <a:ea typeface="Microsoft YaHei" panose="020B0503020204020204" pitchFamily="34" charset="-122"/>
                <a:cs typeface="微软雅黑" charset="0"/>
              </a:rPr>
              <a:t>技术</a:t>
            </a:r>
            <a:endParaRPr lang="en-US" altLang="zh-CN" sz="2000" b="1" dirty="0" smtClean="0">
              <a:latin typeface="Microsoft YaHei" panose="020B0503020204020204" pitchFamily="34" charset="-122"/>
              <a:ea typeface="Microsoft YaHei" panose="020B0503020204020204" pitchFamily="34" charset="-122"/>
              <a:cs typeface="微软雅黑" charset="0"/>
            </a:endParaRPr>
          </a:p>
          <a:p>
            <a:pPr eaLnBrk="0" hangingPunct="0">
              <a:lnSpc>
                <a:spcPct val="150000"/>
              </a:lnSpc>
              <a:spcBef>
                <a:spcPct val="20000"/>
              </a:spcBef>
              <a:buClr>
                <a:schemeClr val="tx1"/>
              </a:buClr>
              <a:buFont typeface="Wingdings" panose="05000000000000000000" pitchFamily="2" charset="2"/>
              <a:buChar char="Ø"/>
            </a:pPr>
            <a:r>
              <a:rPr lang="zh-CN" altLang="en-US" sz="2000" b="1" dirty="0">
                <a:latin typeface="Microsoft YaHei" panose="020B0503020204020204" pitchFamily="34" charset="-122"/>
                <a:ea typeface="Microsoft YaHei" panose="020B0503020204020204" pitchFamily="34" charset="-122"/>
                <a:cs typeface="微软雅黑" charset="0"/>
              </a:rPr>
              <a:t>蜂窝车联网通信技术 </a:t>
            </a:r>
            <a:r>
              <a:rPr lang="en-US" altLang="zh-CN" sz="2000" b="1" dirty="0">
                <a:latin typeface="Microsoft YaHei" panose="020B0503020204020204" pitchFamily="34" charset="-122"/>
                <a:ea typeface="Microsoft YaHei" panose="020B0503020204020204" pitchFamily="34" charset="-122"/>
                <a:cs typeface="微软雅黑" charset="0"/>
              </a:rPr>
              <a:t>C- </a:t>
            </a:r>
            <a:r>
              <a:rPr lang="en-US" altLang="zh-CN" sz="2000" b="1" dirty="0" smtClean="0">
                <a:latin typeface="Microsoft YaHei" panose="020B0503020204020204" pitchFamily="34" charset="-122"/>
                <a:ea typeface="Microsoft YaHei" panose="020B0503020204020204" pitchFamily="34" charset="-122"/>
                <a:cs typeface="微软雅黑" charset="0"/>
              </a:rPr>
              <a:t>V2X</a:t>
            </a:r>
          </a:p>
          <a:p>
            <a:pPr marL="800100" lvl="1" indent="-342900" eaLnBrk="0" hangingPunct="0">
              <a:lnSpc>
                <a:spcPct val="150000"/>
              </a:lnSpc>
              <a:spcBef>
                <a:spcPct val="20000"/>
              </a:spcBef>
              <a:buClr>
                <a:schemeClr val="tx1"/>
              </a:buClr>
              <a:buFont typeface="Arial" panose="020B0604020202020204" pitchFamily="34" charset="0"/>
              <a:buChar char="•"/>
            </a:pPr>
            <a:r>
              <a:rPr lang="en-US" altLang="zh-CN" sz="2000" b="1" dirty="0" smtClean="0">
                <a:latin typeface="Microsoft YaHei" panose="020B0503020204020204" pitchFamily="34" charset="-122"/>
                <a:ea typeface="Microsoft YaHei" panose="020B0503020204020204" pitchFamily="34" charset="-122"/>
                <a:cs typeface="微软雅黑" charset="0"/>
              </a:rPr>
              <a:t>LTE-V2X</a:t>
            </a:r>
            <a:r>
              <a:rPr lang="zh-CN" altLang="en-US" sz="2000" dirty="0">
                <a:latin typeface="Microsoft YaHei" panose="020B0503020204020204" pitchFamily="34" charset="-122"/>
                <a:ea typeface="Microsoft YaHei" panose="020B0503020204020204" pitchFamily="34" charset="-122"/>
                <a:cs typeface="微软雅黑" charset="0"/>
              </a:rPr>
              <a:t>（基于 </a:t>
            </a:r>
            <a:r>
              <a:rPr lang="en-US" altLang="zh-CN" sz="2000" dirty="0">
                <a:latin typeface="Microsoft YaHei" panose="020B0503020204020204" pitchFamily="34" charset="-122"/>
                <a:ea typeface="Microsoft YaHei" panose="020B0503020204020204" pitchFamily="34" charset="-122"/>
                <a:cs typeface="微软雅黑" charset="0"/>
              </a:rPr>
              <a:t>4G </a:t>
            </a:r>
            <a:r>
              <a:rPr lang="zh-CN" altLang="en-US" sz="2000" dirty="0">
                <a:latin typeface="Microsoft YaHei" panose="020B0503020204020204" pitchFamily="34" charset="-122"/>
                <a:ea typeface="Microsoft YaHei" panose="020B0503020204020204" pitchFamily="34" charset="-122"/>
                <a:cs typeface="微软雅黑" charset="0"/>
              </a:rPr>
              <a:t>蜂窝网的车联网无线通信技术</a:t>
            </a:r>
            <a:r>
              <a:rPr lang="zh-CN" altLang="en-US" sz="2000" dirty="0" smtClean="0">
                <a:latin typeface="Microsoft YaHei" panose="020B0503020204020204" pitchFamily="34" charset="-122"/>
                <a:ea typeface="Microsoft YaHei" panose="020B0503020204020204" pitchFamily="34" charset="-122"/>
                <a:cs typeface="微软雅黑" charset="0"/>
              </a:rPr>
              <a:t>）</a:t>
            </a:r>
            <a:endParaRPr lang="en-US" altLang="zh-CN" sz="2000" dirty="0" smtClean="0">
              <a:latin typeface="Microsoft YaHei" panose="020B0503020204020204" pitchFamily="34" charset="-122"/>
              <a:ea typeface="Microsoft YaHei" panose="020B0503020204020204" pitchFamily="34" charset="-122"/>
              <a:cs typeface="微软雅黑" charset="0"/>
            </a:endParaRPr>
          </a:p>
          <a:p>
            <a:pPr marL="800100" lvl="1" indent="-342900" eaLnBrk="0" hangingPunct="0">
              <a:lnSpc>
                <a:spcPct val="150000"/>
              </a:lnSpc>
              <a:spcBef>
                <a:spcPct val="20000"/>
              </a:spcBef>
              <a:buClr>
                <a:schemeClr val="tx1"/>
              </a:buClr>
              <a:buFont typeface="Arial" panose="020B0604020202020204" pitchFamily="34" charset="0"/>
              <a:buChar char="•"/>
            </a:pPr>
            <a:r>
              <a:rPr lang="en-US" altLang="zh-CN" sz="2000" b="1" dirty="0">
                <a:latin typeface="Microsoft YaHei" panose="020B0503020204020204" pitchFamily="34" charset="-122"/>
                <a:ea typeface="Microsoft YaHei" panose="020B0503020204020204" pitchFamily="34" charset="-122"/>
                <a:cs typeface="微软雅黑" charset="0"/>
              </a:rPr>
              <a:t>5G-V2X</a:t>
            </a:r>
            <a:r>
              <a:rPr lang="zh-CN" altLang="en-US" sz="2000" dirty="0">
                <a:latin typeface="Microsoft YaHei" panose="020B0503020204020204" pitchFamily="34" charset="-122"/>
                <a:ea typeface="Microsoft YaHei" panose="020B0503020204020204" pitchFamily="34" charset="-122"/>
                <a:cs typeface="微软雅黑" charset="0"/>
              </a:rPr>
              <a:t>（</a:t>
            </a:r>
            <a:r>
              <a:rPr lang="en-US" altLang="zh-CN" sz="2000" dirty="0">
                <a:latin typeface="Microsoft YaHei" panose="020B0503020204020204" pitchFamily="34" charset="-122"/>
                <a:ea typeface="Microsoft YaHei" panose="020B0503020204020204" pitchFamily="34" charset="-122"/>
                <a:cs typeface="微软雅黑" charset="0"/>
              </a:rPr>
              <a:t>NR-V2X[1]</a:t>
            </a:r>
            <a:r>
              <a:rPr lang="zh-CN" altLang="en-US" sz="2000" dirty="0">
                <a:latin typeface="Microsoft YaHei" panose="020B0503020204020204" pitchFamily="34" charset="-122"/>
                <a:ea typeface="Microsoft YaHei" panose="020B0503020204020204" pitchFamily="34" charset="-122"/>
                <a:cs typeface="微软雅黑" charset="0"/>
              </a:rPr>
              <a:t>）（基于 </a:t>
            </a:r>
            <a:r>
              <a:rPr lang="en-US" altLang="zh-CN" sz="2000" dirty="0">
                <a:latin typeface="Microsoft YaHei" panose="020B0503020204020204" pitchFamily="34" charset="-122"/>
                <a:ea typeface="Microsoft YaHei" panose="020B0503020204020204" pitchFamily="34" charset="-122"/>
                <a:cs typeface="微软雅黑" charset="0"/>
              </a:rPr>
              <a:t>5G </a:t>
            </a:r>
            <a:r>
              <a:rPr lang="zh-CN" altLang="en-US" sz="2000" dirty="0">
                <a:latin typeface="Microsoft YaHei" panose="020B0503020204020204" pitchFamily="34" charset="-122"/>
                <a:ea typeface="Microsoft YaHei" panose="020B0503020204020204" pitchFamily="34" charset="-122"/>
                <a:cs typeface="微软雅黑" charset="0"/>
              </a:rPr>
              <a:t>蜂窝网的车联网无线通信技术）</a:t>
            </a:r>
            <a:endParaRPr lang="en-US" altLang="zh-CN" sz="2000" dirty="0">
              <a:latin typeface="Microsoft YaHei" panose="020B0503020204020204" pitchFamily="34" charset="-122"/>
              <a:ea typeface="Microsoft YaHei" panose="020B0503020204020204" pitchFamily="34" charset="-122"/>
              <a:cs typeface="微软雅黑" charset="0"/>
            </a:endParaRPr>
          </a:p>
        </p:txBody>
      </p:sp>
    </p:spTree>
    <p:extLst>
      <p:ext uri="{BB962C8B-B14F-4D97-AF65-F5344CB8AC3E}">
        <p14:creationId xmlns:p14="http://schemas.microsoft.com/office/powerpoint/2010/main" val="1336029254"/>
      </p:ext>
    </p:extLst>
  </p:cSld>
  <p:clrMapOvr>
    <a:masterClrMapping/>
  </p:clrMapOvr>
  <p:transition spd="slow"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blinds(horizontal)">
                                      <p:cBhvr>
                                        <p:cTn id="7"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1" descr="program-ciat2020">
            <a:extLst>
              <a:ext uri="{FF2B5EF4-FFF2-40B4-BE49-F238E27FC236}">
                <a16:creationId xmlns:a16="http://schemas.microsoft.com/office/drawing/2014/main" id="{8D9A754F-2A6A-6E49-A244-6709C633B4F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sp>
        <p:nvSpPr>
          <p:cNvPr id="3" name="标题 1">
            <a:extLst>
              <a:ext uri="{FF2B5EF4-FFF2-40B4-BE49-F238E27FC236}">
                <a16:creationId xmlns:a16="http://schemas.microsoft.com/office/drawing/2014/main" id="{774FD114-D02C-894F-B808-914D98540971}"/>
              </a:ext>
            </a:extLst>
          </p:cNvPr>
          <p:cNvSpPr txBox="1"/>
          <p:nvPr/>
        </p:nvSpPr>
        <p:spPr>
          <a:xfrm>
            <a:off x="237392" y="191297"/>
            <a:ext cx="9251576" cy="679847"/>
          </a:xfrm>
          <a:prstGeom prst="rect">
            <a:avLst/>
          </a:prstGeom>
        </p:spPr>
        <p:txBody>
          <a:bodyPr vert="horz" lIns="68580" tIns="34290" rIns="68580" bIns="34290" rtlCol="0" anchor="ctr">
            <a:normAutofit/>
          </a:bodyPr>
          <a:lstStyle/>
          <a:p>
            <a:pPr lvl="0">
              <a:spcBef>
                <a:spcPct val="0"/>
              </a:spcBef>
              <a:defRPr/>
            </a:pPr>
            <a:r>
              <a:rPr lang="en-US" altLang="zh-CN" sz="34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DSRC</a:t>
            </a:r>
            <a:r>
              <a:rPr lang="zh-CN" altLang="en-US" sz="34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技术概述</a:t>
            </a:r>
            <a:endParaRPr lang="en-US" altLang="zh-CN" sz="36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4" name="内容占位符 4">
            <a:extLst>
              <a:ext uri="{FF2B5EF4-FFF2-40B4-BE49-F238E27FC236}">
                <a16:creationId xmlns:a16="http://schemas.microsoft.com/office/drawing/2014/main" id="{D0892492-C6ED-7F41-A4B0-8A7230F79B7A}"/>
              </a:ext>
            </a:extLst>
          </p:cNvPr>
          <p:cNvSpPr txBox="1">
            <a:spLocks/>
          </p:cNvSpPr>
          <p:nvPr/>
        </p:nvSpPr>
        <p:spPr bwMode="auto">
          <a:xfrm>
            <a:off x="102205" y="1062441"/>
            <a:ext cx="8808530" cy="521546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marL="342900" indent="-342900">
              <a:defRPr kumimoji="1" sz="2400">
                <a:solidFill>
                  <a:schemeClr val="tx1"/>
                </a:solidFill>
                <a:latin typeface="Arial" charset="0"/>
                <a:ea typeface="宋体" charset="0"/>
                <a:cs typeface="宋体" charset="0"/>
              </a:defRPr>
            </a:lvl1pPr>
            <a:lvl2pPr marL="742950" indent="-285750">
              <a:defRPr kumimoji="1" sz="2400">
                <a:solidFill>
                  <a:schemeClr val="tx1"/>
                </a:solidFill>
                <a:latin typeface="Arial" charset="0"/>
                <a:ea typeface="宋体" charset="0"/>
              </a:defRPr>
            </a:lvl2pPr>
            <a:lvl3pPr marL="1143000" indent="-228600">
              <a:defRPr kumimoji="1" sz="2400">
                <a:solidFill>
                  <a:schemeClr val="tx1"/>
                </a:solidFill>
                <a:latin typeface="Arial" charset="0"/>
                <a:ea typeface="宋体" charset="0"/>
              </a:defRPr>
            </a:lvl3pPr>
            <a:lvl4pPr marL="1600200" indent="-228600">
              <a:defRPr kumimoji="1" sz="2400">
                <a:solidFill>
                  <a:schemeClr val="tx1"/>
                </a:solidFill>
                <a:latin typeface="Arial" charset="0"/>
                <a:ea typeface="宋体" charset="0"/>
              </a:defRPr>
            </a:lvl4pPr>
            <a:lvl5pPr marL="2057400" indent="-228600">
              <a:defRPr kumimoji="1" sz="2400">
                <a:solidFill>
                  <a:schemeClr val="tx1"/>
                </a:solidFill>
                <a:latin typeface="Arial" charset="0"/>
                <a:ea typeface="宋体" charset="0"/>
              </a:defRPr>
            </a:lvl5pPr>
            <a:lvl6pPr marL="2514600" indent="-228600" fontAlgn="base">
              <a:spcBef>
                <a:spcPct val="0"/>
              </a:spcBef>
              <a:spcAft>
                <a:spcPct val="0"/>
              </a:spcAft>
              <a:defRPr kumimoji="1" sz="2400">
                <a:solidFill>
                  <a:schemeClr val="tx1"/>
                </a:solidFill>
                <a:latin typeface="Arial" charset="0"/>
                <a:ea typeface="宋体" charset="0"/>
              </a:defRPr>
            </a:lvl6pPr>
            <a:lvl7pPr marL="2971800" indent="-228600" fontAlgn="base">
              <a:spcBef>
                <a:spcPct val="0"/>
              </a:spcBef>
              <a:spcAft>
                <a:spcPct val="0"/>
              </a:spcAft>
              <a:defRPr kumimoji="1" sz="2400">
                <a:solidFill>
                  <a:schemeClr val="tx1"/>
                </a:solidFill>
                <a:latin typeface="Arial" charset="0"/>
                <a:ea typeface="宋体" charset="0"/>
              </a:defRPr>
            </a:lvl7pPr>
            <a:lvl8pPr marL="3429000" indent="-228600" fontAlgn="base">
              <a:spcBef>
                <a:spcPct val="0"/>
              </a:spcBef>
              <a:spcAft>
                <a:spcPct val="0"/>
              </a:spcAft>
              <a:defRPr kumimoji="1" sz="2400">
                <a:solidFill>
                  <a:schemeClr val="tx1"/>
                </a:solidFill>
                <a:latin typeface="Arial" charset="0"/>
                <a:ea typeface="宋体" charset="0"/>
              </a:defRPr>
            </a:lvl8pPr>
            <a:lvl9pPr marL="3886200" indent="-228600" fontAlgn="base">
              <a:spcBef>
                <a:spcPct val="0"/>
              </a:spcBef>
              <a:spcAft>
                <a:spcPct val="0"/>
              </a:spcAft>
              <a:defRPr kumimoji="1" sz="2400">
                <a:solidFill>
                  <a:schemeClr val="tx1"/>
                </a:solidFill>
                <a:latin typeface="Arial" charset="0"/>
                <a:ea typeface="宋体" charset="0"/>
              </a:defRPr>
            </a:lvl9pPr>
          </a:lstStyle>
          <a:p>
            <a:pPr marL="457200" indent="-457200" algn="just" eaLnBrk="0" hangingPunct="0">
              <a:lnSpc>
                <a:spcPct val="150000"/>
              </a:lnSpc>
              <a:spcBef>
                <a:spcPct val="20000"/>
              </a:spcBef>
              <a:buClr>
                <a:schemeClr val="tx1"/>
              </a:buClr>
              <a:buFont typeface="Wingdings" charset="2"/>
              <a:buChar char="l"/>
            </a:pPr>
            <a:r>
              <a:rPr lang="zh-CN" altLang="en-US" sz="2000" b="1" dirty="0" smtClean="0">
                <a:latin typeface="Microsoft YaHei" panose="020B0503020204020204" pitchFamily="34" charset="-122"/>
                <a:ea typeface="Microsoft YaHei" panose="020B0503020204020204" pitchFamily="34" charset="-122"/>
                <a:cs typeface="微软雅黑" charset="0"/>
              </a:rPr>
              <a:t>系统构成：</a:t>
            </a:r>
            <a:r>
              <a:rPr lang="en-US" altLang="zh-CN" sz="2000" dirty="0" smtClean="0">
                <a:latin typeface="Microsoft YaHei" panose="020B0503020204020204" pitchFamily="34" charset="-122"/>
                <a:ea typeface="Microsoft YaHei" panose="020B0503020204020204" pitchFamily="34" charset="-122"/>
                <a:cs typeface="微软雅黑" charset="0"/>
              </a:rPr>
              <a:t>DSRC</a:t>
            </a:r>
            <a:r>
              <a:rPr lang="zh-CN" altLang="en-US" sz="2000" dirty="0" smtClean="0">
                <a:latin typeface="Microsoft YaHei" panose="020B0503020204020204" pitchFamily="34" charset="-122"/>
                <a:ea typeface="Microsoft YaHei" panose="020B0503020204020204" pitchFamily="34" charset="-122"/>
                <a:cs typeface="微软雅黑" charset="0"/>
              </a:rPr>
              <a:t>系统</a:t>
            </a:r>
            <a:r>
              <a:rPr lang="zh-CN" altLang="en-US" sz="2000" dirty="0">
                <a:latin typeface="Microsoft YaHei" panose="020B0503020204020204" pitchFamily="34" charset="-122"/>
                <a:ea typeface="Microsoft YaHei" panose="020B0503020204020204" pitchFamily="34" charset="-122"/>
                <a:cs typeface="微软雅黑" charset="0"/>
              </a:rPr>
              <a:t>由车载单元、路侧单元以及短程通信协议构成，基于 </a:t>
            </a:r>
            <a:r>
              <a:rPr lang="en-US" altLang="zh-CN" sz="2000" dirty="0">
                <a:latin typeface="Microsoft YaHei" panose="020B0503020204020204" pitchFamily="34" charset="-122"/>
                <a:ea typeface="Microsoft YaHei" panose="020B0503020204020204" pitchFamily="34" charset="-122"/>
                <a:cs typeface="微软雅黑" charset="0"/>
              </a:rPr>
              <a:t>IEEE802.11p </a:t>
            </a:r>
            <a:r>
              <a:rPr lang="zh-CN" altLang="en-US" sz="2000" dirty="0">
                <a:latin typeface="Microsoft YaHei" panose="020B0503020204020204" pitchFamily="34" charset="-122"/>
                <a:ea typeface="Microsoft YaHei" panose="020B0503020204020204" pitchFamily="34" charset="-122"/>
                <a:cs typeface="微软雅黑" charset="0"/>
              </a:rPr>
              <a:t>通信标准，是一种高效的短距离，可应用于 </a:t>
            </a:r>
            <a:r>
              <a:rPr lang="en-US" altLang="zh-CN" sz="2000" dirty="0">
                <a:latin typeface="Microsoft YaHei" panose="020B0503020204020204" pitchFamily="34" charset="-122"/>
                <a:ea typeface="Microsoft YaHei" panose="020B0503020204020204" pitchFamily="34" charset="-122"/>
                <a:cs typeface="微软雅黑" charset="0"/>
              </a:rPr>
              <a:t>V2X </a:t>
            </a:r>
            <a:r>
              <a:rPr lang="zh-CN" altLang="en-US" sz="2000" dirty="0">
                <a:latin typeface="Microsoft YaHei" panose="020B0503020204020204" pitchFamily="34" charset="-122"/>
                <a:ea typeface="Microsoft YaHei" panose="020B0503020204020204" pitchFamily="34" charset="-122"/>
                <a:cs typeface="微软雅黑" charset="0"/>
              </a:rPr>
              <a:t>的无线通信技术，有效覆盖区域为 </a:t>
            </a:r>
            <a:r>
              <a:rPr lang="en-US" altLang="zh-CN" sz="2000" dirty="0">
                <a:latin typeface="Microsoft YaHei" panose="020B0503020204020204" pitchFamily="34" charset="-122"/>
                <a:ea typeface="Microsoft YaHei" panose="020B0503020204020204" pitchFamily="34" charset="-122"/>
                <a:cs typeface="微软雅黑" charset="0"/>
              </a:rPr>
              <a:t>3~30 </a:t>
            </a:r>
            <a:r>
              <a:rPr lang="zh-CN" altLang="en-US" sz="2000" dirty="0" smtClean="0">
                <a:latin typeface="Microsoft YaHei" panose="020B0503020204020204" pitchFamily="34" charset="-122"/>
                <a:ea typeface="Microsoft YaHei" panose="020B0503020204020204" pitchFamily="34" charset="-122"/>
                <a:cs typeface="微软雅黑" charset="0"/>
              </a:rPr>
              <a:t>米</a:t>
            </a:r>
            <a:r>
              <a:rPr lang="zh-CN" altLang="en-US" sz="2000" dirty="0">
                <a:latin typeface="Microsoft YaHei" panose="020B0503020204020204" pitchFamily="34" charset="-122"/>
                <a:ea typeface="Microsoft YaHei" panose="020B0503020204020204" pitchFamily="34" charset="-122"/>
                <a:cs typeface="微软雅黑" charset="0"/>
              </a:rPr>
              <a:t>。</a:t>
            </a:r>
            <a:endParaRPr lang="en-US" altLang="zh-CN" sz="2000" dirty="0" smtClean="0">
              <a:latin typeface="Microsoft YaHei" panose="020B0503020204020204" pitchFamily="34" charset="-122"/>
              <a:ea typeface="Microsoft YaHei" panose="020B0503020204020204" pitchFamily="34" charset="-122"/>
              <a:cs typeface="微软雅黑" charset="0"/>
            </a:endParaRPr>
          </a:p>
          <a:p>
            <a:pPr marL="457200" indent="-457200" algn="just" eaLnBrk="0" hangingPunct="0">
              <a:lnSpc>
                <a:spcPct val="150000"/>
              </a:lnSpc>
              <a:spcBef>
                <a:spcPct val="20000"/>
              </a:spcBef>
              <a:buClr>
                <a:schemeClr val="tx1"/>
              </a:buClr>
              <a:buFont typeface="Wingdings" charset="2"/>
              <a:buChar char="l"/>
            </a:pPr>
            <a:r>
              <a:rPr lang="zh-CN" altLang="en-US" sz="2000" b="1" dirty="0" smtClean="0">
                <a:latin typeface="Microsoft YaHei" panose="020B0503020204020204" pitchFamily="34" charset="-122"/>
                <a:ea typeface="Microsoft YaHei" panose="020B0503020204020204" pitchFamily="34" charset="-122"/>
                <a:cs typeface="微软雅黑" charset="0"/>
              </a:rPr>
              <a:t>功能：</a:t>
            </a:r>
            <a:r>
              <a:rPr lang="zh-CN" altLang="en-US" sz="2000" dirty="0" smtClean="0">
                <a:latin typeface="Microsoft YaHei" panose="020B0503020204020204" pitchFamily="34" charset="-122"/>
                <a:ea typeface="Microsoft YaHei" panose="020B0503020204020204" pitchFamily="34" charset="-122"/>
                <a:cs typeface="微软雅黑" charset="0"/>
              </a:rPr>
              <a:t>主要</a:t>
            </a:r>
            <a:r>
              <a:rPr lang="zh-CN" altLang="en-US" sz="2000" dirty="0">
                <a:latin typeface="Microsoft YaHei" panose="020B0503020204020204" pitchFamily="34" charset="-122"/>
                <a:ea typeface="Microsoft YaHei" panose="020B0503020204020204" pitchFamily="34" charset="-122"/>
                <a:cs typeface="微软雅黑" charset="0"/>
              </a:rPr>
              <a:t>实现车辆和道路有机连接识别和负责在车路以及车车之间建立信息的双向传输，实时传递语音、图像等数字信息。</a:t>
            </a:r>
            <a:endParaRPr lang="en-US" altLang="zh-CN" sz="2000" dirty="0">
              <a:latin typeface="Microsoft YaHei" panose="020B0503020204020204" pitchFamily="34" charset="-122"/>
              <a:ea typeface="Microsoft YaHei" panose="020B0503020204020204" pitchFamily="34" charset="-122"/>
              <a:cs typeface="微软雅黑" charset="0"/>
            </a:endParaRPr>
          </a:p>
          <a:p>
            <a:pPr marL="457200" indent="-457200" algn="just" eaLnBrk="0" hangingPunct="0">
              <a:lnSpc>
                <a:spcPct val="150000"/>
              </a:lnSpc>
              <a:spcBef>
                <a:spcPct val="20000"/>
              </a:spcBef>
              <a:buClr>
                <a:schemeClr val="tx1"/>
              </a:buClr>
              <a:buFont typeface="Wingdings" charset="2"/>
              <a:buChar char="l"/>
            </a:pPr>
            <a:r>
              <a:rPr lang="zh-CN" altLang="en-US" sz="2000" b="1" dirty="0">
                <a:latin typeface="Microsoft YaHei" panose="020B0503020204020204" pitchFamily="34" charset="-122"/>
                <a:ea typeface="Microsoft YaHei" panose="020B0503020204020204" pitchFamily="34" charset="-122"/>
                <a:cs typeface="微软雅黑" charset="0"/>
              </a:rPr>
              <a:t>优点：</a:t>
            </a:r>
            <a:r>
              <a:rPr lang="zh-CN" altLang="en-US" sz="2000" dirty="0">
                <a:latin typeface="Microsoft YaHei" panose="020B0503020204020204" pitchFamily="34" charset="-122"/>
                <a:ea typeface="Microsoft YaHei" panose="020B0503020204020204" pitchFamily="34" charset="-122"/>
                <a:cs typeface="微软雅黑" charset="0"/>
              </a:rPr>
              <a:t>传输速度快、受干扰程度小、安全性好</a:t>
            </a:r>
            <a:r>
              <a:rPr lang="zh-CN" altLang="en-US" sz="2000" dirty="0" smtClean="0">
                <a:latin typeface="Microsoft YaHei" panose="020B0503020204020204" pitchFamily="34" charset="-122"/>
                <a:ea typeface="Microsoft YaHei" panose="020B0503020204020204" pitchFamily="34" charset="-122"/>
                <a:cs typeface="微软雅黑" charset="0"/>
              </a:rPr>
              <a:t>等。</a:t>
            </a:r>
            <a:endParaRPr lang="en-US" altLang="zh-CN" sz="2000" dirty="0">
              <a:latin typeface="Microsoft YaHei" panose="020B0503020204020204" pitchFamily="34" charset="-122"/>
              <a:ea typeface="Microsoft YaHei" panose="020B0503020204020204" pitchFamily="34" charset="-122"/>
              <a:cs typeface="微软雅黑" charset="0"/>
            </a:endParaRPr>
          </a:p>
          <a:p>
            <a:pPr marL="457200" indent="-457200" algn="just" eaLnBrk="0" hangingPunct="0">
              <a:lnSpc>
                <a:spcPct val="150000"/>
              </a:lnSpc>
              <a:spcBef>
                <a:spcPct val="20000"/>
              </a:spcBef>
              <a:buClr>
                <a:schemeClr val="tx1"/>
              </a:buClr>
              <a:buFont typeface="Wingdings" charset="2"/>
              <a:buChar char="l"/>
            </a:pPr>
            <a:r>
              <a:rPr lang="zh-CN" altLang="en-US" sz="2000" b="1" dirty="0">
                <a:latin typeface="Microsoft YaHei" panose="020B0503020204020204" pitchFamily="34" charset="-122"/>
                <a:ea typeface="Microsoft YaHei" panose="020B0503020204020204" pitchFamily="34" charset="-122"/>
                <a:cs typeface="微软雅黑" charset="0"/>
              </a:rPr>
              <a:t>缺点：</a:t>
            </a:r>
            <a:r>
              <a:rPr lang="zh-CN" altLang="en-US" sz="2000" dirty="0">
                <a:latin typeface="Microsoft YaHei" panose="020B0503020204020204" pitchFamily="34" charset="-122"/>
                <a:ea typeface="Microsoft YaHei" panose="020B0503020204020204" pitchFamily="34" charset="-122"/>
                <a:cs typeface="微软雅黑" charset="0"/>
              </a:rPr>
              <a:t>通信覆盖距离短，需要针对基础设施进行大规模改造和投入，成本</a:t>
            </a:r>
            <a:r>
              <a:rPr lang="zh-CN" altLang="en-US" sz="2000" dirty="0" smtClean="0">
                <a:latin typeface="Microsoft YaHei" panose="020B0503020204020204" pitchFamily="34" charset="-122"/>
                <a:ea typeface="Microsoft YaHei" panose="020B0503020204020204" pitchFamily="34" charset="-122"/>
                <a:cs typeface="微软雅黑" charset="0"/>
              </a:rPr>
              <a:t>较大。</a:t>
            </a:r>
            <a:endParaRPr lang="en-US" altLang="zh-TW" sz="2000" dirty="0">
              <a:latin typeface="Microsoft YaHei" panose="020B0503020204020204" pitchFamily="34" charset="-122"/>
              <a:ea typeface="Microsoft YaHei" panose="020B0503020204020204" pitchFamily="34" charset="-122"/>
              <a:cs typeface="微软雅黑" charset="0"/>
            </a:endParaRPr>
          </a:p>
        </p:txBody>
      </p:sp>
    </p:spTree>
    <p:extLst>
      <p:ext uri="{BB962C8B-B14F-4D97-AF65-F5344CB8AC3E}">
        <p14:creationId xmlns:p14="http://schemas.microsoft.com/office/powerpoint/2010/main" val="2861111095"/>
      </p:ext>
    </p:extLst>
  </p:cSld>
  <p:clrMapOvr>
    <a:masterClrMapping/>
  </p:clrMapOvr>
  <p:transition spd="slow"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52D6C05-F089-B742-A9A9-84057F6A5B02}"/>
              </a:ext>
            </a:extLst>
          </p:cNvPr>
          <p:cNvSpPr txBox="1"/>
          <p:nvPr/>
        </p:nvSpPr>
        <p:spPr>
          <a:xfrm>
            <a:off x="237392" y="191297"/>
            <a:ext cx="9251576" cy="679847"/>
          </a:xfrm>
          <a:prstGeom prst="rect">
            <a:avLst/>
          </a:prstGeom>
        </p:spPr>
        <p:txBody>
          <a:bodyPr vert="horz" lIns="68580" tIns="34290" rIns="68580" bIns="34290" rtlCol="0" anchor="ctr">
            <a:normAutofit/>
          </a:bodyPr>
          <a:lstStyle/>
          <a:p>
            <a:pPr lvl="0">
              <a:spcBef>
                <a:spcPct val="0"/>
              </a:spcBef>
              <a:defRPr/>
            </a:pPr>
            <a:r>
              <a:rPr lang="en-US" altLang="zh-CN" sz="34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DSRC</a:t>
            </a:r>
            <a:r>
              <a:rPr lang="zh-CN" altLang="en-US" sz="34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技术演进发展</a:t>
            </a:r>
            <a:endParaRPr lang="en-US" altLang="zh-CN" sz="36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4" name="文本框 3">
            <a:extLst>
              <a:ext uri="{FF2B5EF4-FFF2-40B4-BE49-F238E27FC236}">
                <a16:creationId xmlns:a16="http://schemas.microsoft.com/office/drawing/2014/main" id="{EAB54D08-7CBF-D949-AA99-25B75A538610}"/>
              </a:ext>
            </a:extLst>
          </p:cNvPr>
          <p:cNvSpPr txBox="1"/>
          <p:nvPr/>
        </p:nvSpPr>
        <p:spPr>
          <a:xfrm>
            <a:off x="323647" y="1086572"/>
            <a:ext cx="8496705" cy="4708981"/>
          </a:xfrm>
          <a:prstGeom prst="rect">
            <a:avLst/>
          </a:prstGeom>
          <a:noFill/>
        </p:spPr>
        <p:txBody>
          <a:bodyPr wrap="square">
            <a:spAutoFit/>
          </a:bodyPr>
          <a:lstStyle/>
          <a:p>
            <a:pPr marL="342900" indent="-342900">
              <a:lnSpc>
                <a:spcPct val="150000"/>
              </a:lnSpc>
              <a:buFont typeface="Wingdings" panose="05000000000000000000" pitchFamily="2" charset="2"/>
              <a:buChar char="n"/>
            </a:pPr>
            <a:r>
              <a:rPr kumimoji="1" lang="en-US" altLang="zh-CN" sz="2000" dirty="0">
                <a:latin typeface="Microsoft YaHei" panose="020B0503020204020204" pitchFamily="34" charset="-122"/>
                <a:ea typeface="Microsoft YaHei" panose="020B0503020204020204" pitchFamily="34" charset="-122"/>
                <a:cs typeface="微软雅黑" charset="0"/>
              </a:rPr>
              <a:t>1992 </a:t>
            </a:r>
            <a:r>
              <a:rPr kumimoji="1" lang="zh-CN" altLang="en-US" sz="2000" dirty="0">
                <a:latin typeface="Microsoft YaHei" panose="020B0503020204020204" pitchFamily="34" charset="-122"/>
                <a:ea typeface="Microsoft YaHei" panose="020B0503020204020204" pitchFamily="34" charset="-122"/>
                <a:cs typeface="微软雅黑" charset="0"/>
              </a:rPr>
              <a:t>年，</a:t>
            </a:r>
            <a:r>
              <a:rPr kumimoji="1" lang="zh-CN" altLang="en-US" sz="2000" dirty="0" smtClean="0">
                <a:latin typeface="Microsoft YaHei" panose="020B0503020204020204" pitchFamily="34" charset="-122"/>
                <a:ea typeface="Microsoft YaHei" panose="020B0503020204020204" pitchFamily="34" charset="-122"/>
                <a:cs typeface="微软雅黑" charset="0"/>
              </a:rPr>
              <a:t>美国材料试验学会</a:t>
            </a:r>
            <a:r>
              <a:rPr kumimoji="1" lang="en-US" altLang="zh-CN" sz="2000" dirty="0" smtClean="0">
                <a:latin typeface="Microsoft YaHei" panose="020B0503020204020204" pitchFamily="34" charset="-122"/>
                <a:ea typeface="Microsoft YaHei" panose="020B0503020204020204" pitchFamily="34" charset="-122"/>
                <a:cs typeface="微软雅黑" charset="0"/>
              </a:rPr>
              <a:t>ASTM</a:t>
            </a:r>
            <a:r>
              <a:rPr kumimoji="1" lang="zh-CN" altLang="en-US" sz="2000" dirty="0" smtClean="0">
                <a:latin typeface="Microsoft YaHei" panose="020B0503020204020204" pitchFamily="34" charset="-122"/>
                <a:ea typeface="Microsoft YaHei" panose="020B0503020204020204" pitchFamily="34" charset="-122"/>
                <a:cs typeface="微软雅黑" charset="0"/>
              </a:rPr>
              <a:t>主要</a:t>
            </a:r>
            <a:r>
              <a:rPr kumimoji="1" lang="zh-CN" altLang="en-US" sz="2000" dirty="0">
                <a:latin typeface="Microsoft YaHei" panose="020B0503020204020204" pitchFamily="34" charset="-122"/>
                <a:ea typeface="Microsoft YaHei" panose="020B0503020204020204" pitchFamily="34" charset="-122"/>
                <a:cs typeface="微软雅黑" charset="0"/>
              </a:rPr>
              <a:t>针对 </a:t>
            </a:r>
            <a:r>
              <a:rPr kumimoji="1" lang="en-US" altLang="zh-CN" sz="2000" dirty="0">
                <a:latin typeface="Microsoft YaHei" panose="020B0503020204020204" pitchFamily="34" charset="-122"/>
                <a:ea typeface="Microsoft YaHei" panose="020B0503020204020204" pitchFamily="34" charset="-122"/>
                <a:cs typeface="微软雅黑" charset="0"/>
              </a:rPr>
              <a:t>ETC </a:t>
            </a:r>
            <a:r>
              <a:rPr kumimoji="1" lang="zh-CN" altLang="en-US" sz="2000" dirty="0">
                <a:latin typeface="Microsoft YaHei" panose="020B0503020204020204" pitchFamily="34" charset="-122"/>
                <a:ea typeface="Microsoft YaHei" panose="020B0503020204020204" pitchFamily="34" charset="-122"/>
                <a:cs typeface="微软雅黑" charset="0"/>
              </a:rPr>
              <a:t>业务的开发而最先提出 </a:t>
            </a:r>
            <a:r>
              <a:rPr kumimoji="1" lang="en-US" altLang="zh-CN" sz="2000" dirty="0">
                <a:latin typeface="Microsoft YaHei" panose="020B0503020204020204" pitchFamily="34" charset="-122"/>
                <a:ea typeface="Microsoft YaHei" panose="020B0503020204020204" pitchFamily="34" charset="-122"/>
                <a:cs typeface="微软雅黑" charset="0"/>
              </a:rPr>
              <a:t>DSRC </a:t>
            </a:r>
            <a:r>
              <a:rPr kumimoji="1" lang="zh-CN" altLang="en-US" sz="2000" dirty="0">
                <a:latin typeface="Microsoft YaHei" panose="020B0503020204020204" pitchFamily="34" charset="-122"/>
                <a:ea typeface="Microsoft YaHei" panose="020B0503020204020204" pitchFamily="34" charset="-122"/>
                <a:cs typeface="微软雅黑" charset="0"/>
              </a:rPr>
              <a:t>技术的</a:t>
            </a:r>
            <a:r>
              <a:rPr kumimoji="1" lang="zh-CN" altLang="en-US" sz="2000" dirty="0" smtClean="0">
                <a:latin typeface="Microsoft YaHei" panose="020B0503020204020204" pitchFamily="34" charset="-122"/>
                <a:ea typeface="Microsoft YaHei" panose="020B0503020204020204" pitchFamily="34" charset="-122"/>
                <a:cs typeface="微软雅黑" charset="0"/>
              </a:rPr>
              <a:t>概念。</a:t>
            </a:r>
            <a:endParaRPr kumimoji="1" lang="en-US" altLang="zh-CN" sz="2000" dirty="0" smtClean="0">
              <a:latin typeface="Microsoft YaHei" panose="020B0503020204020204" pitchFamily="34" charset="-122"/>
              <a:ea typeface="Microsoft YaHei" panose="020B0503020204020204" pitchFamily="34" charset="-122"/>
              <a:cs typeface="微软雅黑" charset="0"/>
            </a:endParaRPr>
          </a:p>
          <a:p>
            <a:pPr marL="342900" indent="-342900">
              <a:lnSpc>
                <a:spcPct val="150000"/>
              </a:lnSpc>
              <a:buFont typeface="Wingdings" panose="05000000000000000000" pitchFamily="2" charset="2"/>
              <a:buChar char="n"/>
            </a:pPr>
            <a:r>
              <a:rPr kumimoji="1" lang="zh-CN" altLang="en-US" sz="2000" dirty="0" smtClean="0">
                <a:latin typeface="Microsoft YaHei" panose="020B0503020204020204" pitchFamily="34" charset="-122"/>
                <a:ea typeface="Microsoft YaHei" panose="020B0503020204020204" pitchFamily="34" charset="-122"/>
                <a:cs typeface="微软雅黑" charset="0"/>
              </a:rPr>
              <a:t>1995 </a:t>
            </a:r>
            <a:r>
              <a:rPr kumimoji="1" lang="zh-CN" altLang="en-US" sz="2000" dirty="0">
                <a:latin typeface="Microsoft YaHei" panose="020B0503020204020204" pitchFamily="34" charset="-122"/>
                <a:ea typeface="Microsoft YaHei" panose="020B0503020204020204" pitchFamily="34" charset="-122"/>
                <a:cs typeface="微软雅黑" charset="0"/>
              </a:rPr>
              <a:t>年，欧洲标准化委员会 CEN 完成了欧洲 DSRC 标准的制定。</a:t>
            </a:r>
            <a:endParaRPr kumimoji="1" lang="en-US" altLang="zh-CN" sz="2000" dirty="0">
              <a:latin typeface="Microsoft YaHei" panose="020B0503020204020204" pitchFamily="34" charset="-122"/>
              <a:ea typeface="Microsoft YaHei" panose="020B0503020204020204" pitchFamily="34" charset="-122"/>
              <a:cs typeface="微软雅黑" charset="0"/>
            </a:endParaRPr>
          </a:p>
          <a:p>
            <a:pPr marL="342900" indent="-342900">
              <a:lnSpc>
                <a:spcPct val="150000"/>
              </a:lnSpc>
              <a:buFont typeface="Wingdings" panose="05000000000000000000" pitchFamily="2" charset="2"/>
              <a:buChar char="n"/>
            </a:pPr>
            <a:r>
              <a:rPr kumimoji="1" lang="zh-CN" altLang="en-US" sz="2000" dirty="0">
                <a:latin typeface="Microsoft YaHei" panose="020B0503020204020204" pitchFamily="34" charset="-122"/>
                <a:ea typeface="Microsoft YaHei" panose="020B0503020204020204" pitchFamily="34" charset="-122"/>
                <a:cs typeface="微软雅黑" charset="0"/>
              </a:rPr>
              <a:t>1997 年，日本 TC204 委员会制定了日本的 DSRC 标准。</a:t>
            </a:r>
            <a:endParaRPr kumimoji="1" lang="en-US" altLang="zh-CN" sz="2000" dirty="0">
              <a:latin typeface="Microsoft YaHei" panose="020B0503020204020204" pitchFamily="34" charset="-122"/>
              <a:ea typeface="Microsoft YaHei" panose="020B0503020204020204" pitchFamily="34" charset="-122"/>
              <a:cs typeface="微软雅黑" charset="0"/>
            </a:endParaRPr>
          </a:p>
          <a:p>
            <a:pPr marL="342900" indent="-342900">
              <a:lnSpc>
                <a:spcPct val="150000"/>
              </a:lnSpc>
              <a:buFont typeface="Wingdings" panose="05000000000000000000" pitchFamily="2" charset="2"/>
              <a:buChar char="n"/>
            </a:pPr>
            <a:r>
              <a:rPr kumimoji="1" lang="zh-CN" altLang="en-US" sz="2000" dirty="0">
                <a:latin typeface="Microsoft YaHei" panose="020B0503020204020204" pitchFamily="34" charset="-122"/>
                <a:ea typeface="Microsoft YaHei" panose="020B0503020204020204" pitchFamily="34" charset="-122"/>
                <a:cs typeface="微软雅黑" charset="0"/>
              </a:rPr>
              <a:t>2003 年，美国材料试验学会通过了 ASTM E2213-03作为DSRC 标准。</a:t>
            </a:r>
            <a:endParaRPr kumimoji="1" lang="en-US" altLang="zh-CN" sz="2000" dirty="0">
              <a:latin typeface="Microsoft YaHei" panose="020B0503020204020204" pitchFamily="34" charset="-122"/>
              <a:ea typeface="Microsoft YaHei" panose="020B0503020204020204" pitchFamily="34" charset="-122"/>
              <a:cs typeface="微软雅黑" charset="0"/>
            </a:endParaRPr>
          </a:p>
          <a:p>
            <a:pPr marL="342900" indent="-342900">
              <a:lnSpc>
                <a:spcPct val="150000"/>
              </a:lnSpc>
              <a:buFont typeface="Wingdings" panose="05000000000000000000" pitchFamily="2" charset="2"/>
              <a:buChar char="n"/>
            </a:pPr>
            <a:r>
              <a:rPr kumimoji="1" lang="en-US" altLang="zh-CN" sz="2000" dirty="0" smtClean="0">
                <a:latin typeface="Microsoft YaHei" panose="020B0503020204020204" pitchFamily="34" charset="-122"/>
                <a:ea typeface="Microsoft YaHei" panose="020B0503020204020204" pitchFamily="34" charset="-122"/>
                <a:cs typeface="微软雅黑" charset="0"/>
              </a:rPr>
              <a:t>2003</a:t>
            </a:r>
            <a:r>
              <a:rPr kumimoji="1" lang="zh-CN" altLang="en-US" sz="2000" dirty="0" smtClean="0">
                <a:latin typeface="Microsoft YaHei" panose="020B0503020204020204" pitchFamily="34" charset="-122"/>
                <a:ea typeface="Microsoft YaHei" panose="020B0503020204020204" pitchFamily="34" charset="-122"/>
                <a:cs typeface="微软雅黑" charset="0"/>
              </a:rPr>
              <a:t>年</a:t>
            </a:r>
            <a:r>
              <a:rPr kumimoji="1" lang="zh-CN" altLang="en-US" sz="2000" dirty="0">
                <a:latin typeface="Microsoft YaHei" panose="020B0503020204020204" pitchFamily="34" charset="-122"/>
                <a:ea typeface="Microsoft YaHei" panose="020B0503020204020204" pitchFamily="34" charset="-122"/>
                <a:cs typeface="微软雅黑" charset="0"/>
              </a:rPr>
              <a:t>, IEEE 协会成立 WAVE 研究工作组正式接手 ASTM的工作，发展WAVE体系作为DSRC 标准。 </a:t>
            </a:r>
            <a:endParaRPr kumimoji="1" lang="en-US" altLang="zh-CN" sz="2000" dirty="0" smtClean="0">
              <a:latin typeface="Microsoft YaHei" panose="020B0503020204020204" pitchFamily="34" charset="-122"/>
              <a:ea typeface="Microsoft YaHei" panose="020B0503020204020204" pitchFamily="34" charset="-122"/>
              <a:cs typeface="微软雅黑" charset="0"/>
            </a:endParaRPr>
          </a:p>
          <a:p>
            <a:pPr marL="342900" indent="-342900">
              <a:lnSpc>
                <a:spcPct val="150000"/>
              </a:lnSpc>
              <a:buFont typeface="Wingdings" panose="05000000000000000000" pitchFamily="2" charset="2"/>
              <a:buChar char="n"/>
            </a:pPr>
            <a:r>
              <a:rPr kumimoji="1" lang="en-US" altLang="zh-CN" sz="2000" dirty="0">
                <a:latin typeface="Microsoft YaHei" panose="020B0503020204020204" pitchFamily="34" charset="-122"/>
                <a:ea typeface="Microsoft YaHei" panose="020B0503020204020204" pitchFamily="34" charset="-122"/>
                <a:cs typeface="微软雅黑" charset="0"/>
              </a:rPr>
              <a:t>2010 </a:t>
            </a:r>
            <a:r>
              <a:rPr kumimoji="1" lang="zh-CN" altLang="en-US" sz="2000" dirty="0">
                <a:latin typeface="Microsoft YaHei" panose="020B0503020204020204" pitchFamily="34" charset="-122"/>
                <a:ea typeface="Microsoft YaHei" panose="020B0503020204020204" pitchFamily="34" charset="-122"/>
                <a:cs typeface="微软雅黑" charset="0"/>
              </a:rPr>
              <a:t>年，</a:t>
            </a:r>
            <a:r>
              <a:rPr kumimoji="1" lang="en-US" altLang="zh-CN" sz="2000" dirty="0">
                <a:latin typeface="Microsoft YaHei" panose="020B0503020204020204" pitchFamily="34" charset="-122"/>
                <a:ea typeface="Microsoft YaHei" panose="020B0503020204020204" pitchFamily="34" charset="-122"/>
                <a:cs typeface="微软雅黑" charset="0"/>
              </a:rPr>
              <a:t>WAVE </a:t>
            </a:r>
            <a:r>
              <a:rPr kumimoji="1" lang="zh-CN" altLang="en-US" sz="2000" dirty="0">
                <a:latin typeface="Microsoft YaHei" panose="020B0503020204020204" pitchFamily="34" charset="-122"/>
                <a:ea typeface="Microsoft YaHei" panose="020B0503020204020204" pitchFamily="34" charset="-122"/>
                <a:cs typeface="微软雅黑" charset="0"/>
              </a:rPr>
              <a:t>工作组正式发布了 </a:t>
            </a:r>
            <a:r>
              <a:rPr kumimoji="1" lang="en-US" altLang="zh-CN" sz="2000" dirty="0">
                <a:latin typeface="Microsoft YaHei" panose="020B0503020204020204" pitchFamily="34" charset="-122"/>
                <a:ea typeface="Microsoft YaHei" panose="020B0503020204020204" pitchFamily="34" charset="-122"/>
                <a:cs typeface="微软雅黑" charset="0"/>
              </a:rPr>
              <a:t>IEEE 802.11p </a:t>
            </a:r>
            <a:r>
              <a:rPr kumimoji="1" lang="zh-CN" altLang="en-US" sz="2000" dirty="0">
                <a:latin typeface="Microsoft YaHei" panose="020B0503020204020204" pitchFamily="34" charset="-122"/>
                <a:ea typeface="Microsoft YaHei" panose="020B0503020204020204" pitchFamily="34" charset="-122"/>
                <a:cs typeface="微软雅黑" charset="0"/>
              </a:rPr>
              <a:t>车联网通信标准。该标准作为车载电子无线通信规范，应用于 </a:t>
            </a:r>
            <a:r>
              <a:rPr kumimoji="1" lang="en-US" altLang="zh-CN" sz="2000" dirty="0">
                <a:latin typeface="Microsoft YaHei" panose="020B0503020204020204" pitchFamily="34" charset="-122"/>
                <a:ea typeface="Microsoft YaHei" panose="020B0503020204020204" pitchFamily="34" charset="-122"/>
                <a:cs typeface="微软雅黑" charset="0"/>
              </a:rPr>
              <a:t>ITS</a:t>
            </a:r>
            <a:r>
              <a:rPr kumimoji="1" lang="zh-CN" altLang="en-US" sz="2000" dirty="0">
                <a:latin typeface="Microsoft YaHei" panose="020B0503020204020204" pitchFamily="34" charset="-122"/>
                <a:ea typeface="Microsoft YaHei" panose="020B0503020204020204" pitchFamily="34" charset="-122"/>
                <a:cs typeface="微软雅黑" charset="0"/>
              </a:rPr>
              <a:t>，成为了 </a:t>
            </a:r>
            <a:r>
              <a:rPr kumimoji="1" lang="en-US" altLang="zh-CN" sz="2000" dirty="0">
                <a:latin typeface="Microsoft YaHei" panose="020B0503020204020204" pitchFamily="34" charset="-122"/>
                <a:ea typeface="Microsoft YaHei" panose="020B0503020204020204" pitchFamily="34" charset="-122"/>
                <a:cs typeface="微软雅黑" charset="0"/>
              </a:rPr>
              <a:t>DSRC </a:t>
            </a:r>
            <a:r>
              <a:rPr kumimoji="1" lang="zh-CN" altLang="en-US" sz="2000" dirty="0">
                <a:latin typeface="Microsoft YaHei" panose="020B0503020204020204" pitchFamily="34" charset="-122"/>
                <a:ea typeface="Microsoft YaHei" panose="020B0503020204020204" pitchFamily="34" charset="-122"/>
                <a:cs typeface="微软雅黑" charset="0"/>
              </a:rPr>
              <a:t>标准下的底层协议</a:t>
            </a:r>
            <a:r>
              <a:rPr kumimoji="1" lang="zh-CN" altLang="en-US" sz="2000" dirty="0" smtClean="0">
                <a:latin typeface="Microsoft YaHei" panose="020B0503020204020204" pitchFamily="34" charset="-122"/>
                <a:ea typeface="Microsoft YaHei" panose="020B0503020204020204" pitchFamily="34" charset="-122"/>
                <a:cs typeface="微软雅黑" charset="0"/>
              </a:rPr>
              <a:t>。</a:t>
            </a:r>
            <a:endParaRPr kumimoji="1" lang="en-US" altLang="zh-CN" sz="2000" dirty="0">
              <a:latin typeface="Microsoft YaHei" panose="020B0503020204020204" pitchFamily="34" charset="-122"/>
              <a:ea typeface="Microsoft YaHei" panose="020B0503020204020204" pitchFamily="34" charset="-122"/>
              <a:cs typeface="微软雅黑" charset="0"/>
            </a:endParaRPr>
          </a:p>
        </p:txBody>
      </p:sp>
      <p:pic>
        <p:nvPicPr>
          <p:cNvPr id="5" name="Picture 11" descr="program-ciat2020">
            <a:extLst>
              <a:ext uri="{FF2B5EF4-FFF2-40B4-BE49-F238E27FC236}">
                <a16:creationId xmlns:a16="http://schemas.microsoft.com/office/drawing/2014/main" id="{844D47F7-9E41-AC44-A539-DD033DC521D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spTree>
    <p:extLst>
      <p:ext uri="{BB962C8B-B14F-4D97-AF65-F5344CB8AC3E}">
        <p14:creationId xmlns:p14="http://schemas.microsoft.com/office/powerpoint/2010/main" val="2383608060"/>
      </p:ext>
    </p:extLst>
  </p:cSld>
  <p:clrMapOvr>
    <a:masterClrMapping/>
  </p:clrMapOvr>
  <p:transition spd="slow" advClick="0"/>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60822AF-2413-5046-B072-C727568BF57E}"/>
              </a:ext>
            </a:extLst>
          </p:cNvPr>
          <p:cNvSpPr txBox="1"/>
          <p:nvPr/>
        </p:nvSpPr>
        <p:spPr>
          <a:xfrm>
            <a:off x="237392" y="191297"/>
            <a:ext cx="9251576" cy="679847"/>
          </a:xfrm>
          <a:prstGeom prst="rect">
            <a:avLst/>
          </a:prstGeom>
        </p:spPr>
        <p:txBody>
          <a:bodyPr vert="horz" lIns="68580" tIns="34290" rIns="68580" bIns="34290" rtlCol="0" anchor="ctr">
            <a:normAutofit/>
          </a:bodyPr>
          <a:lstStyle/>
          <a:p>
            <a:pPr lvl="0">
              <a:spcBef>
                <a:spcPct val="0"/>
              </a:spcBef>
              <a:defRPr/>
            </a:pPr>
            <a:r>
              <a:rPr lang="en-US" altLang="zh-CN" sz="34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DSRC</a:t>
            </a:r>
            <a:r>
              <a:rPr lang="zh-CN" altLang="en-US" sz="34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技术支持业务</a:t>
            </a:r>
            <a:endParaRPr lang="en-US" altLang="zh-CN" sz="36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pic>
        <p:nvPicPr>
          <p:cNvPr id="3" name="Picture 11" descr="program-ciat2020">
            <a:extLst>
              <a:ext uri="{FF2B5EF4-FFF2-40B4-BE49-F238E27FC236}">
                <a16:creationId xmlns:a16="http://schemas.microsoft.com/office/drawing/2014/main" id="{F17C41F9-6E3D-1F40-B0ED-CE1A2426434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sp>
        <p:nvSpPr>
          <p:cNvPr id="5" name="內容版面配置區 2">
            <a:extLst>
              <a:ext uri="{FF2B5EF4-FFF2-40B4-BE49-F238E27FC236}">
                <a16:creationId xmlns:a16="http://schemas.microsoft.com/office/drawing/2014/main" id="{930B20B9-EFA0-1545-8AF8-1D4FF9318202}"/>
              </a:ext>
            </a:extLst>
          </p:cNvPr>
          <p:cNvSpPr txBox="1">
            <a:spLocks/>
          </p:cNvSpPr>
          <p:nvPr/>
        </p:nvSpPr>
        <p:spPr>
          <a:xfrm>
            <a:off x="457200" y="1051051"/>
            <a:ext cx="8229600" cy="5372805"/>
          </a:xfrm>
          <a:prstGeom prst="rect">
            <a:avLst/>
          </a:prstGeom>
        </p:spPr>
        <p:txBody>
          <a:bodyPr>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nSpc>
                <a:spcPct val="150000"/>
              </a:lnSpc>
              <a:buFont typeface="Wingdings" pitchFamily="2" charset="2"/>
              <a:buChar char="n"/>
            </a:pPr>
            <a:r>
              <a:rPr lang="zh-CN" altLang="en-US" sz="2900" dirty="0" smtClean="0">
                <a:latin typeface="Microsoft YaHei" panose="020B0503020204020204" pitchFamily="34" charset="-122"/>
                <a:ea typeface="Microsoft YaHei" panose="020B0503020204020204" pitchFamily="34" charset="-122"/>
              </a:rPr>
              <a:t>电子收费</a:t>
            </a:r>
            <a:endParaRPr lang="en-US" altLang="zh-CN" sz="2900" dirty="0" smtClean="0">
              <a:latin typeface="Microsoft YaHei" panose="020B0503020204020204" pitchFamily="34" charset="-122"/>
              <a:ea typeface="Microsoft YaHei" panose="020B0503020204020204" pitchFamily="34" charset="-122"/>
            </a:endParaRPr>
          </a:p>
          <a:p>
            <a:pPr>
              <a:lnSpc>
                <a:spcPct val="150000"/>
              </a:lnSpc>
              <a:buFont typeface="Wingdings" pitchFamily="2" charset="2"/>
              <a:buChar char="n"/>
            </a:pPr>
            <a:r>
              <a:rPr lang="zh-CN" altLang="en-US" sz="2900" dirty="0">
                <a:latin typeface="Microsoft YaHei" panose="020B0503020204020204" pitchFamily="34" charset="-122"/>
                <a:ea typeface="Microsoft YaHei" panose="020B0503020204020204" pitchFamily="34" charset="-122"/>
              </a:rPr>
              <a:t>提供道路交通</a:t>
            </a:r>
            <a:r>
              <a:rPr lang="zh-CN" altLang="en-US" sz="2900" dirty="0" smtClean="0">
                <a:latin typeface="Microsoft YaHei" panose="020B0503020204020204" pitchFamily="34" charset="-122"/>
                <a:ea typeface="Microsoft YaHei" panose="020B0503020204020204" pitchFamily="34" charset="-122"/>
              </a:rPr>
              <a:t>信息</a:t>
            </a:r>
            <a:endParaRPr lang="en-US" altLang="zh-CN" sz="2900" dirty="0" smtClean="0">
              <a:latin typeface="Microsoft YaHei" panose="020B0503020204020204" pitchFamily="34" charset="-122"/>
              <a:ea typeface="Microsoft YaHei" panose="020B0503020204020204" pitchFamily="34" charset="-122"/>
            </a:endParaRPr>
          </a:p>
          <a:p>
            <a:pPr>
              <a:lnSpc>
                <a:spcPct val="150000"/>
              </a:lnSpc>
              <a:buFont typeface="Wingdings" pitchFamily="2" charset="2"/>
              <a:buChar char="n"/>
            </a:pPr>
            <a:r>
              <a:rPr lang="zh-CN" altLang="en-US" sz="2900" dirty="0">
                <a:latin typeface="Microsoft YaHei" panose="020B0503020204020204" pitchFamily="34" charset="-122"/>
                <a:ea typeface="Microsoft YaHei" panose="020B0503020204020204" pitchFamily="34" charset="-122"/>
              </a:rPr>
              <a:t>车辆监管及防盗</a:t>
            </a:r>
            <a:r>
              <a:rPr lang="zh-CN" altLang="en-US" sz="2900" dirty="0" smtClean="0">
                <a:latin typeface="Microsoft YaHei" panose="020B0503020204020204" pitchFamily="34" charset="-122"/>
                <a:ea typeface="Microsoft YaHei" panose="020B0503020204020204" pitchFamily="34" charset="-122"/>
              </a:rPr>
              <a:t>功能</a:t>
            </a:r>
            <a:endParaRPr lang="en-US" altLang="zh-CN" sz="2900" dirty="0" smtClean="0">
              <a:latin typeface="Microsoft YaHei" panose="020B0503020204020204" pitchFamily="34" charset="-122"/>
              <a:ea typeface="Microsoft YaHei" panose="020B0503020204020204" pitchFamily="34" charset="-122"/>
            </a:endParaRPr>
          </a:p>
          <a:p>
            <a:pPr>
              <a:lnSpc>
                <a:spcPct val="150000"/>
              </a:lnSpc>
              <a:buFont typeface="Wingdings" pitchFamily="2" charset="2"/>
              <a:buChar char="n"/>
            </a:pPr>
            <a:r>
              <a:rPr lang="zh-CN" altLang="en-US" sz="2900" dirty="0">
                <a:latin typeface="Microsoft YaHei" panose="020B0503020204020204" pitchFamily="34" charset="-122"/>
                <a:ea typeface="Microsoft YaHei" panose="020B0503020204020204" pitchFamily="34" charset="-122"/>
              </a:rPr>
              <a:t>公共交通</a:t>
            </a:r>
            <a:r>
              <a:rPr lang="zh-CN" altLang="en-US" sz="2900" dirty="0" smtClean="0">
                <a:latin typeface="Microsoft YaHei" panose="020B0503020204020204" pitchFamily="34" charset="-122"/>
                <a:ea typeface="Microsoft YaHei" panose="020B0503020204020204" pitchFamily="34" charset="-122"/>
              </a:rPr>
              <a:t>管理</a:t>
            </a:r>
            <a:endParaRPr lang="en-US" altLang="zh-CN" sz="2900" dirty="0" smtClean="0">
              <a:latin typeface="Microsoft YaHei" panose="020B0503020204020204" pitchFamily="34" charset="-122"/>
              <a:ea typeface="Microsoft YaHei" panose="020B0503020204020204" pitchFamily="34" charset="-122"/>
            </a:endParaRPr>
          </a:p>
          <a:p>
            <a:pPr>
              <a:lnSpc>
                <a:spcPct val="150000"/>
              </a:lnSpc>
              <a:buFont typeface="Wingdings" pitchFamily="2" charset="2"/>
              <a:buChar char="n"/>
            </a:pPr>
            <a:r>
              <a:rPr lang="zh-CN" altLang="en-US" sz="2900" dirty="0">
                <a:latin typeface="Microsoft YaHei" panose="020B0503020204020204" pitchFamily="34" charset="-122"/>
                <a:ea typeface="Microsoft YaHei" panose="020B0503020204020204" pitchFamily="34" charset="-122"/>
              </a:rPr>
              <a:t>安全行驶</a:t>
            </a:r>
            <a:r>
              <a:rPr lang="zh-CN" altLang="en-US" sz="2900" dirty="0" smtClean="0">
                <a:latin typeface="Microsoft YaHei" panose="020B0503020204020204" pitchFamily="34" charset="-122"/>
                <a:ea typeface="Microsoft YaHei" panose="020B0503020204020204" pitchFamily="34" charset="-122"/>
              </a:rPr>
              <a:t>支持</a:t>
            </a:r>
            <a:endParaRPr lang="en-US" altLang="zh-CN" sz="2900" dirty="0" smtClean="0">
              <a:latin typeface="Microsoft YaHei" panose="020B0503020204020204" pitchFamily="34" charset="-122"/>
              <a:ea typeface="Microsoft YaHei" panose="020B0503020204020204" pitchFamily="34" charset="-122"/>
            </a:endParaRPr>
          </a:p>
          <a:p>
            <a:pPr>
              <a:lnSpc>
                <a:spcPct val="150000"/>
              </a:lnSpc>
              <a:buFont typeface="Wingdings" pitchFamily="2" charset="2"/>
              <a:buChar char="n"/>
            </a:pPr>
            <a:r>
              <a:rPr lang="zh-CN" altLang="en-US" sz="2900" dirty="0">
                <a:latin typeface="Microsoft YaHei" panose="020B0503020204020204" pitchFamily="34" charset="-122"/>
                <a:ea typeface="Microsoft YaHei" panose="020B0503020204020204" pitchFamily="34" charset="-122"/>
              </a:rPr>
              <a:t>特种车辆管理和</a:t>
            </a:r>
            <a:r>
              <a:rPr lang="zh-CN" altLang="en-US" sz="2900" dirty="0" smtClean="0">
                <a:latin typeface="Microsoft YaHei" panose="020B0503020204020204" pitchFamily="34" charset="-122"/>
                <a:ea typeface="Microsoft YaHei" panose="020B0503020204020204" pitchFamily="34" charset="-122"/>
              </a:rPr>
              <a:t>紧急救援</a:t>
            </a:r>
            <a:endParaRPr lang="en-US" altLang="zh-CN" sz="2900" dirty="0" smtClean="0">
              <a:latin typeface="Microsoft YaHei" panose="020B0503020204020204" pitchFamily="34" charset="-122"/>
              <a:ea typeface="Microsoft YaHei" panose="020B0503020204020204" pitchFamily="34" charset="-122"/>
            </a:endParaRPr>
          </a:p>
          <a:p>
            <a:pPr>
              <a:lnSpc>
                <a:spcPct val="150000"/>
              </a:lnSpc>
              <a:buFont typeface="Wingdings" pitchFamily="2" charset="2"/>
              <a:buChar char="n"/>
            </a:pPr>
            <a:r>
              <a:rPr lang="zh-CN" altLang="en-US" sz="2900" dirty="0">
                <a:latin typeface="Microsoft YaHei" panose="020B0503020204020204" pitchFamily="34" charset="-122"/>
                <a:ea typeface="Microsoft YaHei" panose="020B0503020204020204" pitchFamily="34" charset="-122"/>
              </a:rPr>
              <a:t>为城市规划、道路规划提供交通数据</a:t>
            </a:r>
            <a:endParaRPr lang="en-US" altLang="zh-TW" sz="2900" dirty="0" smtClean="0">
              <a:latin typeface="Microsoft YaHei" panose="020B0503020204020204" pitchFamily="34" charset="-122"/>
              <a:ea typeface="Microsoft YaHei" panose="020B0503020204020204" pitchFamily="34" charset="-122"/>
            </a:endParaRPr>
          </a:p>
          <a:p>
            <a:pPr>
              <a:lnSpc>
                <a:spcPct val="80000"/>
              </a:lnSpc>
              <a:buFont typeface="Wingdings" pitchFamily="2" charset="2"/>
              <a:buChar char="n"/>
            </a:pPr>
            <a:endParaRPr lang="en-US" altLang="zh-TW" sz="2400"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2054570789"/>
      </p:ext>
    </p:extLst>
  </p:cSld>
  <p:clrMapOvr>
    <a:masterClrMapping/>
  </p:clrMapOvr>
  <p:transition spd="slow" advClick="0"/>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标题 1">
            <a:extLst>
              <a:ext uri="{FF2B5EF4-FFF2-40B4-BE49-F238E27FC236}">
                <a16:creationId xmlns:a16="http://schemas.microsoft.com/office/drawing/2014/main" id="{A1B259F4-61D9-D54A-A46D-A8AB65FCCBE6}"/>
              </a:ext>
            </a:extLst>
          </p:cNvPr>
          <p:cNvSpPr txBox="1"/>
          <p:nvPr/>
        </p:nvSpPr>
        <p:spPr>
          <a:xfrm>
            <a:off x="237392" y="191297"/>
            <a:ext cx="9251576" cy="679847"/>
          </a:xfrm>
          <a:prstGeom prst="rect">
            <a:avLst/>
          </a:prstGeom>
        </p:spPr>
        <p:txBody>
          <a:bodyPr vert="horz" lIns="68580" tIns="34290" rIns="68580" bIns="34290" rtlCol="0" anchor="ctr">
            <a:normAutofit/>
          </a:bodyPr>
          <a:lstStyle/>
          <a:p>
            <a:pPr lvl="0">
              <a:spcBef>
                <a:spcPct val="0"/>
              </a:spcBef>
              <a:defRPr/>
            </a:pPr>
            <a:r>
              <a:rPr lang="en-US" altLang="zh-CN" sz="34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LTE-V2X </a:t>
            </a:r>
            <a:r>
              <a:rPr lang="zh-CN" altLang="en-US" sz="34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技术的</a:t>
            </a:r>
            <a:r>
              <a:rPr lang="zh-CN" altLang="en-US" sz="34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定义</a:t>
            </a:r>
            <a:endParaRPr lang="en-US" altLang="zh-CN" sz="36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pic>
        <p:nvPicPr>
          <p:cNvPr id="31" name="Picture 11" descr="program-ciat2020">
            <a:extLst>
              <a:ext uri="{FF2B5EF4-FFF2-40B4-BE49-F238E27FC236}">
                <a16:creationId xmlns:a16="http://schemas.microsoft.com/office/drawing/2014/main" id="{590FEF71-8EB3-6941-9167-6129C74764E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sp>
        <p:nvSpPr>
          <p:cNvPr id="2" name="矩形 1"/>
          <p:cNvSpPr/>
          <p:nvPr/>
        </p:nvSpPr>
        <p:spPr>
          <a:xfrm>
            <a:off x="168498" y="1421797"/>
            <a:ext cx="8631036" cy="3351046"/>
          </a:xfrm>
          <a:prstGeom prst="rect">
            <a:avLst/>
          </a:prstGeom>
        </p:spPr>
        <p:txBody>
          <a:bodyPr wrap="square">
            <a:spAutoFit/>
          </a:bodyPr>
          <a:lstStyle/>
          <a:p>
            <a:pPr marL="342900" indent="-342900" algn="just">
              <a:lnSpc>
                <a:spcPct val="150000"/>
              </a:lnSpc>
              <a:buFont typeface="Wingdings" panose="05000000000000000000" pitchFamily="2" charset="2"/>
              <a:buChar char="n"/>
            </a:pPr>
            <a:r>
              <a:rPr lang="zh-CN" altLang="en-US" sz="2400" b="1" dirty="0" smtClean="0">
                <a:latin typeface="Microsoft YaHei" panose="020B0503020204020204" pitchFamily="34" charset="-122"/>
                <a:ea typeface="Microsoft YaHei" panose="020B0503020204020204" pitchFamily="34" charset="-122"/>
              </a:rPr>
              <a:t>定义</a:t>
            </a:r>
            <a:r>
              <a:rPr lang="zh-CN" altLang="en-US" sz="2400" dirty="0" smtClean="0">
                <a:latin typeface="Microsoft YaHei" panose="020B0503020204020204" pitchFamily="34" charset="-122"/>
                <a:ea typeface="Microsoft YaHei" panose="020B0503020204020204" pitchFamily="34" charset="-122"/>
              </a:rPr>
              <a:t>：</a:t>
            </a:r>
            <a:r>
              <a:rPr lang="en-US" altLang="zh-CN" sz="2400" dirty="0" smtClean="0">
                <a:latin typeface="Microsoft YaHei" panose="020B0503020204020204" pitchFamily="34" charset="-122"/>
                <a:ea typeface="Microsoft YaHei" panose="020B0503020204020204" pitchFamily="34" charset="-122"/>
              </a:rPr>
              <a:t>LTE-V2X </a:t>
            </a:r>
            <a:r>
              <a:rPr lang="zh-CN" altLang="en-US" sz="2400" dirty="0">
                <a:latin typeface="Microsoft YaHei" panose="020B0503020204020204" pitchFamily="34" charset="-122"/>
                <a:ea typeface="Microsoft YaHei" panose="020B0503020204020204" pitchFamily="34" charset="-122"/>
              </a:rPr>
              <a:t>是指基于 </a:t>
            </a:r>
            <a:r>
              <a:rPr lang="en-US" altLang="zh-CN" sz="2400" dirty="0">
                <a:latin typeface="Microsoft YaHei" panose="020B0503020204020204" pitchFamily="34" charset="-122"/>
                <a:ea typeface="Microsoft YaHei" panose="020B0503020204020204" pitchFamily="34" charset="-122"/>
              </a:rPr>
              <a:t>LTE </a:t>
            </a:r>
            <a:r>
              <a:rPr lang="zh-CN" altLang="en-US" sz="2400" dirty="0">
                <a:latin typeface="Microsoft YaHei" panose="020B0503020204020204" pitchFamily="34" charset="-122"/>
                <a:ea typeface="Microsoft YaHei" panose="020B0503020204020204" pitchFamily="34" charset="-122"/>
              </a:rPr>
              <a:t>移动通信技术演进形成的 </a:t>
            </a:r>
            <a:r>
              <a:rPr lang="en-US" altLang="zh-CN" sz="2400" dirty="0">
                <a:latin typeface="Microsoft YaHei" panose="020B0503020204020204" pitchFamily="34" charset="-122"/>
                <a:ea typeface="Microsoft YaHei" panose="020B0503020204020204" pitchFamily="34" charset="-122"/>
              </a:rPr>
              <a:t>V2X </a:t>
            </a:r>
            <a:r>
              <a:rPr lang="zh-CN" altLang="en-US" sz="2400" dirty="0">
                <a:latin typeface="Microsoft YaHei" panose="020B0503020204020204" pitchFamily="34" charset="-122"/>
                <a:ea typeface="Microsoft YaHei" panose="020B0503020204020204" pitchFamily="34" charset="-122"/>
              </a:rPr>
              <a:t>车联网无线通信技术，是</a:t>
            </a:r>
            <a:r>
              <a:rPr lang="zh-CN" altLang="en-US" sz="2400" dirty="0" smtClean="0">
                <a:latin typeface="Microsoft YaHei" panose="020B0503020204020204" pitchFamily="34" charset="-122"/>
                <a:ea typeface="Microsoft YaHei" panose="020B0503020204020204" pitchFamily="34" charset="-122"/>
              </a:rPr>
              <a:t>融合</a:t>
            </a:r>
            <a:r>
              <a:rPr lang="en-US" altLang="zh-CN" sz="2400" dirty="0" smtClean="0">
                <a:latin typeface="Microsoft YaHei" panose="020B0503020204020204" pitchFamily="34" charset="-122"/>
                <a:ea typeface="Microsoft YaHei" panose="020B0503020204020204" pitchFamily="34" charset="-122"/>
              </a:rPr>
              <a:t>LTE </a:t>
            </a:r>
            <a:r>
              <a:rPr lang="zh-CN" altLang="en-US" sz="2400" dirty="0">
                <a:latin typeface="Microsoft YaHei" panose="020B0503020204020204" pitchFamily="34" charset="-122"/>
                <a:ea typeface="Microsoft YaHei" panose="020B0503020204020204" pitchFamily="34" charset="-122"/>
              </a:rPr>
              <a:t>网络的车辆通信解决方案，支持授权频段的信息传输</a:t>
            </a:r>
            <a:r>
              <a:rPr lang="zh-CN" altLang="en-US" sz="2400" dirty="0" smtClean="0">
                <a:latin typeface="Microsoft YaHei" panose="020B0503020204020204" pitchFamily="34" charset="-122"/>
                <a:ea typeface="Microsoft YaHei" panose="020B0503020204020204" pitchFamily="34" charset="-122"/>
              </a:rPr>
              <a:t>。</a:t>
            </a:r>
            <a:endParaRPr lang="en-US" altLang="zh-CN" sz="2400" dirty="0" smtClean="0">
              <a:latin typeface="Microsoft YaHei" panose="020B0503020204020204" pitchFamily="34" charset="-122"/>
              <a:ea typeface="Microsoft YaHei" panose="020B0503020204020204" pitchFamily="34" charset="-122"/>
            </a:endParaRPr>
          </a:p>
          <a:p>
            <a:pPr marL="342900" indent="-342900" algn="just">
              <a:lnSpc>
                <a:spcPct val="150000"/>
              </a:lnSpc>
              <a:buFont typeface="Wingdings" panose="05000000000000000000" pitchFamily="2" charset="2"/>
              <a:buChar char="n"/>
            </a:pPr>
            <a:endParaRPr lang="en-US" altLang="zh-CN" sz="2400" dirty="0" smtClean="0">
              <a:latin typeface="Microsoft YaHei" panose="020B0503020204020204" pitchFamily="34" charset="-122"/>
              <a:ea typeface="Microsoft YaHei" panose="020B0503020204020204" pitchFamily="34" charset="-122"/>
            </a:endParaRPr>
          </a:p>
          <a:p>
            <a:pPr marL="342900" indent="-342900" algn="just">
              <a:lnSpc>
                <a:spcPct val="150000"/>
              </a:lnSpc>
              <a:buFont typeface="Wingdings" panose="05000000000000000000" pitchFamily="2" charset="2"/>
              <a:buChar char="n"/>
            </a:pPr>
            <a:r>
              <a:rPr lang="zh-CN" altLang="en-US" sz="2400" b="1" dirty="0" smtClean="0">
                <a:latin typeface="Microsoft YaHei" panose="020B0503020204020204" pitchFamily="34" charset="-122"/>
                <a:ea typeface="Microsoft YaHei" panose="020B0503020204020204" pitchFamily="34" charset="-122"/>
              </a:rPr>
              <a:t>工作模式</a:t>
            </a:r>
            <a:r>
              <a:rPr lang="zh-CN" altLang="en-US" sz="2400" dirty="0" smtClean="0">
                <a:latin typeface="Microsoft YaHei" panose="020B0503020204020204" pitchFamily="34" charset="-122"/>
                <a:ea typeface="Microsoft YaHei" panose="020B0503020204020204" pitchFamily="34" charset="-122"/>
              </a:rPr>
              <a:t>：</a:t>
            </a:r>
            <a:r>
              <a:rPr lang="en-US" altLang="zh-CN" sz="2400" dirty="0" smtClean="0">
                <a:latin typeface="Microsoft YaHei" panose="020B0503020204020204" pitchFamily="34" charset="-122"/>
                <a:ea typeface="Microsoft YaHei" panose="020B0503020204020204" pitchFamily="34" charset="-122"/>
              </a:rPr>
              <a:t>LTE-V2X </a:t>
            </a:r>
            <a:r>
              <a:rPr lang="zh-CN" altLang="en-US" sz="2400" dirty="0">
                <a:latin typeface="Microsoft YaHei" panose="020B0503020204020204" pitchFamily="34" charset="-122"/>
                <a:ea typeface="Microsoft YaHei" panose="020B0503020204020204" pitchFamily="34" charset="-122"/>
              </a:rPr>
              <a:t>包括蜂窝</a:t>
            </a:r>
            <a:r>
              <a:rPr lang="zh-CN" altLang="en-US" sz="2400" dirty="0" smtClean="0">
                <a:latin typeface="Microsoft YaHei" panose="020B0503020204020204" pitchFamily="34" charset="-122"/>
                <a:ea typeface="Microsoft YaHei" panose="020B0503020204020204" pitchFamily="34" charset="-122"/>
              </a:rPr>
              <a:t>通信（</a:t>
            </a:r>
            <a:r>
              <a:rPr lang="en-US" altLang="zh-CN" sz="2400" dirty="0" err="1">
                <a:latin typeface="Microsoft YaHei" panose="020B0503020204020204" pitchFamily="34" charset="-122"/>
                <a:ea typeface="Microsoft YaHei" panose="020B0503020204020204" pitchFamily="34" charset="-122"/>
              </a:rPr>
              <a:t>Uu</a:t>
            </a:r>
            <a:r>
              <a:rPr lang="zh-CN" altLang="en-US" sz="2400" dirty="0">
                <a:latin typeface="Microsoft YaHei" panose="020B0503020204020204" pitchFamily="34" charset="-122"/>
                <a:ea typeface="Microsoft YaHei" panose="020B0503020204020204" pitchFamily="34" charset="-122"/>
              </a:rPr>
              <a:t>）和直接通信（</a:t>
            </a:r>
            <a:r>
              <a:rPr lang="en-US" altLang="zh-CN" sz="2400" dirty="0">
                <a:latin typeface="Microsoft YaHei" panose="020B0503020204020204" pitchFamily="34" charset="-122"/>
                <a:ea typeface="Microsoft YaHei" panose="020B0503020204020204" pitchFamily="34" charset="-122"/>
              </a:rPr>
              <a:t>PC5</a:t>
            </a:r>
            <a:r>
              <a:rPr lang="zh-CN" altLang="en-US" sz="2400" dirty="0">
                <a:latin typeface="Microsoft YaHei" panose="020B0503020204020204" pitchFamily="34" charset="-122"/>
                <a:ea typeface="Microsoft YaHei" panose="020B0503020204020204" pitchFamily="34" charset="-122"/>
              </a:rPr>
              <a:t>）两种工作</a:t>
            </a:r>
            <a:r>
              <a:rPr lang="zh-CN" altLang="en-US" sz="2400" dirty="0" smtClean="0">
                <a:latin typeface="Microsoft YaHei" panose="020B0503020204020204" pitchFamily="34" charset="-122"/>
                <a:ea typeface="Microsoft YaHei" panose="020B0503020204020204" pitchFamily="34" charset="-122"/>
              </a:rPr>
              <a:t>模式。</a:t>
            </a:r>
            <a:endParaRPr lang="zh-CN" altLang="en-US" sz="2400" dirty="0">
              <a:latin typeface="Microsoft YaHei" panose="020B0503020204020204" pitchFamily="34" charset="-122"/>
              <a:ea typeface="Microsoft YaHei" panose="020B0503020204020204" pitchFamily="34" charset="-122"/>
            </a:endParaRPr>
          </a:p>
        </p:txBody>
      </p:sp>
      <p:sp>
        <p:nvSpPr>
          <p:cNvPr id="5" name="Rectangle 1"/>
          <p:cNvSpPr>
            <a:spLocks noChangeArrowheads="1"/>
          </p:cNvSpPr>
          <p:nvPr/>
        </p:nvSpPr>
        <p:spPr bwMode="auto">
          <a:xfrm>
            <a:off x="1979613" y="11541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200" b="0" i="0" u="none" strike="noStrike" cap="none" normalizeH="0" baseline="0" smtClean="0">
                <a:ln>
                  <a:noFill/>
                </a:ln>
                <a:solidFill>
                  <a:schemeClr val="tx1"/>
                </a:solidFill>
                <a:effectLst/>
                <a:latin typeface="Arial" panose="020B0604020202020204" pitchFamily="34" charset="0"/>
                <a:cs typeface="宋体" panose="02010600030101010101" pitchFamily="2" charset="-122"/>
              </a:rPr>
              <a:t/>
            </a:r>
            <a:br>
              <a:rPr kumimoji="0" lang="en-US" altLang="zh-CN" sz="1200" b="0" i="0" u="none" strike="noStrike" cap="none" normalizeH="0" baseline="0" smtClean="0">
                <a:ln>
                  <a:noFill/>
                </a:ln>
                <a:solidFill>
                  <a:schemeClr val="tx1"/>
                </a:solidFill>
                <a:effectLst/>
                <a:latin typeface="Arial" panose="020B0604020202020204" pitchFamily="34" charset="0"/>
                <a:cs typeface="宋体" panose="02010600030101010101" pitchFamily="2" charset="-122"/>
              </a:rPr>
            </a:br>
            <a:endParaRPr kumimoji="0" lang="en-US" altLang="zh-CN" sz="400" b="0" i="0" u="none" strike="noStrike" cap="none" normalizeH="0" baseline="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800" b="0" i="0" u="none" strike="noStrike" cap="none" normalizeH="0" baseline="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91653122"/>
      </p:ext>
    </p:extLst>
  </p:cSld>
  <p:clrMapOvr>
    <a:masterClrMapping/>
  </p:clrMapOvr>
  <p:transition spd="slow" advClick="0"/>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标题 1">
            <a:extLst>
              <a:ext uri="{FF2B5EF4-FFF2-40B4-BE49-F238E27FC236}">
                <a16:creationId xmlns:a16="http://schemas.microsoft.com/office/drawing/2014/main" id="{A1B259F4-61D9-D54A-A46D-A8AB65FCCBE6}"/>
              </a:ext>
            </a:extLst>
          </p:cNvPr>
          <p:cNvSpPr txBox="1"/>
          <p:nvPr/>
        </p:nvSpPr>
        <p:spPr>
          <a:xfrm>
            <a:off x="237392" y="191297"/>
            <a:ext cx="9251576" cy="679847"/>
          </a:xfrm>
          <a:prstGeom prst="rect">
            <a:avLst/>
          </a:prstGeom>
        </p:spPr>
        <p:txBody>
          <a:bodyPr vert="horz" lIns="68580" tIns="34290" rIns="68580" bIns="34290" rtlCol="0" anchor="ctr">
            <a:normAutofit/>
          </a:bodyPr>
          <a:lstStyle/>
          <a:p>
            <a:pPr lvl="0">
              <a:spcBef>
                <a:spcPct val="0"/>
              </a:spcBef>
              <a:defRPr/>
            </a:pPr>
            <a:r>
              <a:rPr lang="en-US" altLang="zh-CN" sz="34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LTE-V2X </a:t>
            </a:r>
            <a:r>
              <a:rPr lang="zh-CN" altLang="en-US" sz="34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技术标准体系</a:t>
            </a:r>
            <a:endParaRPr lang="en-US" altLang="zh-CN" sz="36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pic>
        <p:nvPicPr>
          <p:cNvPr id="31" name="Picture 11" descr="program-ciat2020">
            <a:extLst>
              <a:ext uri="{FF2B5EF4-FFF2-40B4-BE49-F238E27FC236}">
                <a16:creationId xmlns:a16="http://schemas.microsoft.com/office/drawing/2014/main" id="{590FEF71-8EB3-6941-9167-6129C74764E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graphicFrame>
        <p:nvGraphicFramePr>
          <p:cNvPr id="3" name="表格 2"/>
          <p:cNvGraphicFramePr>
            <a:graphicFrameLocks noGrp="1"/>
          </p:cNvGraphicFramePr>
          <p:nvPr>
            <p:extLst>
              <p:ext uri="{D42A27DB-BD31-4B8C-83A1-F6EECF244321}">
                <p14:modId xmlns:p14="http://schemas.microsoft.com/office/powerpoint/2010/main" val="2342129970"/>
              </p:ext>
            </p:extLst>
          </p:nvPr>
        </p:nvGraphicFramePr>
        <p:xfrm>
          <a:off x="237392" y="1018600"/>
          <a:ext cx="8499511" cy="5648900"/>
        </p:xfrm>
        <a:graphic>
          <a:graphicData uri="http://schemas.openxmlformats.org/drawingml/2006/table">
            <a:tbl>
              <a:tblPr firstRow="1" firstCol="1" lastRow="1" lastCol="1" bandRow="1" bandCol="1">
                <a:tableStyleId>{5C22544A-7EE6-4342-B048-85BDC9FD1C3A}</a:tableStyleId>
              </a:tblPr>
              <a:tblGrid>
                <a:gridCol w="1159260">
                  <a:extLst>
                    <a:ext uri="{9D8B030D-6E8A-4147-A177-3AD203B41FA5}">
                      <a16:colId xmlns:a16="http://schemas.microsoft.com/office/drawing/2014/main" val="2268522516"/>
                    </a:ext>
                  </a:extLst>
                </a:gridCol>
                <a:gridCol w="4816258">
                  <a:extLst>
                    <a:ext uri="{9D8B030D-6E8A-4147-A177-3AD203B41FA5}">
                      <a16:colId xmlns:a16="http://schemas.microsoft.com/office/drawing/2014/main" val="484889679"/>
                    </a:ext>
                  </a:extLst>
                </a:gridCol>
                <a:gridCol w="951978">
                  <a:extLst>
                    <a:ext uri="{9D8B030D-6E8A-4147-A177-3AD203B41FA5}">
                      <a16:colId xmlns:a16="http://schemas.microsoft.com/office/drawing/2014/main" val="796950477"/>
                    </a:ext>
                  </a:extLst>
                </a:gridCol>
                <a:gridCol w="858033">
                  <a:extLst>
                    <a:ext uri="{9D8B030D-6E8A-4147-A177-3AD203B41FA5}">
                      <a16:colId xmlns:a16="http://schemas.microsoft.com/office/drawing/2014/main" val="2408445806"/>
                    </a:ext>
                  </a:extLst>
                </a:gridCol>
                <a:gridCol w="713982">
                  <a:extLst>
                    <a:ext uri="{9D8B030D-6E8A-4147-A177-3AD203B41FA5}">
                      <a16:colId xmlns:a16="http://schemas.microsoft.com/office/drawing/2014/main" val="1118396373"/>
                    </a:ext>
                  </a:extLst>
                </a:gridCol>
              </a:tblGrid>
              <a:tr h="253365">
                <a:tc>
                  <a:txBody>
                    <a:bodyPr/>
                    <a:lstStyle/>
                    <a:p>
                      <a:pPr marR="80010" algn="ctr">
                        <a:lnSpc>
                          <a:spcPts val="1495"/>
                        </a:lnSpc>
                        <a:spcBef>
                          <a:spcPts val="400"/>
                        </a:spcBef>
                        <a:spcAft>
                          <a:spcPts val="0"/>
                        </a:spcAft>
                      </a:pPr>
                      <a:r>
                        <a:rPr lang="zh-CN" sz="1200" b="1" kern="1200" dirty="0">
                          <a:solidFill>
                            <a:schemeClr val="lt1"/>
                          </a:solidFill>
                          <a:effectLst/>
                          <a:latin typeface="+mn-lt"/>
                          <a:ea typeface="+mn-ea"/>
                          <a:cs typeface="+mn-cs"/>
                        </a:rPr>
                        <a:t>标准分类</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59690" marR="53340" algn="ctr">
                        <a:lnSpc>
                          <a:spcPts val="1495"/>
                        </a:lnSpc>
                        <a:spcBef>
                          <a:spcPts val="400"/>
                        </a:spcBef>
                        <a:spcAft>
                          <a:spcPts val="0"/>
                        </a:spcAft>
                      </a:pPr>
                      <a:r>
                        <a:rPr lang="zh-CN" sz="1200">
                          <a:effectLst/>
                        </a:rPr>
                        <a:t>标准名称</a:t>
                      </a:r>
                      <a:endParaRPr lang="zh-CN" sz="1100">
                        <a:effectLst/>
                        <a:latin typeface="宋体" panose="02010600030101010101" pitchFamily="2" charset="-122"/>
                        <a:ea typeface="宋体" panose="02010600030101010101" pitchFamily="2" charset="-122"/>
                        <a:cs typeface="宋体" panose="02010600030101010101" pitchFamily="2" charset="-122"/>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76835" marR="71120" algn="ctr">
                        <a:lnSpc>
                          <a:spcPts val="1495"/>
                        </a:lnSpc>
                        <a:spcBef>
                          <a:spcPts val="400"/>
                        </a:spcBef>
                        <a:spcAft>
                          <a:spcPts val="0"/>
                        </a:spcAft>
                      </a:pPr>
                      <a:r>
                        <a:rPr lang="zh-CN" sz="1200">
                          <a:effectLst/>
                        </a:rPr>
                        <a:t>标准等级</a:t>
                      </a:r>
                      <a:endParaRPr lang="zh-CN" sz="1100">
                        <a:effectLst/>
                        <a:latin typeface="宋体" panose="02010600030101010101" pitchFamily="2" charset="-122"/>
                        <a:ea typeface="宋体" panose="02010600030101010101" pitchFamily="2" charset="-122"/>
                        <a:cs typeface="宋体" panose="02010600030101010101" pitchFamily="2" charset="-122"/>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76835" marR="69850" algn="ctr">
                        <a:lnSpc>
                          <a:spcPts val="1495"/>
                        </a:lnSpc>
                        <a:spcBef>
                          <a:spcPts val="400"/>
                        </a:spcBef>
                        <a:spcAft>
                          <a:spcPts val="0"/>
                        </a:spcAft>
                      </a:pPr>
                      <a:r>
                        <a:rPr lang="zh-CN" sz="1200">
                          <a:effectLst/>
                        </a:rPr>
                        <a:t>标准组织</a:t>
                      </a:r>
                      <a:endParaRPr lang="zh-CN" sz="1100">
                        <a:effectLst/>
                        <a:latin typeface="宋体" panose="02010600030101010101" pitchFamily="2" charset="-122"/>
                        <a:ea typeface="宋体" panose="02010600030101010101" pitchFamily="2" charset="-122"/>
                        <a:cs typeface="宋体" panose="02010600030101010101" pitchFamily="2" charset="-122"/>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89535" marR="83185" algn="ctr">
                        <a:lnSpc>
                          <a:spcPts val="1495"/>
                        </a:lnSpc>
                        <a:spcBef>
                          <a:spcPts val="400"/>
                        </a:spcBef>
                        <a:spcAft>
                          <a:spcPts val="0"/>
                        </a:spcAft>
                      </a:pPr>
                      <a:r>
                        <a:rPr lang="zh-CN" sz="1200">
                          <a:effectLst/>
                        </a:rPr>
                        <a:t>状态</a:t>
                      </a:r>
                      <a:endParaRPr lang="zh-CN" sz="1100">
                        <a:effectLst/>
                        <a:latin typeface="宋体" panose="02010600030101010101" pitchFamily="2" charset="-122"/>
                        <a:ea typeface="宋体" panose="02010600030101010101" pitchFamily="2" charset="-122"/>
                        <a:cs typeface="宋体" panose="02010600030101010101" pitchFamily="2" charset="-122"/>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68151480"/>
                  </a:ext>
                </a:extLst>
              </a:tr>
              <a:tr h="350156">
                <a:tc>
                  <a:txBody>
                    <a:bodyPr/>
                    <a:lstStyle/>
                    <a:p>
                      <a:pPr algn="ctr">
                        <a:spcBef>
                          <a:spcPts val="55"/>
                        </a:spcBef>
                        <a:spcAft>
                          <a:spcPts val="0"/>
                        </a:spcAft>
                      </a:pPr>
                      <a:r>
                        <a:rPr lang="zh-CN" sz="1200" b="1" kern="1200" dirty="0" smtClean="0">
                          <a:solidFill>
                            <a:schemeClr val="lt1"/>
                          </a:solidFill>
                          <a:effectLst/>
                          <a:latin typeface="+mn-lt"/>
                          <a:ea typeface="+mn-ea"/>
                          <a:cs typeface="+mn-cs"/>
                        </a:rPr>
                        <a:t>总体</a:t>
                      </a:r>
                      <a:r>
                        <a:rPr lang="zh-CN" sz="1200" b="1" kern="1200" dirty="0">
                          <a:solidFill>
                            <a:schemeClr val="lt1"/>
                          </a:solidFill>
                          <a:effectLst/>
                          <a:latin typeface="+mn-lt"/>
                          <a:ea typeface="+mn-ea"/>
                          <a:cs typeface="+mn-cs"/>
                        </a:rPr>
                        <a:t>要求</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7945" marR="93980" algn="ctr">
                        <a:lnSpc>
                          <a:spcPts val="2000"/>
                        </a:lnSpc>
                        <a:spcAft>
                          <a:spcPts val="0"/>
                        </a:spcAft>
                      </a:pPr>
                      <a:r>
                        <a:rPr lang="zh-CN" sz="1000" spc="-110" dirty="0">
                          <a:effectLst/>
                          <a:latin typeface="微软雅黑" panose="020B0503020204020204" pitchFamily="34" charset="-122"/>
                          <a:ea typeface="微软雅黑" panose="020B0503020204020204" pitchFamily="34" charset="-122"/>
                        </a:rPr>
                        <a:t>基于 </a:t>
                      </a:r>
                      <a:r>
                        <a:rPr lang="en-US" sz="1000" spc="-15" dirty="0">
                          <a:effectLst/>
                          <a:latin typeface="微软雅黑" panose="020B0503020204020204" pitchFamily="34" charset="-122"/>
                          <a:ea typeface="微软雅黑" panose="020B0503020204020204" pitchFamily="34" charset="-122"/>
                        </a:rPr>
                        <a:t>LTE</a:t>
                      </a:r>
                      <a:r>
                        <a:rPr lang="en-US" sz="1000" spc="-5" dirty="0">
                          <a:effectLst/>
                          <a:latin typeface="微软雅黑" panose="020B0503020204020204" pitchFamily="34" charset="-122"/>
                          <a:ea typeface="微软雅黑" panose="020B0503020204020204" pitchFamily="34" charset="-122"/>
                        </a:rPr>
                        <a:t> </a:t>
                      </a:r>
                      <a:r>
                        <a:rPr lang="zh-CN" sz="1000" spc="-15" dirty="0">
                          <a:effectLst/>
                          <a:latin typeface="微软雅黑" panose="020B0503020204020204" pitchFamily="34" charset="-122"/>
                          <a:ea typeface="微软雅黑" panose="020B0503020204020204" pitchFamily="34" charset="-122"/>
                        </a:rPr>
                        <a:t>的车联网无线通信技术</a:t>
                      </a:r>
                      <a:r>
                        <a:rPr lang="zh-CN" sz="1000" dirty="0">
                          <a:effectLst/>
                          <a:latin typeface="微软雅黑" panose="020B0503020204020204" pitchFamily="34" charset="-122"/>
                          <a:ea typeface="微软雅黑" panose="020B0503020204020204" pitchFamily="34" charset="-122"/>
                        </a:rPr>
                        <a:t>总体技术要求</a:t>
                      </a:r>
                      <a:endParaRPr lang="zh-CN" sz="10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75565" marR="71120" algn="ctr">
                        <a:spcAft>
                          <a:spcPts val="0"/>
                        </a:spcAft>
                      </a:pPr>
                      <a:r>
                        <a:rPr lang="zh-CN" sz="1000" dirty="0" smtClean="0">
                          <a:effectLst/>
                          <a:latin typeface="微软雅黑" panose="020B0503020204020204" pitchFamily="34" charset="-122"/>
                          <a:ea typeface="微软雅黑" panose="020B0503020204020204" pitchFamily="34" charset="-122"/>
                        </a:rPr>
                        <a:t>行业</a:t>
                      </a:r>
                      <a:r>
                        <a:rPr lang="zh-CN" sz="1000" dirty="0">
                          <a:effectLst/>
                          <a:latin typeface="微软雅黑" panose="020B0503020204020204" pitchFamily="34" charset="-122"/>
                          <a:ea typeface="微软雅黑" panose="020B0503020204020204" pitchFamily="34" charset="-122"/>
                        </a:rPr>
                        <a:t>标准</a:t>
                      </a:r>
                      <a:endParaRPr lang="zh-CN" sz="10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spcBef>
                          <a:spcPts val="5"/>
                        </a:spcBef>
                        <a:spcAft>
                          <a:spcPts val="0"/>
                        </a:spcAft>
                      </a:pPr>
                      <a:r>
                        <a:rPr lang="en-US" sz="1000" dirty="0" smtClean="0">
                          <a:effectLst/>
                          <a:latin typeface="微软雅黑" panose="020B0503020204020204" pitchFamily="34" charset="-122"/>
                          <a:ea typeface="微软雅黑" panose="020B0503020204020204" pitchFamily="34" charset="-122"/>
                        </a:rPr>
                        <a:t>CCSA</a:t>
                      </a:r>
                      <a:endParaRPr lang="zh-CN" sz="10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spcBef>
                          <a:spcPts val="55"/>
                        </a:spcBef>
                        <a:spcAft>
                          <a:spcPts val="0"/>
                        </a:spcAft>
                      </a:pPr>
                      <a:r>
                        <a:rPr lang="zh-CN" sz="1000" b="0" dirty="0" smtClean="0">
                          <a:solidFill>
                            <a:schemeClr val="tx1"/>
                          </a:solidFill>
                          <a:effectLst/>
                          <a:latin typeface="微软雅黑" panose="020B0503020204020204" pitchFamily="34" charset="-122"/>
                          <a:ea typeface="微软雅黑" panose="020B0503020204020204" pitchFamily="34" charset="-122"/>
                        </a:rPr>
                        <a:t>已</a:t>
                      </a:r>
                      <a:r>
                        <a:rPr lang="zh-CN" sz="1000" b="0" dirty="0">
                          <a:solidFill>
                            <a:schemeClr val="tx1"/>
                          </a:solidFill>
                          <a:effectLst/>
                          <a:latin typeface="微软雅黑" panose="020B0503020204020204" pitchFamily="34" charset="-122"/>
                          <a:ea typeface="微软雅黑" panose="020B0503020204020204" pitchFamily="34" charset="-122"/>
                        </a:rPr>
                        <a:t>发布</a:t>
                      </a:r>
                      <a:endParaRPr lang="zh-CN" sz="1000" b="0" dirty="0">
                        <a:solidFill>
                          <a:schemeClr val="tx1"/>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3906644776"/>
                  </a:ext>
                </a:extLst>
              </a:tr>
              <a:tr h="375780">
                <a:tc rowSpan="5">
                  <a:txBody>
                    <a:bodyPr/>
                    <a:lstStyle/>
                    <a:p>
                      <a:pPr algn="ctr">
                        <a:spcAft>
                          <a:spcPts val="0"/>
                        </a:spcAft>
                      </a:pPr>
                      <a:r>
                        <a:rPr lang="zh-CN" sz="1200" b="1" kern="1200" dirty="0" smtClean="0">
                          <a:solidFill>
                            <a:schemeClr val="lt1"/>
                          </a:solidFill>
                          <a:effectLst/>
                          <a:latin typeface="+mn-lt"/>
                          <a:ea typeface="+mn-ea"/>
                          <a:cs typeface="+mn-cs"/>
                        </a:rPr>
                        <a:t>接入</a:t>
                      </a:r>
                      <a:r>
                        <a:rPr lang="zh-CN" sz="1200" b="1" kern="1200" dirty="0">
                          <a:solidFill>
                            <a:schemeClr val="lt1"/>
                          </a:solidFill>
                          <a:effectLst/>
                          <a:latin typeface="+mn-lt"/>
                          <a:ea typeface="+mn-ea"/>
                          <a:cs typeface="+mn-cs"/>
                        </a:rPr>
                        <a:t>层</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7945" marR="93980" algn="ctr">
                        <a:lnSpc>
                          <a:spcPts val="2000"/>
                        </a:lnSpc>
                        <a:spcAft>
                          <a:spcPts val="0"/>
                        </a:spcAft>
                      </a:pPr>
                      <a:r>
                        <a:rPr lang="zh-CN" sz="1000" spc="-110" dirty="0">
                          <a:effectLst/>
                          <a:latin typeface="微软雅黑" panose="020B0503020204020204" pitchFamily="34" charset="-122"/>
                          <a:ea typeface="微软雅黑" panose="020B0503020204020204" pitchFamily="34" charset="-122"/>
                        </a:rPr>
                        <a:t>基于 </a:t>
                      </a:r>
                      <a:r>
                        <a:rPr lang="en-US" sz="1000" spc="-15" dirty="0">
                          <a:effectLst/>
                          <a:latin typeface="微软雅黑" panose="020B0503020204020204" pitchFamily="34" charset="-122"/>
                          <a:ea typeface="微软雅黑" panose="020B0503020204020204" pitchFamily="34" charset="-122"/>
                        </a:rPr>
                        <a:t>LTE</a:t>
                      </a:r>
                      <a:r>
                        <a:rPr lang="en-US" sz="1000" spc="-5" dirty="0">
                          <a:effectLst/>
                          <a:latin typeface="微软雅黑" panose="020B0503020204020204" pitchFamily="34" charset="-122"/>
                          <a:ea typeface="微软雅黑" panose="020B0503020204020204" pitchFamily="34" charset="-122"/>
                        </a:rPr>
                        <a:t> </a:t>
                      </a:r>
                      <a:r>
                        <a:rPr lang="zh-CN" sz="1000" spc="-15" dirty="0">
                          <a:effectLst/>
                          <a:latin typeface="微软雅黑" panose="020B0503020204020204" pitchFamily="34" charset="-122"/>
                          <a:ea typeface="微软雅黑" panose="020B0503020204020204" pitchFamily="34" charset="-122"/>
                        </a:rPr>
                        <a:t>的车联网无线通信技术</a:t>
                      </a:r>
                      <a:r>
                        <a:rPr lang="zh-CN" sz="1000" dirty="0">
                          <a:effectLst/>
                          <a:latin typeface="微软雅黑" panose="020B0503020204020204" pitchFamily="34" charset="-122"/>
                          <a:ea typeface="微软雅黑" panose="020B0503020204020204" pitchFamily="34" charset="-122"/>
                        </a:rPr>
                        <a:t>空中接口技术要求</a:t>
                      </a:r>
                      <a:endParaRPr lang="zh-CN" sz="10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spcBef>
                          <a:spcPts val="55"/>
                        </a:spcBef>
                        <a:spcAft>
                          <a:spcPts val="0"/>
                        </a:spcAft>
                      </a:pPr>
                      <a:r>
                        <a:rPr lang="zh-CN" sz="1000" dirty="0" smtClean="0">
                          <a:effectLst/>
                          <a:latin typeface="微软雅黑" panose="020B0503020204020204" pitchFamily="34" charset="-122"/>
                          <a:ea typeface="微软雅黑" panose="020B0503020204020204" pitchFamily="34" charset="-122"/>
                        </a:rPr>
                        <a:t>行业</a:t>
                      </a:r>
                      <a:r>
                        <a:rPr lang="zh-CN" sz="1000" dirty="0">
                          <a:effectLst/>
                          <a:latin typeface="微软雅黑" panose="020B0503020204020204" pitchFamily="34" charset="-122"/>
                          <a:ea typeface="微软雅黑" panose="020B0503020204020204" pitchFamily="34" charset="-122"/>
                        </a:rPr>
                        <a:t>标准</a:t>
                      </a:r>
                      <a:endParaRPr lang="zh-CN" sz="10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spcBef>
                          <a:spcPts val="5"/>
                        </a:spcBef>
                        <a:spcAft>
                          <a:spcPts val="0"/>
                        </a:spcAft>
                      </a:pPr>
                      <a:r>
                        <a:rPr lang="en-US" sz="1000">
                          <a:effectLst/>
                          <a:latin typeface="微软雅黑" panose="020B0503020204020204" pitchFamily="34" charset="-122"/>
                          <a:ea typeface="微软雅黑" panose="020B0503020204020204" pitchFamily="34" charset="-122"/>
                        </a:rPr>
                        <a:t> </a:t>
                      </a:r>
                      <a:endParaRPr lang="zh-CN" sz="1000">
                        <a:effectLst/>
                        <a:latin typeface="微软雅黑" panose="020B0503020204020204" pitchFamily="34" charset="-122"/>
                        <a:ea typeface="微软雅黑" panose="020B0503020204020204" pitchFamily="34" charset="-122"/>
                      </a:endParaRPr>
                    </a:p>
                    <a:p>
                      <a:pPr marL="76835" marR="69850" algn="ctr">
                        <a:spcBef>
                          <a:spcPts val="5"/>
                        </a:spcBef>
                        <a:spcAft>
                          <a:spcPts val="0"/>
                        </a:spcAft>
                      </a:pPr>
                      <a:r>
                        <a:rPr lang="en-US" sz="1000">
                          <a:effectLst/>
                          <a:latin typeface="微软雅黑" panose="020B0503020204020204" pitchFamily="34" charset="-122"/>
                          <a:ea typeface="微软雅黑" panose="020B0503020204020204" pitchFamily="34" charset="-122"/>
                        </a:rPr>
                        <a:t>CCSA</a:t>
                      </a:r>
                      <a:endParaRPr lang="zh-CN" sz="1000">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spcBef>
                          <a:spcPts val="55"/>
                        </a:spcBef>
                        <a:spcAft>
                          <a:spcPts val="0"/>
                        </a:spcAft>
                      </a:pPr>
                      <a:r>
                        <a:rPr lang="en-US" sz="1000" b="0" dirty="0">
                          <a:solidFill>
                            <a:schemeClr val="tx1"/>
                          </a:solidFill>
                          <a:effectLst/>
                          <a:latin typeface="微软雅黑" panose="020B0503020204020204" pitchFamily="34" charset="-122"/>
                          <a:ea typeface="微软雅黑" panose="020B0503020204020204" pitchFamily="34" charset="-122"/>
                        </a:rPr>
                        <a:t> </a:t>
                      </a:r>
                      <a:endParaRPr lang="zh-CN" sz="1000" b="0" dirty="0">
                        <a:solidFill>
                          <a:schemeClr val="tx1"/>
                        </a:solidFill>
                        <a:effectLst/>
                        <a:latin typeface="微软雅黑" panose="020B0503020204020204" pitchFamily="34" charset="-122"/>
                        <a:ea typeface="微软雅黑" panose="020B0503020204020204" pitchFamily="34" charset="-122"/>
                      </a:endParaRPr>
                    </a:p>
                    <a:p>
                      <a:pPr marL="89535" marR="83185" algn="ctr">
                        <a:spcAft>
                          <a:spcPts val="0"/>
                        </a:spcAft>
                      </a:pPr>
                      <a:r>
                        <a:rPr lang="zh-CN" sz="1000" b="0" dirty="0">
                          <a:solidFill>
                            <a:schemeClr val="tx1"/>
                          </a:solidFill>
                          <a:effectLst/>
                          <a:latin typeface="微软雅黑" panose="020B0503020204020204" pitchFamily="34" charset="-122"/>
                          <a:ea typeface="微软雅黑" panose="020B0503020204020204" pitchFamily="34" charset="-122"/>
                        </a:rPr>
                        <a:t>已发布</a:t>
                      </a:r>
                      <a:endParaRPr lang="zh-CN" sz="1000" b="0" dirty="0">
                        <a:solidFill>
                          <a:schemeClr val="tx1"/>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43168823"/>
                  </a:ext>
                </a:extLst>
              </a:tr>
              <a:tr h="444674">
                <a:tc vMerge="1">
                  <a:txBody>
                    <a:bodyPr/>
                    <a:lstStyle/>
                    <a:p>
                      <a:endParaRPr lang="zh-CN" altLang="en-US"/>
                    </a:p>
                  </a:txBody>
                  <a:tcPr/>
                </a:tc>
                <a:tc>
                  <a:txBody>
                    <a:bodyPr/>
                    <a:lstStyle/>
                    <a:p>
                      <a:pPr marL="67945" marR="93980" algn="ctr">
                        <a:lnSpc>
                          <a:spcPts val="2000"/>
                        </a:lnSpc>
                        <a:spcAft>
                          <a:spcPts val="0"/>
                        </a:spcAft>
                      </a:pPr>
                      <a:r>
                        <a:rPr lang="zh-CN" sz="1000" spc="-110" dirty="0">
                          <a:effectLst/>
                          <a:latin typeface="微软雅黑" panose="020B0503020204020204" pitchFamily="34" charset="-122"/>
                          <a:ea typeface="微软雅黑" panose="020B0503020204020204" pitchFamily="34" charset="-122"/>
                        </a:rPr>
                        <a:t>基于 </a:t>
                      </a:r>
                      <a:r>
                        <a:rPr lang="en-US" sz="1000" spc="-15" dirty="0">
                          <a:effectLst/>
                          <a:latin typeface="微软雅黑" panose="020B0503020204020204" pitchFamily="34" charset="-122"/>
                          <a:ea typeface="微软雅黑" panose="020B0503020204020204" pitchFamily="34" charset="-122"/>
                        </a:rPr>
                        <a:t>LTE</a:t>
                      </a:r>
                      <a:r>
                        <a:rPr lang="en-US" sz="1000" spc="-5" dirty="0">
                          <a:effectLst/>
                          <a:latin typeface="微软雅黑" panose="020B0503020204020204" pitchFamily="34" charset="-122"/>
                          <a:ea typeface="微软雅黑" panose="020B0503020204020204" pitchFamily="34" charset="-122"/>
                        </a:rPr>
                        <a:t> </a:t>
                      </a:r>
                      <a:r>
                        <a:rPr lang="zh-CN" sz="1000" spc="-15" dirty="0">
                          <a:effectLst/>
                          <a:latin typeface="微软雅黑" panose="020B0503020204020204" pitchFamily="34" charset="-122"/>
                          <a:ea typeface="微软雅黑" panose="020B0503020204020204" pitchFamily="34" charset="-122"/>
                        </a:rPr>
                        <a:t>的车联网无线通信技术</a:t>
                      </a:r>
                      <a:r>
                        <a:rPr lang="zh-CN" sz="1000" dirty="0">
                          <a:effectLst/>
                          <a:latin typeface="微软雅黑" panose="020B0503020204020204" pitchFamily="34" charset="-122"/>
                          <a:ea typeface="微软雅黑" panose="020B0503020204020204" pitchFamily="34" charset="-122"/>
                        </a:rPr>
                        <a:t>支持直连通信的车载终端设备技术要求</a:t>
                      </a:r>
                      <a:endParaRPr lang="zh-CN" sz="10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spcAft>
                          <a:spcPts val="0"/>
                        </a:spcAft>
                      </a:pPr>
                      <a:r>
                        <a:rPr lang="zh-CN" sz="1000" dirty="0" smtClean="0">
                          <a:effectLst/>
                          <a:latin typeface="微软雅黑" panose="020B0503020204020204" pitchFamily="34" charset="-122"/>
                          <a:ea typeface="微软雅黑" panose="020B0503020204020204" pitchFamily="34" charset="-122"/>
                        </a:rPr>
                        <a:t>行业</a:t>
                      </a:r>
                      <a:r>
                        <a:rPr lang="zh-CN" sz="1000" dirty="0">
                          <a:effectLst/>
                          <a:latin typeface="微软雅黑" panose="020B0503020204020204" pitchFamily="34" charset="-122"/>
                          <a:ea typeface="微软雅黑" panose="020B0503020204020204" pitchFamily="34" charset="-122"/>
                        </a:rPr>
                        <a:t>标准</a:t>
                      </a:r>
                      <a:endParaRPr lang="zh-CN" sz="10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76835" marR="69850" algn="ctr">
                        <a:spcAft>
                          <a:spcPts val="0"/>
                        </a:spcAft>
                      </a:pPr>
                      <a:r>
                        <a:rPr lang="en-US" sz="1000" dirty="0" smtClean="0">
                          <a:effectLst/>
                          <a:latin typeface="微软雅黑" panose="020B0503020204020204" pitchFamily="34" charset="-122"/>
                          <a:ea typeface="微软雅黑" panose="020B0503020204020204" pitchFamily="34" charset="-122"/>
                        </a:rPr>
                        <a:t>CCSA</a:t>
                      </a:r>
                      <a:endParaRPr lang="zh-CN" sz="10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89535" marR="83185" algn="ctr">
                        <a:spcBef>
                          <a:spcPts val="865"/>
                        </a:spcBef>
                        <a:spcAft>
                          <a:spcPts val="0"/>
                        </a:spcAft>
                      </a:pPr>
                      <a:r>
                        <a:rPr lang="zh-CN" sz="1000" b="0" dirty="0" smtClean="0">
                          <a:solidFill>
                            <a:schemeClr val="tx1"/>
                          </a:solidFill>
                          <a:effectLst/>
                          <a:latin typeface="微软雅黑" panose="020B0503020204020204" pitchFamily="34" charset="-122"/>
                          <a:ea typeface="微软雅黑" panose="020B0503020204020204" pitchFamily="34" charset="-122"/>
                        </a:rPr>
                        <a:t>已发布</a:t>
                      </a:r>
                      <a:endParaRPr lang="zh-CN" sz="1000" b="0" dirty="0">
                        <a:solidFill>
                          <a:schemeClr val="tx1"/>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547503188"/>
                  </a:ext>
                </a:extLst>
              </a:tr>
              <a:tr h="388307">
                <a:tc vMerge="1">
                  <a:txBody>
                    <a:bodyPr/>
                    <a:lstStyle/>
                    <a:p>
                      <a:endParaRPr lang="zh-CN" altLang="en-US"/>
                    </a:p>
                  </a:txBody>
                  <a:tcPr/>
                </a:tc>
                <a:tc>
                  <a:txBody>
                    <a:bodyPr/>
                    <a:lstStyle/>
                    <a:p>
                      <a:pPr marL="67945" marR="93980" algn="ctr">
                        <a:lnSpc>
                          <a:spcPct val="130000"/>
                        </a:lnSpc>
                        <a:spcBef>
                          <a:spcPts val="400"/>
                        </a:spcBef>
                        <a:spcAft>
                          <a:spcPts val="0"/>
                        </a:spcAft>
                      </a:pPr>
                      <a:r>
                        <a:rPr lang="zh-CN" sz="1000" spc="-110" dirty="0">
                          <a:effectLst/>
                          <a:latin typeface="微软雅黑" panose="020B0503020204020204" pitchFamily="34" charset="-122"/>
                          <a:ea typeface="微软雅黑" panose="020B0503020204020204" pitchFamily="34" charset="-122"/>
                        </a:rPr>
                        <a:t>基于 </a:t>
                      </a:r>
                      <a:r>
                        <a:rPr lang="en-US" sz="1000" spc="-15" dirty="0">
                          <a:effectLst/>
                          <a:latin typeface="微软雅黑" panose="020B0503020204020204" pitchFamily="34" charset="-122"/>
                          <a:ea typeface="微软雅黑" panose="020B0503020204020204" pitchFamily="34" charset="-122"/>
                        </a:rPr>
                        <a:t>LTE</a:t>
                      </a:r>
                      <a:r>
                        <a:rPr lang="en-US" sz="1000" spc="-5" dirty="0">
                          <a:effectLst/>
                          <a:latin typeface="微软雅黑" panose="020B0503020204020204" pitchFamily="34" charset="-122"/>
                          <a:ea typeface="微软雅黑" panose="020B0503020204020204" pitchFamily="34" charset="-122"/>
                        </a:rPr>
                        <a:t> </a:t>
                      </a:r>
                      <a:r>
                        <a:rPr lang="zh-CN" sz="1000" spc="-15" dirty="0">
                          <a:effectLst/>
                          <a:latin typeface="微软雅黑" panose="020B0503020204020204" pitchFamily="34" charset="-122"/>
                          <a:ea typeface="微软雅黑" panose="020B0503020204020204" pitchFamily="34" charset="-122"/>
                        </a:rPr>
                        <a:t>的车联网无线通信技术</a:t>
                      </a:r>
                      <a:r>
                        <a:rPr lang="zh-CN" sz="1000" dirty="0">
                          <a:effectLst/>
                          <a:latin typeface="微软雅黑" panose="020B0503020204020204" pitchFamily="34" charset="-122"/>
                          <a:ea typeface="微软雅黑" panose="020B0503020204020204" pitchFamily="34" charset="-122"/>
                        </a:rPr>
                        <a:t>支持直连通信的终端设备测试</a:t>
                      </a:r>
                      <a:r>
                        <a:rPr lang="zh-CN" sz="1000" dirty="0" smtClean="0">
                          <a:effectLst/>
                          <a:latin typeface="微软雅黑" panose="020B0503020204020204" pitchFamily="34" charset="-122"/>
                          <a:ea typeface="微软雅黑" panose="020B0503020204020204" pitchFamily="34" charset="-122"/>
                        </a:rPr>
                        <a:t>方法</a:t>
                      </a:r>
                      <a:endParaRPr lang="zh-CN" sz="10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spcAft>
                          <a:spcPts val="0"/>
                        </a:spcAft>
                      </a:pPr>
                      <a:r>
                        <a:rPr lang="zh-CN" sz="1000" dirty="0" smtClean="0">
                          <a:effectLst/>
                          <a:latin typeface="微软雅黑" panose="020B0503020204020204" pitchFamily="34" charset="-122"/>
                          <a:ea typeface="微软雅黑" panose="020B0503020204020204" pitchFamily="34" charset="-122"/>
                        </a:rPr>
                        <a:t>行业</a:t>
                      </a:r>
                      <a:r>
                        <a:rPr lang="zh-CN" sz="1000" dirty="0">
                          <a:effectLst/>
                          <a:latin typeface="微软雅黑" panose="020B0503020204020204" pitchFamily="34" charset="-122"/>
                          <a:ea typeface="微软雅黑" panose="020B0503020204020204" pitchFamily="34" charset="-122"/>
                        </a:rPr>
                        <a:t>标准</a:t>
                      </a:r>
                      <a:endParaRPr lang="zh-CN" sz="10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spcBef>
                          <a:spcPts val="40"/>
                        </a:spcBef>
                        <a:spcAft>
                          <a:spcPts val="0"/>
                        </a:spcAft>
                      </a:pPr>
                      <a:r>
                        <a:rPr lang="en-US" sz="1000" dirty="0" smtClean="0">
                          <a:effectLst/>
                          <a:latin typeface="微软雅黑" panose="020B0503020204020204" pitchFamily="34" charset="-122"/>
                          <a:ea typeface="微软雅黑" panose="020B0503020204020204" pitchFamily="34" charset="-122"/>
                        </a:rPr>
                        <a:t>CCSA</a:t>
                      </a:r>
                      <a:endParaRPr lang="zh-CN" sz="10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spcAft>
                          <a:spcPts val="0"/>
                        </a:spcAft>
                      </a:pPr>
                      <a:r>
                        <a:rPr lang="zh-CN" sz="1000" b="0" dirty="0" smtClean="0">
                          <a:solidFill>
                            <a:schemeClr val="tx1"/>
                          </a:solidFill>
                          <a:effectLst/>
                          <a:latin typeface="微软雅黑" panose="020B0503020204020204" pitchFamily="34" charset="-122"/>
                          <a:ea typeface="微软雅黑" panose="020B0503020204020204" pitchFamily="34" charset="-122"/>
                        </a:rPr>
                        <a:t>已</a:t>
                      </a:r>
                      <a:r>
                        <a:rPr lang="zh-CN" sz="1000" b="0" dirty="0">
                          <a:solidFill>
                            <a:schemeClr val="tx1"/>
                          </a:solidFill>
                          <a:effectLst/>
                          <a:latin typeface="微软雅黑" panose="020B0503020204020204" pitchFamily="34" charset="-122"/>
                          <a:ea typeface="微软雅黑" panose="020B0503020204020204" pitchFamily="34" charset="-122"/>
                        </a:rPr>
                        <a:t>发布</a:t>
                      </a:r>
                      <a:endParaRPr lang="zh-CN" sz="1000" b="0" dirty="0">
                        <a:solidFill>
                          <a:schemeClr val="tx1"/>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658830745"/>
                  </a:ext>
                </a:extLst>
              </a:tr>
              <a:tr h="369518">
                <a:tc vMerge="1">
                  <a:txBody>
                    <a:bodyPr/>
                    <a:lstStyle/>
                    <a:p>
                      <a:endParaRPr lang="zh-CN" altLang="en-US"/>
                    </a:p>
                  </a:txBody>
                  <a:tcPr/>
                </a:tc>
                <a:tc>
                  <a:txBody>
                    <a:bodyPr/>
                    <a:lstStyle/>
                    <a:p>
                      <a:pPr marL="67945" algn="ctr">
                        <a:spcBef>
                          <a:spcPts val="400"/>
                        </a:spcBef>
                        <a:spcAft>
                          <a:spcPts val="0"/>
                        </a:spcAft>
                      </a:pPr>
                      <a:r>
                        <a:rPr lang="zh-CN" sz="1000" spc="-110" dirty="0">
                          <a:effectLst/>
                          <a:latin typeface="微软雅黑" panose="020B0503020204020204" pitchFamily="34" charset="-122"/>
                          <a:ea typeface="微软雅黑" panose="020B0503020204020204" pitchFamily="34" charset="-122"/>
                        </a:rPr>
                        <a:t>基于 </a:t>
                      </a:r>
                      <a:r>
                        <a:rPr lang="en-US" sz="1000" spc="-10" dirty="0">
                          <a:effectLst/>
                          <a:latin typeface="微软雅黑" panose="020B0503020204020204" pitchFamily="34" charset="-122"/>
                          <a:ea typeface="微软雅黑" panose="020B0503020204020204" pitchFamily="34" charset="-122"/>
                        </a:rPr>
                        <a:t>LTE</a:t>
                      </a:r>
                      <a:r>
                        <a:rPr lang="en-US" sz="1000" spc="-5" dirty="0">
                          <a:effectLst/>
                          <a:latin typeface="微软雅黑" panose="020B0503020204020204" pitchFamily="34" charset="-122"/>
                          <a:ea typeface="微软雅黑" panose="020B0503020204020204" pitchFamily="34" charset="-122"/>
                        </a:rPr>
                        <a:t> </a:t>
                      </a:r>
                      <a:r>
                        <a:rPr lang="zh-CN" sz="1000" spc="-10" dirty="0">
                          <a:effectLst/>
                          <a:latin typeface="微软雅黑" panose="020B0503020204020204" pitchFamily="34" charset="-122"/>
                          <a:ea typeface="微软雅黑" panose="020B0503020204020204" pitchFamily="34" charset="-122"/>
                        </a:rPr>
                        <a:t>的车联网无线通信</a:t>
                      </a:r>
                      <a:r>
                        <a:rPr lang="zh-CN" sz="1000" spc="-10" dirty="0" smtClean="0">
                          <a:effectLst/>
                          <a:latin typeface="微软雅黑" panose="020B0503020204020204" pitchFamily="34" charset="-122"/>
                          <a:ea typeface="微软雅黑" panose="020B0503020204020204" pitchFamily="34" charset="-122"/>
                        </a:rPr>
                        <a:t>技术</a:t>
                      </a:r>
                      <a:r>
                        <a:rPr lang="zh-CN" altLang="en-US" sz="1000" spc="-10" baseline="0" dirty="0" smtClean="0">
                          <a:effectLst/>
                          <a:latin typeface="微软雅黑" panose="020B0503020204020204" pitchFamily="34" charset="-122"/>
                          <a:ea typeface="微软雅黑" panose="020B0503020204020204" pitchFamily="34" charset="-122"/>
                        </a:rPr>
                        <a:t> </a:t>
                      </a:r>
                      <a:r>
                        <a:rPr lang="zh-CN" sz="1000" spc="-5" dirty="0" smtClean="0">
                          <a:effectLst/>
                          <a:latin typeface="微软雅黑" panose="020B0503020204020204" pitchFamily="34" charset="-122"/>
                          <a:ea typeface="微软雅黑" panose="020B0503020204020204" pitchFamily="34" charset="-122"/>
                        </a:rPr>
                        <a:t>支持</a:t>
                      </a:r>
                      <a:r>
                        <a:rPr lang="zh-CN" sz="1000" spc="-5" dirty="0">
                          <a:effectLst/>
                          <a:latin typeface="微软雅黑" panose="020B0503020204020204" pitchFamily="34" charset="-122"/>
                          <a:ea typeface="微软雅黑" panose="020B0503020204020204" pitchFamily="34" charset="-122"/>
                        </a:rPr>
                        <a:t>直连通信的路侧设备技术要</a:t>
                      </a:r>
                      <a:r>
                        <a:rPr lang="zh-CN" sz="1000" dirty="0">
                          <a:effectLst/>
                          <a:latin typeface="微软雅黑" panose="020B0503020204020204" pitchFamily="34" charset="-122"/>
                          <a:ea typeface="微软雅黑" panose="020B0503020204020204" pitchFamily="34" charset="-122"/>
                        </a:rPr>
                        <a:t>求</a:t>
                      </a:r>
                      <a:endParaRPr lang="zh-CN" sz="10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spcAft>
                          <a:spcPts val="0"/>
                        </a:spcAft>
                      </a:pPr>
                      <a:r>
                        <a:rPr lang="zh-CN" sz="1000" dirty="0" smtClean="0">
                          <a:effectLst/>
                          <a:latin typeface="微软雅黑" panose="020B0503020204020204" pitchFamily="34" charset="-122"/>
                          <a:ea typeface="微软雅黑" panose="020B0503020204020204" pitchFamily="34" charset="-122"/>
                        </a:rPr>
                        <a:t>行业</a:t>
                      </a:r>
                      <a:r>
                        <a:rPr lang="zh-CN" sz="1000" dirty="0">
                          <a:effectLst/>
                          <a:latin typeface="微软雅黑" panose="020B0503020204020204" pitchFamily="34" charset="-122"/>
                          <a:ea typeface="微软雅黑" panose="020B0503020204020204" pitchFamily="34" charset="-122"/>
                        </a:rPr>
                        <a:t>标准</a:t>
                      </a:r>
                      <a:endParaRPr lang="zh-CN" sz="10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spcBef>
                          <a:spcPts val="50"/>
                        </a:spcBef>
                        <a:spcAft>
                          <a:spcPts val="0"/>
                        </a:spcAft>
                      </a:pPr>
                      <a:r>
                        <a:rPr lang="en-US" sz="1000" dirty="0" smtClean="0">
                          <a:effectLst/>
                          <a:latin typeface="微软雅黑" panose="020B0503020204020204" pitchFamily="34" charset="-122"/>
                          <a:ea typeface="微软雅黑" panose="020B0503020204020204" pitchFamily="34" charset="-122"/>
                        </a:rPr>
                        <a:t>CCSA</a:t>
                      </a:r>
                      <a:endParaRPr lang="zh-CN" sz="10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spcAft>
                          <a:spcPts val="0"/>
                        </a:spcAft>
                      </a:pPr>
                      <a:r>
                        <a:rPr lang="zh-CN" sz="1000" b="0" dirty="0" smtClean="0">
                          <a:solidFill>
                            <a:schemeClr val="tx1"/>
                          </a:solidFill>
                          <a:effectLst/>
                          <a:latin typeface="微软雅黑" panose="020B0503020204020204" pitchFamily="34" charset="-122"/>
                          <a:ea typeface="微软雅黑" panose="020B0503020204020204" pitchFamily="34" charset="-122"/>
                        </a:rPr>
                        <a:t>已</a:t>
                      </a:r>
                      <a:r>
                        <a:rPr lang="zh-CN" sz="1000" b="0" dirty="0">
                          <a:solidFill>
                            <a:schemeClr val="tx1"/>
                          </a:solidFill>
                          <a:effectLst/>
                          <a:latin typeface="微软雅黑" panose="020B0503020204020204" pitchFamily="34" charset="-122"/>
                          <a:ea typeface="微软雅黑" panose="020B0503020204020204" pitchFamily="34" charset="-122"/>
                        </a:rPr>
                        <a:t>发布</a:t>
                      </a:r>
                      <a:endParaRPr lang="zh-CN" sz="1000" b="0" dirty="0">
                        <a:solidFill>
                          <a:schemeClr val="tx1"/>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536432883"/>
                  </a:ext>
                </a:extLst>
              </a:tr>
              <a:tr h="254000">
                <a:tc vMerge="1">
                  <a:txBody>
                    <a:bodyPr/>
                    <a:lstStyle/>
                    <a:p>
                      <a:endParaRPr lang="zh-CN" altLang="en-US"/>
                    </a:p>
                  </a:txBody>
                  <a:tcPr/>
                </a:tc>
                <a:tc>
                  <a:txBody>
                    <a:bodyPr/>
                    <a:lstStyle/>
                    <a:p>
                      <a:pPr marL="59690" marR="85090" algn="ctr">
                        <a:lnSpc>
                          <a:spcPts val="1495"/>
                        </a:lnSpc>
                        <a:spcBef>
                          <a:spcPts val="405"/>
                        </a:spcBef>
                        <a:spcAft>
                          <a:spcPts val="0"/>
                        </a:spcAft>
                      </a:pPr>
                      <a:r>
                        <a:rPr lang="zh-CN" sz="1000" spc="-110" dirty="0">
                          <a:effectLst/>
                          <a:latin typeface="微软雅黑" panose="020B0503020204020204" pitchFamily="34" charset="-122"/>
                          <a:ea typeface="微软雅黑" panose="020B0503020204020204" pitchFamily="34" charset="-122"/>
                        </a:rPr>
                        <a:t>基于 </a:t>
                      </a:r>
                      <a:r>
                        <a:rPr lang="en-US" sz="1000" spc="-10" dirty="0">
                          <a:effectLst/>
                          <a:latin typeface="微软雅黑" panose="020B0503020204020204" pitchFamily="34" charset="-122"/>
                          <a:ea typeface="微软雅黑" panose="020B0503020204020204" pitchFamily="34" charset="-122"/>
                        </a:rPr>
                        <a:t>LTE</a:t>
                      </a:r>
                      <a:r>
                        <a:rPr lang="en-US" sz="1000" spc="-5" dirty="0">
                          <a:effectLst/>
                          <a:latin typeface="微软雅黑" panose="020B0503020204020204" pitchFamily="34" charset="-122"/>
                          <a:ea typeface="微软雅黑" panose="020B0503020204020204" pitchFamily="34" charset="-122"/>
                        </a:rPr>
                        <a:t> </a:t>
                      </a:r>
                      <a:r>
                        <a:rPr lang="zh-CN" sz="1000" spc="-10" dirty="0">
                          <a:effectLst/>
                          <a:latin typeface="微软雅黑" panose="020B0503020204020204" pitchFamily="34" charset="-122"/>
                          <a:ea typeface="微软雅黑" panose="020B0503020204020204" pitchFamily="34" charset="-122"/>
                        </a:rPr>
                        <a:t>的车联网无线通信</a:t>
                      </a:r>
                      <a:r>
                        <a:rPr lang="zh-CN" sz="1000" spc="-10" dirty="0" smtClean="0">
                          <a:effectLst/>
                          <a:latin typeface="微软雅黑" panose="020B0503020204020204" pitchFamily="34" charset="-122"/>
                          <a:ea typeface="微软雅黑" panose="020B0503020204020204" pitchFamily="34" charset="-122"/>
                        </a:rPr>
                        <a:t>技术</a:t>
                      </a:r>
                      <a:r>
                        <a:rPr lang="en-US" altLang="zh-CN" sz="1000" spc="-10" dirty="0" smtClean="0">
                          <a:effectLst/>
                          <a:latin typeface="微软雅黑" panose="020B0503020204020204" pitchFamily="34" charset="-122"/>
                          <a:ea typeface="微软雅黑" panose="020B0503020204020204" pitchFamily="34" charset="-122"/>
                        </a:rPr>
                        <a:t> </a:t>
                      </a:r>
                      <a:r>
                        <a:rPr lang="zh-CN" altLang="en-US" sz="1000" dirty="0" smtClean="0">
                          <a:effectLst/>
                          <a:latin typeface="微软雅黑" panose="020B0503020204020204" pitchFamily="34" charset="-122"/>
                          <a:ea typeface="微软雅黑" panose="020B0503020204020204" pitchFamily="34" charset="-122"/>
                          <a:cs typeface="宋体" panose="02010600030101010101" pitchFamily="2" charset="-122"/>
                        </a:rPr>
                        <a:t>支持直连通信的路侧设备测试方法</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75565" marR="71120" algn="ctr">
                        <a:lnSpc>
                          <a:spcPts val="1495"/>
                        </a:lnSpc>
                        <a:spcBef>
                          <a:spcPts val="405"/>
                        </a:spcBef>
                        <a:spcAft>
                          <a:spcPts val="0"/>
                        </a:spcAft>
                      </a:pPr>
                      <a:r>
                        <a:rPr lang="zh-CN" sz="1000" dirty="0">
                          <a:effectLst/>
                          <a:latin typeface="微软雅黑" panose="020B0503020204020204" pitchFamily="34" charset="-122"/>
                          <a:ea typeface="微软雅黑" panose="020B0503020204020204" pitchFamily="34" charset="-122"/>
                        </a:rPr>
                        <a:t>行业标准</a:t>
                      </a:r>
                      <a:endParaRPr lang="zh-CN" sz="10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76835" marR="69850" algn="ctr">
                        <a:spcBef>
                          <a:spcPts val="485"/>
                        </a:spcBef>
                        <a:spcAft>
                          <a:spcPts val="0"/>
                        </a:spcAft>
                      </a:pPr>
                      <a:r>
                        <a:rPr lang="en-US" sz="1000" dirty="0">
                          <a:effectLst/>
                          <a:latin typeface="微软雅黑" panose="020B0503020204020204" pitchFamily="34" charset="-122"/>
                          <a:ea typeface="微软雅黑" panose="020B0503020204020204" pitchFamily="34" charset="-122"/>
                        </a:rPr>
                        <a:t>CCSA</a:t>
                      </a:r>
                      <a:endParaRPr lang="zh-CN" sz="10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89535" marR="83185" algn="ctr">
                        <a:lnSpc>
                          <a:spcPts val="1495"/>
                        </a:lnSpc>
                        <a:spcBef>
                          <a:spcPts val="405"/>
                        </a:spcBef>
                        <a:spcAft>
                          <a:spcPts val="0"/>
                        </a:spcAft>
                      </a:pPr>
                      <a:r>
                        <a:rPr lang="zh-CN" sz="1000" b="0" dirty="0">
                          <a:solidFill>
                            <a:schemeClr val="tx1"/>
                          </a:solidFill>
                          <a:effectLst/>
                          <a:latin typeface="微软雅黑" panose="020B0503020204020204" pitchFamily="34" charset="-122"/>
                          <a:ea typeface="微软雅黑" panose="020B0503020204020204" pitchFamily="34" charset="-122"/>
                        </a:rPr>
                        <a:t>已发布</a:t>
                      </a:r>
                      <a:endParaRPr lang="zh-CN" sz="1000" b="0" dirty="0">
                        <a:solidFill>
                          <a:schemeClr val="tx1"/>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444633532"/>
                  </a:ext>
                </a:extLst>
              </a:tr>
              <a:tr h="254000">
                <a:tc rowSpan="2">
                  <a:txBody>
                    <a:bodyPr/>
                    <a:lstStyle/>
                    <a:p>
                      <a:pPr algn="ctr">
                        <a:spcAft>
                          <a:spcPts val="0"/>
                        </a:spcAft>
                      </a:pPr>
                      <a:r>
                        <a:rPr lang="zh-CN" sz="1200" b="1" kern="1200" dirty="0" smtClean="0">
                          <a:solidFill>
                            <a:schemeClr val="lt1"/>
                          </a:solidFill>
                          <a:effectLst/>
                          <a:latin typeface="+mn-lt"/>
                          <a:ea typeface="+mn-ea"/>
                          <a:cs typeface="+mn-cs"/>
                        </a:rPr>
                        <a:t>网络层</a:t>
                      </a:r>
                      <a:endParaRPr lang="zh-CN" sz="1200" b="1" kern="1200" dirty="0">
                        <a:solidFill>
                          <a:schemeClr val="lt1"/>
                        </a:solidFill>
                        <a:effectLst/>
                        <a:latin typeface="+mn-lt"/>
                        <a:ea typeface="+mn-ea"/>
                        <a:cs typeface="+mn-c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7945" marR="93980" algn="ctr">
                        <a:lnSpc>
                          <a:spcPts val="2000"/>
                        </a:lnSpc>
                        <a:spcAft>
                          <a:spcPts val="0"/>
                        </a:spcAft>
                      </a:pPr>
                      <a:r>
                        <a:rPr lang="zh-CN" sz="1000" spc="-110" dirty="0">
                          <a:effectLst/>
                          <a:latin typeface="微软雅黑" panose="020B0503020204020204" pitchFamily="34" charset="-122"/>
                          <a:ea typeface="微软雅黑" panose="020B0503020204020204" pitchFamily="34" charset="-122"/>
                        </a:rPr>
                        <a:t>基于 </a:t>
                      </a:r>
                      <a:r>
                        <a:rPr lang="en-US" sz="1000" spc="-15" dirty="0">
                          <a:effectLst/>
                          <a:latin typeface="微软雅黑" panose="020B0503020204020204" pitchFamily="34" charset="-122"/>
                          <a:ea typeface="微软雅黑" panose="020B0503020204020204" pitchFamily="34" charset="-122"/>
                        </a:rPr>
                        <a:t>LTE</a:t>
                      </a:r>
                      <a:r>
                        <a:rPr lang="en-US" sz="1000" spc="-5" dirty="0">
                          <a:effectLst/>
                          <a:latin typeface="微软雅黑" panose="020B0503020204020204" pitchFamily="34" charset="-122"/>
                          <a:ea typeface="微软雅黑" panose="020B0503020204020204" pitchFamily="34" charset="-122"/>
                        </a:rPr>
                        <a:t> </a:t>
                      </a:r>
                      <a:r>
                        <a:rPr lang="zh-CN" sz="1000" spc="-15" dirty="0">
                          <a:effectLst/>
                          <a:latin typeface="微软雅黑" panose="020B0503020204020204" pitchFamily="34" charset="-122"/>
                          <a:ea typeface="微软雅黑" panose="020B0503020204020204" pitchFamily="34" charset="-122"/>
                        </a:rPr>
                        <a:t>的车联网无线通信技术</a:t>
                      </a:r>
                      <a:r>
                        <a:rPr lang="zh-CN" sz="1000" dirty="0">
                          <a:effectLst/>
                          <a:latin typeface="微软雅黑" panose="020B0503020204020204" pitchFamily="34" charset="-122"/>
                          <a:ea typeface="微软雅黑" panose="020B0503020204020204" pitchFamily="34" charset="-122"/>
                        </a:rPr>
                        <a:t>网络层技术要求</a:t>
                      </a:r>
                      <a:endParaRPr lang="zh-CN" sz="10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spcBef>
                          <a:spcPts val="55"/>
                        </a:spcBef>
                        <a:spcAft>
                          <a:spcPts val="0"/>
                        </a:spcAft>
                      </a:pPr>
                      <a:r>
                        <a:rPr lang="en-US" sz="1000" dirty="0">
                          <a:effectLst/>
                          <a:latin typeface="微软雅黑" panose="020B0503020204020204" pitchFamily="34" charset="-122"/>
                          <a:ea typeface="微软雅黑" panose="020B0503020204020204" pitchFamily="34" charset="-122"/>
                        </a:rPr>
                        <a:t> </a:t>
                      </a:r>
                      <a:endParaRPr lang="zh-CN" sz="1000" dirty="0">
                        <a:effectLst/>
                        <a:latin typeface="微软雅黑" panose="020B0503020204020204" pitchFamily="34" charset="-122"/>
                        <a:ea typeface="微软雅黑" panose="020B0503020204020204" pitchFamily="34" charset="-122"/>
                      </a:endParaRPr>
                    </a:p>
                    <a:p>
                      <a:pPr marL="75565" marR="71120" algn="ctr">
                        <a:spcAft>
                          <a:spcPts val="0"/>
                        </a:spcAft>
                      </a:pPr>
                      <a:r>
                        <a:rPr lang="zh-CN" sz="1000" dirty="0">
                          <a:effectLst/>
                          <a:latin typeface="微软雅黑" panose="020B0503020204020204" pitchFamily="34" charset="-122"/>
                          <a:ea typeface="微软雅黑" panose="020B0503020204020204" pitchFamily="34" charset="-122"/>
                        </a:rPr>
                        <a:t>行业标准</a:t>
                      </a:r>
                      <a:endParaRPr lang="zh-CN" sz="10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spcBef>
                          <a:spcPts val="5"/>
                        </a:spcBef>
                        <a:spcAft>
                          <a:spcPts val="0"/>
                        </a:spcAft>
                      </a:pPr>
                      <a:r>
                        <a:rPr lang="en-US" sz="1000">
                          <a:effectLst/>
                          <a:latin typeface="微软雅黑" panose="020B0503020204020204" pitchFamily="34" charset="-122"/>
                          <a:ea typeface="微软雅黑" panose="020B0503020204020204" pitchFamily="34" charset="-122"/>
                        </a:rPr>
                        <a:t> </a:t>
                      </a:r>
                      <a:endParaRPr lang="zh-CN" sz="1000">
                        <a:effectLst/>
                        <a:latin typeface="微软雅黑" panose="020B0503020204020204" pitchFamily="34" charset="-122"/>
                        <a:ea typeface="微软雅黑" panose="020B0503020204020204" pitchFamily="34" charset="-122"/>
                      </a:endParaRPr>
                    </a:p>
                    <a:p>
                      <a:pPr marL="76835" marR="69850" algn="ctr">
                        <a:spcBef>
                          <a:spcPts val="5"/>
                        </a:spcBef>
                        <a:spcAft>
                          <a:spcPts val="0"/>
                        </a:spcAft>
                      </a:pPr>
                      <a:r>
                        <a:rPr lang="en-US" sz="1000">
                          <a:effectLst/>
                          <a:latin typeface="微软雅黑" panose="020B0503020204020204" pitchFamily="34" charset="-122"/>
                          <a:ea typeface="微软雅黑" panose="020B0503020204020204" pitchFamily="34" charset="-122"/>
                        </a:rPr>
                        <a:t>CCSA</a:t>
                      </a:r>
                      <a:endParaRPr lang="zh-CN" sz="1000">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spcBef>
                          <a:spcPts val="55"/>
                        </a:spcBef>
                        <a:spcAft>
                          <a:spcPts val="0"/>
                        </a:spcAft>
                      </a:pPr>
                      <a:r>
                        <a:rPr lang="en-US" sz="1000" b="0" dirty="0">
                          <a:solidFill>
                            <a:schemeClr val="tx1"/>
                          </a:solidFill>
                          <a:effectLst/>
                          <a:latin typeface="微软雅黑" panose="020B0503020204020204" pitchFamily="34" charset="-122"/>
                          <a:ea typeface="微软雅黑" panose="020B0503020204020204" pitchFamily="34" charset="-122"/>
                        </a:rPr>
                        <a:t> </a:t>
                      </a:r>
                      <a:endParaRPr lang="zh-CN" sz="1000" b="0" dirty="0">
                        <a:solidFill>
                          <a:schemeClr val="tx1"/>
                        </a:solidFill>
                        <a:effectLst/>
                        <a:latin typeface="微软雅黑" panose="020B0503020204020204" pitchFamily="34" charset="-122"/>
                        <a:ea typeface="微软雅黑" panose="020B0503020204020204" pitchFamily="34" charset="-122"/>
                      </a:endParaRPr>
                    </a:p>
                    <a:p>
                      <a:pPr marL="89535" marR="83185" algn="ctr">
                        <a:spcAft>
                          <a:spcPts val="0"/>
                        </a:spcAft>
                      </a:pPr>
                      <a:r>
                        <a:rPr lang="zh-CN" sz="1000" b="0" dirty="0">
                          <a:solidFill>
                            <a:schemeClr val="tx1"/>
                          </a:solidFill>
                          <a:effectLst/>
                          <a:latin typeface="微软雅黑" panose="020B0503020204020204" pitchFamily="34" charset="-122"/>
                          <a:ea typeface="微软雅黑" panose="020B0503020204020204" pitchFamily="34" charset="-122"/>
                        </a:rPr>
                        <a:t>已发布</a:t>
                      </a:r>
                      <a:endParaRPr lang="zh-CN" sz="1000" b="0" dirty="0">
                        <a:solidFill>
                          <a:schemeClr val="tx1"/>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677615632"/>
                  </a:ext>
                </a:extLst>
              </a:tr>
              <a:tr h="254000">
                <a:tc vMerge="1">
                  <a:txBody>
                    <a:bodyPr/>
                    <a:lstStyle/>
                    <a:p>
                      <a:endParaRPr lang="zh-CN" altLang="en-US"/>
                    </a:p>
                  </a:txBody>
                  <a:tcPr/>
                </a:tc>
                <a:tc>
                  <a:txBody>
                    <a:bodyPr/>
                    <a:lstStyle/>
                    <a:p>
                      <a:pPr marL="67945" marR="93980" algn="ctr">
                        <a:lnSpc>
                          <a:spcPts val="2000"/>
                        </a:lnSpc>
                        <a:spcAft>
                          <a:spcPts val="0"/>
                        </a:spcAft>
                      </a:pPr>
                      <a:r>
                        <a:rPr lang="zh-CN" sz="1000" spc="-110" dirty="0">
                          <a:effectLst/>
                          <a:latin typeface="微软雅黑" panose="020B0503020204020204" pitchFamily="34" charset="-122"/>
                          <a:ea typeface="微软雅黑" panose="020B0503020204020204" pitchFamily="34" charset="-122"/>
                        </a:rPr>
                        <a:t>基于 </a:t>
                      </a:r>
                      <a:r>
                        <a:rPr lang="en-US" sz="1000" spc="-15" dirty="0">
                          <a:effectLst/>
                          <a:latin typeface="微软雅黑" panose="020B0503020204020204" pitchFamily="34" charset="-122"/>
                          <a:ea typeface="微软雅黑" panose="020B0503020204020204" pitchFamily="34" charset="-122"/>
                        </a:rPr>
                        <a:t>LTE</a:t>
                      </a:r>
                      <a:r>
                        <a:rPr lang="en-US" sz="1000" spc="-5" dirty="0">
                          <a:effectLst/>
                          <a:latin typeface="微软雅黑" panose="020B0503020204020204" pitchFamily="34" charset="-122"/>
                          <a:ea typeface="微软雅黑" panose="020B0503020204020204" pitchFamily="34" charset="-122"/>
                        </a:rPr>
                        <a:t> </a:t>
                      </a:r>
                      <a:r>
                        <a:rPr lang="zh-CN" sz="1000" spc="-15" dirty="0">
                          <a:effectLst/>
                          <a:latin typeface="微软雅黑" panose="020B0503020204020204" pitchFamily="34" charset="-122"/>
                          <a:ea typeface="微软雅黑" panose="020B0503020204020204" pitchFamily="34" charset="-122"/>
                        </a:rPr>
                        <a:t>的车联网无线通信技术</a:t>
                      </a:r>
                      <a:r>
                        <a:rPr lang="zh-CN" sz="1000" dirty="0">
                          <a:effectLst/>
                          <a:latin typeface="微软雅黑" panose="020B0503020204020204" pitchFamily="34" charset="-122"/>
                          <a:ea typeface="微软雅黑" panose="020B0503020204020204" pitchFamily="34" charset="-122"/>
                        </a:rPr>
                        <a:t>网络层测试方法</a:t>
                      </a:r>
                      <a:endParaRPr lang="zh-CN" sz="10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spcBef>
                          <a:spcPts val="55"/>
                        </a:spcBef>
                        <a:spcAft>
                          <a:spcPts val="0"/>
                        </a:spcAft>
                      </a:pPr>
                      <a:r>
                        <a:rPr lang="en-US" sz="1000" dirty="0">
                          <a:effectLst/>
                          <a:latin typeface="微软雅黑" panose="020B0503020204020204" pitchFamily="34" charset="-122"/>
                          <a:ea typeface="微软雅黑" panose="020B0503020204020204" pitchFamily="34" charset="-122"/>
                        </a:rPr>
                        <a:t> </a:t>
                      </a:r>
                      <a:endParaRPr lang="zh-CN" sz="1000" dirty="0">
                        <a:effectLst/>
                        <a:latin typeface="微软雅黑" panose="020B0503020204020204" pitchFamily="34" charset="-122"/>
                        <a:ea typeface="微软雅黑" panose="020B0503020204020204" pitchFamily="34" charset="-122"/>
                      </a:endParaRPr>
                    </a:p>
                    <a:p>
                      <a:pPr marL="75565" marR="71120" algn="ctr">
                        <a:spcAft>
                          <a:spcPts val="0"/>
                        </a:spcAft>
                      </a:pPr>
                      <a:r>
                        <a:rPr lang="zh-CN" sz="1000" dirty="0">
                          <a:effectLst/>
                          <a:latin typeface="微软雅黑" panose="020B0503020204020204" pitchFamily="34" charset="-122"/>
                          <a:ea typeface="微软雅黑" panose="020B0503020204020204" pitchFamily="34" charset="-122"/>
                        </a:rPr>
                        <a:t>行业标准</a:t>
                      </a:r>
                      <a:endParaRPr lang="zh-CN" sz="10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spcBef>
                          <a:spcPts val="5"/>
                        </a:spcBef>
                        <a:spcAft>
                          <a:spcPts val="0"/>
                        </a:spcAft>
                      </a:pPr>
                      <a:r>
                        <a:rPr lang="en-US" sz="1000">
                          <a:effectLst/>
                          <a:latin typeface="微软雅黑" panose="020B0503020204020204" pitchFamily="34" charset="-122"/>
                          <a:ea typeface="微软雅黑" panose="020B0503020204020204" pitchFamily="34" charset="-122"/>
                        </a:rPr>
                        <a:t> </a:t>
                      </a:r>
                      <a:endParaRPr lang="zh-CN" sz="1000">
                        <a:effectLst/>
                        <a:latin typeface="微软雅黑" panose="020B0503020204020204" pitchFamily="34" charset="-122"/>
                        <a:ea typeface="微软雅黑" panose="020B0503020204020204" pitchFamily="34" charset="-122"/>
                      </a:endParaRPr>
                    </a:p>
                    <a:p>
                      <a:pPr marL="76835" marR="69850" algn="ctr">
                        <a:spcBef>
                          <a:spcPts val="5"/>
                        </a:spcBef>
                        <a:spcAft>
                          <a:spcPts val="0"/>
                        </a:spcAft>
                      </a:pPr>
                      <a:r>
                        <a:rPr lang="en-US" sz="1000">
                          <a:effectLst/>
                          <a:latin typeface="微软雅黑" panose="020B0503020204020204" pitchFamily="34" charset="-122"/>
                          <a:ea typeface="微软雅黑" panose="020B0503020204020204" pitchFamily="34" charset="-122"/>
                        </a:rPr>
                        <a:t>CCSA</a:t>
                      </a:r>
                      <a:endParaRPr lang="zh-CN" sz="1000">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spcBef>
                          <a:spcPts val="55"/>
                        </a:spcBef>
                        <a:spcAft>
                          <a:spcPts val="0"/>
                        </a:spcAft>
                      </a:pPr>
                      <a:r>
                        <a:rPr lang="en-US" sz="1000" b="0" dirty="0">
                          <a:solidFill>
                            <a:schemeClr val="tx1"/>
                          </a:solidFill>
                          <a:effectLst/>
                          <a:latin typeface="微软雅黑" panose="020B0503020204020204" pitchFamily="34" charset="-122"/>
                          <a:ea typeface="微软雅黑" panose="020B0503020204020204" pitchFamily="34" charset="-122"/>
                        </a:rPr>
                        <a:t> </a:t>
                      </a:r>
                      <a:endParaRPr lang="zh-CN" sz="1000" b="0" dirty="0">
                        <a:solidFill>
                          <a:schemeClr val="tx1"/>
                        </a:solidFill>
                        <a:effectLst/>
                        <a:latin typeface="微软雅黑" panose="020B0503020204020204" pitchFamily="34" charset="-122"/>
                        <a:ea typeface="微软雅黑" panose="020B0503020204020204" pitchFamily="34" charset="-122"/>
                      </a:endParaRPr>
                    </a:p>
                    <a:p>
                      <a:pPr marL="89535" marR="83185" algn="ctr">
                        <a:spcAft>
                          <a:spcPts val="0"/>
                        </a:spcAft>
                      </a:pPr>
                      <a:r>
                        <a:rPr lang="zh-CN" sz="1000" b="0" dirty="0">
                          <a:solidFill>
                            <a:schemeClr val="tx1"/>
                          </a:solidFill>
                          <a:effectLst/>
                          <a:latin typeface="微软雅黑" panose="020B0503020204020204" pitchFamily="34" charset="-122"/>
                          <a:ea typeface="微软雅黑" panose="020B0503020204020204" pitchFamily="34" charset="-122"/>
                        </a:rPr>
                        <a:t>已发布</a:t>
                      </a:r>
                      <a:endParaRPr lang="zh-CN" sz="1000" b="0" dirty="0">
                        <a:solidFill>
                          <a:schemeClr val="tx1"/>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41399377"/>
                  </a:ext>
                </a:extLst>
              </a:tr>
              <a:tr h="254000">
                <a:tc rowSpan="2">
                  <a:txBody>
                    <a:bodyPr/>
                    <a:lstStyle/>
                    <a:p>
                      <a:pPr algn="ctr">
                        <a:spcAft>
                          <a:spcPts val="0"/>
                        </a:spcAft>
                      </a:pPr>
                      <a:r>
                        <a:rPr lang="zh-CN" sz="1200" b="1" kern="1200" dirty="0" smtClean="0">
                          <a:solidFill>
                            <a:schemeClr val="lt1"/>
                          </a:solidFill>
                          <a:effectLst/>
                          <a:latin typeface="+mn-lt"/>
                          <a:ea typeface="+mn-ea"/>
                          <a:cs typeface="+mn-cs"/>
                        </a:rPr>
                        <a:t>消息</a:t>
                      </a:r>
                      <a:r>
                        <a:rPr lang="zh-CN" sz="1200" b="1" kern="1200" dirty="0">
                          <a:solidFill>
                            <a:schemeClr val="lt1"/>
                          </a:solidFill>
                          <a:effectLst/>
                          <a:latin typeface="+mn-lt"/>
                          <a:ea typeface="+mn-ea"/>
                          <a:cs typeface="+mn-cs"/>
                        </a:rPr>
                        <a:t>层</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7945" marR="93980" algn="ctr">
                        <a:lnSpc>
                          <a:spcPts val="2000"/>
                        </a:lnSpc>
                        <a:spcAft>
                          <a:spcPts val="0"/>
                        </a:spcAft>
                      </a:pPr>
                      <a:r>
                        <a:rPr lang="zh-CN" sz="1000" spc="-110">
                          <a:effectLst/>
                          <a:latin typeface="微软雅黑" panose="020B0503020204020204" pitchFamily="34" charset="-122"/>
                          <a:ea typeface="微软雅黑" panose="020B0503020204020204" pitchFamily="34" charset="-122"/>
                        </a:rPr>
                        <a:t>基于 </a:t>
                      </a:r>
                      <a:r>
                        <a:rPr lang="en-US" sz="1000" spc="-15">
                          <a:effectLst/>
                          <a:latin typeface="微软雅黑" panose="020B0503020204020204" pitchFamily="34" charset="-122"/>
                          <a:ea typeface="微软雅黑" panose="020B0503020204020204" pitchFamily="34" charset="-122"/>
                        </a:rPr>
                        <a:t>LTE</a:t>
                      </a:r>
                      <a:r>
                        <a:rPr lang="en-US" sz="1000" spc="-5">
                          <a:effectLst/>
                          <a:latin typeface="微软雅黑" panose="020B0503020204020204" pitchFamily="34" charset="-122"/>
                          <a:ea typeface="微软雅黑" panose="020B0503020204020204" pitchFamily="34" charset="-122"/>
                        </a:rPr>
                        <a:t> </a:t>
                      </a:r>
                      <a:r>
                        <a:rPr lang="zh-CN" sz="1000" spc="-15">
                          <a:effectLst/>
                          <a:latin typeface="微软雅黑" panose="020B0503020204020204" pitchFamily="34" charset="-122"/>
                          <a:ea typeface="微软雅黑" panose="020B0503020204020204" pitchFamily="34" charset="-122"/>
                        </a:rPr>
                        <a:t>的车联网无线通信技术</a:t>
                      </a:r>
                      <a:r>
                        <a:rPr lang="zh-CN" sz="1000">
                          <a:effectLst/>
                          <a:latin typeface="微软雅黑" panose="020B0503020204020204" pitchFamily="34" charset="-122"/>
                          <a:ea typeface="微软雅黑" panose="020B0503020204020204" pitchFamily="34" charset="-122"/>
                        </a:rPr>
                        <a:t>消息层技术要求</a:t>
                      </a:r>
                      <a:endParaRPr lang="zh-CN" sz="1000">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spcBef>
                          <a:spcPts val="55"/>
                        </a:spcBef>
                        <a:spcAft>
                          <a:spcPts val="0"/>
                        </a:spcAft>
                      </a:pPr>
                      <a:r>
                        <a:rPr lang="en-US" sz="1000" dirty="0">
                          <a:effectLst/>
                          <a:latin typeface="微软雅黑" panose="020B0503020204020204" pitchFamily="34" charset="-122"/>
                          <a:ea typeface="微软雅黑" panose="020B0503020204020204" pitchFamily="34" charset="-122"/>
                        </a:rPr>
                        <a:t> </a:t>
                      </a:r>
                      <a:endParaRPr lang="zh-CN" sz="1000" dirty="0">
                        <a:effectLst/>
                        <a:latin typeface="微软雅黑" panose="020B0503020204020204" pitchFamily="34" charset="-122"/>
                        <a:ea typeface="微软雅黑" panose="020B0503020204020204" pitchFamily="34" charset="-122"/>
                      </a:endParaRPr>
                    </a:p>
                    <a:p>
                      <a:pPr marL="75565" marR="71120" algn="ctr">
                        <a:spcAft>
                          <a:spcPts val="0"/>
                        </a:spcAft>
                      </a:pPr>
                      <a:r>
                        <a:rPr lang="zh-CN" sz="1000" dirty="0">
                          <a:effectLst/>
                          <a:latin typeface="微软雅黑" panose="020B0503020204020204" pitchFamily="34" charset="-122"/>
                          <a:ea typeface="微软雅黑" panose="020B0503020204020204" pitchFamily="34" charset="-122"/>
                        </a:rPr>
                        <a:t>行业标准</a:t>
                      </a:r>
                      <a:endParaRPr lang="zh-CN" sz="10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spcBef>
                          <a:spcPts val="5"/>
                        </a:spcBef>
                        <a:spcAft>
                          <a:spcPts val="0"/>
                        </a:spcAft>
                      </a:pPr>
                      <a:r>
                        <a:rPr lang="en-US" sz="1000" dirty="0">
                          <a:effectLst/>
                          <a:latin typeface="微软雅黑" panose="020B0503020204020204" pitchFamily="34" charset="-122"/>
                          <a:ea typeface="微软雅黑" panose="020B0503020204020204" pitchFamily="34" charset="-122"/>
                        </a:rPr>
                        <a:t> </a:t>
                      </a:r>
                      <a:endParaRPr lang="zh-CN" sz="1000" dirty="0">
                        <a:effectLst/>
                        <a:latin typeface="微软雅黑" panose="020B0503020204020204" pitchFamily="34" charset="-122"/>
                        <a:ea typeface="微软雅黑" panose="020B0503020204020204" pitchFamily="34" charset="-122"/>
                      </a:endParaRPr>
                    </a:p>
                    <a:p>
                      <a:pPr marL="76835" marR="69850" algn="ctr">
                        <a:spcBef>
                          <a:spcPts val="5"/>
                        </a:spcBef>
                        <a:spcAft>
                          <a:spcPts val="0"/>
                        </a:spcAft>
                      </a:pPr>
                      <a:r>
                        <a:rPr lang="en-US" sz="1000" dirty="0">
                          <a:effectLst/>
                          <a:latin typeface="微软雅黑" panose="020B0503020204020204" pitchFamily="34" charset="-122"/>
                          <a:ea typeface="微软雅黑" panose="020B0503020204020204" pitchFamily="34" charset="-122"/>
                        </a:rPr>
                        <a:t>CCSA</a:t>
                      </a:r>
                      <a:endParaRPr lang="zh-CN" sz="10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spcBef>
                          <a:spcPts val="55"/>
                        </a:spcBef>
                        <a:spcAft>
                          <a:spcPts val="0"/>
                        </a:spcAft>
                      </a:pPr>
                      <a:r>
                        <a:rPr lang="en-US" sz="1000" b="0" dirty="0">
                          <a:solidFill>
                            <a:schemeClr val="tx1"/>
                          </a:solidFill>
                          <a:effectLst/>
                          <a:latin typeface="微软雅黑" panose="020B0503020204020204" pitchFamily="34" charset="-122"/>
                          <a:ea typeface="微软雅黑" panose="020B0503020204020204" pitchFamily="34" charset="-122"/>
                        </a:rPr>
                        <a:t> </a:t>
                      </a:r>
                      <a:endParaRPr lang="zh-CN" sz="1000" b="0" dirty="0">
                        <a:solidFill>
                          <a:schemeClr val="tx1"/>
                        </a:solidFill>
                        <a:effectLst/>
                        <a:latin typeface="微软雅黑" panose="020B0503020204020204" pitchFamily="34" charset="-122"/>
                        <a:ea typeface="微软雅黑" panose="020B0503020204020204" pitchFamily="34" charset="-122"/>
                      </a:endParaRPr>
                    </a:p>
                    <a:p>
                      <a:pPr marL="89535" marR="83185" algn="ctr">
                        <a:spcAft>
                          <a:spcPts val="0"/>
                        </a:spcAft>
                      </a:pPr>
                      <a:r>
                        <a:rPr lang="zh-CN" sz="1000" b="0" dirty="0">
                          <a:solidFill>
                            <a:schemeClr val="tx1"/>
                          </a:solidFill>
                          <a:effectLst/>
                          <a:latin typeface="微软雅黑" panose="020B0503020204020204" pitchFamily="34" charset="-122"/>
                          <a:ea typeface="微软雅黑" panose="020B0503020204020204" pitchFamily="34" charset="-122"/>
                        </a:rPr>
                        <a:t>已发布</a:t>
                      </a:r>
                      <a:endParaRPr lang="zh-CN" sz="1000" b="0" dirty="0">
                        <a:solidFill>
                          <a:schemeClr val="tx1"/>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033352472"/>
                  </a:ext>
                </a:extLst>
              </a:tr>
              <a:tr h="254000">
                <a:tc vMerge="1">
                  <a:txBody>
                    <a:bodyPr/>
                    <a:lstStyle/>
                    <a:p>
                      <a:endParaRPr lang="zh-CN" altLang="en-US"/>
                    </a:p>
                  </a:txBody>
                  <a:tcPr/>
                </a:tc>
                <a:tc>
                  <a:txBody>
                    <a:bodyPr/>
                    <a:lstStyle/>
                    <a:p>
                      <a:pPr marL="67945" marR="93980" algn="ctr">
                        <a:lnSpc>
                          <a:spcPts val="2000"/>
                        </a:lnSpc>
                        <a:spcAft>
                          <a:spcPts val="0"/>
                        </a:spcAft>
                      </a:pPr>
                      <a:r>
                        <a:rPr lang="zh-CN" sz="1000" spc="-110">
                          <a:effectLst/>
                          <a:latin typeface="微软雅黑" panose="020B0503020204020204" pitchFamily="34" charset="-122"/>
                          <a:ea typeface="微软雅黑" panose="020B0503020204020204" pitchFamily="34" charset="-122"/>
                        </a:rPr>
                        <a:t>基于 </a:t>
                      </a:r>
                      <a:r>
                        <a:rPr lang="en-US" sz="1000" spc="-15">
                          <a:effectLst/>
                          <a:latin typeface="微软雅黑" panose="020B0503020204020204" pitchFamily="34" charset="-122"/>
                          <a:ea typeface="微软雅黑" panose="020B0503020204020204" pitchFamily="34" charset="-122"/>
                        </a:rPr>
                        <a:t>LTE</a:t>
                      </a:r>
                      <a:r>
                        <a:rPr lang="en-US" sz="1000" spc="-5">
                          <a:effectLst/>
                          <a:latin typeface="微软雅黑" panose="020B0503020204020204" pitchFamily="34" charset="-122"/>
                          <a:ea typeface="微软雅黑" panose="020B0503020204020204" pitchFamily="34" charset="-122"/>
                        </a:rPr>
                        <a:t> </a:t>
                      </a:r>
                      <a:r>
                        <a:rPr lang="zh-CN" sz="1000" spc="-15">
                          <a:effectLst/>
                          <a:latin typeface="微软雅黑" panose="020B0503020204020204" pitchFamily="34" charset="-122"/>
                          <a:ea typeface="微软雅黑" panose="020B0503020204020204" pitchFamily="34" charset="-122"/>
                        </a:rPr>
                        <a:t>的车联网无线通信技术</a:t>
                      </a:r>
                      <a:r>
                        <a:rPr lang="zh-CN" sz="1000">
                          <a:effectLst/>
                          <a:latin typeface="微软雅黑" panose="020B0503020204020204" pitchFamily="34" charset="-122"/>
                          <a:ea typeface="微软雅黑" panose="020B0503020204020204" pitchFamily="34" charset="-122"/>
                        </a:rPr>
                        <a:t>消息层测试方法</a:t>
                      </a:r>
                      <a:endParaRPr lang="zh-CN" sz="1000">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spcBef>
                          <a:spcPts val="55"/>
                        </a:spcBef>
                        <a:spcAft>
                          <a:spcPts val="0"/>
                        </a:spcAft>
                      </a:pPr>
                      <a:r>
                        <a:rPr lang="en-US" sz="1000" dirty="0">
                          <a:effectLst/>
                          <a:latin typeface="微软雅黑" panose="020B0503020204020204" pitchFamily="34" charset="-122"/>
                          <a:ea typeface="微软雅黑" panose="020B0503020204020204" pitchFamily="34" charset="-122"/>
                        </a:rPr>
                        <a:t> </a:t>
                      </a:r>
                      <a:endParaRPr lang="zh-CN" sz="1000" dirty="0">
                        <a:effectLst/>
                        <a:latin typeface="微软雅黑" panose="020B0503020204020204" pitchFamily="34" charset="-122"/>
                        <a:ea typeface="微软雅黑" panose="020B0503020204020204" pitchFamily="34" charset="-122"/>
                      </a:endParaRPr>
                    </a:p>
                    <a:p>
                      <a:pPr marL="75565" marR="71120" algn="ctr">
                        <a:spcAft>
                          <a:spcPts val="0"/>
                        </a:spcAft>
                      </a:pPr>
                      <a:r>
                        <a:rPr lang="zh-CN" sz="1000" dirty="0">
                          <a:effectLst/>
                          <a:latin typeface="微软雅黑" panose="020B0503020204020204" pitchFamily="34" charset="-122"/>
                          <a:ea typeface="微软雅黑" panose="020B0503020204020204" pitchFamily="34" charset="-122"/>
                        </a:rPr>
                        <a:t>行业标准</a:t>
                      </a:r>
                      <a:endParaRPr lang="zh-CN" sz="10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spcBef>
                          <a:spcPts val="5"/>
                        </a:spcBef>
                        <a:spcAft>
                          <a:spcPts val="0"/>
                        </a:spcAft>
                      </a:pPr>
                      <a:r>
                        <a:rPr lang="en-US" sz="1000" dirty="0">
                          <a:effectLst/>
                          <a:latin typeface="微软雅黑" panose="020B0503020204020204" pitchFamily="34" charset="-122"/>
                          <a:ea typeface="微软雅黑" panose="020B0503020204020204" pitchFamily="34" charset="-122"/>
                        </a:rPr>
                        <a:t> </a:t>
                      </a:r>
                      <a:endParaRPr lang="zh-CN" sz="1000" dirty="0">
                        <a:effectLst/>
                        <a:latin typeface="微软雅黑" panose="020B0503020204020204" pitchFamily="34" charset="-122"/>
                        <a:ea typeface="微软雅黑" panose="020B0503020204020204" pitchFamily="34" charset="-122"/>
                      </a:endParaRPr>
                    </a:p>
                    <a:p>
                      <a:pPr marL="76835" marR="69850" algn="ctr">
                        <a:spcBef>
                          <a:spcPts val="5"/>
                        </a:spcBef>
                        <a:spcAft>
                          <a:spcPts val="0"/>
                        </a:spcAft>
                      </a:pPr>
                      <a:r>
                        <a:rPr lang="en-US" sz="1000" dirty="0">
                          <a:effectLst/>
                          <a:latin typeface="微软雅黑" panose="020B0503020204020204" pitchFamily="34" charset="-122"/>
                          <a:ea typeface="微软雅黑" panose="020B0503020204020204" pitchFamily="34" charset="-122"/>
                        </a:rPr>
                        <a:t>CCSA</a:t>
                      </a:r>
                      <a:endParaRPr lang="zh-CN" sz="10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spcBef>
                          <a:spcPts val="55"/>
                        </a:spcBef>
                        <a:spcAft>
                          <a:spcPts val="0"/>
                        </a:spcAft>
                      </a:pPr>
                      <a:r>
                        <a:rPr lang="en-US" sz="1000" b="0" dirty="0">
                          <a:solidFill>
                            <a:schemeClr val="tx1"/>
                          </a:solidFill>
                          <a:effectLst/>
                          <a:latin typeface="微软雅黑" panose="020B0503020204020204" pitchFamily="34" charset="-122"/>
                          <a:ea typeface="微软雅黑" panose="020B0503020204020204" pitchFamily="34" charset="-122"/>
                        </a:rPr>
                        <a:t> </a:t>
                      </a:r>
                      <a:endParaRPr lang="zh-CN" sz="1000" b="0" dirty="0">
                        <a:solidFill>
                          <a:schemeClr val="tx1"/>
                        </a:solidFill>
                        <a:effectLst/>
                        <a:latin typeface="微软雅黑" panose="020B0503020204020204" pitchFamily="34" charset="-122"/>
                        <a:ea typeface="微软雅黑" panose="020B0503020204020204" pitchFamily="34" charset="-122"/>
                      </a:endParaRPr>
                    </a:p>
                    <a:p>
                      <a:pPr marL="89535" marR="83185" algn="ctr">
                        <a:spcAft>
                          <a:spcPts val="0"/>
                        </a:spcAft>
                      </a:pPr>
                      <a:r>
                        <a:rPr lang="zh-CN" sz="1000" b="0" dirty="0">
                          <a:solidFill>
                            <a:schemeClr val="tx1"/>
                          </a:solidFill>
                          <a:effectLst/>
                          <a:latin typeface="微软雅黑" panose="020B0503020204020204" pitchFamily="34" charset="-122"/>
                          <a:ea typeface="微软雅黑" panose="020B0503020204020204" pitchFamily="34" charset="-122"/>
                        </a:rPr>
                        <a:t>已发布</a:t>
                      </a:r>
                      <a:endParaRPr lang="zh-CN" sz="1000" b="0" dirty="0">
                        <a:solidFill>
                          <a:schemeClr val="tx1"/>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660412024"/>
                  </a:ext>
                </a:extLst>
              </a:tr>
              <a:tr h="254000">
                <a:tc rowSpan="3">
                  <a:txBody>
                    <a:bodyPr/>
                    <a:lstStyle/>
                    <a:p>
                      <a:pPr algn="ctr">
                        <a:spcAft>
                          <a:spcPts val="0"/>
                        </a:spcAft>
                      </a:pPr>
                      <a:r>
                        <a:rPr lang="zh-CN" sz="1200" b="1" kern="1200" dirty="0" smtClean="0">
                          <a:solidFill>
                            <a:schemeClr val="lt1"/>
                          </a:solidFill>
                          <a:effectLst/>
                          <a:latin typeface="+mn-lt"/>
                          <a:ea typeface="+mn-ea"/>
                          <a:cs typeface="+mn-cs"/>
                        </a:rPr>
                        <a:t>安全</a:t>
                      </a:r>
                      <a:endParaRPr lang="zh-CN" sz="1200" b="1" kern="1200" dirty="0">
                        <a:solidFill>
                          <a:schemeClr val="lt1"/>
                        </a:solidFill>
                        <a:effectLst/>
                        <a:latin typeface="+mn-lt"/>
                        <a:ea typeface="+mn-ea"/>
                        <a:cs typeface="+mn-c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7945" marR="703580" algn="ctr">
                        <a:lnSpc>
                          <a:spcPts val="2000"/>
                        </a:lnSpc>
                        <a:spcAft>
                          <a:spcPts val="0"/>
                        </a:spcAft>
                      </a:pPr>
                      <a:r>
                        <a:rPr lang="zh-CN" sz="1000" spc="-115">
                          <a:effectLst/>
                          <a:latin typeface="微软雅黑" panose="020B0503020204020204" pitchFamily="34" charset="-122"/>
                          <a:ea typeface="微软雅黑" panose="020B0503020204020204" pitchFamily="34" charset="-122"/>
                        </a:rPr>
                        <a:t>基于 </a:t>
                      </a:r>
                      <a:r>
                        <a:rPr lang="en-US" sz="1000" spc="-20">
                          <a:effectLst/>
                          <a:latin typeface="微软雅黑" panose="020B0503020204020204" pitchFamily="34" charset="-122"/>
                          <a:ea typeface="微软雅黑" panose="020B0503020204020204" pitchFamily="34" charset="-122"/>
                        </a:rPr>
                        <a:t>LTE</a:t>
                      </a:r>
                      <a:r>
                        <a:rPr lang="en-US" sz="1000" spc="-5">
                          <a:effectLst/>
                          <a:latin typeface="微软雅黑" panose="020B0503020204020204" pitchFamily="34" charset="-122"/>
                          <a:ea typeface="微软雅黑" panose="020B0503020204020204" pitchFamily="34" charset="-122"/>
                        </a:rPr>
                        <a:t> </a:t>
                      </a:r>
                      <a:r>
                        <a:rPr lang="zh-CN" sz="1000" spc="-15">
                          <a:effectLst/>
                          <a:latin typeface="微软雅黑" panose="020B0503020204020204" pitchFamily="34" charset="-122"/>
                          <a:ea typeface="微软雅黑" panose="020B0503020204020204" pitchFamily="34" charset="-122"/>
                        </a:rPr>
                        <a:t>的车联网通信</a:t>
                      </a:r>
                      <a:r>
                        <a:rPr lang="zh-CN" sz="1000">
                          <a:effectLst/>
                          <a:latin typeface="微软雅黑" panose="020B0503020204020204" pitchFamily="34" charset="-122"/>
                          <a:ea typeface="微软雅黑" panose="020B0503020204020204" pitchFamily="34" charset="-122"/>
                        </a:rPr>
                        <a:t>安全技术要求</a:t>
                      </a:r>
                      <a:endParaRPr lang="zh-CN" sz="1000">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spcBef>
                          <a:spcPts val="55"/>
                        </a:spcBef>
                        <a:spcAft>
                          <a:spcPts val="0"/>
                        </a:spcAft>
                      </a:pPr>
                      <a:r>
                        <a:rPr lang="en-US" sz="1000">
                          <a:effectLst/>
                          <a:latin typeface="微软雅黑" panose="020B0503020204020204" pitchFamily="34" charset="-122"/>
                          <a:ea typeface="微软雅黑" panose="020B0503020204020204" pitchFamily="34" charset="-122"/>
                        </a:rPr>
                        <a:t> </a:t>
                      </a:r>
                      <a:endParaRPr lang="zh-CN" sz="1000">
                        <a:effectLst/>
                        <a:latin typeface="微软雅黑" panose="020B0503020204020204" pitchFamily="34" charset="-122"/>
                        <a:ea typeface="微软雅黑" panose="020B0503020204020204" pitchFamily="34" charset="-122"/>
                      </a:endParaRPr>
                    </a:p>
                    <a:p>
                      <a:pPr marL="75565" marR="71120" algn="ctr">
                        <a:spcAft>
                          <a:spcPts val="0"/>
                        </a:spcAft>
                      </a:pPr>
                      <a:r>
                        <a:rPr lang="zh-CN" sz="1000">
                          <a:effectLst/>
                          <a:latin typeface="微软雅黑" panose="020B0503020204020204" pitchFamily="34" charset="-122"/>
                          <a:ea typeface="微软雅黑" panose="020B0503020204020204" pitchFamily="34" charset="-122"/>
                        </a:rPr>
                        <a:t>行业标准</a:t>
                      </a:r>
                      <a:endParaRPr lang="zh-CN" sz="1000">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spcBef>
                          <a:spcPts val="5"/>
                        </a:spcBef>
                        <a:spcAft>
                          <a:spcPts val="0"/>
                        </a:spcAft>
                      </a:pPr>
                      <a:r>
                        <a:rPr lang="en-US" sz="1000" dirty="0">
                          <a:effectLst/>
                          <a:latin typeface="微软雅黑" panose="020B0503020204020204" pitchFamily="34" charset="-122"/>
                          <a:ea typeface="微软雅黑" panose="020B0503020204020204" pitchFamily="34" charset="-122"/>
                        </a:rPr>
                        <a:t> </a:t>
                      </a:r>
                      <a:endParaRPr lang="zh-CN" sz="1000" dirty="0">
                        <a:effectLst/>
                        <a:latin typeface="微软雅黑" panose="020B0503020204020204" pitchFamily="34" charset="-122"/>
                        <a:ea typeface="微软雅黑" panose="020B0503020204020204" pitchFamily="34" charset="-122"/>
                      </a:endParaRPr>
                    </a:p>
                    <a:p>
                      <a:pPr marL="76835" marR="69850" algn="ctr">
                        <a:spcBef>
                          <a:spcPts val="5"/>
                        </a:spcBef>
                        <a:spcAft>
                          <a:spcPts val="0"/>
                        </a:spcAft>
                      </a:pPr>
                      <a:r>
                        <a:rPr lang="en-US" sz="1000" dirty="0">
                          <a:effectLst/>
                          <a:latin typeface="微软雅黑" panose="020B0503020204020204" pitchFamily="34" charset="-122"/>
                          <a:ea typeface="微软雅黑" panose="020B0503020204020204" pitchFamily="34" charset="-122"/>
                        </a:rPr>
                        <a:t>CCSA</a:t>
                      </a:r>
                      <a:endParaRPr lang="zh-CN" sz="10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spcBef>
                          <a:spcPts val="55"/>
                        </a:spcBef>
                        <a:spcAft>
                          <a:spcPts val="0"/>
                        </a:spcAft>
                      </a:pPr>
                      <a:r>
                        <a:rPr lang="en-US" sz="1000" b="0" dirty="0">
                          <a:solidFill>
                            <a:schemeClr val="tx1"/>
                          </a:solidFill>
                          <a:effectLst/>
                          <a:latin typeface="微软雅黑" panose="020B0503020204020204" pitchFamily="34" charset="-122"/>
                          <a:ea typeface="微软雅黑" panose="020B0503020204020204" pitchFamily="34" charset="-122"/>
                        </a:rPr>
                        <a:t> </a:t>
                      </a:r>
                      <a:endParaRPr lang="zh-CN" sz="1000" b="0" dirty="0">
                        <a:solidFill>
                          <a:schemeClr val="tx1"/>
                        </a:solidFill>
                        <a:effectLst/>
                        <a:latin typeface="微软雅黑" panose="020B0503020204020204" pitchFamily="34" charset="-122"/>
                        <a:ea typeface="微软雅黑" panose="020B0503020204020204" pitchFamily="34" charset="-122"/>
                      </a:endParaRPr>
                    </a:p>
                    <a:p>
                      <a:pPr marL="89535" marR="83185" algn="ctr">
                        <a:spcAft>
                          <a:spcPts val="0"/>
                        </a:spcAft>
                      </a:pPr>
                      <a:r>
                        <a:rPr lang="zh-CN" sz="1000" b="0" dirty="0">
                          <a:solidFill>
                            <a:schemeClr val="tx1"/>
                          </a:solidFill>
                          <a:effectLst/>
                          <a:latin typeface="微软雅黑" panose="020B0503020204020204" pitchFamily="34" charset="-122"/>
                          <a:ea typeface="微软雅黑" panose="020B0503020204020204" pitchFamily="34" charset="-122"/>
                        </a:rPr>
                        <a:t>已发布</a:t>
                      </a:r>
                      <a:endParaRPr lang="zh-CN" sz="1000" b="0" dirty="0">
                        <a:solidFill>
                          <a:schemeClr val="tx1"/>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367503260"/>
                  </a:ext>
                </a:extLst>
              </a:tr>
              <a:tr h="254000">
                <a:tc vMerge="1">
                  <a:txBody>
                    <a:bodyPr/>
                    <a:lstStyle/>
                    <a:p>
                      <a:endParaRPr lang="zh-CN" altLang="en-US"/>
                    </a:p>
                  </a:txBody>
                  <a:tcPr/>
                </a:tc>
                <a:tc>
                  <a:txBody>
                    <a:bodyPr/>
                    <a:lstStyle/>
                    <a:p>
                      <a:pPr marL="67945" marR="93980" algn="ctr">
                        <a:lnSpc>
                          <a:spcPts val="2000"/>
                        </a:lnSpc>
                        <a:spcAft>
                          <a:spcPts val="0"/>
                        </a:spcAft>
                      </a:pPr>
                      <a:r>
                        <a:rPr lang="zh-CN" sz="1000" spc="-110">
                          <a:effectLst/>
                          <a:latin typeface="微软雅黑" panose="020B0503020204020204" pitchFamily="34" charset="-122"/>
                          <a:ea typeface="微软雅黑" panose="020B0503020204020204" pitchFamily="34" charset="-122"/>
                        </a:rPr>
                        <a:t>基于 </a:t>
                      </a:r>
                      <a:r>
                        <a:rPr lang="en-US" sz="1000" spc="-15">
                          <a:effectLst/>
                          <a:latin typeface="微软雅黑" panose="020B0503020204020204" pitchFamily="34" charset="-122"/>
                          <a:ea typeface="微软雅黑" panose="020B0503020204020204" pitchFamily="34" charset="-122"/>
                        </a:rPr>
                        <a:t>LTE</a:t>
                      </a:r>
                      <a:r>
                        <a:rPr lang="en-US" sz="1000" spc="-5">
                          <a:effectLst/>
                          <a:latin typeface="微软雅黑" panose="020B0503020204020204" pitchFamily="34" charset="-122"/>
                          <a:ea typeface="微软雅黑" panose="020B0503020204020204" pitchFamily="34" charset="-122"/>
                        </a:rPr>
                        <a:t> </a:t>
                      </a:r>
                      <a:r>
                        <a:rPr lang="zh-CN" sz="1000" spc="-15">
                          <a:effectLst/>
                          <a:latin typeface="微软雅黑" panose="020B0503020204020204" pitchFamily="34" charset="-122"/>
                          <a:ea typeface="微软雅黑" panose="020B0503020204020204" pitchFamily="34" charset="-122"/>
                        </a:rPr>
                        <a:t>的车联网无线通信技术</a:t>
                      </a:r>
                      <a:r>
                        <a:rPr lang="zh-CN" sz="1000">
                          <a:effectLst/>
                          <a:latin typeface="微软雅黑" panose="020B0503020204020204" pitchFamily="34" charset="-122"/>
                          <a:ea typeface="微软雅黑" panose="020B0503020204020204" pitchFamily="34" charset="-122"/>
                        </a:rPr>
                        <a:t>安全证书管理系统</a:t>
                      </a:r>
                      <a:endParaRPr lang="zh-CN" sz="1000">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spcBef>
                          <a:spcPts val="55"/>
                        </a:spcBef>
                        <a:spcAft>
                          <a:spcPts val="0"/>
                        </a:spcAft>
                      </a:pPr>
                      <a:r>
                        <a:rPr lang="en-US" sz="1000">
                          <a:effectLst/>
                          <a:latin typeface="微软雅黑" panose="020B0503020204020204" pitchFamily="34" charset="-122"/>
                          <a:ea typeface="微软雅黑" panose="020B0503020204020204" pitchFamily="34" charset="-122"/>
                        </a:rPr>
                        <a:t> </a:t>
                      </a:r>
                      <a:endParaRPr lang="zh-CN" sz="1000">
                        <a:effectLst/>
                        <a:latin typeface="微软雅黑" panose="020B0503020204020204" pitchFamily="34" charset="-122"/>
                        <a:ea typeface="微软雅黑" panose="020B0503020204020204" pitchFamily="34" charset="-122"/>
                      </a:endParaRPr>
                    </a:p>
                    <a:p>
                      <a:pPr marL="75565" marR="71120" algn="ctr">
                        <a:spcAft>
                          <a:spcPts val="0"/>
                        </a:spcAft>
                      </a:pPr>
                      <a:r>
                        <a:rPr lang="zh-CN" sz="1000">
                          <a:effectLst/>
                          <a:latin typeface="微软雅黑" panose="020B0503020204020204" pitchFamily="34" charset="-122"/>
                          <a:ea typeface="微软雅黑" panose="020B0503020204020204" pitchFamily="34" charset="-122"/>
                        </a:rPr>
                        <a:t>行业标准</a:t>
                      </a:r>
                      <a:endParaRPr lang="zh-CN" sz="1000">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spcBef>
                          <a:spcPts val="5"/>
                        </a:spcBef>
                        <a:spcAft>
                          <a:spcPts val="0"/>
                        </a:spcAft>
                      </a:pPr>
                      <a:r>
                        <a:rPr lang="en-US" sz="1000" dirty="0">
                          <a:effectLst/>
                          <a:latin typeface="微软雅黑" panose="020B0503020204020204" pitchFamily="34" charset="-122"/>
                          <a:ea typeface="微软雅黑" panose="020B0503020204020204" pitchFamily="34" charset="-122"/>
                        </a:rPr>
                        <a:t> </a:t>
                      </a:r>
                      <a:endParaRPr lang="zh-CN" sz="1000" dirty="0">
                        <a:effectLst/>
                        <a:latin typeface="微软雅黑" panose="020B0503020204020204" pitchFamily="34" charset="-122"/>
                        <a:ea typeface="微软雅黑" panose="020B0503020204020204" pitchFamily="34" charset="-122"/>
                      </a:endParaRPr>
                    </a:p>
                    <a:p>
                      <a:pPr marL="76835" marR="69850" algn="ctr">
                        <a:spcBef>
                          <a:spcPts val="5"/>
                        </a:spcBef>
                        <a:spcAft>
                          <a:spcPts val="0"/>
                        </a:spcAft>
                      </a:pPr>
                      <a:r>
                        <a:rPr lang="en-US" sz="1000" dirty="0">
                          <a:effectLst/>
                          <a:latin typeface="微软雅黑" panose="020B0503020204020204" pitchFamily="34" charset="-122"/>
                          <a:ea typeface="微软雅黑" panose="020B0503020204020204" pitchFamily="34" charset="-122"/>
                        </a:rPr>
                        <a:t>CCSA</a:t>
                      </a:r>
                      <a:endParaRPr lang="zh-CN" sz="10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spcBef>
                          <a:spcPts val="55"/>
                        </a:spcBef>
                        <a:spcAft>
                          <a:spcPts val="0"/>
                        </a:spcAft>
                      </a:pPr>
                      <a:r>
                        <a:rPr lang="en-US" sz="1000" b="0" dirty="0">
                          <a:solidFill>
                            <a:schemeClr val="tx1"/>
                          </a:solidFill>
                          <a:effectLst/>
                          <a:latin typeface="微软雅黑" panose="020B0503020204020204" pitchFamily="34" charset="-122"/>
                          <a:ea typeface="微软雅黑" panose="020B0503020204020204" pitchFamily="34" charset="-122"/>
                        </a:rPr>
                        <a:t> </a:t>
                      </a:r>
                      <a:endParaRPr lang="zh-CN" sz="1000" b="0" dirty="0">
                        <a:solidFill>
                          <a:schemeClr val="tx1"/>
                        </a:solidFill>
                        <a:effectLst/>
                        <a:latin typeface="微软雅黑" panose="020B0503020204020204" pitchFamily="34" charset="-122"/>
                        <a:ea typeface="微软雅黑" panose="020B0503020204020204" pitchFamily="34" charset="-122"/>
                      </a:endParaRPr>
                    </a:p>
                    <a:p>
                      <a:pPr marL="89535" marR="83185" algn="ctr">
                        <a:spcAft>
                          <a:spcPts val="0"/>
                        </a:spcAft>
                      </a:pPr>
                      <a:r>
                        <a:rPr lang="zh-CN" sz="1000" b="0" dirty="0">
                          <a:solidFill>
                            <a:schemeClr val="tx1"/>
                          </a:solidFill>
                          <a:effectLst/>
                          <a:latin typeface="微软雅黑" panose="020B0503020204020204" pitchFamily="34" charset="-122"/>
                          <a:ea typeface="微软雅黑" panose="020B0503020204020204" pitchFamily="34" charset="-122"/>
                        </a:rPr>
                        <a:t>已发布</a:t>
                      </a:r>
                      <a:endParaRPr lang="zh-CN" sz="1000" b="0" dirty="0">
                        <a:solidFill>
                          <a:schemeClr val="tx1"/>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560908770"/>
                  </a:ext>
                </a:extLst>
              </a:tr>
              <a:tr h="254000">
                <a:tc vMerge="1">
                  <a:txBody>
                    <a:bodyPr/>
                    <a:lstStyle/>
                    <a:p>
                      <a:endParaRPr lang="zh-CN" altLang="en-US"/>
                    </a:p>
                  </a:txBody>
                  <a:tcPr/>
                </a:tc>
                <a:tc>
                  <a:txBody>
                    <a:bodyPr/>
                    <a:lstStyle/>
                    <a:p>
                      <a:pPr marL="67945" marR="93980" algn="ctr">
                        <a:lnSpc>
                          <a:spcPts val="2000"/>
                        </a:lnSpc>
                        <a:spcAft>
                          <a:spcPts val="0"/>
                        </a:spcAft>
                      </a:pPr>
                      <a:r>
                        <a:rPr lang="zh-CN" sz="1000" spc="-110" dirty="0">
                          <a:effectLst/>
                          <a:latin typeface="微软雅黑" panose="020B0503020204020204" pitchFamily="34" charset="-122"/>
                          <a:ea typeface="微软雅黑" panose="020B0503020204020204" pitchFamily="34" charset="-122"/>
                        </a:rPr>
                        <a:t>基于 </a:t>
                      </a:r>
                      <a:r>
                        <a:rPr lang="en-US" sz="1000" spc="-15" dirty="0">
                          <a:effectLst/>
                          <a:latin typeface="微软雅黑" panose="020B0503020204020204" pitchFamily="34" charset="-122"/>
                          <a:ea typeface="微软雅黑" panose="020B0503020204020204" pitchFamily="34" charset="-122"/>
                        </a:rPr>
                        <a:t>LTE</a:t>
                      </a:r>
                      <a:r>
                        <a:rPr lang="en-US" sz="1000" spc="-5" dirty="0">
                          <a:effectLst/>
                          <a:latin typeface="微软雅黑" panose="020B0503020204020204" pitchFamily="34" charset="-122"/>
                          <a:ea typeface="微软雅黑" panose="020B0503020204020204" pitchFamily="34" charset="-122"/>
                        </a:rPr>
                        <a:t> </a:t>
                      </a:r>
                      <a:r>
                        <a:rPr lang="zh-CN" sz="1000" spc="-15" dirty="0">
                          <a:effectLst/>
                          <a:latin typeface="微软雅黑" panose="020B0503020204020204" pitchFamily="34" charset="-122"/>
                          <a:ea typeface="微软雅黑" panose="020B0503020204020204" pitchFamily="34" charset="-122"/>
                        </a:rPr>
                        <a:t>的车联网无线通信技术</a:t>
                      </a:r>
                      <a:r>
                        <a:rPr lang="zh-CN" sz="1000" dirty="0">
                          <a:effectLst/>
                          <a:latin typeface="微软雅黑" panose="020B0503020204020204" pitchFamily="34" charset="-122"/>
                          <a:ea typeface="微软雅黑" panose="020B0503020204020204" pitchFamily="34" charset="-122"/>
                        </a:rPr>
                        <a:t>安全认证测试方法</a:t>
                      </a:r>
                      <a:endParaRPr lang="zh-CN" sz="10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spcBef>
                          <a:spcPts val="55"/>
                        </a:spcBef>
                        <a:spcAft>
                          <a:spcPts val="0"/>
                        </a:spcAft>
                      </a:pPr>
                      <a:r>
                        <a:rPr lang="en-US" sz="1000">
                          <a:effectLst/>
                          <a:latin typeface="微软雅黑" panose="020B0503020204020204" pitchFamily="34" charset="-122"/>
                          <a:ea typeface="微软雅黑" panose="020B0503020204020204" pitchFamily="34" charset="-122"/>
                        </a:rPr>
                        <a:t> </a:t>
                      </a:r>
                      <a:endParaRPr lang="zh-CN" sz="1000">
                        <a:effectLst/>
                        <a:latin typeface="微软雅黑" panose="020B0503020204020204" pitchFamily="34" charset="-122"/>
                        <a:ea typeface="微软雅黑" panose="020B0503020204020204" pitchFamily="34" charset="-122"/>
                      </a:endParaRPr>
                    </a:p>
                    <a:p>
                      <a:pPr marL="75565" marR="71120" algn="ctr">
                        <a:spcAft>
                          <a:spcPts val="0"/>
                        </a:spcAft>
                      </a:pPr>
                      <a:r>
                        <a:rPr lang="zh-CN" sz="1000">
                          <a:effectLst/>
                          <a:latin typeface="微软雅黑" panose="020B0503020204020204" pitchFamily="34" charset="-122"/>
                          <a:ea typeface="微软雅黑" panose="020B0503020204020204" pitchFamily="34" charset="-122"/>
                        </a:rPr>
                        <a:t>行业标准</a:t>
                      </a:r>
                      <a:endParaRPr lang="zh-CN" sz="1000">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spcBef>
                          <a:spcPts val="5"/>
                        </a:spcBef>
                        <a:spcAft>
                          <a:spcPts val="0"/>
                        </a:spcAft>
                      </a:pPr>
                      <a:r>
                        <a:rPr lang="en-US" sz="1000" dirty="0">
                          <a:effectLst/>
                          <a:latin typeface="微软雅黑" panose="020B0503020204020204" pitchFamily="34" charset="-122"/>
                          <a:ea typeface="微软雅黑" panose="020B0503020204020204" pitchFamily="34" charset="-122"/>
                        </a:rPr>
                        <a:t> </a:t>
                      </a:r>
                      <a:endParaRPr lang="zh-CN" sz="1000" dirty="0">
                        <a:effectLst/>
                        <a:latin typeface="微软雅黑" panose="020B0503020204020204" pitchFamily="34" charset="-122"/>
                        <a:ea typeface="微软雅黑" panose="020B0503020204020204" pitchFamily="34" charset="-122"/>
                      </a:endParaRPr>
                    </a:p>
                    <a:p>
                      <a:pPr marL="76835" marR="69850" algn="ctr">
                        <a:spcBef>
                          <a:spcPts val="5"/>
                        </a:spcBef>
                        <a:spcAft>
                          <a:spcPts val="0"/>
                        </a:spcAft>
                      </a:pPr>
                      <a:r>
                        <a:rPr lang="en-US" sz="1000" dirty="0">
                          <a:effectLst/>
                          <a:latin typeface="微软雅黑" panose="020B0503020204020204" pitchFamily="34" charset="-122"/>
                          <a:ea typeface="微软雅黑" panose="020B0503020204020204" pitchFamily="34" charset="-122"/>
                        </a:rPr>
                        <a:t>CCSA</a:t>
                      </a:r>
                      <a:endParaRPr lang="zh-CN" sz="10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spcBef>
                          <a:spcPts val="55"/>
                        </a:spcBef>
                        <a:spcAft>
                          <a:spcPts val="0"/>
                        </a:spcAft>
                      </a:pPr>
                      <a:r>
                        <a:rPr lang="en-US" sz="1000" b="0" dirty="0">
                          <a:solidFill>
                            <a:schemeClr val="tx1"/>
                          </a:solidFill>
                          <a:effectLst/>
                          <a:latin typeface="微软雅黑" panose="020B0503020204020204" pitchFamily="34" charset="-122"/>
                          <a:ea typeface="微软雅黑" panose="020B0503020204020204" pitchFamily="34" charset="-122"/>
                        </a:rPr>
                        <a:t> </a:t>
                      </a:r>
                      <a:endParaRPr lang="zh-CN" sz="1000" b="0" dirty="0">
                        <a:solidFill>
                          <a:schemeClr val="tx1"/>
                        </a:solidFill>
                        <a:effectLst/>
                        <a:latin typeface="微软雅黑" panose="020B0503020204020204" pitchFamily="34" charset="-122"/>
                        <a:ea typeface="微软雅黑" panose="020B0503020204020204" pitchFamily="34" charset="-122"/>
                      </a:endParaRPr>
                    </a:p>
                    <a:p>
                      <a:pPr marL="89535" marR="83185" algn="ctr">
                        <a:spcAft>
                          <a:spcPts val="0"/>
                        </a:spcAft>
                      </a:pPr>
                      <a:r>
                        <a:rPr lang="zh-CN" sz="1000" b="0" dirty="0">
                          <a:solidFill>
                            <a:schemeClr val="tx1"/>
                          </a:solidFill>
                          <a:effectLst/>
                          <a:latin typeface="微软雅黑" panose="020B0503020204020204" pitchFamily="34" charset="-122"/>
                          <a:ea typeface="微软雅黑" panose="020B0503020204020204" pitchFamily="34" charset="-122"/>
                        </a:rPr>
                        <a:t>制定中</a:t>
                      </a:r>
                      <a:endParaRPr lang="zh-CN" sz="1000" b="0" dirty="0">
                        <a:solidFill>
                          <a:schemeClr val="tx1"/>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3156732249"/>
                  </a:ext>
                </a:extLst>
              </a:tr>
              <a:tr h="254000">
                <a:tc rowSpan="2">
                  <a:txBody>
                    <a:bodyPr/>
                    <a:lstStyle/>
                    <a:p>
                      <a:pPr algn="ctr">
                        <a:spcAft>
                          <a:spcPts val="0"/>
                        </a:spcAft>
                      </a:pPr>
                      <a:r>
                        <a:rPr lang="zh-CN" sz="1200" b="1" kern="1200" dirty="0" smtClean="0">
                          <a:solidFill>
                            <a:schemeClr val="lt1"/>
                          </a:solidFill>
                          <a:effectLst/>
                          <a:latin typeface="+mn-lt"/>
                          <a:ea typeface="+mn-ea"/>
                          <a:cs typeface="+mn-cs"/>
                        </a:rPr>
                        <a:t>系统</a:t>
                      </a:r>
                      <a:r>
                        <a:rPr lang="zh-CN" sz="1200" b="1" kern="1200" dirty="0">
                          <a:solidFill>
                            <a:schemeClr val="lt1"/>
                          </a:solidFill>
                          <a:effectLst/>
                          <a:latin typeface="+mn-lt"/>
                          <a:ea typeface="+mn-ea"/>
                          <a:cs typeface="+mn-cs"/>
                        </a:rPr>
                        <a:t>要求</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7945" marR="204470" algn="ctr">
                        <a:lnSpc>
                          <a:spcPts val="2000"/>
                        </a:lnSpc>
                        <a:spcAft>
                          <a:spcPts val="0"/>
                        </a:spcAft>
                      </a:pPr>
                      <a:r>
                        <a:rPr lang="zh-CN" sz="1000" spc="-110" dirty="0">
                          <a:effectLst/>
                          <a:latin typeface="微软雅黑" panose="020B0503020204020204" pitchFamily="34" charset="-122"/>
                          <a:ea typeface="微软雅黑" panose="020B0503020204020204" pitchFamily="34" charset="-122"/>
                        </a:rPr>
                        <a:t>基于 </a:t>
                      </a:r>
                      <a:r>
                        <a:rPr lang="en-US" sz="1000" spc="-15" dirty="0">
                          <a:effectLst/>
                          <a:latin typeface="微软雅黑" panose="020B0503020204020204" pitchFamily="34" charset="-122"/>
                          <a:ea typeface="微软雅黑" panose="020B0503020204020204" pitchFamily="34" charset="-122"/>
                        </a:rPr>
                        <a:t>LTE-V2X</a:t>
                      </a:r>
                      <a:r>
                        <a:rPr lang="en-US" sz="1000" dirty="0">
                          <a:effectLst/>
                          <a:latin typeface="微软雅黑" panose="020B0503020204020204" pitchFamily="34" charset="-122"/>
                          <a:ea typeface="微软雅黑" panose="020B0503020204020204" pitchFamily="34" charset="-122"/>
                        </a:rPr>
                        <a:t> </a:t>
                      </a:r>
                      <a:r>
                        <a:rPr lang="zh-CN" sz="1000" spc="-10" dirty="0">
                          <a:effectLst/>
                          <a:latin typeface="微软雅黑" panose="020B0503020204020204" pitchFamily="34" charset="-122"/>
                          <a:ea typeface="微软雅黑" panose="020B0503020204020204" pitchFamily="34" charset="-122"/>
                        </a:rPr>
                        <a:t>直连通信的车载</a:t>
                      </a:r>
                      <a:r>
                        <a:rPr lang="zh-CN" sz="1000" dirty="0">
                          <a:effectLst/>
                          <a:latin typeface="微软雅黑" panose="020B0503020204020204" pitchFamily="34" charset="-122"/>
                          <a:ea typeface="微软雅黑" panose="020B0503020204020204" pitchFamily="34" charset="-122"/>
                        </a:rPr>
                        <a:t>信息交互系统技术要求</a:t>
                      </a:r>
                      <a:endParaRPr lang="zh-CN" sz="10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spcBef>
                          <a:spcPts val="55"/>
                        </a:spcBef>
                        <a:spcAft>
                          <a:spcPts val="0"/>
                        </a:spcAft>
                      </a:pPr>
                      <a:r>
                        <a:rPr lang="en-US" sz="1000" dirty="0">
                          <a:effectLst/>
                          <a:latin typeface="微软雅黑" panose="020B0503020204020204" pitchFamily="34" charset="-122"/>
                          <a:ea typeface="微软雅黑" panose="020B0503020204020204" pitchFamily="34" charset="-122"/>
                        </a:rPr>
                        <a:t> </a:t>
                      </a:r>
                      <a:endParaRPr lang="zh-CN" sz="1000" dirty="0">
                        <a:effectLst/>
                        <a:latin typeface="微软雅黑" panose="020B0503020204020204" pitchFamily="34" charset="-122"/>
                        <a:ea typeface="微软雅黑" panose="020B0503020204020204" pitchFamily="34" charset="-122"/>
                      </a:endParaRPr>
                    </a:p>
                    <a:p>
                      <a:pPr marL="75565" marR="71120" algn="ctr">
                        <a:spcAft>
                          <a:spcPts val="0"/>
                        </a:spcAft>
                      </a:pPr>
                      <a:r>
                        <a:rPr lang="zh-CN" sz="1000" dirty="0">
                          <a:effectLst/>
                          <a:latin typeface="微软雅黑" panose="020B0503020204020204" pitchFamily="34" charset="-122"/>
                          <a:ea typeface="微软雅黑" panose="020B0503020204020204" pitchFamily="34" charset="-122"/>
                        </a:rPr>
                        <a:t>国家标准</a:t>
                      </a:r>
                      <a:endParaRPr lang="zh-CN" sz="10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spcBef>
                          <a:spcPts val="55"/>
                        </a:spcBef>
                        <a:spcAft>
                          <a:spcPts val="0"/>
                        </a:spcAft>
                      </a:pPr>
                      <a:r>
                        <a:rPr lang="en-US" sz="1000" dirty="0">
                          <a:effectLst/>
                          <a:latin typeface="微软雅黑" panose="020B0503020204020204" pitchFamily="34" charset="-122"/>
                          <a:ea typeface="微软雅黑" panose="020B0503020204020204" pitchFamily="34" charset="-122"/>
                        </a:rPr>
                        <a:t> </a:t>
                      </a:r>
                      <a:endParaRPr lang="zh-CN" sz="1000" dirty="0">
                        <a:effectLst/>
                        <a:latin typeface="微软雅黑" panose="020B0503020204020204" pitchFamily="34" charset="-122"/>
                        <a:ea typeface="微软雅黑" panose="020B0503020204020204" pitchFamily="34" charset="-122"/>
                      </a:endParaRPr>
                    </a:p>
                    <a:p>
                      <a:pPr marL="76835" marR="69850" algn="ctr">
                        <a:spcAft>
                          <a:spcPts val="0"/>
                        </a:spcAft>
                      </a:pPr>
                      <a:r>
                        <a:rPr lang="zh-CN" sz="1000" dirty="0">
                          <a:effectLst/>
                          <a:latin typeface="微软雅黑" panose="020B0503020204020204" pitchFamily="34" charset="-122"/>
                          <a:ea typeface="微软雅黑" panose="020B0503020204020204" pitchFamily="34" charset="-122"/>
                        </a:rPr>
                        <a:t>汽标委</a:t>
                      </a:r>
                      <a:endParaRPr lang="zh-CN" sz="10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spcBef>
                          <a:spcPts val="55"/>
                        </a:spcBef>
                        <a:spcAft>
                          <a:spcPts val="0"/>
                        </a:spcAft>
                      </a:pPr>
                      <a:r>
                        <a:rPr lang="en-US" sz="1000" b="0" dirty="0">
                          <a:solidFill>
                            <a:schemeClr val="tx1"/>
                          </a:solidFill>
                          <a:effectLst/>
                          <a:latin typeface="微软雅黑" panose="020B0503020204020204" pitchFamily="34" charset="-122"/>
                          <a:ea typeface="微软雅黑" panose="020B0503020204020204" pitchFamily="34" charset="-122"/>
                        </a:rPr>
                        <a:t> </a:t>
                      </a:r>
                      <a:endParaRPr lang="zh-CN" sz="1000" b="0" dirty="0">
                        <a:solidFill>
                          <a:schemeClr val="tx1"/>
                        </a:solidFill>
                        <a:effectLst/>
                        <a:latin typeface="微软雅黑" panose="020B0503020204020204" pitchFamily="34" charset="-122"/>
                        <a:ea typeface="微软雅黑" panose="020B0503020204020204" pitchFamily="34" charset="-122"/>
                      </a:endParaRPr>
                    </a:p>
                    <a:p>
                      <a:pPr marL="89535" marR="83185" algn="ctr">
                        <a:spcAft>
                          <a:spcPts val="0"/>
                        </a:spcAft>
                      </a:pPr>
                      <a:r>
                        <a:rPr lang="zh-CN" sz="1000" b="0" dirty="0">
                          <a:solidFill>
                            <a:schemeClr val="tx1"/>
                          </a:solidFill>
                          <a:effectLst/>
                          <a:latin typeface="微软雅黑" panose="020B0503020204020204" pitchFamily="34" charset="-122"/>
                          <a:ea typeface="微软雅黑" panose="020B0503020204020204" pitchFamily="34" charset="-122"/>
                        </a:rPr>
                        <a:t>制定中</a:t>
                      </a:r>
                      <a:endParaRPr lang="zh-CN" sz="1000" b="0" dirty="0">
                        <a:solidFill>
                          <a:schemeClr val="tx1"/>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995490779"/>
                  </a:ext>
                </a:extLst>
              </a:tr>
              <a:tr h="254000">
                <a:tc vMerge="1">
                  <a:txBody>
                    <a:bodyPr/>
                    <a:lstStyle/>
                    <a:p>
                      <a:endParaRPr lang="zh-CN" altLang="en-US"/>
                    </a:p>
                  </a:txBody>
                  <a:tcPr/>
                </a:tc>
                <a:tc>
                  <a:txBody>
                    <a:bodyPr/>
                    <a:lstStyle/>
                    <a:p>
                      <a:pPr marL="67945" marR="93980" algn="ctr">
                        <a:lnSpc>
                          <a:spcPct val="130000"/>
                        </a:lnSpc>
                        <a:spcBef>
                          <a:spcPts val="400"/>
                        </a:spcBef>
                        <a:spcAft>
                          <a:spcPts val="0"/>
                        </a:spcAft>
                      </a:pPr>
                      <a:r>
                        <a:rPr lang="zh-CN" sz="1000" spc="-110">
                          <a:effectLst/>
                          <a:latin typeface="微软雅黑" panose="020B0503020204020204" pitchFamily="34" charset="-122"/>
                          <a:ea typeface="微软雅黑" panose="020B0503020204020204" pitchFamily="34" charset="-122"/>
                        </a:rPr>
                        <a:t>基于 </a:t>
                      </a:r>
                      <a:r>
                        <a:rPr lang="en-US" sz="1000" spc="-15">
                          <a:effectLst/>
                          <a:latin typeface="微软雅黑" panose="020B0503020204020204" pitchFamily="34" charset="-122"/>
                          <a:ea typeface="微软雅黑" panose="020B0503020204020204" pitchFamily="34" charset="-122"/>
                        </a:rPr>
                        <a:t>LTE</a:t>
                      </a:r>
                      <a:r>
                        <a:rPr lang="en-US" sz="1000" spc="-5">
                          <a:effectLst/>
                          <a:latin typeface="微软雅黑" panose="020B0503020204020204" pitchFamily="34" charset="-122"/>
                          <a:ea typeface="微软雅黑" panose="020B0503020204020204" pitchFamily="34" charset="-122"/>
                        </a:rPr>
                        <a:t> </a:t>
                      </a:r>
                      <a:r>
                        <a:rPr lang="zh-CN" sz="1000" spc="-15">
                          <a:effectLst/>
                          <a:latin typeface="微软雅黑" panose="020B0503020204020204" pitchFamily="34" charset="-122"/>
                          <a:ea typeface="微软雅黑" panose="020B0503020204020204" pitchFamily="34" charset="-122"/>
                        </a:rPr>
                        <a:t>的车联网无线通信技术</a:t>
                      </a:r>
                      <a:r>
                        <a:rPr lang="zh-CN" sz="1000">
                          <a:effectLst/>
                          <a:latin typeface="微软雅黑" panose="020B0503020204020204" pitchFamily="34" charset="-122"/>
                          <a:ea typeface="微软雅黑" panose="020B0503020204020204" pitchFamily="34" charset="-122"/>
                        </a:rPr>
                        <a:t>直连通信路侧系统单元技术要求</a:t>
                      </a:r>
                    </a:p>
                    <a:p>
                      <a:pPr marL="67945" algn="ctr">
                        <a:lnSpc>
                          <a:spcPts val="1495"/>
                        </a:lnSpc>
                        <a:spcBef>
                          <a:spcPts val="5"/>
                        </a:spcBef>
                        <a:spcAft>
                          <a:spcPts val="0"/>
                        </a:spcAft>
                      </a:pPr>
                      <a:r>
                        <a:rPr lang="zh-CN" sz="1000">
                          <a:effectLst/>
                          <a:latin typeface="微软雅黑" panose="020B0503020204020204" pitchFamily="34" charset="-122"/>
                          <a:ea typeface="微软雅黑" panose="020B0503020204020204" pitchFamily="34" charset="-122"/>
                        </a:rPr>
                        <a:t>及试验方法</a:t>
                      </a:r>
                      <a:endParaRPr lang="zh-CN" sz="1000">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spcAft>
                          <a:spcPts val="0"/>
                        </a:spcAft>
                      </a:pPr>
                      <a:r>
                        <a:rPr lang="zh-CN" sz="1000" dirty="0" smtClean="0">
                          <a:effectLst/>
                          <a:latin typeface="微软雅黑" panose="020B0503020204020204" pitchFamily="34" charset="-122"/>
                          <a:ea typeface="微软雅黑" panose="020B0503020204020204" pitchFamily="34" charset="-122"/>
                        </a:rPr>
                        <a:t>团体</a:t>
                      </a:r>
                      <a:r>
                        <a:rPr lang="zh-CN" sz="1000" dirty="0">
                          <a:effectLst/>
                          <a:latin typeface="微软雅黑" panose="020B0503020204020204" pitchFamily="34" charset="-122"/>
                          <a:ea typeface="微软雅黑" panose="020B0503020204020204" pitchFamily="34" charset="-122"/>
                        </a:rPr>
                        <a:t>标准</a:t>
                      </a:r>
                      <a:endParaRPr lang="zh-CN" sz="10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spcBef>
                          <a:spcPts val="55"/>
                        </a:spcBef>
                        <a:spcAft>
                          <a:spcPts val="0"/>
                        </a:spcAft>
                      </a:pPr>
                      <a:r>
                        <a:rPr lang="en-US" sz="1000" dirty="0">
                          <a:effectLst/>
                          <a:latin typeface="微软雅黑" panose="020B0503020204020204" pitchFamily="34" charset="-122"/>
                          <a:ea typeface="微软雅黑" panose="020B0503020204020204" pitchFamily="34" charset="-122"/>
                        </a:rPr>
                        <a:t> </a:t>
                      </a:r>
                      <a:endParaRPr lang="zh-CN" sz="1000" dirty="0">
                        <a:effectLst/>
                        <a:latin typeface="微软雅黑" panose="020B0503020204020204" pitchFamily="34" charset="-122"/>
                        <a:ea typeface="微软雅黑" panose="020B0503020204020204" pitchFamily="34" charset="-122"/>
                      </a:endParaRPr>
                    </a:p>
                    <a:p>
                      <a:pPr marL="76835" marR="71120" algn="ctr">
                        <a:spcAft>
                          <a:spcPts val="0"/>
                        </a:spcAft>
                      </a:pPr>
                      <a:r>
                        <a:rPr lang="en-US" sz="1000" dirty="0">
                          <a:effectLst/>
                          <a:latin typeface="微软雅黑" panose="020B0503020204020204" pitchFamily="34" charset="-122"/>
                          <a:ea typeface="微软雅黑" panose="020B0503020204020204" pitchFamily="34" charset="-122"/>
                        </a:rPr>
                        <a:t>C-SAE</a:t>
                      </a:r>
                      <a:r>
                        <a:rPr lang="en-US" sz="1000" spc="-15" dirty="0">
                          <a:effectLst/>
                          <a:latin typeface="微软雅黑" panose="020B0503020204020204" pitchFamily="34" charset="-122"/>
                          <a:ea typeface="微软雅黑" panose="020B0503020204020204" pitchFamily="34" charset="-122"/>
                        </a:rPr>
                        <a:t> </a:t>
                      </a:r>
                      <a:r>
                        <a:rPr lang="zh-CN" sz="1000" dirty="0">
                          <a:effectLst/>
                          <a:latin typeface="微软雅黑" panose="020B0503020204020204" pitchFamily="34" charset="-122"/>
                          <a:ea typeface="微软雅黑" panose="020B0503020204020204" pitchFamily="34" charset="-122"/>
                        </a:rPr>
                        <a:t>和</a:t>
                      </a:r>
                    </a:p>
                    <a:p>
                      <a:pPr marL="76835" marR="70485" algn="ctr">
                        <a:spcBef>
                          <a:spcPts val="540"/>
                        </a:spcBef>
                        <a:spcAft>
                          <a:spcPts val="0"/>
                        </a:spcAft>
                      </a:pPr>
                      <a:r>
                        <a:rPr lang="en-US" sz="1000" dirty="0">
                          <a:effectLst/>
                          <a:latin typeface="微软雅黑" panose="020B0503020204020204" pitchFamily="34" charset="-122"/>
                          <a:ea typeface="微软雅黑" panose="020B0503020204020204" pitchFamily="34" charset="-122"/>
                        </a:rPr>
                        <a:t>C-ITS</a:t>
                      </a:r>
                      <a:endParaRPr lang="zh-CN" sz="10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spcAft>
                          <a:spcPts val="0"/>
                        </a:spcAft>
                      </a:pPr>
                      <a:r>
                        <a:rPr lang="zh-CN" sz="1000" b="0" dirty="0" smtClean="0">
                          <a:solidFill>
                            <a:schemeClr val="tx1"/>
                          </a:solidFill>
                          <a:effectLst/>
                          <a:latin typeface="微软雅黑" panose="020B0503020204020204" pitchFamily="34" charset="-122"/>
                          <a:ea typeface="微软雅黑" panose="020B0503020204020204" pitchFamily="34" charset="-122"/>
                        </a:rPr>
                        <a:t>已</a:t>
                      </a:r>
                      <a:r>
                        <a:rPr lang="zh-CN" sz="1000" b="0" dirty="0">
                          <a:solidFill>
                            <a:schemeClr val="tx1"/>
                          </a:solidFill>
                          <a:effectLst/>
                          <a:latin typeface="微软雅黑" panose="020B0503020204020204" pitchFamily="34" charset="-122"/>
                          <a:ea typeface="微软雅黑" panose="020B0503020204020204" pitchFamily="34" charset="-122"/>
                        </a:rPr>
                        <a:t>发布</a:t>
                      </a:r>
                      <a:endParaRPr lang="zh-CN" sz="1000" b="0" dirty="0">
                        <a:solidFill>
                          <a:schemeClr val="tx1"/>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172766653"/>
                  </a:ext>
                </a:extLst>
              </a:tr>
              <a:tr h="254000">
                <a:tc>
                  <a:txBody>
                    <a:bodyPr/>
                    <a:lstStyle/>
                    <a:p>
                      <a:pPr algn="ctr">
                        <a:spcBef>
                          <a:spcPts val="55"/>
                        </a:spcBef>
                        <a:spcAft>
                          <a:spcPts val="0"/>
                        </a:spcAft>
                      </a:pPr>
                      <a:r>
                        <a:rPr lang="zh-CN" sz="1200" b="1" kern="1200" dirty="0" smtClean="0">
                          <a:solidFill>
                            <a:schemeClr val="lt1"/>
                          </a:solidFill>
                          <a:effectLst/>
                          <a:latin typeface="+mn-lt"/>
                          <a:ea typeface="+mn-ea"/>
                          <a:cs typeface="+mn-cs"/>
                        </a:rPr>
                        <a:t>标识</a:t>
                      </a:r>
                      <a:endParaRPr lang="zh-CN" sz="1200" b="1" kern="1200" dirty="0">
                        <a:solidFill>
                          <a:schemeClr val="lt1"/>
                        </a:solidFill>
                        <a:effectLst/>
                        <a:latin typeface="+mn-lt"/>
                        <a:ea typeface="+mn-ea"/>
                        <a:cs typeface="+mn-c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7945" algn="ctr">
                        <a:spcBef>
                          <a:spcPts val="400"/>
                        </a:spcBef>
                        <a:spcAft>
                          <a:spcPts val="0"/>
                        </a:spcAft>
                      </a:pPr>
                      <a:r>
                        <a:rPr lang="zh-CN" sz="1000" b="0" spc="-110" dirty="0">
                          <a:solidFill>
                            <a:schemeClr val="tx1"/>
                          </a:solidFill>
                          <a:effectLst/>
                          <a:latin typeface="微软雅黑" panose="020B0503020204020204" pitchFamily="34" charset="-122"/>
                          <a:ea typeface="微软雅黑" panose="020B0503020204020204" pitchFamily="34" charset="-122"/>
                        </a:rPr>
                        <a:t>基于 </a:t>
                      </a:r>
                      <a:r>
                        <a:rPr lang="en-US" sz="1000" b="0" spc="-10" dirty="0">
                          <a:solidFill>
                            <a:schemeClr val="tx1"/>
                          </a:solidFill>
                          <a:effectLst/>
                          <a:latin typeface="微软雅黑" panose="020B0503020204020204" pitchFamily="34" charset="-122"/>
                          <a:ea typeface="微软雅黑" panose="020B0503020204020204" pitchFamily="34" charset="-122"/>
                        </a:rPr>
                        <a:t>LTE</a:t>
                      </a:r>
                      <a:r>
                        <a:rPr lang="en-US" sz="1000" b="0" spc="-5" dirty="0">
                          <a:solidFill>
                            <a:schemeClr val="tx1"/>
                          </a:solidFill>
                          <a:effectLst/>
                          <a:latin typeface="微软雅黑" panose="020B0503020204020204" pitchFamily="34" charset="-122"/>
                          <a:ea typeface="微软雅黑" panose="020B0503020204020204" pitchFamily="34" charset="-122"/>
                        </a:rPr>
                        <a:t> </a:t>
                      </a:r>
                      <a:r>
                        <a:rPr lang="zh-CN" sz="1000" b="0" spc="-10" dirty="0">
                          <a:solidFill>
                            <a:schemeClr val="tx1"/>
                          </a:solidFill>
                          <a:effectLst/>
                          <a:latin typeface="微软雅黑" panose="020B0503020204020204" pitchFamily="34" charset="-122"/>
                          <a:ea typeface="微软雅黑" panose="020B0503020204020204" pitchFamily="34" charset="-122"/>
                        </a:rPr>
                        <a:t>的车联网无线通信</a:t>
                      </a:r>
                      <a:r>
                        <a:rPr lang="zh-CN" sz="1000" b="0" spc="-10" dirty="0" smtClean="0">
                          <a:solidFill>
                            <a:schemeClr val="tx1"/>
                          </a:solidFill>
                          <a:effectLst/>
                          <a:latin typeface="微软雅黑" panose="020B0503020204020204" pitchFamily="34" charset="-122"/>
                          <a:ea typeface="微软雅黑" panose="020B0503020204020204" pitchFamily="34" charset="-122"/>
                        </a:rPr>
                        <a:t>技术</a:t>
                      </a:r>
                      <a:r>
                        <a:rPr lang="en-US" altLang="zh-CN" sz="1000" b="0" spc="-10" dirty="0" smtClean="0">
                          <a:solidFill>
                            <a:schemeClr val="tx1"/>
                          </a:solidFill>
                          <a:effectLst/>
                          <a:latin typeface="微软雅黑" panose="020B0503020204020204" pitchFamily="34" charset="-122"/>
                          <a:ea typeface="微软雅黑" panose="020B0503020204020204" pitchFamily="34" charset="-122"/>
                        </a:rPr>
                        <a:t> </a:t>
                      </a:r>
                      <a:r>
                        <a:rPr lang="zh-CN" sz="1000" b="0" dirty="0" smtClean="0">
                          <a:solidFill>
                            <a:schemeClr val="tx1"/>
                          </a:solidFill>
                          <a:effectLst/>
                          <a:latin typeface="微软雅黑" panose="020B0503020204020204" pitchFamily="34" charset="-122"/>
                          <a:ea typeface="微软雅黑" panose="020B0503020204020204" pitchFamily="34" charset="-122"/>
                        </a:rPr>
                        <a:t>应用</a:t>
                      </a:r>
                      <a:r>
                        <a:rPr lang="zh-CN" sz="1000" b="0" dirty="0">
                          <a:solidFill>
                            <a:schemeClr val="tx1"/>
                          </a:solidFill>
                          <a:effectLst/>
                          <a:latin typeface="微软雅黑" panose="020B0503020204020204" pitchFamily="34" charset="-122"/>
                          <a:ea typeface="微软雅黑" panose="020B0503020204020204" pitchFamily="34" charset="-122"/>
                        </a:rPr>
                        <a:t>标识分配及映射</a:t>
                      </a:r>
                      <a:endParaRPr lang="zh-CN" sz="1000" b="0" dirty="0">
                        <a:solidFill>
                          <a:schemeClr val="tx1"/>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spcBef>
                          <a:spcPts val="55"/>
                        </a:spcBef>
                        <a:spcAft>
                          <a:spcPts val="0"/>
                        </a:spcAft>
                      </a:pPr>
                      <a:r>
                        <a:rPr lang="zh-CN" sz="1000" b="0" dirty="0" smtClean="0">
                          <a:solidFill>
                            <a:schemeClr val="tx1"/>
                          </a:solidFill>
                          <a:effectLst/>
                          <a:latin typeface="微软雅黑" panose="020B0503020204020204" pitchFamily="34" charset="-122"/>
                          <a:ea typeface="微软雅黑" panose="020B0503020204020204" pitchFamily="34" charset="-122"/>
                        </a:rPr>
                        <a:t>行业</a:t>
                      </a:r>
                      <a:r>
                        <a:rPr lang="zh-CN" sz="1000" b="0" dirty="0">
                          <a:solidFill>
                            <a:schemeClr val="tx1"/>
                          </a:solidFill>
                          <a:effectLst/>
                          <a:latin typeface="微软雅黑" panose="020B0503020204020204" pitchFamily="34" charset="-122"/>
                          <a:ea typeface="微软雅黑" panose="020B0503020204020204" pitchFamily="34" charset="-122"/>
                        </a:rPr>
                        <a:t>标准</a:t>
                      </a:r>
                      <a:endParaRPr lang="zh-CN" sz="1000" b="0" dirty="0">
                        <a:solidFill>
                          <a:schemeClr val="tx1"/>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spcBef>
                          <a:spcPts val="5"/>
                        </a:spcBef>
                        <a:spcAft>
                          <a:spcPts val="0"/>
                        </a:spcAft>
                      </a:pPr>
                      <a:r>
                        <a:rPr lang="en-US" sz="1000" b="0" dirty="0" smtClean="0">
                          <a:solidFill>
                            <a:schemeClr val="tx1"/>
                          </a:solidFill>
                          <a:effectLst/>
                          <a:latin typeface="微软雅黑" panose="020B0503020204020204" pitchFamily="34" charset="-122"/>
                          <a:ea typeface="微软雅黑" panose="020B0503020204020204" pitchFamily="34" charset="-122"/>
                        </a:rPr>
                        <a:t>CCSA</a:t>
                      </a:r>
                      <a:endParaRPr lang="zh-CN" sz="1000" b="0" dirty="0">
                        <a:solidFill>
                          <a:schemeClr val="tx1"/>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spcBef>
                          <a:spcPts val="55"/>
                        </a:spcBef>
                        <a:spcAft>
                          <a:spcPts val="0"/>
                        </a:spcAft>
                      </a:pPr>
                      <a:r>
                        <a:rPr lang="zh-CN" sz="1000" b="0" dirty="0" smtClean="0">
                          <a:solidFill>
                            <a:schemeClr val="tx1"/>
                          </a:solidFill>
                          <a:effectLst/>
                          <a:latin typeface="微软雅黑" panose="020B0503020204020204" pitchFamily="34" charset="-122"/>
                          <a:ea typeface="微软雅黑" panose="020B0503020204020204" pitchFamily="34" charset="-122"/>
                        </a:rPr>
                        <a:t>报批</a:t>
                      </a:r>
                      <a:r>
                        <a:rPr lang="zh-CN" sz="1000" b="0" dirty="0">
                          <a:solidFill>
                            <a:schemeClr val="tx1"/>
                          </a:solidFill>
                          <a:effectLst/>
                          <a:latin typeface="微软雅黑" panose="020B0503020204020204" pitchFamily="34" charset="-122"/>
                          <a:ea typeface="微软雅黑" panose="020B0503020204020204" pitchFamily="34" charset="-122"/>
                        </a:rPr>
                        <a:t>稿</a:t>
                      </a:r>
                      <a:endParaRPr lang="zh-CN" sz="1000" b="0" dirty="0">
                        <a:solidFill>
                          <a:schemeClr val="tx1"/>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88293829"/>
                  </a:ext>
                </a:extLst>
              </a:tr>
            </a:tbl>
          </a:graphicData>
        </a:graphic>
      </p:graphicFrame>
      <p:sp>
        <p:nvSpPr>
          <p:cNvPr id="5" name="Rectangle 1"/>
          <p:cNvSpPr>
            <a:spLocks noChangeArrowheads="1"/>
          </p:cNvSpPr>
          <p:nvPr/>
        </p:nvSpPr>
        <p:spPr bwMode="auto">
          <a:xfrm>
            <a:off x="1979613" y="11541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200" b="0" i="0" u="none" strike="noStrike" cap="none" normalizeH="0" baseline="0" smtClean="0">
                <a:ln>
                  <a:noFill/>
                </a:ln>
                <a:solidFill>
                  <a:schemeClr val="tx1"/>
                </a:solidFill>
                <a:effectLst/>
                <a:latin typeface="Arial" panose="020B0604020202020204" pitchFamily="34" charset="0"/>
                <a:cs typeface="宋体" panose="02010600030101010101" pitchFamily="2" charset="-122"/>
              </a:rPr>
              <a:t/>
            </a:r>
            <a:br>
              <a:rPr kumimoji="0" lang="en-US" altLang="zh-CN" sz="1200" b="0" i="0" u="none" strike="noStrike" cap="none" normalizeH="0" baseline="0" smtClean="0">
                <a:ln>
                  <a:noFill/>
                </a:ln>
                <a:solidFill>
                  <a:schemeClr val="tx1"/>
                </a:solidFill>
                <a:effectLst/>
                <a:latin typeface="Arial" panose="020B0604020202020204" pitchFamily="34" charset="0"/>
                <a:cs typeface="宋体" panose="02010600030101010101" pitchFamily="2" charset="-122"/>
              </a:rPr>
            </a:br>
            <a:endParaRPr kumimoji="0" lang="en-US" altLang="zh-CN" sz="400" b="0" i="0" u="none" strike="noStrike" cap="none" normalizeH="0" baseline="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800" b="0" i="0" u="none" strike="noStrike" cap="none" normalizeH="0" baseline="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142822041"/>
      </p:ext>
    </p:extLst>
  </p:cSld>
  <p:clrMapOvr>
    <a:masterClrMapping/>
  </p:clrMapOvr>
  <p:transition spd="slow" advClick="0"/>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标题 1">
            <a:extLst>
              <a:ext uri="{FF2B5EF4-FFF2-40B4-BE49-F238E27FC236}">
                <a16:creationId xmlns:a16="http://schemas.microsoft.com/office/drawing/2014/main" id="{A1B259F4-61D9-D54A-A46D-A8AB65FCCBE6}"/>
              </a:ext>
            </a:extLst>
          </p:cNvPr>
          <p:cNvSpPr txBox="1"/>
          <p:nvPr/>
        </p:nvSpPr>
        <p:spPr>
          <a:xfrm>
            <a:off x="237392" y="191297"/>
            <a:ext cx="9251576" cy="679847"/>
          </a:xfrm>
          <a:prstGeom prst="rect">
            <a:avLst/>
          </a:prstGeom>
        </p:spPr>
        <p:txBody>
          <a:bodyPr vert="horz" lIns="68580" tIns="34290" rIns="68580" bIns="34290" rtlCol="0" anchor="ctr">
            <a:normAutofit/>
          </a:bodyPr>
          <a:lstStyle/>
          <a:p>
            <a:pPr lvl="0">
              <a:spcBef>
                <a:spcPct val="0"/>
              </a:spcBef>
              <a:defRPr/>
            </a:pPr>
            <a:r>
              <a:rPr lang="en-US" altLang="zh-CN" sz="34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LTE-V2X </a:t>
            </a:r>
            <a:r>
              <a:rPr lang="zh-CN" altLang="en-US" sz="34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网络架构</a:t>
            </a:r>
            <a:endParaRPr lang="en-US" altLang="zh-CN" sz="36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pic>
        <p:nvPicPr>
          <p:cNvPr id="31" name="Picture 11" descr="program-ciat2020">
            <a:extLst>
              <a:ext uri="{FF2B5EF4-FFF2-40B4-BE49-F238E27FC236}">
                <a16:creationId xmlns:a16="http://schemas.microsoft.com/office/drawing/2014/main" id="{590FEF71-8EB3-6941-9167-6129C74764E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pic>
        <p:nvPicPr>
          <p:cNvPr id="2" name="图片 1"/>
          <p:cNvPicPr>
            <a:picLocks noChangeAspect="1"/>
          </p:cNvPicPr>
          <p:nvPr/>
        </p:nvPicPr>
        <p:blipFill>
          <a:blip r:embed="rId3"/>
          <a:stretch>
            <a:fillRect/>
          </a:stretch>
        </p:blipFill>
        <p:spPr>
          <a:xfrm>
            <a:off x="503854" y="1062441"/>
            <a:ext cx="7987003" cy="5138993"/>
          </a:xfrm>
          <a:prstGeom prst="rect">
            <a:avLst/>
          </a:prstGeom>
        </p:spPr>
      </p:pic>
    </p:spTree>
    <p:extLst>
      <p:ext uri="{BB962C8B-B14F-4D97-AF65-F5344CB8AC3E}">
        <p14:creationId xmlns:p14="http://schemas.microsoft.com/office/powerpoint/2010/main" val="1664199223"/>
      </p:ext>
    </p:extLst>
  </p:cSld>
  <p:clrMapOvr>
    <a:masterClrMapping/>
  </p:clrMapOvr>
  <p:transition spd="slow" advClick="0"/>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标题 1">
            <a:extLst>
              <a:ext uri="{FF2B5EF4-FFF2-40B4-BE49-F238E27FC236}">
                <a16:creationId xmlns:a16="http://schemas.microsoft.com/office/drawing/2014/main" id="{A1B259F4-61D9-D54A-A46D-A8AB65FCCBE6}"/>
              </a:ext>
            </a:extLst>
          </p:cNvPr>
          <p:cNvSpPr txBox="1"/>
          <p:nvPr/>
        </p:nvSpPr>
        <p:spPr>
          <a:xfrm>
            <a:off x="237392" y="191297"/>
            <a:ext cx="9251576" cy="679847"/>
          </a:xfrm>
          <a:prstGeom prst="rect">
            <a:avLst/>
          </a:prstGeom>
        </p:spPr>
        <p:txBody>
          <a:bodyPr vert="horz" lIns="68580" tIns="34290" rIns="68580" bIns="34290" rtlCol="0" anchor="ctr">
            <a:normAutofit/>
          </a:bodyPr>
          <a:lstStyle/>
          <a:p>
            <a:pPr lvl="0">
              <a:spcBef>
                <a:spcPct val="0"/>
              </a:spcBef>
              <a:defRPr/>
            </a:pPr>
            <a:r>
              <a:rPr lang="en-US" altLang="zh-CN" sz="34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LTE-V2X </a:t>
            </a:r>
            <a:r>
              <a:rPr lang="zh-CN" altLang="en-US" sz="34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网络架构</a:t>
            </a:r>
            <a:endParaRPr lang="en-US" altLang="zh-CN" sz="36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pic>
        <p:nvPicPr>
          <p:cNvPr id="31" name="Picture 11" descr="program-ciat2020">
            <a:extLst>
              <a:ext uri="{FF2B5EF4-FFF2-40B4-BE49-F238E27FC236}">
                <a16:creationId xmlns:a16="http://schemas.microsoft.com/office/drawing/2014/main" id="{590FEF71-8EB3-6941-9167-6129C74764E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sp>
        <p:nvSpPr>
          <p:cNvPr id="3" name="矩形 2"/>
          <p:cNvSpPr/>
          <p:nvPr/>
        </p:nvSpPr>
        <p:spPr>
          <a:xfrm>
            <a:off x="65314" y="936000"/>
            <a:ext cx="9535886" cy="5478423"/>
          </a:xfrm>
          <a:prstGeom prst="rect">
            <a:avLst/>
          </a:prstGeom>
        </p:spPr>
        <p:txBody>
          <a:bodyPr wrap="square">
            <a:spAutoFit/>
          </a:bodyPr>
          <a:lstStyle/>
          <a:p>
            <a:pPr marL="74930" marR="466725" indent="304800">
              <a:lnSpc>
                <a:spcPct val="130000"/>
              </a:lnSpc>
              <a:spcBef>
                <a:spcPts val="800"/>
              </a:spcBef>
              <a:spcAft>
                <a:spcPts val="0"/>
              </a:spcAft>
            </a:pPr>
            <a:r>
              <a:rPr kumimoji="1" lang="zh-CN" altLang="zh-CN" sz="2000" dirty="0">
                <a:latin typeface="Microsoft YaHei" panose="020B0503020204020204" pitchFamily="34" charset="-122"/>
                <a:ea typeface="Microsoft YaHei" panose="020B0503020204020204" pitchFamily="34" charset="-122"/>
                <a:cs typeface="微软雅黑" charset="0"/>
              </a:rPr>
              <a:t>主要功能实体如下：</a:t>
            </a:r>
          </a:p>
          <a:p>
            <a:pPr marL="360680" marR="471805" indent="-285750">
              <a:lnSpc>
                <a:spcPct val="130000"/>
              </a:lnSpc>
              <a:spcAft>
                <a:spcPts val="0"/>
              </a:spcAft>
              <a:buFont typeface="Wingdings" panose="05000000000000000000" pitchFamily="2" charset="2"/>
              <a:buChar char="n"/>
            </a:pPr>
            <a:r>
              <a:rPr kumimoji="1" lang="en-US" altLang="zh-CN" sz="2000" b="1" dirty="0">
                <a:latin typeface="Microsoft YaHei" panose="020B0503020204020204" pitchFamily="34" charset="-122"/>
                <a:ea typeface="Microsoft YaHei" panose="020B0503020204020204" pitchFamily="34" charset="-122"/>
                <a:cs typeface="微软雅黑" charset="0"/>
              </a:rPr>
              <a:t>V2X </a:t>
            </a:r>
            <a:r>
              <a:rPr kumimoji="1" lang="zh-CN" altLang="zh-CN" sz="2000" b="1" dirty="0">
                <a:latin typeface="Microsoft YaHei" panose="020B0503020204020204" pitchFamily="34" charset="-122"/>
                <a:ea typeface="Microsoft YaHei" panose="020B0503020204020204" pitchFamily="34" charset="-122"/>
                <a:cs typeface="微软雅黑" charset="0"/>
              </a:rPr>
              <a:t>应用服务器</a:t>
            </a:r>
            <a:r>
              <a:rPr kumimoji="1" lang="zh-CN" altLang="zh-CN" sz="2000" dirty="0" smtClean="0">
                <a:latin typeface="Microsoft YaHei" panose="020B0503020204020204" pitchFamily="34" charset="-122"/>
                <a:ea typeface="Microsoft YaHei" panose="020B0503020204020204" pitchFamily="34" charset="-122"/>
                <a:cs typeface="微软雅黑" charset="0"/>
              </a:rPr>
              <a:t>：提供</a:t>
            </a:r>
            <a:r>
              <a:rPr kumimoji="1" lang="zh-CN" altLang="zh-CN" sz="2000" dirty="0">
                <a:latin typeface="Microsoft YaHei" panose="020B0503020204020204" pitchFamily="34" charset="-122"/>
                <a:ea typeface="Microsoft YaHei" panose="020B0503020204020204" pitchFamily="34" charset="-122"/>
                <a:cs typeface="微软雅黑" charset="0"/>
              </a:rPr>
              <a:t>对全局 </a:t>
            </a:r>
            <a:r>
              <a:rPr kumimoji="1" lang="en-US" altLang="zh-CN" sz="2000" dirty="0">
                <a:latin typeface="Microsoft YaHei" panose="020B0503020204020204" pitchFamily="34" charset="-122"/>
                <a:ea typeface="Microsoft YaHei" panose="020B0503020204020204" pitchFamily="34" charset="-122"/>
                <a:cs typeface="微软雅黑" charset="0"/>
              </a:rPr>
              <a:t>V2X </a:t>
            </a:r>
            <a:r>
              <a:rPr kumimoji="1" lang="zh-CN" altLang="zh-CN" sz="2000" dirty="0">
                <a:latin typeface="Microsoft YaHei" panose="020B0503020204020204" pitchFamily="34" charset="-122"/>
                <a:ea typeface="Microsoft YaHei" panose="020B0503020204020204" pitchFamily="34" charset="-122"/>
                <a:cs typeface="微软雅黑" charset="0"/>
              </a:rPr>
              <a:t>通信的策略和参数的管理功能</a:t>
            </a:r>
            <a:r>
              <a:rPr kumimoji="1" lang="zh-CN" altLang="zh-CN" sz="2000" dirty="0" smtClean="0">
                <a:latin typeface="Microsoft YaHei" panose="020B0503020204020204" pitchFamily="34" charset="-122"/>
                <a:ea typeface="Microsoft YaHei" panose="020B0503020204020204" pitchFamily="34" charset="-122"/>
                <a:cs typeface="微软雅黑" charset="0"/>
              </a:rPr>
              <a:t>，对 </a:t>
            </a:r>
            <a:r>
              <a:rPr kumimoji="1" lang="en-US" altLang="zh-CN" sz="2000" dirty="0">
                <a:latin typeface="Microsoft YaHei" panose="020B0503020204020204" pitchFamily="34" charset="-122"/>
                <a:ea typeface="Microsoft YaHei" panose="020B0503020204020204" pitchFamily="34" charset="-122"/>
                <a:cs typeface="微软雅黑" charset="0"/>
              </a:rPr>
              <a:t>V2X </a:t>
            </a:r>
            <a:r>
              <a:rPr kumimoji="1" lang="zh-CN" altLang="zh-CN" sz="2000" dirty="0" smtClean="0">
                <a:latin typeface="Microsoft YaHei" panose="020B0503020204020204" pitchFamily="34" charset="-122"/>
                <a:ea typeface="Microsoft YaHei" panose="020B0503020204020204" pitchFamily="34" charset="-122"/>
                <a:cs typeface="微软雅黑" charset="0"/>
              </a:rPr>
              <a:t>终端签约</a:t>
            </a:r>
            <a:r>
              <a:rPr kumimoji="1" lang="zh-CN" altLang="zh-CN" sz="2000" dirty="0">
                <a:latin typeface="Microsoft YaHei" panose="020B0503020204020204" pitchFamily="34" charset="-122"/>
                <a:ea typeface="Microsoft YaHei" panose="020B0503020204020204" pitchFamily="34" charset="-122"/>
                <a:cs typeface="微软雅黑" charset="0"/>
              </a:rPr>
              <a:t>信息和鉴权信息的管理功能。</a:t>
            </a:r>
          </a:p>
          <a:p>
            <a:pPr marL="417830" marR="417830" indent="-342900">
              <a:lnSpc>
                <a:spcPct val="130000"/>
              </a:lnSpc>
              <a:spcBef>
                <a:spcPts val="5"/>
              </a:spcBef>
              <a:spcAft>
                <a:spcPts val="0"/>
              </a:spcAft>
              <a:buFont typeface="Wingdings" panose="05000000000000000000" pitchFamily="2" charset="2"/>
              <a:buChar char="n"/>
            </a:pPr>
            <a:r>
              <a:rPr kumimoji="1" lang="zh-CN" altLang="zh-CN" sz="2000" b="1" dirty="0">
                <a:latin typeface="Microsoft YaHei" panose="020B0503020204020204" pitchFamily="34" charset="-122"/>
                <a:ea typeface="Microsoft YaHei" panose="020B0503020204020204" pitchFamily="34" charset="-122"/>
                <a:cs typeface="微软雅黑" charset="0"/>
              </a:rPr>
              <a:t>归属签约用户</a:t>
            </a:r>
            <a:r>
              <a:rPr kumimoji="1" lang="zh-CN" altLang="zh-CN" sz="2000" b="1" dirty="0" smtClean="0">
                <a:latin typeface="Microsoft YaHei" panose="020B0503020204020204" pitchFamily="34" charset="-122"/>
                <a:ea typeface="Microsoft YaHei" panose="020B0503020204020204" pitchFamily="34" charset="-122"/>
                <a:cs typeface="微软雅黑" charset="0"/>
              </a:rPr>
              <a:t>服务器</a:t>
            </a:r>
            <a:r>
              <a:rPr kumimoji="1" lang="zh-CN" altLang="en-US" sz="2000" dirty="0" smtClean="0">
                <a:latin typeface="Microsoft YaHei" panose="020B0503020204020204" pitchFamily="34" charset="-122"/>
                <a:ea typeface="Microsoft YaHei" panose="020B0503020204020204" pitchFamily="34" charset="-122"/>
                <a:cs typeface="微软雅黑" charset="0"/>
              </a:rPr>
              <a:t>：</a:t>
            </a:r>
            <a:r>
              <a:rPr kumimoji="1" lang="zh-CN" altLang="zh-CN" sz="2000" dirty="0" smtClean="0">
                <a:latin typeface="Microsoft YaHei" panose="020B0503020204020204" pitchFamily="34" charset="-122"/>
                <a:ea typeface="Microsoft YaHei" panose="020B0503020204020204" pitchFamily="34" charset="-122"/>
                <a:cs typeface="微软雅黑" charset="0"/>
              </a:rPr>
              <a:t>一</a:t>
            </a:r>
            <a:r>
              <a:rPr kumimoji="1" lang="zh-CN" altLang="zh-CN" sz="2000" dirty="0">
                <a:latin typeface="Microsoft YaHei" panose="020B0503020204020204" pitchFamily="34" charset="-122"/>
                <a:ea typeface="Microsoft YaHei" panose="020B0503020204020204" pitchFamily="34" charset="-122"/>
                <a:cs typeface="微软雅黑" charset="0"/>
              </a:rPr>
              <a:t>个中央数据库，可用于存储 </a:t>
            </a:r>
            <a:r>
              <a:rPr kumimoji="1" lang="en-US" altLang="zh-CN" sz="2000" dirty="0">
                <a:latin typeface="Microsoft YaHei" panose="020B0503020204020204" pitchFamily="34" charset="-122"/>
                <a:ea typeface="Microsoft YaHei" panose="020B0503020204020204" pitchFamily="34" charset="-122"/>
                <a:cs typeface="微软雅黑" charset="0"/>
              </a:rPr>
              <a:t>V2X </a:t>
            </a:r>
            <a:r>
              <a:rPr kumimoji="1" lang="zh-CN" altLang="zh-CN" sz="2000" dirty="0">
                <a:latin typeface="Microsoft YaHei" panose="020B0503020204020204" pitchFamily="34" charset="-122"/>
                <a:ea typeface="Microsoft YaHei" panose="020B0503020204020204" pitchFamily="34" charset="-122"/>
                <a:cs typeface="微软雅黑" charset="0"/>
              </a:rPr>
              <a:t>通信中与用户相关的信息和订阅相关的</a:t>
            </a:r>
            <a:r>
              <a:rPr kumimoji="1" lang="zh-CN" altLang="zh-CN" sz="2000" dirty="0" smtClean="0">
                <a:latin typeface="Microsoft YaHei" panose="020B0503020204020204" pitchFamily="34" charset="-122"/>
                <a:ea typeface="Microsoft YaHei" panose="020B0503020204020204" pitchFamily="34" charset="-122"/>
                <a:cs typeface="微软雅黑" charset="0"/>
              </a:rPr>
              <a:t>信息</a:t>
            </a:r>
            <a:r>
              <a:rPr kumimoji="1" lang="zh-CN" altLang="en-US" sz="2000" dirty="0">
                <a:latin typeface="Microsoft YaHei" panose="020B0503020204020204" pitchFamily="34" charset="-122"/>
                <a:ea typeface="Microsoft YaHei" panose="020B0503020204020204" pitchFamily="34" charset="-122"/>
                <a:cs typeface="微软雅黑" charset="0"/>
              </a:rPr>
              <a:t>。</a:t>
            </a:r>
            <a:endParaRPr kumimoji="1" lang="zh-CN" altLang="zh-CN" sz="2000" dirty="0">
              <a:latin typeface="Microsoft YaHei" panose="020B0503020204020204" pitchFamily="34" charset="-122"/>
              <a:ea typeface="Microsoft YaHei" panose="020B0503020204020204" pitchFamily="34" charset="-122"/>
              <a:cs typeface="微软雅黑" charset="0"/>
            </a:endParaRPr>
          </a:p>
          <a:p>
            <a:pPr marL="417830" marR="485775" indent="-342900">
              <a:lnSpc>
                <a:spcPct val="130000"/>
              </a:lnSpc>
              <a:spcBef>
                <a:spcPts val="5"/>
              </a:spcBef>
              <a:spcAft>
                <a:spcPts val="0"/>
              </a:spcAft>
              <a:buFont typeface="Wingdings" panose="05000000000000000000" pitchFamily="2" charset="2"/>
              <a:buChar char="n"/>
            </a:pPr>
            <a:r>
              <a:rPr kumimoji="1" lang="zh-CN" altLang="zh-CN" sz="2000" b="1" dirty="0">
                <a:latin typeface="Microsoft YaHei" panose="020B0503020204020204" pitchFamily="34" charset="-122"/>
                <a:ea typeface="Microsoft YaHei" panose="020B0503020204020204" pitchFamily="34" charset="-122"/>
                <a:cs typeface="微软雅黑" charset="0"/>
              </a:rPr>
              <a:t>移动性管理</a:t>
            </a:r>
            <a:r>
              <a:rPr kumimoji="1" lang="zh-CN" altLang="zh-CN" sz="2000" b="1" dirty="0" smtClean="0">
                <a:latin typeface="Microsoft YaHei" panose="020B0503020204020204" pitchFamily="34" charset="-122"/>
                <a:ea typeface="Microsoft YaHei" panose="020B0503020204020204" pitchFamily="34" charset="-122"/>
                <a:cs typeface="微软雅黑" charset="0"/>
              </a:rPr>
              <a:t>实体</a:t>
            </a:r>
            <a:r>
              <a:rPr kumimoji="1" lang="zh-CN" altLang="en-US" sz="2000" dirty="0" smtClean="0">
                <a:latin typeface="Microsoft YaHei" panose="020B0503020204020204" pitchFamily="34" charset="-122"/>
                <a:ea typeface="Microsoft YaHei" panose="020B0503020204020204" pitchFamily="34" charset="-122"/>
                <a:cs typeface="微软雅黑" charset="0"/>
              </a:rPr>
              <a:t>：</a:t>
            </a:r>
            <a:r>
              <a:rPr kumimoji="1" lang="zh-CN" altLang="zh-CN" sz="2000" dirty="0" smtClean="0">
                <a:latin typeface="Microsoft YaHei" panose="020B0503020204020204" pitchFamily="34" charset="-122"/>
                <a:ea typeface="Microsoft YaHei" panose="020B0503020204020204" pitchFamily="34" charset="-122"/>
                <a:cs typeface="微软雅黑" charset="0"/>
              </a:rPr>
              <a:t>主要</a:t>
            </a:r>
            <a:r>
              <a:rPr kumimoji="1" lang="zh-CN" altLang="zh-CN" sz="2000" dirty="0">
                <a:latin typeface="Microsoft YaHei" panose="020B0503020204020204" pitchFamily="34" charset="-122"/>
                <a:ea typeface="Microsoft YaHei" panose="020B0503020204020204" pitchFamily="34" charset="-122"/>
                <a:cs typeface="微软雅黑" charset="0"/>
              </a:rPr>
              <a:t>负责 </a:t>
            </a:r>
            <a:r>
              <a:rPr kumimoji="1" lang="en-US" altLang="zh-CN" sz="2000" dirty="0">
                <a:latin typeface="Microsoft YaHei" panose="020B0503020204020204" pitchFamily="34" charset="-122"/>
                <a:ea typeface="Microsoft YaHei" panose="020B0503020204020204" pitchFamily="34" charset="-122"/>
                <a:cs typeface="微软雅黑" charset="0"/>
              </a:rPr>
              <a:t>V2X </a:t>
            </a:r>
            <a:r>
              <a:rPr kumimoji="1" lang="zh-CN" altLang="zh-CN" sz="2000" dirty="0">
                <a:latin typeface="Microsoft YaHei" panose="020B0503020204020204" pitchFamily="34" charset="-122"/>
                <a:ea typeface="Microsoft YaHei" panose="020B0503020204020204" pitchFamily="34" charset="-122"/>
                <a:cs typeface="微软雅黑" charset="0"/>
              </a:rPr>
              <a:t>通信中的移动性管理和</a:t>
            </a:r>
            <a:r>
              <a:rPr kumimoji="1" lang="zh-CN" altLang="zh-CN" sz="2000" dirty="0" smtClean="0">
                <a:latin typeface="Microsoft YaHei" panose="020B0503020204020204" pitchFamily="34" charset="-122"/>
                <a:ea typeface="Microsoft YaHei" panose="020B0503020204020204" pitchFamily="34" charset="-122"/>
                <a:cs typeface="微软雅黑" charset="0"/>
              </a:rPr>
              <a:t>控制</a:t>
            </a:r>
            <a:r>
              <a:rPr kumimoji="1" lang="zh-CN" altLang="en-US" sz="2000" dirty="0">
                <a:latin typeface="Microsoft YaHei" panose="020B0503020204020204" pitchFamily="34" charset="-122"/>
                <a:ea typeface="Microsoft YaHei" panose="020B0503020204020204" pitchFamily="34" charset="-122"/>
                <a:cs typeface="微软雅黑" charset="0"/>
              </a:rPr>
              <a:t>。</a:t>
            </a:r>
            <a:endParaRPr kumimoji="1" lang="zh-CN" altLang="zh-CN" sz="2000" dirty="0">
              <a:latin typeface="Microsoft YaHei" panose="020B0503020204020204" pitchFamily="34" charset="-122"/>
              <a:ea typeface="Microsoft YaHei" panose="020B0503020204020204" pitchFamily="34" charset="-122"/>
              <a:cs typeface="微软雅黑" charset="0"/>
            </a:endParaRPr>
          </a:p>
          <a:p>
            <a:pPr marL="417830" marR="471805" indent="-342900">
              <a:lnSpc>
                <a:spcPct val="130000"/>
              </a:lnSpc>
              <a:spcAft>
                <a:spcPts val="0"/>
              </a:spcAft>
              <a:buFont typeface="Wingdings" panose="05000000000000000000" pitchFamily="2" charset="2"/>
              <a:buChar char="n"/>
            </a:pPr>
            <a:r>
              <a:rPr kumimoji="1" lang="zh-CN" altLang="zh-CN" sz="2000" b="1" dirty="0">
                <a:latin typeface="Microsoft YaHei" panose="020B0503020204020204" pitchFamily="34" charset="-122"/>
                <a:ea typeface="Microsoft YaHei" panose="020B0503020204020204" pitchFamily="34" charset="-122"/>
                <a:cs typeface="微软雅黑" charset="0"/>
              </a:rPr>
              <a:t>服务</a:t>
            </a:r>
            <a:r>
              <a:rPr kumimoji="1" lang="zh-CN" altLang="zh-CN" sz="2000" b="1" dirty="0" smtClean="0">
                <a:latin typeface="Microsoft YaHei" panose="020B0503020204020204" pitchFamily="34" charset="-122"/>
                <a:ea typeface="Microsoft YaHei" panose="020B0503020204020204" pitchFamily="34" charset="-122"/>
                <a:cs typeface="微软雅黑" charset="0"/>
              </a:rPr>
              <a:t>网关</a:t>
            </a:r>
            <a:r>
              <a:rPr kumimoji="1" lang="zh-CN" altLang="en-US" sz="2000" dirty="0" smtClean="0">
                <a:latin typeface="Microsoft YaHei" panose="020B0503020204020204" pitchFamily="34" charset="-122"/>
                <a:ea typeface="Microsoft YaHei" panose="020B0503020204020204" pitchFamily="34" charset="-122"/>
                <a:cs typeface="微软雅黑" charset="0"/>
              </a:rPr>
              <a:t>：</a:t>
            </a:r>
            <a:r>
              <a:rPr kumimoji="1" lang="zh-CN" altLang="zh-CN" sz="2000" dirty="0" smtClean="0">
                <a:latin typeface="Microsoft YaHei" panose="020B0503020204020204" pitchFamily="34" charset="-122"/>
                <a:ea typeface="Microsoft YaHei" panose="020B0503020204020204" pitchFamily="34" charset="-122"/>
                <a:cs typeface="微软雅黑" charset="0"/>
              </a:rPr>
              <a:t>主要</a:t>
            </a:r>
            <a:r>
              <a:rPr kumimoji="1" lang="zh-CN" altLang="zh-CN" sz="2000" dirty="0">
                <a:latin typeface="Microsoft YaHei" panose="020B0503020204020204" pitchFamily="34" charset="-122"/>
                <a:ea typeface="Microsoft YaHei" panose="020B0503020204020204" pitchFamily="34" charset="-122"/>
                <a:cs typeface="微软雅黑" charset="0"/>
              </a:rPr>
              <a:t>负责 </a:t>
            </a:r>
            <a:r>
              <a:rPr kumimoji="1" lang="en-US" altLang="zh-CN" sz="2000" dirty="0">
                <a:latin typeface="Microsoft YaHei" panose="020B0503020204020204" pitchFamily="34" charset="-122"/>
                <a:ea typeface="Microsoft YaHei" panose="020B0503020204020204" pitchFamily="34" charset="-122"/>
                <a:cs typeface="微软雅黑" charset="0"/>
              </a:rPr>
              <a:t>V2X </a:t>
            </a:r>
            <a:r>
              <a:rPr kumimoji="1" lang="zh-CN" altLang="zh-CN" sz="2000" dirty="0">
                <a:latin typeface="Microsoft YaHei" panose="020B0503020204020204" pitchFamily="34" charset="-122"/>
                <a:ea typeface="Microsoft YaHei" panose="020B0503020204020204" pitchFamily="34" charset="-122"/>
                <a:cs typeface="微软雅黑" charset="0"/>
              </a:rPr>
              <a:t>通信中上下文会话的管理和数据包的路由和转发，相当于数据中转站。</a:t>
            </a:r>
          </a:p>
          <a:p>
            <a:pPr marL="417830" marR="472440" indent="-342900">
              <a:lnSpc>
                <a:spcPct val="130000"/>
              </a:lnSpc>
              <a:spcAft>
                <a:spcPts val="0"/>
              </a:spcAft>
              <a:buFont typeface="Wingdings" panose="05000000000000000000" pitchFamily="2" charset="2"/>
              <a:buChar char="n"/>
            </a:pPr>
            <a:r>
              <a:rPr kumimoji="1" lang="zh-CN" altLang="zh-CN" sz="2000" b="1" dirty="0">
                <a:latin typeface="Microsoft YaHei" panose="020B0503020204020204" pitchFamily="34" charset="-122"/>
                <a:ea typeface="Microsoft YaHei" panose="020B0503020204020204" pitchFamily="34" charset="-122"/>
                <a:cs typeface="微软雅黑" charset="0"/>
              </a:rPr>
              <a:t>数据</a:t>
            </a:r>
            <a:r>
              <a:rPr kumimoji="1" lang="zh-CN" altLang="zh-CN" sz="2000" b="1" dirty="0" smtClean="0">
                <a:latin typeface="Microsoft YaHei" panose="020B0503020204020204" pitchFamily="34" charset="-122"/>
                <a:ea typeface="Microsoft YaHei" panose="020B0503020204020204" pitchFamily="34" charset="-122"/>
                <a:cs typeface="微软雅黑" charset="0"/>
              </a:rPr>
              <a:t>网关</a:t>
            </a:r>
            <a:r>
              <a:rPr kumimoji="1" lang="zh-CN" altLang="en-US" sz="2000" dirty="0" smtClean="0">
                <a:latin typeface="Microsoft YaHei" panose="020B0503020204020204" pitchFamily="34" charset="-122"/>
                <a:ea typeface="Microsoft YaHei" panose="020B0503020204020204" pitchFamily="34" charset="-122"/>
                <a:cs typeface="微软雅黑" charset="0"/>
              </a:rPr>
              <a:t>：</a:t>
            </a:r>
            <a:r>
              <a:rPr kumimoji="1" lang="zh-CN" altLang="zh-CN" sz="2000" dirty="0" smtClean="0">
                <a:latin typeface="Microsoft YaHei" panose="020B0503020204020204" pitchFamily="34" charset="-122"/>
                <a:ea typeface="Microsoft YaHei" panose="020B0503020204020204" pitchFamily="34" charset="-122"/>
                <a:cs typeface="微软雅黑" charset="0"/>
              </a:rPr>
              <a:t>主要</a:t>
            </a:r>
            <a:r>
              <a:rPr kumimoji="1" lang="zh-CN" altLang="zh-CN" sz="2000" dirty="0">
                <a:latin typeface="Microsoft YaHei" panose="020B0503020204020204" pitchFamily="34" charset="-122"/>
                <a:ea typeface="Microsoft YaHei" panose="020B0503020204020204" pitchFamily="34" charset="-122"/>
                <a:cs typeface="微软雅黑" charset="0"/>
              </a:rPr>
              <a:t>负责连接到外部网络、会话管理和承载控制等功能。</a:t>
            </a:r>
          </a:p>
          <a:p>
            <a:pPr marL="417830" marR="367665" indent="-342900">
              <a:lnSpc>
                <a:spcPct val="130000"/>
              </a:lnSpc>
              <a:spcBef>
                <a:spcPts val="5"/>
              </a:spcBef>
              <a:spcAft>
                <a:spcPts val="0"/>
              </a:spcAft>
              <a:buFont typeface="Wingdings" panose="05000000000000000000" pitchFamily="2" charset="2"/>
              <a:buChar char="n"/>
            </a:pPr>
            <a:r>
              <a:rPr kumimoji="1" lang="en-US" altLang="zh-CN" sz="2000" b="1" dirty="0">
                <a:latin typeface="Microsoft YaHei" panose="020B0503020204020204" pitchFamily="34" charset="-122"/>
                <a:ea typeface="Microsoft YaHei" panose="020B0503020204020204" pitchFamily="34" charset="-122"/>
                <a:cs typeface="微软雅黑" charset="0"/>
              </a:rPr>
              <a:t>V2X </a:t>
            </a:r>
            <a:r>
              <a:rPr kumimoji="1" lang="zh-CN" altLang="zh-CN" sz="2000" b="1" dirty="0" smtClean="0">
                <a:latin typeface="Microsoft YaHei" panose="020B0503020204020204" pitchFamily="34" charset="-122"/>
                <a:ea typeface="Microsoft YaHei" panose="020B0503020204020204" pitchFamily="34" charset="-122"/>
                <a:cs typeface="微软雅黑" charset="0"/>
              </a:rPr>
              <a:t>控制功能</a:t>
            </a:r>
            <a:r>
              <a:rPr kumimoji="1" lang="zh-CN" altLang="en-US" sz="2000" dirty="0" smtClean="0">
                <a:latin typeface="Microsoft YaHei" panose="020B0503020204020204" pitchFamily="34" charset="-122"/>
                <a:ea typeface="Microsoft YaHei" panose="020B0503020204020204" pitchFamily="34" charset="-122"/>
                <a:cs typeface="微软雅黑" charset="0"/>
              </a:rPr>
              <a:t>：</a:t>
            </a:r>
            <a:r>
              <a:rPr kumimoji="1" lang="zh-CN" altLang="zh-CN" sz="2000" dirty="0" smtClean="0">
                <a:latin typeface="Microsoft YaHei" panose="020B0503020204020204" pitchFamily="34" charset="-122"/>
                <a:ea typeface="Microsoft YaHei" panose="020B0503020204020204" pitchFamily="34" charset="-122"/>
                <a:cs typeface="微软雅黑" charset="0"/>
              </a:rPr>
              <a:t>对 </a:t>
            </a:r>
            <a:r>
              <a:rPr kumimoji="1" lang="en-US" altLang="zh-CN" sz="2000" dirty="0">
                <a:latin typeface="Microsoft YaHei" panose="020B0503020204020204" pitchFamily="34" charset="-122"/>
                <a:ea typeface="Microsoft YaHei" panose="020B0503020204020204" pitchFamily="34" charset="-122"/>
                <a:cs typeface="微软雅黑" charset="0"/>
              </a:rPr>
              <a:t>UE </a:t>
            </a:r>
            <a:r>
              <a:rPr kumimoji="1" lang="zh-CN" altLang="zh-CN" sz="2000" dirty="0">
                <a:latin typeface="Microsoft YaHei" panose="020B0503020204020204" pitchFamily="34" charset="-122"/>
                <a:ea typeface="Microsoft YaHei" panose="020B0503020204020204" pitchFamily="34" charset="-122"/>
                <a:cs typeface="微软雅黑" charset="0"/>
              </a:rPr>
              <a:t>进行 </a:t>
            </a:r>
            <a:r>
              <a:rPr kumimoji="1" lang="en-US" altLang="zh-CN" sz="2000" dirty="0">
                <a:latin typeface="Microsoft YaHei" panose="020B0503020204020204" pitchFamily="34" charset="-122"/>
                <a:ea typeface="Microsoft YaHei" panose="020B0503020204020204" pitchFamily="34" charset="-122"/>
                <a:cs typeface="微软雅黑" charset="0"/>
              </a:rPr>
              <a:t>PC5/LTE-</a:t>
            </a:r>
            <a:r>
              <a:rPr kumimoji="1" lang="en-US" altLang="zh-CN" sz="2000" dirty="0" err="1">
                <a:latin typeface="Microsoft YaHei" panose="020B0503020204020204" pitchFamily="34" charset="-122"/>
                <a:ea typeface="Microsoft YaHei" panose="020B0503020204020204" pitchFamily="34" charset="-122"/>
                <a:cs typeface="微软雅黑" charset="0"/>
              </a:rPr>
              <a:t>Uu</a:t>
            </a:r>
            <a:r>
              <a:rPr kumimoji="1" lang="en-US" altLang="zh-CN" sz="2000" dirty="0">
                <a:latin typeface="Microsoft YaHei" panose="020B0503020204020204" pitchFamily="34" charset="-122"/>
                <a:ea typeface="Microsoft YaHei" panose="020B0503020204020204" pitchFamily="34" charset="-122"/>
                <a:cs typeface="微软雅黑" charset="0"/>
              </a:rPr>
              <a:t> </a:t>
            </a:r>
            <a:r>
              <a:rPr kumimoji="1" lang="zh-CN" altLang="zh-CN" sz="2000" dirty="0">
                <a:latin typeface="Microsoft YaHei" panose="020B0503020204020204" pitchFamily="34" charset="-122"/>
                <a:ea typeface="Microsoft YaHei" panose="020B0503020204020204" pitchFamily="34" charset="-122"/>
                <a:cs typeface="微软雅黑" charset="0"/>
              </a:rPr>
              <a:t>的 </a:t>
            </a:r>
            <a:r>
              <a:rPr kumimoji="1" lang="en-US" altLang="zh-CN" sz="2000" dirty="0">
                <a:latin typeface="Microsoft YaHei" panose="020B0503020204020204" pitchFamily="34" charset="-122"/>
                <a:ea typeface="Microsoft YaHei" panose="020B0503020204020204" pitchFamily="34" charset="-122"/>
                <a:cs typeface="微软雅黑" charset="0"/>
              </a:rPr>
              <a:t>V2X </a:t>
            </a:r>
            <a:r>
              <a:rPr kumimoji="1" lang="zh-CN" altLang="zh-CN" sz="2000" dirty="0">
                <a:latin typeface="Microsoft YaHei" panose="020B0503020204020204" pitchFamily="34" charset="-122"/>
                <a:ea typeface="Microsoft YaHei" panose="020B0503020204020204" pitchFamily="34" charset="-122"/>
                <a:cs typeface="微软雅黑" charset="0"/>
              </a:rPr>
              <a:t>传输参数的配制管理。</a:t>
            </a:r>
          </a:p>
          <a:p>
            <a:pPr marL="417830" marR="486410" indent="-342900">
              <a:lnSpc>
                <a:spcPct val="150000"/>
              </a:lnSpc>
              <a:spcBef>
                <a:spcPts val="5"/>
              </a:spcBef>
              <a:spcAft>
                <a:spcPts val="0"/>
              </a:spcAft>
              <a:buFont typeface="Wingdings" panose="05000000000000000000" pitchFamily="2" charset="2"/>
              <a:buChar char="n"/>
            </a:pPr>
            <a:r>
              <a:rPr kumimoji="1" lang="en-US" altLang="zh-CN" sz="2000" b="1" dirty="0">
                <a:latin typeface="Microsoft YaHei" panose="020B0503020204020204" pitchFamily="34" charset="-122"/>
                <a:ea typeface="Microsoft YaHei" panose="020B0503020204020204" pitchFamily="34" charset="-122"/>
                <a:cs typeface="微软雅黑" charset="0"/>
              </a:rPr>
              <a:t>LTE </a:t>
            </a:r>
            <a:r>
              <a:rPr kumimoji="1" lang="zh-CN" altLang="zh-CN" sz="2000" b="1" dirty="0">
                <a:latin typeface="Microsoft YaHei" panose="020B0503020204020204" pitchFamily="34" charset="-122"/>
                <a:ea typeface="Microsoft YaHei" panose="020B0503020204020204" pitchFamily="34" charset="-122"/>
                <a:cs typeface="微软雅黑" charset="0"/>
              </a:rPr>
              <a:t>无线接入网</a:t>
            </a:r>
            <a:r>
              <a:rPr kumimoji="1" lang="zh-CN" altLang="zh-CN" sz="2000" dirty="0" smtClean="0">
                <a:latin typeface="Microsoft YaHei" panose="020B0503020204020204" pitchFamily="34" charset="-122"/>
                <a:ea typeface="Microsoft YaHei" panose="020B0503020204020204" pitchFamily="34" charset="-122"/>
                <a:cs typeface="微软雅黑" charset="0"/>
              </a:rPr>
              <a:t>：主要</a:t>
            </a:r>
            <a:r>
              <a:rPr kumimoji="1" lang="zh-CN" altLang="zh-CN" sz="2000" dirty="0">
                <a:latin typeface="Microsoft YaHei" panose="020B0503020204020204" pitchFamily="34" charset="-122"/>
                <a:ea typeface="Microsoft YaHei" panose="020B0503020204020204" pitchFamily="34" charset="-122"/>
                <a:cs typeface="微软雅黑" charset="0"/>
              </a:rPr>
              <a:t>负责用户的接入，对于所接入的业务提供承载能力</a:t>
            </a:r>
            <a:r>
              <a:rPr kumimoji="1" lang="zh-CN" altLang="zh-CN" sz="2000" dirty="0" smtClean="0">
                <a:latin typeface="Microsoft YaHei" panose="020B0503020204020204" pitchFamily="34" charset="-122"/>
                <a:ea typeface="Microsoft YaHei" panose="020B0503020204020204" pitchFamily="34" charset="-122"/>
                <a:cs typeface="微软雅黑" charset="0"/>
              </a:rPr>
              <a:t>。</a:t>
            </a:r>
            <a:endParaRPr kumimoji="1" lang="en-US" altLang="zh-CN" sz="2000" dirty="0" smtClean="0">
              <a:latin typeface="Microsoft YaHei" panose="020B0503020204020204" pitchFamily="34" charset="-122"/>
              <a:ea typeface="Microsoft YaHei" panose="020B0503020204020204" pitchFamily="34" charset="-122"/>
              <a:cs typeface="微软雅黑" charset="0"/>
            </a:endParaRPr>
          </a:p>
          <a:p>
            <a:pPr marL="417830" marR="486410" indent="-342900">
              <a:lnSpc>
                <a:spcPct val="150000"/>
              </a:lnSpc>
              <a:spcBef>
                <a:spcPts val="5"/>
              </a:spcBef>
              <a:spcAft>
                <a:spcPts val="0"/>
              </a:spcAft>
              <a:buFont typeface="Wingdings" panose="05000000000000000000" pitchFamily="2" charset="2"/>
              <a:buChar char="n"/>
            </a:pPr>
            <a:r>
              <a:rPr kumimoji="1" lang="en-US" altLang="zh-CN" sz="2000" b="1" dirty="0" smtClean="0">
                <a:latin typeface="Microsoft YaHei" panose="020B0503020204020204" pitchFamily="34" charset="-122"/>
                <a:ea typeface="Microsoft YaHei" panose="020B0503020204020204" pitchFamily="34" charset="-122"/>
                <a:cs typeface="微软雅黑" charset="0"/>
              </a:rPr>
              <a:t>UE</a:t>
            </a:r>
            <a:r>
              <a:rPr kumimoji="1" lang="zh-CN" altLang="zh-CN" sz="2000" dirty="0">
                <a:latin typeface="Microsoft YaHei" panose="020B0503020204020204" pitchFamily="34" charset="-122"/>
                <a:ea typeface="Microsoft YaHei" panose="020B0503020204020204" pitchFamily="34" charset="-122"/>
                <a:cs typeface="微软雅黑" charset="0"/>
              </a:rPr>
              <a:t>：根据获取的 </a:t>
            </a:r>
            <a:r>
              <a:rPr kumimoji="1" lang="en-US" altLang="zh-CN" sz="2000" dirty="0">
                <a:latin typeface="Microsoft YaHei" panose="020B0503020204020204" pitchFamily="34" charset="-122"/>
                <a:ea typeface="Microsoft YaHei" panose="020B0503020204020204" pitchFamily="34" charset="-122"/>
                <a:cs typeface="微软雅黑" charset="0"/>
              </a:rPr>
              <a:t>V2X </a:t>
            </a:r>
            <a:r>
              <a:rPr kumimoji="1" lang="zh-CN" altLang="zh-CN" sz="2000" dirty="0">
                <a:latin typeface="Microsoft YaHei" panose="020B0503020204020204" pitchFamily="34" charset="-122"/>
                <a:ea typeface="Microsoft YaHei" panose="020B0503020204020204" pitchFamily="34" charset="-122"/>
                <a:cs typeface="微软雅黑" charset="0"/>
              </a:rPr>
              <a:t>通信的策略和参数配置信息，在 </a:t>
            </a:r>
            <a:r>
              <a:rPr kumimoji="1" lang="en-US" altLang="zh-CN" sz="2000" dirty="0">
                <a:latin typeface="Microsoft YaHei" panose="020B0503020204020204" pitchFamily="34" charset="-122"/>
                <a:ea typeface="Microsoft YaHei" panose="020B0503020204020204" pitchFamily="34" charset="-122"/>
                <a:cs typeface="微软雅黑" charset="0"/>
              </a:rPr>
              <a:t>PC5 </a:t>
            </a:r>
            <a:r>
              <a:rPr kumimoji="1" lang="zh-CN" altLang="zh-CN" sz="2000" dirty="0">
                <a:latin typeface="Microsoft YaHei" panose="020B0503020204020204" pitchFamily="34" charset="-122"/>
                <a:ea typeface="Microsoft YaHei" panose="020B0503020204020204" pitchFamily="34" charset="-122"/>
                <a:cs typeface="微软雅黑" charset="0"/>
              </a:rPr>
              <a:t>或者 </a:t>
            </a:r>
            <a:r>
              <a:rPr kumimoji="1" lang="en-US" altLang="zh-CN" sz="2000" dirty="0" err="1">
                <a:latin typeface="Microsoft YaHei" panose="020B0503020204020204" pitchFamily="34" charset="-122"/>
                <a:ea typeface="Microsoft YaHei" panose="020B0503020204020204" pitchFamily="34" charset="-122"/>
                <a:cs typeface="微软雅黑" charset="0"/>
              </a:rPr>
              <a:t>Uu</a:t>
            </a:r>
            <a:r>
              <a:rPr kumimoji="1" lang="en-US" altLang="zh-CN" sz="2000" dirty="0">
                <a:latin typeface="Microsoft YaHei" panose="020B0503020204020204" pitchFamily="34" charset="-122"/>
                <a:ea typeface="Microsoft YaHei" panose="020B0503020204020204" pitchFamily="34" charset="-122"/>
                <a:cs typeface="微软雅黑" charset="0"/>
              </a:rPr>
              <a:t> </a:t>
            </a:r>
            <a:r>
              <a:rPr kumimoji="1" lang="zh-CN" altLang="zh-CN" sz="2000" dirty="0">
                <a:latin typeface="Microsoft YaHei" panose="020B0503020204020204" pitchFamily="34" charset="-122"/>
                <a:ea typeface="Microsoft YaHei" panose="020B0503020204020204" pitchFamily="34" charset="-122"/>
                <a:cs typeface="微软雅黑" charset="0"/>
              </a:rPr>
              <a:t>接口上进行 </a:t>
            </a:r>
            <a:r>
              <a:rPr kumimoji="1" lang="en-US" altLang="zh-CN" sz="2000" dirty="0">
                <a:latin typeface="Microsoft YaHei" panose="020B0503020204020204" pitchFamily="34" charset="-122"/>
                <a:ea typeface="Microsoft YaHei" panose="020B0503020204020204" pitchFamily="34" charset="-122"/>
                <a:cs typeface="微软雅黑" charset="0"/>
              </a:rPr>
              <a:t>V2X</a:t>
            </a:r>
            <a:r>
              <a:rPr kumimoji="1" lang="zh-CN" altLang="zh-CN" sz="2000" dirty="0">
                <a:latin typeface="Microsoft YaHei" panose="020B0503020204020204" pitchFamily="34" charset="-122"/>
                <a:ea typeface="Microsoft YaHei" panose="020B0503020204020204" pitchFamily="34" charset="-122"/>
                <a:cs typeface="微软雅黑" charset="0"/>
              </a:rPr>
              <a:t>通信。</a:t>
            </a:r>
            <a:endParaRPr kumimoji="1" lang="zh-CN" altLang="en-US" sz="2000" dirty="0">
              <a:latin typeface="Microsoft YaHei" panose="020B0503020204020204" pitchFamily="34" charset="-122"/>
              <a:ea typeface="Microsoft YaHei" panose="020B0503020204020204" pitchFamily="34" charset="-122"/>
              <a:cs typeface="微软雅黑" charset="0"/>
            </a:endParaRPr>
          </a:p>
        </p:txBody>
      </p:sp>
    </p:spTree>
    <p:extLst>
      <p:ext uri="{BB962C8B-B14F-4D97-AF65-F5344CB8AC3E}">
        <p14:creationId xmlns:p14="http://schemas.microsoft.com/office/powerpoint/2010/main" val="255354499"/>
      </p:ext>
    </p:extLst>
  </p:cSld>
  <p:clrMapOvr>
    <a:masterClrMapping/>
  </p:clrMapOvr>
  <p:transition spd="slow" advClick="0"/>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标题 1">
            <a:extLst>
              <a:ext uri="{FF2B5EF4-FFF2-40B4-BE49-F238E27FC236}">
                <a16:creationId xmlns:a16="http://schemas.microsoft.com/office/drawing/2014/main" id="{A1B259F4-61D9-D54A-A46D-A8AB65FCCBE6}"/>
              </a:ext>
            </a:extLst>
          </p:cNvPr>
          <p:cNvSpPr txBox="1"/>
          <p:nvPr/>
        </p:nvSpPr>
        <p:spPr>
          <a:xfrm>
            <a:off x="237392" y="191297"/>
            <a:ext cx="9251576" cy="679847"/>
          </a:xfrm>
          <a:prstGeom prst="rect">
            <a:avLst/>
          </a:prstGeom>
        </p:spPr>
        <p:txBody>
          <a:bodyPr vert="horz" lIns="68580" tIns="34290" rIns="68580" bIns="34290" rtlCol="0" anchor="ctr">
            <a:normAutofit/>
          </a:bodyPr>
          <a:lstStyle/>
          <a:p>
            <a:pPr lvl="0">
              <a:spcBef>
                <a:spcPct val="0"/>
              </a:spcBef>
              <a:defRPr/>
            </a:pPr>
            <a:r>
              <a:rPr lang="en-US" altLang="zh-CN" sz="34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LTE-V2X </a:t>
            </a:r>
            <a:r>
              <a:rPr lang="zh-CN" altLang="en-US" sz="34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网络架构</a:t>
            </a:r>
            <a:endParaRPr lang="en-US" altLang="zh-CN" sz="36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pic>
        <p:nvPicPr>
          <p:cNvPr id="31" name="Picture 11" descr="program-ciat2020">
            <a:extLst>
              <a:ext uri="{FF2B5EF4-FFF2-40B4-BE49-F238E27FC236}">
                <a16:creationId xmlns:a16="http://schemas.microsoft.com/office/drawing/2014/main" id="{590FEF71-8EB3-6941-9167-6129C74764E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graphicFrame>
        <p:nvGraphicFramePr>
          <p:cNvPr id="3" name="表格 2"/>
          <p:cNvGraphicFramePr>
            <a:graphicFrameLocks noGrp="1"/>
          </p:cNvGraphicFramePr>
          <p:nvPr>
            <p:extLst>
              <p:ext uri="{D42A27DB-BD31-4B8C-83A1-F6EECF244321}">
                <p14:modId xmlns:p14="http://schemas.microsoft.com/office/powerpoint/2010/main" val="3703310933"/>
              </p:ext>
            </p:extLst>
          </p:nvPr>
        </p:nvGraphicFramePr>
        <p:xfrm>
          <a:off x="410546" y="1738856"/>
          <a:ext cx="8136296" cy="4403923"/>
        </p:xfrm>
        <a:graphic>
          <a:graphicData uri="http://schemas.openxmlformats.org/drawingml/2006/table">
            <a:tbl>
              <a:tblPr firstRow="1" firstCol="1" lastRow="1" lastCol="1" bandRow="1" bandCol="1"/>
              <a:tblGrid>
                <a:gridCol w="1600440">
                  <a:extLst>
                    <a:ext uri="{9D8B030D-6E8A-4147-A177-3AD203B41FA5}">
                      <a16:colId xmlns:a16="http://schemas.microsoft.com/office/drawing/2014/main" val="458770313"/>
                    </a:ext>
                  </a:extLst>
                </a:gridCol>
                <a:gridCol w="6535856">
                  <a:extLst>
                    <a:ext uri="{9D8B030D-6E8A-4147-A177-3AD203B41FA5}">
                      <a16:colId xmlns:a16="http://schemas.microsoft.com/office/drawing/2014/main" val="704784543"/>
                    </a:ext>
                  </a:extLst>
                </a:gridCol>
              </a:tblGrid>
              <a:tr h="441523">
                <a:tc>
                  <a:txBody>
                    <a:bodyPr/>
                    <a:lstStyle/>
                    <a:p>
                      <a:pPr marL="448945">
                        <a:spcBef>
                          <a:spcPts val="500"/>
                        </a:spcBef>
                        <a:spcAft>
                          <a:spcPts val="0"/>
                        </a:spcAft>
                      </a:pPr>
                      <a:r>
                        <a:rPr lang="zh-CN" sz="2000" b="1" dirty="0">
                          <a:effectLst/>
                          <a:latin typeface="微软雅黑" panose="020B0503020204020204" pitchFamily="34" charset="-122"/>
                          <a:ea typeface="微软雅黑" panose="020B0503020204020204" pitchFamily="34" charset="-122"/>
                          <a:cs typeface="宋体" panose="02010600030101010101" pitchFamily="2" charset="-122"/>
                        </a:rPr>
                        <a:t>接口</a:t>
                      </a:r>
                      <a:endParaRPr lang="zh-CN" sz="24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solidFill>
                  </a:tcPr>
                </a:tc>
                <a:tc>
                  <a:txBody>
                    <a:bodyPr/>
                    <a:lstStyle/>
                    <a:p>
                      <a:pPr marL="902335" marR="896620" algn="ctr">
                        <a:spcBef>
                          <a:spcPts val="500"/>
                        </a:spcBef>
                        <a:spcAft>
                          <a:spcPts val="0"/>
                        </a:spcAft>
                      </a:pPr>
                      <a:r>
                        <a:rPr lang="zh-CN" sz="2000" b="1" dirty="0">
                          <a:effectLst/>
                          <a:latin typeface="微软雅黑" panose="020B0503020204020204" pitchFamily="34" charset="-122"/>
                          <a:ea typeface="微软雅黑" panose="020B0503020204020204" pitchFamily="34" charset="-122"/>
                          <a:cs typeface="宋体" panose="02010600030101010101" pitchFamily="2" charset="-122"/>
                        </a:rPr>
                        <a:t>功能</a:t>
                      </a:r>
                      <a:endParaRPr lang="zh-CN" sz="24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solidFill>
                  </a:tcPr>
                </a:tc>
                <a:extLst>
                  <a:ext uri="{0D108BD9-81ED-4DB2-BD59-A6C34878D82A}">
                    <a16:rowId xmlns:a16="http://schemas.microsoft.com/office/drawing/2014/main" val="3063254906"/>
                  </a:ext>
                </a:extLst>
              </a:tr>
              <a:tr h="296545">
                <a:tc>
                  <a:txBody>
                    <a:bodyPr/>
                    <a:lstStyle/>
                    <a:p>
                      <a:pPr marL="501650">
                        <a:spcBef>
                          <a:spcPts val="565"/>
                        </a:spcBef>
                        <a:spcAft>
                          <a:spcPts val="0"/>
                        </a:spcAft>
                      </a:pPr>
                      <a:r>
                        <a:rPr lang="en-US" sz="2000" dirty="0">
                          <a:effectLst/>
                          <a:latin typeface="微软雅黑" panose="020B0503020204020204" pitchFamily="34" charset="-122"/>
                          <a:ea typeface="微软雅黑" panose="020B0503020204020204" pitchFamily="34" charset="-122"/>
                          <a:cs typeface="宋体" panose="02010600030101010101" pitchFamily="2" charset="-122"/>
                        </a:rPr>
                        <a:t>V1</a:t>
                      </a:r>
                      <a:endParaRPr lang="zh-CN" sz="24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marL="902335" marR="897890" algn="ctr">
                        <a:spcBef>
                          <a:spcPts val="495"/>
                        </a:spcBef>
                        <a:spcAft>
                          <a:spcPts val="0"/>
                        </a:spcAft>
                      </a:pPr>
                      <a:r>
                        <a:rPr lang="en-US" sz="2000" spc="-5" dirty="0">
                          <a:effectLst/>
                          <a:latin typeface="微软雅黑" panose="020B0503020204020204" pitchFamily="34" charset="-122"/>
                          <a:ea typeface="微软雅黑" panose="020B0503020204020204" pitchFamily="34" charset="-122"/>
                          <a:cs typeface="宋体" panose="02010600030101010101" pitchFamily="2" charset="-122"/>
                        </a:rPr>
                        <a:t>V2X </a:t>
                      </a:r>
                      <a:r>
                        <a:rPr lang="zh-CN" sz="2000" spc="-70" dirty="0">
                          <a:effectLst/>
                          <a:latin typeface="微软雅黑" panose="020B0503020204020204" pitchFamily="34" charset="-122"/>
                          <a:ea typeface="微软雅黑" panose="020B0503020204020204" pitchFamily="34" charset="-122"/>
                          <a:cs typeface="宋体" panose="02010600030101010101" pitchFamily="2" charset="-122"/>
                        </a:rPr>
                        <a:t>应用与 </a:t>
                      </a:r>
                      <a:r>
                        <a:rPr lang="en-US" sz="2000" dirty="0">
                          <a:effectLst/>
                          <a:latin typeface="微软雅黑" panose="020B0503020204020204" pitchFamily="34" charset="-122"/>
                          <a:ea typeface="微软雅黑" panose="020B0503020204020204" pitchFamily="34" charset="-122"/>
                          <a:cs typeface="宋体" panose="02010600030101010101" pitchFamily="2" charset="-122"/>
                        </a:rPr>
                        <a:t>V2X</a:t>
                      </a:r>
                      <a:r>
                        <a:rPr lang="en-US" sz="2000" spc="-5" dirty="0">
                          <a:effectLst/>
                          <a:latin typeface="微软雅黑" panose="020B0503020204020204" pitchFamily="34" charset="-122"/>
                          <a:ea typeface="微软雅黑" panose="020B0503020204020204" pitchFamily="34" charset="-122"/>
                          <a:cs typeface="宋体" panose="02010600030101010101" pitchFamily="2" charset="-122"/>
                        </a:rPr>
                        <a:t> </a:t>
                      </a:r>
                      <a:r>
                        <a:rPr lang="zh-CN" sz="2000" dirty="0">
                          <a:effectLst/>
                          <a:latin typeface="微软雅黑" panose="020B0503020204020204" pitchFamily="34" charset="-122"/>
                          <a:ea typeface="微软雅黑" panose="020B0503020204020204" pitchFamily="34" charset="-122"/>
                          <a:cs typeface="宋体" panose="02010600030101010101" pitchFamily="2" charset="-122"/>
                        </a:rPr>
                        <a:t>应用服务器之间的接口</a:t>
                      </a:r>
                      <a:endParaRPr lang="zh-CN" sz="24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3271722133"/>
                  </a:ext>
                </a:extLst>
              </a:tr>
              <a:tr h="296545">
                <a:tc>
                  <a:txBody>
                    <a:bodyPr/>
                    <a:lstStyle/>
                    <a:p>
                      <a:pPr marL="501650">
                        <a:spcBef>
                          <a:spcPts val="565"/>
                        </a:spcBef>
                        <a:spcAft>
                          <a:spcPts val="0"/>
                        </a:spcAft>
                      </a:pPr>
                      <a:r>
                        <a:rPr lang="en-US" sz="2000" dirty="0">
                          <a:effectLst/>
                          <a:latin typeface="微软雅黑" panose="020B0503020204020204" pitchFamily="34" charset="-122"/>
                          <a:ea typeface="微软雅黑" panose="020B0503020204020204" pitchFamily="34" charset="-122"/>
                          <a:cs typeface="宋体" panose="02010600030101010101" pitchFamily="2" charset="-122"/>
                        </a:rPr>
                        <a:t>V2</a:t>
                      </a:r>
                      <a:endParaRPr lang="zh-CN" sz="24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marL="902335" marR="897890" lvl="0" algn="ctr">
                        <a:spcBef>
                          <a:spcPts val="495"/>
                        </a:spcBef>
                        <a:spcAft>
                          <a:spcPts val="0"/>
                        </a:spcAft>
                      </a:pPr>
                      <a:r>
                        <a:rPr kumimoji="1" lang="en-US" sz="2000" kern="1200" dirty="0">
                          <a:solidFill>
                            <a:schemeClr val="tx1"/>
                          </a:solidFill>
                          <a:latin typeface="Microsoft YaHei" panose="020B0503020204020204" pitchFamily="34" charset="-122"/>
                          <a:ea typeface="Microsoft YaHei" panose="020B0503020204020204" pitchFamily="34" charset="-122"/>
                          <a:cs typeface="微软雅黑" charset="0"/>
                        </a:rPr>
                        <a:t>V2X </a:t>
                      </a:r>
                      <a:r>
                        <a:rPr kumimoji="1" lang="zh-CN" sz="2000" kern="1200" dirty="0">
                          <a:solidFill>
                            <a:schemeClr val="tx1"/>
                          </a:solidFill>
                          <a:latin typeface="Microsoft YaHei" panose="020B0503020204020204" pitchFamily="34" charset="-122"/>
                          <a:ea typeface="Microsoft YaHei" panose="020B0503020204020204" pitchFamily="34" charset="-122"/>
                          <a:cs typeface="微软雅黑" charset="0"/>
                        </a:rPr>
                        <a:t>应用服务器与 </a:t>
                      </a:r>
                      <a:r>
                        <a:rPr kumimoji="1" lang="en-US" sz="2000" kern="1200" dirty="0">
                          <a:solidFill>
                            <a:schemeClr val="tx1"/>
                          </a:solidFill>
                          <a:latin typeface="Microsoft YaHei" panose="020B0503020204020204" pitchFamily="34" charset="-122"/>
                          <a:ea typeface="Microsoft YaHei" panose="020B0503020204020204" pitchFamily="34" charset="-122"/>
                          <a:cs typeface="微软雅黑" charset="0"/>
                        </a:rPr>
                        <a:t>V2X </a:t>
                      </a:r>
                      <a:r>
                        <a:rPr kumimoji="1" lang="zh-CN" sz="2000" kern="1200" dirty="0">
                          <a:solidFill>
                            <a:schemeClr val="tx1"/>
                          </a:solidFill>
                          <a:latin typeface="Microsoft YaHei" panose="020B0503020204020204" pitchFamily="34" charset="-122"/>
                          <a:ea typeface="Microsoft YaHei" panose="020B0503020204020204" pitchFamily="34" charset="-122"/>
                          <a:cs typeface="微软雅黑" charset="0"/>
                        </a:rPr>
                        <a:t>控制单元之间的</a:t>
                      </a:r>
                      <a:r>
                        <a:rPr kumimoji="1" lang="zh-CN" sz="2000" kern="1200" dirty="0" smtClean="0">
                          <a:solidFill>
                            <a:schemeClr val="tx1"/>
                          </a:solidFill>
                          <a:latin typeface="Microsoft YaHei" panose="020B0503020204020204" pitchFamily="34" charset="-122"/>
                          <a:ea typeface="Microsoft YaHei" panose="020B0503020204020204" pitchFamily="34" charset="-122"/>
                          <a:cs typeface="微软雅黑" charset="0"/>
                        </a:rPr>
                        <a:t>接</a:t>
                      </a:r>
                      <a:r>
                        <a:rPr kumimoji="1" lang="zh-CN" altLang="en-US" sz="2000" kern="1200" dirty="0" smtClean="0">
                          <a:solidFill>
                            <a:schemeClr val="tx1"/>
                          </a:solidFill>
                          <a:latin typeface="Microsoft YaHei" panose="020B0503020204020204" pitchFamily="34" charset="-122"/>
                          <a:ea typeface="Microsoft YaHei" panose="020B0503020204020204" pitchFamily="34" charset="-122"/>
                          <a:cs typeface="微软雅黑" charset="0"/>
                        </a:rPr>
                        <a:t>口</a:t>
                      </a:r>
                      <a:endParaRPr kumimoji="1" lang="zh-CN" sz="2000" kern="1200" dirty="0">
                        <a:solidFill>
                          <a:schemeClr val="tx1"/>
                        </a:solidFill>
                        <a:latin typeface="Microsoft YaHei" panose="020B0503020204020204" pitchFamily="34" charset="-122"/>
                        <a:ea typeface="Microsoft YaHei" panose="020B0503020204020204" pitchFamily="34" charset="-122"/>
                        <a:cs typeface="微软雅黑"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984667887"/>
                  </a:ext>
                </a:extLst>
              </a:tr>
              <a:tr h="297180">
                <a:tc>
                  <a:txBody>
                    <a:bodyPr/>
                    <a:lstStyle/>
                    <a:p>
                      <a:pPr marL="501650">
                        <a:spcBef>
                          <a:spcPts val="570"/>
                        </a:spcBef>
                        <a:spcAft>
                          <a:spcPts val="0"/>
                        </a:spcAft>
                      </a:pPr>
                      <a:r>
                        <a:rPr lang="en-US" sz="2000" dirty="0">
                          <a:effectLst/>
                          <a:latin typeface="微软雅黑" panose="020B0503020204020204" pitchFamily="34" charset="-122"/>
                          <a:ea typeface="微软雅黑" panose="020B0503020204020204" pitchFamily="34" charset="-122"/>
                          <a:cs typeface="宋体" panose="02010600030101010101" pitchFamily="2" charset="-122"/>
                        </a:rPr>
                        <a:t>V3</a:t>
                      </a:r>
                      <a:endParaRPr lang="zh-CN" sz="24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marL="902335" marR="898525" algn="ctr">
                        <a:spcBef>
                          <a:spcPts val="500"/>
                        </a:spcBef>
                        <a:spcAft>
                          <a:spcPts val="0"/>
                        </a:spcAft>
                      </a:pPr>
                      <a:r>
                        <a:rPr lang="en-US" sz="2000" spc="-5" dirty="0">
                          <a:effectLst/>
                          <a:latin typeface="微软雅黑" panose="020B0503020204020204" pitchFamily="34" charset="-122"/>
                          <a:ea typeface="微软雅黑" panose="020B0503020204020204" pitchFamily="34" charset="-122"/>
                          <a:cs typeface="宋体" panose="02010600030101010101" pitchFamily="2" charset="-122"/>
                        </a:rPr>
                        <a:t>V2X </a:t>
                      </a:r>
                      <a:r>
                        <a:rPr lang="zh-CN" sz="2000" spc="-45" dirty="0">
                          <a:effectLst/>
                          <a:latin typeface="微软雅黑" panose="020B0503020204020204" pitchFamily="34" charset="-122"/>
                          <a:ea typeface="微软雅黑" panose="020B0503020204020204" pitchFamily="34" charset="-122"/>
                          <a:cs typeface="宋体" panose="02010600030101010101" pitchFamily="2" charset="-122"/>
                        </a:rPr>
                        <a:t>用户设备与 </a:t>
                      </a:r>
                      <a:r>
                        <a:rPr lang="en-US" sz="2000" dirty="0">
                          <a:effectLst/>
                          <a:latin typeface="微软雅黑" panose="020B0503020204020204" pitchFamily="34" charset="-122"/>
                          <a:ea typeface="微软雅黑" panose="020B0503020204020204" pitchFamily="34" charset="-122"/>
                          <a:cs typeface="宋体" panose="02010600030101010101" pitchFamily="2" charset="-122"/>
                        </a:rPr>
                        <a:t>V2X</a:t>
                      </a:r>
                      <a:r>
                        <a:rPr lang="en-US" sz="2000" spc="-5" dirty="0">
                          <a:effectLst/>
                          <a:latin typeface="微软雅黑" panose="020B0503020204020204" pitchFamily="34" charset="-122"/>
                          <a:ea typeface="微软雅黑" panose="020B0503020204020204" pitchFamily="34" charset="-122"/>
                          <a:cs typeface="宋体" panose="02010600030101010101" pitchFamily="2" charset="-122"/>
                        </a:rPr>
                        <a:t> </a:t>
                      </a:r>
                      <a:r>
                        <a:rPr lang="zh-CN" sz="2000" dirty="0">
                          <a:effectLst/>
                          <a:latin typeface="微软雅黑" panose="020B0503020204020204" pitchFamily="34" charset="-122"/>
                          <a:ea typeface="微软雅黑" panose="020B0503020204020204" pitchFamily="34" charset="-122"/>
                          <a:cs typeface="宋体" panose="02010600030101010101" pitchFamily="2" charset="-122"/>
                        </a:rPr>
                        <a:t>控制单元之间的接口</a:t>
                      </a:r>
                      <a:endParaRPr lang="zh-CN" sz="24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235786231"/>
                  </a:ext>
                </a:extLst>
              </a:tr>
              <a:tr h="296545">
                <a:tc>
                  <a:txBody>
                    <a:bodyPr/>
                    <a:lstStyle/>
                    <a:p>
                      <a:pPr marL="501650">
                        <a:spcBef>
                          <a:spcPts val="565"/>
                        </a:spcBef>
                        <a:spcAft>
                          <a:spcPts val="0"/>
                        </a:spcAft>
                      </a:pPr>
                      <a:r>
                        <a:rPr lang="en-US" sz="2000">
                          <a:effectLst/>
                          <a:latin typeface="微软雅黑" panose="020B0503020204020204" pitchFamily="34" charset="-122"/>
                          <a:ea typeface="微软雅黑" panose="020B0503020204020204" pitchFamily="34" charset="-122"/>
                          <a:cs typeface="宋体" panose="02010600030101010101" pitchFamily="2" charset="-122"/>
                        </a:rPr>
                        <a:t>V4</a:t>
                      </a:r>
                      <a:endParaRPr lang="zh-CN" sz="2400">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marL="902335" marR="897890" algn="ctr">
                        <a:spcBef>
                          <a:spcPts val="495"/>
                        </a:spcBef>
                        <a:spcAft>
                          <a:spcPts val="0"/>
                        </a:spcAft>
                      </a:pPr>
                      <a:r>
                        <a:rPr lang="zh-CN" sz="2000" spc="-30" dirty="0">
                          <a:effectLst/>
                          <a:latin typeface="微软雅黑" panose="020B0503020204020204" pitchFamily="34" charset="-122"/>
                          <a:ea typeface="微软雅黑" panose="020B0503020204020204" pitchFamily="34" charset="-122"/>
                          <a:cs typeface="宋体" panose="02010600030101010101" pitchFamily="2" charset="-122"/>
                        </a:rPr>
                        <a:t>归属签约用户服务器与 </a:t>
                      </a:r>
                      <a:r>
                        <a:rPr lang="en-US" sz="2000" dirty="0">
                          <a:effectLst/>
                          <a:latin typeface="微软雅黑" panose="020B0503020204020204" pitchFamily="34" charset="-122"/>
                          <a:ea typeface="微软雅黑" panose="020B0503020204020204" pitchFamily="34" charset="-122"/>
                          <a:cs typeface="宋体" panose="02010600030101010101" pitchFamily="2" charset="-122"/>
                        </a:rPr>
                        <a:t>V2X</a:t>
                      </a:r>
                      <a:r>
                        <a:rPr lang="en-US" sz="2000" spc="-5" dirty="0">
                          <a:effectLst/>
                          <a:latin typeface="微软雅黑" panose="020B0503020204020204" pitchFamily="34" charset="-122"/>
                          <a:ea typeface="微软雅黑" panose="020B0503020204020204" pitchFamily="34" charset="-122"/>
                          <a:cs typeface="宋体" panose="02010600030101010101" pitchFamily="2" charset="-122"/>
                        </a:rPr>
                        <a:t> </a:t>
                      </a:r>
                      <a:r>
                        <a:rPr lang="zh-CN" sz="2000" dirty="0">
                          <a:effectLst/>
                          <a:latin typeface="微软雅黑" panose="020B0503020204020204" pitchFamily="34" charset="-122"/>
                          <a:ea typeface="微软雅黑" panose="020B0503020204020204" pitchFamily="34" charset="-122"/>
                          <a:cs typeface="宋体" panose="02010600030101010101" pitchFamily="2" charset="-122"/>
                        </a:rPr>
                        <a:t>控制单元之间的接口</a:t>
                      </a:r>
                      <a:endParaRPr lang="zh-CN" sz="24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3794936019"/>
                  </a:ext>
                </a:extLst>
              </a:tr>
              <a:tr h="296545">
                <a:tc>
                  <a:txBody>
                    <a:bodyPr/>
                    <a:lstStyle/>
                    <a:p>
                      <a:pPr marL="501650">
                        <a:spcBef>
                          <a:spcPts val="565"/>
                        </a:spcBef>
                        <a:spcAft>
                          <a:spcPts val="0"/>
                        </a:spcAft>
                      </a:pPr>
                      <a:r>
                        <a:rPr lang="en-US" sz="2000">
                          <a:effectLst/>
                          <a:latin typeface="微软雅黑" panose="020B0503020204020204" pitchFamily="34" charset="-122"/>
                          <a:ea typeface="微软雅黑" panose="020B0503020204020204" pitchFamily="34" charset="-122"/>
                          <a:cs typeface="宋体" panose="02010600030101010101" pitchFamily="2" charset="-122"/>
                        </a:rPr>
                        <a:t>V5</a:t>
                      </a:r>
                      <a:endParaRPr lang="zh-CN" sz="2400">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marL="902335" marR="898525" algn="ctr">
                        <a:spcBef>
                          <a:spcPts val="495"/>
                        </a:spcBef>
                        <a:spcAft>
                          <a:spcPts val="0"/>
                        </a:spcAft>
                      </a:pPr>
                      <a:r>
                        <a:rPr lang="zh-CN" sz="2000" spc="-95" dirty="0">
                          <a:effectLst/>
                          <a:latin typeface="微软雅黑" panose="020B0503020204020204" pitchFamily="34" charset="-122"/>
                          <a:ea typeface="微软雅黑" panose="020B0503020204020204" pitchFamily="34" charset="-122"/>
                          <a:cs typeface="宋体" panose="02010600030101010101" pitchFamily="2" charset="-122"/>
                        </a:rPr>
                        <a:t>不同 </a:t>
                      </a:r>
                      <a:r>
                        <a:rPr lang="en-US" sz="2000" spc="-5" dirty="0">
                          <a:effectLst/>
                          <a:latin typeface="微软雅黑" panose="020B0503020204020204" pitchFamily="34" charset="-122"/>
                          <a:ea typeface="微软雅黑" panose="020B0503020204020204" pitchFamily="34" charset="-122"/>
                          <a:cs typeface="宋体" panose="02010600030101010101" pitchFamily="2" charset="-122"/>
                        </a:rPr>
                        <a:t>V2X</a:t>
                      </a:r>
                      <a:r>
                        <a:rPr lang="en-US" sz="2000" dirty="0">
                          <a:effectLst/>
                          <a:latin typeface="微软雅黑" panose="020B0503020204020204" pitchFamily="34" charset="-122"/>
                          <a:ea typeface="微软雅黑" panose="020B0503020204020204" pitchFamily="34" charset="-122"/>
                          <a:cs typeface="宋体" panose="02010600030101010101" pitchFamily="2" charset="-122"/>
                        </a:rPr>
                        <a:t> </a:t>
                      </a:r>
                      <a:r>
                        <a:rPr lang="zh-CN" sz="2000" spc="-65" dirty="0">
                          <a:effectLst/>
                          <a:latin typeface="微软雅黑" panose="020B0503020204020204" pitchFamily="34" charset="-122"/>
                          <a:ea typeface="微软雅黑" panose="020B0503020204020204" pitchFamily="34" charset="-122"/>
                          <a:cs typeface="宋体" panose="02010600030101010101" pitchFamily="2" charset="-122"/>
                        </a:rPr>
                        <a:t>终端的 </a:t>
                      </a:r>
                      <a:r>
                        <a:rPr lang="en-US" sz="2000" dirty="0">
                          <a:effectLst/>
                          <a:latin typeface="微软雅黑" panose="020B0503020204020204" pitchFamily="34" charset="-122"/>
                          <a:ea typeface="微软雅黑" panose="020B0503020204020204" pitchFamily="34" charset="-122"/>
                          <a:cs typeface="宋体" panose="02010600030101010101" pitchFamily="2" charset="-122"/>
                        </a:rPr>
                        <a:t>V2X </a:t>
                      </a:r>
                      <a:r>
                        <a:rPr lang="zh-CN" sz="2000" dirty="0">
                          <a:effectLst/>
                          <a:latin typeface="微软雅黑" panose="020B0503020204020204" pitchFamily="34" charset="-122"/>
                          <a:ea typeface="微软雅黑" panose="020B0503020204020204" pitchFamily="34" charset="-122"/>
                          <a:cs typeface="宋体" panose="02010600030101010101" pitchFamily="2" charset="-122"/>
                        </a:rPr>
                        <a:t>应用之间的接口</a:t>
                      </a:r>
                      <a:endParaRPr lang="zh-CN" sz="24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612417323"/>
                  </a:ext>
                </a:extLst>
              </a:tr>
              <a:tr h="297180">
                <a:tc>
                  <a:txBody>
                    <a:bodyPr/>
                    <a:lstStyle/>
                    <a:p>
                      <a:pPr marL="512445">
                        <a:spcBef>
                          <a:spcPts val="570"/>
                        </a:spcBef>
                        <a:spcAft>
                          <a:spcPts val="0"/>
                        </a:spcAft>
                      </a:pPr>
                      <a:r>
                        <a:rPr lang="en-US" sz="2000">
                          <a:effectLst/>
                          <a:latin typeface="微软雅黑" panose="020B0503020204020204" pitchFamily="34" charset="-122"/>
                          <a:ea typeface="微软雅黑" panose="020B0503020204020204" pitchFamily="34" charset="-122"/>
                          <a:cs typeface="宋体" panose="02010600030101010101" pitchFamily="2" charset="-122"/>
                        </a:rPr>
                        <a:t>S1</a:t>
                      </a:r>
                      <a:endParaRPr lang="zh-CN" sz="2400">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marL="902335" marR="898525" algn="ctr">
                        <a:spcBef>
                          <a:spcPts val="500"/>
                        </a:spcBef>
                        <a:spcAft>
                          <a:spcPts val="0"/>
                        </a:spcAft>
                      </a:pPr>
                      <a:r>
                        <a:rPr lang="en-US" sz="2000" spc="-10" dirty="0">
                          <a:effectLst/>
                          <a:latin typeface="微软雅黑" panose="020B0503020204020204" pitchFamily="34" charset="-122"/>
                          <a:ea typeface="微软雅黑" panose="020B0503020204020204" pitchFamily="34" charset="-122"/>
                          <a:cs typeface="宋体" panose="02010600030101010101" pitchFamily="2" charset="-122"/>
                        </a:rPr>
                        <a:t>LTE</a:t>
                      </a:r>
                      <a:r>
                        <a:rPr lang="en-US" sz="2000" dirty="0">
                          <a:effectLst/>
                          <a:latin typeface="微软雅黑" panose="020B0503020204020204" pitchFamily="34" charset="-122"/>
                          <a:ea typeface="微软雅黑" panose="020B0503020204020204" pitchFamily="34" charset="-122"/>
                          <a:cs typeface="宋体" panose="02010600030101010101" pitchFamily="2" charset="-122"/>
                        </a:rPr>
                        <a:t> </a:t>
                      </a:r>
                      <a:r>
                        <a:rPr lang="zh-CN" sz="2000" spc="-50" dirty="0">
                          <a:effectLst/>
                          <a:latin typeface="微软雅黑" panose="020B0503020204020204" pitchFamily="34" charset="-122"/>
                          <a:ea typeface="微软雅黑" panose="020B0503020204020204" pitchFamily="34" charset="-122"/>
                          <a:cs typeface="宋体" panose="02010600030101010101" pitchFamily="2" charset="-122"/>
                        </a:rPr>
                        <a:t>无线接入网和 </a:t>
                      </a:r>
                      <a:r>
                        <a:rPr lang="en-US" sz="2000" spc="-5" dirty="0">
                          <a:effectLst/>
                          <a:latin typeface="微软雅黑" panose="020B0503020204020204" pitchFamily="34" charset="-122"/>
                          <a:ea typeface="微软雅黑" panose="020B0503020204020204" pitchFamily="34" charset="-122"/>
                          <a:cs typeface="宋体" panose="02010600030101010101" pitchFamily="2" charset="-122"/>
                        </a:rPr>
                        <a:t>MME</a:t>
                      </a:r>
                      <a:r>
                        <a:rPr lang="zh-CN" sz="2000" spc="-5" dirty="0">
                          <a:effectLst/>
                          <a:latin typeface="微软雅黑" panose="020B0503020204020204" pitchFamily="34" charset="-122"/>
                          <a:ea typeface="微软雅黑" panose="020B0503020204020204" pitchFamily="34" charset="-122"/>
                          <a:cs typeface="宋体" panose="02010600030101010101" pitchFamily="2" charset="-122"/>
                        </a:rPr>
                        <a:t>、</a:t>
                      </a:r>
                      <a:r>
                        <a:rPr lang="en-US" sz="2000" spc="-5" dirty="0">
                          <a:effectLst/>
                          <a:latin typeface="微软雅黑" panose="020B0503020204020204" pitchFamily="34" charset="-122"/>
                          <a:ea typeface="微软雅黑" panose="020B0503020204020204" pitchFamily="34" charset="-122"/>
                          <a:cs typeface="宋体" panose="02010600030101010101" pitchFamily="2" charset="-122"/>
                        </a:rPr>
                        <a:t>SGW/PGW</a:t>
                      </a:r>
                      <a:r>
                        <a:rPr lang="en-US" sz="2000" dirty="0">
                          <a:effectLst/>
                          <a:latin typeface="微软雅黑" panose="020B0503020204020204" pitchFamily="34" charset="-122"/>
                          <a:ea typeface="微软雅黑" panose="020B0503020204020204" pitchFamily="34" charset="-122"/>
                          <a:cs typeface="宋体" panose="02010600030101010101" pitchFamily="2" charset="-122"/>
                        </a:rPr>
                        <a:t> </a:t>
                      </a:r>
                      <a:r>
                        <a:rPr lang="zh-CN" sz="2000" spc="-5" dirty="0">
                          <a:effectLst/>
                          <a:latin typeface="微软雅黑" panose="020B0503020204020204" pitchFamily="34" charset="-122"/>
                          <a:ea typeface="微软雅黑" panose="020B0503020204020204" pitchFamily="34" charset="-122"/>
                          <a:cs typeface="宋体" panose="02010600030101010101" pitchFamily="2" charset="-122"/>
                        </a:rPr>
                        <a:t>之间的接口</a:t>
                      </a:r>
                      <a:endParaRPr lang="zh-CN" sz="24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637232006"/>
                  </a:ext>
                </a:extLst>
              </a:tr>
              <a:tr h="296545">
                <a:tc>
                  <a:txBody>
                    <a:bodyPr/>
                    <a:lstStyle/>
                    <a:p>
                      <a:pPr marL="483235">
                        <a:spcBef>
                          <a:spcPts val="565"/>
                        </a:spcBef>
                        <a:spcAft>
                          <a:spcPts val="0"/>
                        </a:spcAft>
                      </a:pPr>
                      <a:r>
                        <a:rPr lang="en-US" sz="2000">
                          <a:effectLst/>
                          <a:latin typeface="微软雅黑" panose="020B0503020204020204" pitchFamily="34" charset="-122"/>
                          <a:ea typeface="微软雅黑" panose="020B0503020204020204" pitchFamily="34" charset="-122"/>
                          <a:cs typeface="宋体" panose="02010600030101010101" pitchFamily="2" charset="-122"/>
                        </a:rPr>
                        <a:t>S6a</a:t>
                      </a:r>
                      <a:endParaRPr lang="zh-CN" sz="2400">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marL="902335" marR="898525" algn="ctr">
                        <a:spcBef>
                          <a:spcPts val="495"/>
                        </a:spcBef>
                        <a:spcAft>
                          <a:spcPts val="0"/>
                        </a:spcAft>
                      </a:pPr>
                      <a:r>
                        <a:rPr lang="zh-CN" sz="2000" dirty="0">
                          <a:effectLst/>
                          <a:latin typeface="微软雅黑" panose="020B0503020204020204" pitchFamily="34" charset="-122"/>
                          <a:ea typeface="微软雅黑" panose="020B0503020204020204" pitchFamily="34" charset="-122"/>
                          <a:cs typeface="宋体" panose="02010600030101010101" pitchFamily="2" charset="-122"/>
                        </a:rPr>
                        <a:t>归属签约用户服务器与移动性管理实体之间的接口</a:t>
                      </a:r>
                      <a:endParaRPr lang="zh-CN" sz="24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2323718913"/>
                  </a:ext>
                </a:extLst>
              </a:tr>
              <a:tr h="297180">
                <a:tc>
                  <a:txBody>
                    <a:bodyPr/>
                    <a:lstStyle/>
                    <a:p>
                      <a:pPr marL="479425">
                        <a:spcBef>
                          <a:spcPts val="565"/>
                        </a:spcBef>
                        <a:spcAft>
                          <a:spcPts val="0"/>
                        </a:spcAft>
                      </a:pPr>
                      <a:r>
                        <a:rPr lang="en-US" sz="2000" dirty="0" err="1">
                          <a:effectLst/>
                          <a:latin typeface="微软雅黑" panose="020B0503020204020204" pitchFamily="34" charset="-122"/>
                          <a:ea typeface="微软雅黑" panose="020B0503020204020204" pitchFamily="34" charset="-122"/>
                          <a:cs typeface="宋体" panose="02010600030101010101" pitchFamily="2" charset="-122"/>
                        </a:rPr>
                        <a:t>SGi</a:t>
                      </a:r>
                      <a:endParaRPr lang="zh-CN" sz="24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marL="902335" marR="897890" algn="ctr">
                        <a:spcBef>
                          <a:spcPts val="495"/>
                        </a:spcBef>
                        <a:spcAft>
                          <a:spcPts val="0"/>
                        </a:spcAft>
                      </a:pPr>
                      <a:r>
                        <a:rPr lang="en-US" sz="2000" dirty="0">
                          <a:effectLst/>
                          <a:latin typeface="微软雅黑" panose="020B0503020204020204" pitchFamily="34" charset="-122"/>
                          <a:ea typeface="微软雅黑" panose="020B0503020204020204" pitchFamily="34" charset="-122"/>
                          <a:cs typeface="宋体" panose="02010600030101010101" pitchFamily="2" charset="-122"/>
                        </a:rPr>
                        <a:t>V2X</a:t>
                      </a:r>
                      <a:r>
                        <a:rPr lang="en-US" sz="2000" spc="-5" dirty="0">
                          <a:effectLst/>
                          <a:latin typeface="微软雅黑" panose="020B0503020204020204" pitchFamily="34" charset="-122"/>
                          <a:ea typeface="微软雅黑" panose="020B0503020204020204" pitchFamily="34" charset="-122"/>
                          <a:cs typeface="宋体" panose="02010600030101010101" pitchFamily="2" charset="-122"/>
                        </a:rPr>
                        <a:t> </a:t>
                      </a:r>
                      <a:r>
                        <a:rPr lang="zh-CN" sz="2000" dirty="0">
                          <a:effectLst/>
                          <a:latin typeface="微软雅黑" panose="020B0503020204020204" pitchFamily="34" charset="-122"/>
                          <a:ea typeface="微软雅黑" panose="020B0503020204020204" pitchFamily="34" charset="-122"/>
                          <a:cs typeface="宋体" panose="02010600030101010101" pitchFamily="2" charset="-122"/>
                        </a:rPr>
                        <a:t>应用服务器和服务</a:t>
                      </a:r>
                      <a:r>
                        <a:rPr lang="en-US" sz="2000" dirty="0">
                          <a:effectLst/>
                          <a:latin typeface="微软雅黑" panose="020B0503020204020204" pitchFamily="34" charset="-122"/>
                          <a:ea typeface="微软雅黑" panose="020B0503020204020204" pitchFamily="34" charset="-122"/>
                          <a:cs typeface="宋体" panose="02010600030101010101" pitchFamily="2" charset="-122"/>
                        </a:rPr>
                        <a:t>/</a:t>
                      </a:r>
                      <a:r>
                        <a:rPr lang="zh-CN" sz="2000" dirty="0">
                          <a:effectLst/>
                          <a:latin typeface="微软雅黑" panose="020B0503020204020204" pitchFamily="34" charset="-122"/>
                          <a:ea typeface="微软雅黑" panose="020B0503020204020204" pitchFamily="34" charset="-122"/>
                          <a:cs typeface="宋体" panose="02010600030101010101" pitchFamily="2" charset="-122"/>
                        </a:rPr>
                        <a:t>数据网关之间的接口</a:t>
                      </a:r>
                      <a:endParaRPr lang="zh-CN" sz="24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3495584261"/>
                  </a:ext>
                </a:extLst>
              </a:tr>
            </a:tbl>
          </a:graphicData>
        </a:graphic>
      </p:graphicFrame>
      <p:sp>
        <p:nvSpPr>
          <p:cNvPr id="4" name="Rectangle 1"/>
          <p:cNvSpPr>
            <a:spLocks noChangeArrowheads="1"/>
          </p:cNvSpPr>
          <p:nvPr/>
        </p:nvSpPr>
        <p:spPr bwMode="auto">
          <a:xfrm>
            <a:off x="2274083" y="140075"/>
            <a:ext cx="4409221" cy="20668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825240" tIns="1015680" rIns="380880" bIns="177744" numCol="1" anchor="ctr" anchorCtr="0" compatLnSpc="1">
            <a:prstTxWarp prst="textNoShape">
              <a:avLst/>
            </a:prstTxWarp>
            <a:spAutoFit/>
          </a:bodyPr>
          <a:lstStyle>
            <a:lvl1pPr eaLnBrk="0" fontAlgn="base" hangingPunct="0">
              <a:spcBef>
                <a:spcPct val="0"/>
              </a:spcBef>
              <a:spcAft>
                <a:spcPct val="0"/>
              </a:spcAft>
              <a:tabLst>
                <a:tab pos="609600" algn="l"/>
              </a:tabLst>
              <a:defRPr>
                <a:solidFill>
                  <a:schemeClr val="tx1"/>
                </a:solidFill>
                <a:latin typeface="Arial" panose="020B0604020202020204" pitchFamily="34" charset="0"/>
              </a:defRPr>
            </a:lvl1pPr>
            <a:lvl2pPr eaLnBrk="0" fontAlgn="base" hangingPunct="0">
              <a:spcBef>
                <a:spcPct val="0"/>
              </a:spcBef>
              <a:spcAft>
                <a:spcPct val="0"/>
              </a:spcAft>
              <a:tabLst>
                <a:tab pos="609600" algn="l"/>
              </a:tabLst>
              <a:defRPr>
                <a:solidFill>
                  <a:schemeClr val="tx1"/>
                </a:solidFill>
                <a:latin typeface="Arial" panose="020B0604020202020204" pitchFamily="34" charset="0"/>
              </a:defRPr>
            </a:lvl2pPr>
            <a:lvl3pPr eaLnBrk="0" fontAlgn="base" hangingPunct="0">
              <a:spcBef>
                <a:spcPct val="0"/>
              </a:spcBef>
              <a:spcAft>
                <a:spcPct val="0"/>
              </a:spcAft>
              <a:tabLst>
                <a:tab pos="609600" algn="l"/>
              </a:tabLst>
              <a:defRPr>
                <a:solidFill>
                  <a:schemeClr val="tx1"/>
                </a:solidFill>
                <a:latin typeface="Arial" panose="020B0604020202020204" pitchFamily="34" charset="0"/>
              </a:defRPr>
            </a:lvl3pPr>
            <a:lvl4pPr eaLnBrk="0" fontAlgn="base" hangingPunct="0">
              <a:spcBef>
                <a:spcPct val="0"/>
              </a:spcBef>
              <a:spcAft>
                <a:spcPct val="0"/>
              </a:spcAft>
              <a:tabLst>
                <a:tab pos="609600" algn="l"/>
              </a:tabLst>
              <a:defRPr>
                <a:solidFill>
                  <a:schemeClr val="tx1"/>
                </a:solidFill>
                <a:latin typeface="Arial" panose="020B0604020202020204" pitchFamily="34" charset="0"/>
              </a:defRPr>
            </a:lvl4pPr>
            <a:lvl5pPr eaLnBrk="0" fontAlgn="base" hangingPunct="0">
              <a:spcBef>
                <a:spcPct val="0"/>
              </a:spcBef>
              <a:spcAft>
                <a:spcPct val="0"/>
              </a:spcAft>
              <a:tabLst>
                <a:tab pos="609600" algn="l"/>
              </a:tabLst>
              <a:defRPr>
                <a:solidFill>
                  <a:schemeClr val="tx1"/>
                </a:solidFill>
                <a:latin typeface="Arial" panose="020B0604020202020204" pitchFamily="34" charset="0"/>
              </a:defRPr>
            </a:lvl5pPr>
            <a:lvl6pPr eaLnBrk="0" fontAlgn="base" hangingPunct="0">
              <a:spcBef>
                <a:spcPct val="0"/>
              </a:spcBef>
              <a:spcAft>
                <a:spcPct val="0"/>
              </a:spcAft>
              <a:tabLst>
                <a:tab pos="609600" algn="l"/>
              </a:tabLst>
              <a:defRPr>
                <a:solidFill>
                  <a:schemeClr val="tx1"/>
                </a:solidFill>
                <a:latin typeface="Arial" panose="020B0604020202020204" pitchFamily="34" charset="0"/>
              </a:defRPr>
            </a:lvl6pPr>
            <a:lvl7pPr eaLnBrk="0" fontAlgn="base" hangingPunct="0">
              <a:spcBef>
                <a:spcPct val="0"/>
              </a:spcBef>
              <a:spcAft>
                <a:spcPct val="0"/>
              </a:spcAft>
              <a:tabLst>
                <a:tab pos="609600" algn="l"/>
              </a:tabLst>
              <a:defRPr>
                <a:solidFill>
                  <a:schemeClr val="tx1"/>
                </a:solidFill>
                <a:latin typeface="Arial" panose="020B0604020202020204" pitchFamily="34" charset="0"/>
              </a:defRPr>
            </a:lvl7pPr>
            <a:lvl8pPr eaLnBrk="0" fontAlgn="base" hangingPunct="0">
              <a:spcBef>
                <a:spcPct val="0"/>
              </a:spcBef>
              <a:spcAft>
                <a:spcPct val="0"/>
              </a:spcAft>
              <a:tabLst>
                <a:tab pos="609600" algn="l"/>
              </a:tabLst>
              <a:defRPr>
                <a:solidFill>
                  <a:schemeClr val="tx1"/>
                </a:solidFill>
                <a:latin typeface="Arial" panose="020B0604020202020204" pitchFamily="34" charset="0"/>
              </a:defRPr>
            </a:lvl8pPr>
            <a:lvl9pPr eaLnBrk="0" fontAlgn="base" hangingPunct="0">
              <a:spcBef>
                <a:spcPct val="0"/>
              </a:spcBef>
              <a:spcAft>
                <a:spcPct val="0"/>
              </a:spcAft>
              <a:tabLst>
                <a:tab pos="6096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609600" algn="l"/>
              </a:tabLst>
            </a:pPr>
            <a:r>
              <a:rPr kumimoji="0" lang="en-US" altLang="zh-CN" sz="20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宋体" panose="02010600030101010101" pitchFamily="2" charset="-122"/>
              </a:rPr>
              <a:t>LTE-V2X </a:t>
            </a:r>
            <a:r>
              <a:rPr kumimoji="0" lang="zh-CN" altLang="en-US" sz="20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宋体" panose="02010600030101010101" pitchFamily="2" charset="-122"/>
              </a:rPr>
              <a:t>网络架构接口说明</a:t>
            </a:r>
            <a:endParaRPr kumimoji="0" lang="en-US" altLang="zh-CN"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宋体" panose="02010600030101010101" pitchFamily="2" charset="-122"/>
            </a:endParaRPr>
          </a:p>
          <a:p>
            <a:pPr marL="0" marR="0" lvl="0" indent="0" algn="l" defTabSz="914400" rtl="0" eaLnBrk="0" fontAlgn="base" latinLnBrk="0" hangingPunct="0">
              <a:lnSpc>
                <a:spcPct val="100000"/>
              </a:lnSpc>
              <a:spcBef>
                <a:spcPct val="0"/>
              </a:spcBef>
              <a:spcAft>
                <a:spcPct val="0"/>
              </a:spcAft>
              <a:buClrTx/>
              <a:buSzTx/>
              <a:buFontTx/>
              <a:buNone/>
              <a:tabLst>
                <a:tab pos="609600" algn="l"/>
              </a:tabLst>
            </a:pPr>
            <a:r>
              <a:rPr kumimoji="0" lang="en-US" altLang="zh-CN" sz="1200" b="0"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宋体" panose="02010600030101010101" pitchFamily="2" charset="-122"/>
              </a:rPr>
              <a:t/>
            </a:r>
            <a:br>
              <a:rPr kumimoji="0" lang="en-US" altLang="zh-CN" sz="1200" b="0"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宋体" panose="02010600030101010101" pitchFamily="2" charset="-122"/>
              </a:rPr>
            </a:br>
            <a:endParaRPr kumimoji="0" lang="en-US" altLang="zh-CN" sz="6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609600" algn="l"/>
              </a:tabLst>
            </a:pPr>
            <a:endParaRPr kumimoji="0" lang="en-US" altLang="zh-CN"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2090677"/>
      </p:ext>
    </p:extLst>
  </p:cSld>
  <p:clrMapOvr>
    <a:masterClrMapping/>
  </p:clrMapOvr>
  <p:transition spd="slow" advClick="0"/>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11" descr="program-ciat2020"/>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sp>
        <p:nvSpPr>
          <p:cNvPr id="2" name="标题 1"/>
          <p:cNvSpPr txBox="1"/>
          <p:nvPr/>
        </p:nvSpPr>
        <p:spPr>
          <a:xfrm>
            <a:off x="237392" y="191297"/>
            <a:ext cx="9251576" cy="679847"/>
          </a:xfrm>
          <a:prstGeom prst="rect">
            <a:avLst/>
          </a:prstGeom>
        </p:spPr>
        <p:txBody>
          <a:bodyPr vert="horz" lIns="68580" tIns="34290" rIns="68580" bIns="34290" rtlCol="0" anchor="ctr">
            <a:normAutofit/>
          </a:bodyPr>
          <a:lstStyle/>
          <a:p>
            <a:pPr lvl="0">
              <a:spcBef>
                <a:spcPct val="0"/>
              </a:spcBef>
              <a:defRPr/>
            </a:pPr>
            <a:r>
              <a:rPr lang="en-US" altLang="zh-CN" sz="34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LTE-V2X </a:t>
            </a:r>
            <a:r>
              <a:rPr lang="zh-CN" altLang="en-US" sz="34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关键</a:t>
            </a:r>
            <a:r>
              <a:rPr lang="zh-CN" altLang="en-US" sz="34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技术</a:t>
            </a:r>
            <a:endParaRPr lang="en-US" altLang="zh-CN" sz="36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8" name="矩形 7"/>
          <p:cNvSpPr/>
          <p:nvPr/>
        </p:nvSpPr>
        <p:spPr>
          <a:xfrm>
            <a:off x="237391" y="1069052"/>
            <a:ext cx="8530828" cy="1046440"/>
          </a:xfrm>
          <a:prstGeom prst="rect">
            <a:avLst/>
          </a:prstGeom>
        </p:spPr>
        <p:txBody>
          <a:bodyPr wrap="square">
            <a:spAutoFit/>
          </a:bodyPr>
          <a:lstStyle/>
          <a:p>
            <a:pPr lvl="0">
              <a:spcBef>
                <a:spcPct val="0"/>
              </a:spcBef>
              <a:defRPr/>
            </a:pPr>
            <a:r>
              <a:rPr lang="zh-CN" altLang="en-US" sz="32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通信</a:t>
            </a:r>
            <a:r>
              <a:rPr lang="zh-CN" altLang="en-US" sz="32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模式</a:t>
            </a:r>
            <a:endParaRPr lang="en-US" altLang="zh-CN" sz="32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endParaRPr>
          </a:p>
          <a:p>
            <a:pPr lvl="0">
              <a:lnSpc>
                <a:spcPct val="150000"/>
              </a:lnSpc>
              <a:spcBef>
                <a:spcPct val="0"/>
              </a:spcBef>
              <a:defRPr/>
            </a:pPr>
            <a:r>
              <a:rPr kumimoji="1" lang="zh-CN" altLang="en-US" sz="2000" dirty="0">
                <a:latin typeface="Microsoft YaHei" panose="020B0503020204020204" pitchFamily="34" charset="-122"/>
                <a:ea typeface="Microsoft YaHei" panose="020B0503020204020204" pitchFamily="34" charset="-122"/>
                <a:cs typeface="微软雅黑" charset="0"/>
              </a:rPr>
              <a:t>蜂窝通信与直通通信融合的 </a:t>
            </a:r>
            <a:r>
              <a:rPr kumimoji="1" lang="en-US" altLang="zh-CN" sz="2000" dirty="0">
                <a:latin typeface="Microsoft YaHei" panose="020B0503020204020204" pitchFamily="34" charset="-122"/>
                <a:ea typeface="Microsoft YaHei" panose="020B0503020204020204" pitchFamily="34" charset="-122"/>
                <a:cs typeface="微软雅黑" charset="0"/>
              </a:rPr>
              <a:t>LTE-V2X </a:t>
            </a:r>
            <a:r>
              <a:rPr kumimoji="1" lang="zh-CN" altLang="en-US" sz="2000" dirty="0">
                <a:latin typeface="Microsoft YaHei" panose="020B0503020204020204" pitchFamily="34" charset="-122"/>
                <a:ea typeface="Microsoft YaHei" panose="020B0503020204020204" pitchFamily="34" charset="-122"/>
                <a:cs typeface="微软雅黑" charset="0"/>
              </a:rPr>
              <a:t>包含了两种通信</a:t>
            </a:r>
            <a:r>
              <a:rPr kumimoji="1" lang="zh-CN" altLang="en-US" sz="2000" dirty="0" smtClean="0">
                <a:latin typeface="Microsoft YaHei" panose="020B0503020204020204" pitchFamily="34" charset="-122"/>
                <a:ea typeface="Microsoft YaHei" panose="020B0503020204020204" pitchFamily="34" charset="-122"/>
                <a:cs typeface="微软雅黑" charset="0"/>
              </a:rPr>
              <a:t>模式：</a:t>
            </a:r>
            <a:endParaRPr kumimoji="1" lang="en-US" altLang="zh-CN" sz="2000" dirty="0">
              <a:latin typeface="Microsoft YaHei" panose="020B0503020204020204" pitchFamily="34" charset="-122"/>
              <a:ea typeface="Microsoft YaHei" panose="020B0503020204020204" pitchFamily="34" charset="-122"/>
              <a:cs typeface="微软雅黑" charset="0"/>
            </a:endParaRPr>
          </a:p>
        </p:txBody>
      </p:sp>
      <p:sp>
        <p:nvSpPr>
          <p:cNvPr id="5" name="矩形 4"/>
          <p:cNvSpPr/>
          <p:nvPr/>
        </p:nvSpPr>
        <p:spPr>
          <a:xfrm>
            <a:off x="95237" y="2072415"/>
            <a:ext cx="9535886" cy="2053896"/>
          </a:xfrm>
          <a:prstGeom prst="rect">
            <a:avLst/>
          </a:prstGeom>
        </p:spPr>
        <p:txBody>
          <a:bodyPr wrap="square">
            <a:spAutoFit/>
          </a:bodyPr>
          <a:lstStyle/>
          <a:p>
            <a:pPr marL="360680" marR="471805" indent="-285750">
              <a:lnSpc>
                <a:spcPct val="130000"/>
              </a:lnSpc>
              <a:spcAft>
                <a:spcPts val="0"/>
              </a:spcAft>
              <a:buFont typeface="Wingdings" panose="05000000000000000000" pitchFamily="2" charset="2"/>
              <a:buChar char="n"/>
            </a:pPr>
            <a:r>
              <a:rPr kumimoji="1" lang="zh-CN" altLang="en-US" sz="2000" b="1" dirty="0" smtClean="0">
                <a:latin typeface="Microsoft YaHei" panose="020B0503020204020204" pitchFamily="34" charset="-122"/>
                <a:ea typeface="Microsoft YaHei" panose="020B0503020204020204" pitchFamily="34" charset="-122"/>
                <a:cs typeface="微软雅黑" charset="0"/>
              </a:rPr>
              <a:t>蜂窝</a:t>
            </a:r>
            <a:r>
              <a:rPr kumimoji="1" lang="zh-CN" altLang="en-US" sz="2000" b="1" dirty="0">
                <a:latin typeface="Microsoft YaHei" panose="020B0503020204020204" pitchFamily="34" charset="-122"/>
                <a:ea typeface="Microsoft YaHei" panose="020B0503020204020204" pitchFamily="34" charset="-122"/>
                <a:cs typeface="微软雅黑" charset="0"/>
              </a:rPr>
              <a:t>网络模式（</a:t>
            </a:r>
            <a:r>
              <a:rPr kumimoji="1" lang="en-US" altLang="zh-CN" sz="2000" b="1" dirty="0">
                <a:latin typeface="Microsoft YaHei" panose="020B0503020204020204" pitchFamily="34" charset="-122"/>
                <a:ea typeface="Microsoft YaHei" panose="020B0503020204020204" pitchFamily="34" charset="-122"/>
                <a:cs typeface="微软雅黑" charset="0"/>
              </a:rPr>
              <a:t>LTE-V-cell</a:t>
            </a:r>
            <a:r>
              <a:rPr kumimoji="1" lang="zh-CN" altLang="en-US" sz="2000" b="1" dirty="0">
                <a:latin typeface="Microsoft YaHei" panose="020B0503020204020204" pitchFamily="34" charset="-122"/>
                <a:ea typeface="Microsoft YaHei" panose="020B0503020204020204" pitchFamily="34" charset="-122"/>
                <a:cs typeface="微软雅黑" charset="0"/>
              </a:rPr>
              <a:t>）</a:t>
            </a:r>
            <a:r>
              <a:rPr kumimoji="1" lang="zh-CN" altLang="zh-CN" sz="2000" dirty="0" smtClean="0">
                <a:latin typeface="Microsoft YaHei" panose="020B0503020204020204" pitchFamily="34" charset="-122"/>
                <a:ea typeface="Microsoft YaHei" panose="020B0503020204020204" pitchFamily="34" charset="-122"/>
                <a:cs typeface="微软雅黑" charset="0"/>
              </a:rPr>
              <a:t>：</a:t>
            </a:r>
            <a:r>
              <a:rPr kumimoji="1" lang="zh-CN" altLang="en-US" sz="2000" dirty="0">
                <a:latin typeface="Microsoft YaHei" panose="020B0503020204020204" pitchFamily="34" charset="-122"/>
                <a:ea typeface="Microsoft YaHei" panose="020B0503020204020204" pitchFamily="34" charset="-122"/>
                <a:cs typeface="微软雅黑" charset="0"/>
              </a:rPr>
              <a:t>集中式，该模式需要基站作为控制中心</a:t>
            </a:r>
            <a:r>
              <a:rPr kumimoji="1" lang="zh-CN" altLang="en-US" sz="2000" dirty="0" smtClean="0">
                <a:latin typeface="Microsoft YaHei" panose="020B0503020204020204" pitchFamily="34" charset="-122"/>
                <a:ea typeface="Microsoft YaHei" panose="020B0503020204020204" pitchFamily="34" charset="-122"/>
                <a:cs typeface="微软雅黑" charset="0"/>
              </a:rPr>
              <a:t>，</a:t>
            </a:r>
            <a:r>
              <a:rPr kumimoji="1" lang="zh-CN" altLang="en-US" sz="2000" dirty="0">
                <a:latin typeface="Microsoft YaHei" panose="020B0503020204020204" pitchFamily="34" charset="-122"/>
                <a:ea typeface="Microsoft YaHei" panose="020B0503020204020204" pitchFamily="34" charset="-122"/>
                <a:cs typeface="微软雅黑" charset="0"/>
              </a:rPr>
              <a:t>终端</a:t>
            </a:r>
            <a:r>
              <a:rPr kumimoji="1" lang="zh-CN" altLang="en-US" sz="2000" dirty="0">
                <a:latin typeface="Microsoft YaHei" panose="020B0503020204020204" pitchFamily="34" charset="-122"/>
                <a:ea typeface="Microsoft YaHei" panose="020B0503020204020204" pitchFamily="34" charset="-122"/>
                <a:cs typeface="微软雅黑" charset="0"/>
              </a:rPr>
              <a:t>和基站之间通过 </a:t>
            </a:r>
            <a:r>
              <a:rPr kumimoji="1" lang="en-US" altLang="zh-CN" sz="2000" dirty="0" err="1">
                <a:latin typeface="Microsoft YaHei" panose="020B0503020204020204" pitchFamily="34" charset="-122"/>
                <a:ea typeface="Microsoft YaHei" panose="020B0503020204020204" pitchFamily="34" charset="-122"/>
                <a:cs typeface="微软雅黑" charset="0"/>
              </a:rPr>
              <a:t>Uu</a:t>
            </a:r>
            <a:r>
              <a:rPr kumimoji="1" lang="en-US" altLang="zh-CN" sz="2000" dirty="0">
                <a:latin typeface="Microsoft YaHei" panose="020B0503020204020204" pitchFamily="34" charset="-122"/>
                <a:ea typeface="Microsoft YaHei" panose="020B0503020204020204" pitchFamily="34" charset="-122"/>
                <a:cs typeface="微软雅黑" charset="0"/>
              </a:rPr>
              <a:t> </a:t>
            </a:r>
            <a:r>
              <a:rPr kumimoji="1" lang="zh-CN" altLang="en-US" sz="2000" dirty="0">
                <a:latin typeface="Microsoft YaHei" panose="020B0503020204020204" pitchFamily="34" charset="-122"/>
                <a:ea typeface="Microsoft YaHei" panose="020B0503020204020204" pitchFamily="34" charset="-122"/>
                <a:cs typeface="微软雅黑" charset="0"/>
              </a:rPr>
              <a:t>接口通信，由基站作为集中式的控制中心和数据信息转发中心，完成集中式无线资源调度、拥塞控制和干扰</a:t>
            </a:r>
            <a:r>
              <a:rPr kumimoji="1" lang="zh-CN" altLang="en-US" sz="2000" dirty="0">
                <a:latin typeface="Microsoft YaHei" panose="020B0503020204020204" pitchFamily="34" charset="-122"/>
                <a:ea typeface="Microsoft YaHei" panose="020B0503020204020204" pitchFamily="34" charset="-122"/>
                <a:cs typeface="微软雅黑" charset="0"/>
              </a:rPr>
              <a:t>协调</a:t>
            </a:r>
            <a:endParaRPr kumimoji="1" lang="en-US" altLang="zh-CN" sz="2000" dirty="0">
              <a:latin typeface="Microsoft YaHei" panose="020B0503020204020204" pitchFamily="34" charset="-122"/>
              <a:ea typeface="Microsoft YaHei" panose="020B0503020204020204" pitchFamily="34" charset="-122"/>
              <a:cs typeface="微软雅黑" charset="0"/>
            </a:endParaRPr>
          </a:p>
          <a:p>
            <a:pPr marL="360680" marR="471805" indent="-285750">
              <a:lnSpc>
                <a:spcPct val="130000"/>
              </a:lnSpc>
              <a:spcAft>
                <a:spcPts val="0"/>
              </a:spcAft>
              <a:buFont typeface="Wingdings" panose="05000000000000000000" pitchFamily="2" charset="2"/>
              <a:buChar char="n"/>
            </a:pPr>
            <a:r>
              <a:rPr kumimoji="1" lang="zh-CN" altLang="zh-CN" sz="2000" dirty="0">
                <a:latin typeface="Microsoft YaHei" panose="020B0503020204020204" pitchFamily="34" charset="-122"/>
                <a:ea typeface="Microsoft YaHei" panose="020B0503020204020204" pitchFamily="34" charset="-122"/>
                <a:cs typeface="微软雅黑" charset="0"/>
              </a:rPr>
              <a:t>该模式使用传统移动宽带许可频段，适用于长程业务（大于 </a:t>
            </a:r>
            <a:r>
              <a:rPr kumimoji="1" lang="en-US" altLang="zh-CN" sz="2000" dirty="0">
                <a:latin typeface="Microsoft YaHei" panose="020B0503020204020204" pitchFamily="34" charset="-122"/>
                <a:ea typeface="Microsoft YaHei" panose="020B0503020204020204" pitchFamily="34" charset="-122"/>
                <a:cs typeface="微软雅黑" charset="0"/>
              </a:rPr>
              <a:t>1 </a:t>
            </a:r>
            <a:r>
              <a:rPr kumimoji="1" lang="zh-CN" altLang="zh-CN" sz="2000" dirty="0">
                <a:latin typeface="Microsoft YaHei" panose="020B0503020204020204" pitchFamily="34" charset="-122"/>
                <a:ea typeface="Microsoft YaHei" panose="020B0503020204020204" pitchFamily="34" charset="-122"/>
                <a:cs typeface="微软雅黑" charset="0"/>
              </a:rPr>
              <a:t>公里），如前方事故等消息的发送</a:t>
            </a:r>
            <a:r>
              <a:rPr kumimoji="1" lang="zh-CN" altLang="zh-CN" sz="2000" dirty="0">
                <a:latin typeface="Microsoft YaHei" panose="020B0503020204020204" pitchFamily="34" charset="-122"/>
                <a:ea typeface="Microsoft YaHei" panose="020B0503020204020204" pitchFamily="34" charset="-122"/>
                <a:cs typeface="微软雅黑" charset="0"/>
              </a:rPr>
              <a:t>。</a:t>
            </a:r>
            <a:endParaRPr kumimoji="1" lang="zh-CN" altLang="en-US" sz="2000" dirty="0">
              <a:latin typeface="Microsoft YaHei" panose="020B0503020204020204" pitchFamily="34" charset="-122"/>
              <a:ea typeface="Microsoft YaHei" panose="020B0503020204020204" pitchFamily="34" charset="-122"/>
              <a:cs typeface="微软雅黑" charset="0"/>
            </a:endParaRPr>
          </a:p>
        </p:txBody>
      </p:sp>
      <p:pic>
        <p:nvPicPr>
          <p:cNvPr id="3" name="图片 2"/>
          <p:cNvPicPr>
            <a:picLocks noChangeAspect="1"/>
          </p:cNvPicPr>
          <p:nvPr/>
        </p:nvPicPr>
        <p:blipFill>
          <a:blip r:embed="rId3"/>
          <a:stretch>
            <a:fillRect/>
          </a:stretch>
        </p:blipFill>
        <p:spPr>
          <a:xfrm>
            <a:off x="3369867" y="4293827"/>
            <a:ext cx="2349580" cy="2132026"/>
          </a:xfrm>
          <a:prstGeom prst="rect">
            <a:avLst/>
          </a:prstGeom>
        </p:spPr>
      </p:pic>
    </p:spTree>
    <p:extLst>
      <p:ext uri="{BB962C8B-B14F-4D97-AF65-F5344CB8AC3E}">
        <p14:creationId xmlns:p14="http://schemas.microsoft.com/office/powerpoint/2010/main" val="402822178"/>
      </p:ext>
    </p:extLst>
  </p:cSld>
  <p:clrMapOvr>
    <a:masterClrMapping/>
  </p:clrMapOvr>
  <p:transition spd="slow" advClick="0"/>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11" descr="program-ciat2020"/>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sp>
        <p:nvSpPr>
          <p:cNvPr id="2" name="标题 1"/>
          <p:cNvSpPr txBox="1"/>
          <p:nvPr/>
        </p:nvSpPr>
        <p:spPr>
          <a:xfrm>
            <a:off x="237392" y="191297"/>
            <a:ext cx="9251576" cy="679847"/>
          </a:xfrm>
          <a:prstGeom prst="rect">
            <a:avLst/>
          </a:prstGeom>
        </p:spPr>
        <p:txBody>
          <a:bodyPr vert="horz" lIns="68580" tIns="34290" rIns="68580" bIns="34290" rtlCol="0" anchor="ctr">
            <a:normAutofit/>
          </a:bodyPr>
          <a:lstStyle/>
          <a:p>
            <a:pPr lvl="0">
              <a:spcBef>
                <a:spcPct val="0"/>
              </a:spcBef>
              <a:defRPr/>
            </a:pPr>
            <a:r>
              <a:rPr lang="en-US" altLang="zh-CN" sz="34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LTE-V2X </a:t>
            </a:r>
            <a:r>
              <a:rPr lang="zh-CN" altLang="en-US" sz="34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关键</a:t>
            </a:r>
            <a:r>
              <a:rPr lang="zh-CN" altLang="en-US" sz="34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技术</a:t>
            </a:r>
            <a:endParaRPr lang="en-US" altLang="zh-CN" sz="36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8" name="矩形 7"/>
          <p:cNvSpPr/>
          <p:nvPr/>
        </p:nvSpPr>
        <p:spPr>
          <a:xfrm>
            <a:off x="237391" y="1069052"/>
            <a:ext cx="8530828" cy="584775"/>
          </a:xfrm>
          <a:prstGeom prst="rect">
            <a:avLst/>
          </a:prstGeom>
        </p:spPr>
        <p:txBody>
          <a:bodyPr wrap="square">
            <a:spAutoFit/>
          </a:bodyPr>
          <a:lstStyle/>
          <a:p>
            <a:pPr lvl="0">
              <a:spcBef>
                <a:spcPct val="0"/>
              </a:spcBef>
              <a:defRPr/>
            </a:pPr>
            <a:r>
              <a:rPr lang="zh-CN" altLang="en-US" sz="32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通信</a:t>
            </a:r>
            <a:r>
              <a:rPr lang="zh-CN" altLang="en-US" sz="32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模式</a:t>
            </a:r>
            <a:endParaRPr lang="en-US" altLang="zh-CN" sz="32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5" name="矩形 4"/>
          <p:cNvSpPr/>
          <p:nvPr/>
        </p:nvSpPr>
        <p:spPr>
          <a:xfrm>
            <a:off x="145341" y="1671974"/>
            <a:ext cx="9236654" cy="2053896"/>
          </a:xfrm>
          <a:prstGeom prst="rect">
            <a:avLst/>
          </a:prstGeom>
        </p:spPr>
        <p:txBody>
          <a:bodyPr wrap="square">
            <a:spAutoFit/>
          </a:bodyPr>
          <a:lstStyle/>
          <a:p>
            <a:pPr marL="360680" marR="471805" indent="-285750">
              <a:lnSpc>
                <a:spcPct val="130000"/>
              </a:lnSpc>
              <a:spcAft>
                <a:spcPts val="0"/>
              </a:spcAft>
              <a:buFont typeface="Wingdings" panose="05000000000000000000" pitchFamily="2" charset="2"/>
              <a:buChar char="n"/>
            </a:pPr>
            <a:r>
              <a:rPr kumimoji="1" lang="zh-CN" altLang="en-US" sz="2000" b="1" dirty="0" smtClean="0">
                <a:latin typeface="Microsoft YaHei" panose="020B0503020204020204" pitchFamily="34" charset="-122"/>
                <a:ea typeface="Microsoft YaHei" panose="020B0503020204020204" pitchFamily="34" charset="-122"/>
                <a:cs typeface="微软雅黑" charset="0"/>
              </a:rPr>
              <a:t>直通</a:t>
            </a:r>
            <a:r>
              <a:rPr kumimoji="1" lang="zh-CN" altLang="en-US" sz="2000" b="1" dirty="0">
                <a:latin typeface="Microsoft YaHei" panose="020B0503020204020204" pitchFamily="34" charset="-122"/>
                <a:ea typeface="Microsoft YaHei" panose="020B0503020204020204" pitchFamily="34" charset="-122"/>
                <a:cs typeface="微软雅黑" charset="0"/>
              </a:rPr>
              <a:t>通信模式（</a:t>
            </a:r>
            <a:r>
              <a:rPr kumimoji="1" lang="en-US" altLang="zh-CN" sz="2000" b="1" dirty="0">
                <a:latin typeface="Microsoft YaHei" panose="020B0503020204020204" pitchFamily="34" charset="-122"/>
                <a:ea typeface="Microsoft YaHei" panose="020B0503020204020204" pitchFamily="34" charset="-122"/>
                <a:cs typeface="微软雅黑" charset="0"/>
              </a:rPr>
              <a:t>LTE-V-direct</a:t>
            </a:r>
            <a:r>
              <a:rPr kumimoji="1" lang="zh-CN" altLang="en-US" sz="2000" b="1" dirty="0">
                <a:latin typeface="Microsoft YaHei" panose="020B0503020204020204" pitchFamily="34" charset="-122"/>
                <a:ea typeface="Microsoft YaHei" panose="020B0503020204020204" pitchFamily="34" charset="-122"/>
                <a:cs typeface="微软雅黑" charset="0"/>
              </a:rPr>
              <a:t>）</a:t>
            </a:r>
            <a:r>
              <a:rPr kumimoji="1" lang="zh-CN" altLang="zh-CN" sz="2000" dirty="0" smtClean="0">
                <a:latin typeface="Microsoft YaHei" panose="020B0503020204020204" pitchFamily="34" charset="-122"/>
                <a:ea typeface="Microsoft YaHei" panose="020B0503020204020204" pitchFamily="34" charset="-122"/>
                <a:cs typeface="微软雅黑" charset="0"/>
              </a:rPr>
              <a:t>：</a:t>
            </a:r>
            <a:r>
              <a:rPr kumimoji="1" lang="zh-CN" altLang="en-US" sz="2000" dirty="0">
                <a:latin typeface="Microsoft YaHei" panose="020B0503020204020204" pitchFamily="34" charset="-122"/>
                <a:ea typeface="Microsoft YaHei" panose="020B0503020204020204" pitchFamily="34" charset="-122"/>
                <a:cs typeface="微软雅黑" charset="0"/>
              </a:rPr>
              <a:t>分布式，该模式无需基站作为支撑。车、人、路之间通过 </a:t>
            </a:r>
            <a:r>
              <a:rPr kumimoji="1" lang="en-US" altLang="zh-CN" sz="2000" dirty="0" smtClean="0">
                <a:latin typeface="Microsoft YaHei" panose="020B0503020204020204" pitchFamily="34" charset="-122"/>
                <a:ea typeface="Microsoft YaHei" panose="020B0503020204020204" pitchFamily="34" charset="-122"/>
                <a:cs typeface="微软雅黑" charset="0"/>
              </a:rPr>
              <a:t>PC5</a:t>
            </a:r>
            <a:r>
              <a:rPr kumimoji="1" lang="zh-CN" altLang="en-US" sz="2000" dirty="0" smtClean="0">
                <a:latin typeface="Microsoft YaHei" panose="020B0503020204020204" pitchFamily="34" charset="-122"/>
                <a:ea typeface="Microsoft YaHei" panose="020B0503020204020204" pitchFamily="34" charset="-122"/>
                <a:cs typeface="微软雅黑" charset="0"/>
              </a:rPr>
              <a:t>接口</a:t>
            </a:r>
            <a:r>
              <a:rPr kumimoji="1" lang="zh-CN" altLang="en-US" sz="2000" dirty="0">
                <a:latin typeface="Microsoft YaHei" panose="020B0503020204020204" pitchFamily="34" charset="-122"/>
                <a:ea typeface="Microsoft YaHei" panose="020B0503020204020204" pitchFamily="34" charset="-122"/>
                <a:cs typeface="微软雅黑" charset="0"/>
              </a:rPr>
              <a:t>实现短距离直连通信，用于解决车联网中终端间低时延、高可靠传输的问题。</a:t>
            </a:r>
          </a:p>
          <a:p>
            <a:pPr marL="360680" marR="471805" indent="-285750">
              <a:lnSpc>
                <a:spcPct val="130000"/>
              </a:lnSpc>
              <a:spcAft>
                <a:spcPts val="0"/>
              </a:spcAft>
              <a:buFont typeface="Wingdings" panose="05000000000000000000" pitchFamily="2" charset="2"/>
              <a:buChar char="n"/>
            </a:pPr>
            <a:r>
              <a:rPr kumimoji="1" lang="zh-CN" altLang="en-US" sz="2000" dirty="0">
                <a:latin typeface="Microsoft YaHei" panose="020B0503020204020204" pitchFamily="34" charset="-122"/>
                <a:ea typeface="Microsoft YaHei" panose="020B0503020204020204" pitchFamily="34" charset="-122"/>
                <a:cs typeface="微软雅黑" charset="0"/>
              </a:rPr>
              <a:t>该模式使用 </a:t>
            </a:r>
            <a:r>
              <a:rPr kumimoji="1" lang="en-US" altLang="zh-CN" sz="2000" dirty="0">
                <a:latin typeface="Microsoft YaHei" panose="020B0503020204020204" pitchFamily="34" charset="-122"/>
                <a:ea typeface="Microsoft YaHei" panose="020B0503020204020204" pitchFamily="34" charset="-122"/>
                <a:cs typeface="微软雅黑" charset="0"/>
              </a:rPr>
              <a:t>ITS </a:t>
            </a:r>
            <a:r>
              <a:rPr kumimoji="1" lang="zh-CN" altLang="en-US" sz="2000" dirty="0">
                <a:latin typeface="Microsoft YaHei" panose="020B0503020204020204" pitchFamily="34" charset="-122"/>
                <a:ea typeface="Microsoft YaHei" panose="020B0503020204020204" pitchFamily="34" charset="-122"/>
                <a:cs typeface="微软雅黑" charset="0"/>
              </a:rPr>
              <a:t>频段（比如 </a:t>
            </a:r>
            <a:r>
              <a:rPr kumimoji="1" lang="en-US" altLang="zh-CN" sz="2000" dirty="0">
                <a:latin typeface="Microsoft YaHei" panose="020B0503020204020204" pitchFamily="34" charset="-122"/>
                <a:ea typeface="Microsoft YaHei" panose="020B0503020204020204" pitchFamily="34" charset="-122"/>
                <a:cs typeface="微软雅黑" charset="0"/>
              </a:rPr>
              <a:t>ITS 5.9GHz</a:t>
            </a:r>
            <a:r>
              <a:rPr kumimoji="1" lang="zh-CN" altLang="en-US" sz="2000" dirty="0">
                <a:latin typeface="Microsoft YaHei" panose="020B0503020204020204" pitchFamily="34" charset="-122"/>
                <a:ea typeface="Microsoft YaHei" panose="020B0503020204020204" pitchFamily="34" charset="-122"/>
                <a:cs typeface="微软雅黑" charset="0"/>
              </a:rPr>
              <a:t>），可独立于蜂窝网络运作，适用于短程</a:t>
            </a:r>
            <a:r>
              <a:rPr kumimoji="1" lang="zh-CN" altLang="en-US" sz="2000" dirty="0" smtClean="0">
                <a:latin typeface="Microsoft YaHei" panose="020B0503020204020204" pitchFamily="34" charset="-122"/>
                <a:ea typeface="Microsoft YaHei" panose="020B0503020204020204" pitchFamily="34" charset="-122"/>
                <a:cs typeface="微软雅黑" charset="0"/>
              </a:rPr>
              <a:t>业务（</a:t>
            </a:r>
            <a:r>
              <a:rPr kumimoji="1" lang="zh-CN" altLang="en-US" sz="2000" dirty="0">
                <a:latin typeface="Microsoft YaHei" panose="020B0503020204020204" pitchFamily="34" charset="-122"/>
                <a:ea typeface="Microsoft YaHei" panose="020B0503020204020204" pitchFamily="34" charset="-122"/>
                <a:cs typeface="微软雅黑" charset="0"/>
              </a:rPr>
              <a:t>小于 </a:t>
            </a:r>
            <a:r>
              <a:rPr kumimoji="1" lang="en-US" altLang="zh-CN" sz="2000" dirty="0">
                <a:latin typeface="Microsoft YaHei" panose="020B0503020204020204" pitchFamily="34" charset="-122"/>
                <a:ea typeface="Microsoft YaHei" panose="020B0503020204020204" pitchFamily="34" charset="-122"/>
                <a:cs typeface="微软雅黑" charset="0"/>
              </a:rPr>
              <a:t>1 </a:t>
            </a:r>
            <a:r>
              <a:rPr kumimoji="1" lang="zh-CN" altLang="en-US" sz="2000" dirty="0">
                <a:latin typeface="Microsoft YaHei" panose="020B0503020204020204" pitchFamily="34" charset="-122"/>
                <a:ea typeface="Microsoft YaHei" panose="020B0503020204020204" pitchFamily="34" charset="-122"/>
                <a:cs typeface="微软雅黑" charset="0"/>
              </a:rPr>
              <a:t>公里），比如位置、速度等消息的分发。</a:t>
            </a:r>
          </a:p>
        </p:txBody>
      </p:sp>
      <p:pic>
        <p:nvPicPr>
          <p:cNvPr id="6" name="图片 5"/>
          <p:cNvPicPr>
            <a:picLocks noChangeAspect="1"/>
          </p:cNvPicPr>
          <p:nvPr/>
        </p:nvPicPr>
        <p:blipFill>
          <a:blip r:embed="rId3"/>
          <a:stretch>
            <a:fillRect/>
          </a:stretch>
        </p:blipFill>
        <p:spPr>
          <a:xfrm>
            <a:off x="3264076" y="3995985"/>
            <a:ext cx="2828789" cy="2536156"/>
          </a:xfrm>
          <a:prstGeom prst="rect">
            <a:avLst/>
          </a:prstGeom>
        </p:spPr>
      </p:pic>
    </p:spTree>
    <p:extLst>
      <p:ext uri="{BB962C8B-B14F-4D97-AF65-F5344CB8AC3E}">
        <p14:creationId xmlns:p14="http://schemas.microsoft.com/office/powerpoint/2010/main" val="1435958155"/>
      </p:ext>
    </p:extLst>
  </p:cSld>
  <p:clrMapOvr>
    <a:masterClrMapping/>
  </p:clrMapOvr>
  <p:transition spd="slow" advClick="0"/>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11" descr="program-ciat2020"/>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sp>
        <p:nvSpPr>
          <p:cNvPr id="2" name="标题 1"/>
          <p:cNvSpPr txBox="1"/>
          <p:nvPr/>
        </p:nvSpPr>
        <p:spPr>
          <a:xfrm>
            <a:off x="237392" y="191297"/>
            <a:ext cx="9251576" cy="679847"/>
          </a:xfrm>
          <a:prstGeom prst="rect">
            <a:avLst/>
          </a:prstGeom>
        </p:spPr>
        <p:txBody>
          <a:bodyPr vert="horz" lIns="68580" tIns="34290" rIns="68580" bIns="34290" rtlCol="0" anchor="ctr">
            <a:normAutofit/>
          </a:bodyPr>
          <a:lstStyle/>
          <a:p>
            <a:pPr lvl="0">
              <a:spcBef>
                <a:spcPct val="0"/>
              </a:spcBef>
              <a:defRPr/>
            </a:pPr>
            <a:r>
              <a:rPr lang="en-US" altLang="zh-CN" sz="34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LTE-V2X </a:t>
            </a:r>
            <a:r>
              <a:rPr lang="zh-CN" altLang="en-US" sz="34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关键</a:t>
            </a:r>
            <a:r>
              <a:rPr lang="zh-CN" altLang="en-US" sz="34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技术</a:t>
            </a:r>
            <a:endParaRPr lang="en-US" altLang="zh-CN" sz="36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8" name="矩形 7"/>
          <p:cNvSpPr/>
          <p:nvPr/>
        </p:nvSpPr>
        <p:spPr>
          <a:xfrm>
            <a:off x="237391" y="1069052"/>
            <a:ext cx="8530828" cy="584775"/>
          </a:xfrm>
          <a:prstGeom prst="rect">
            <a:avLst/>
          </a:prstGeom>
        </p:spPr>
        <p:txBody>
          <a:bodyPr wrap="square">
            <a:spAutoFit/>
          </a:bodyPr>
          <a:lstStyle/>
          <a:p>
            <a:pPr lvl="0">
              <a:spcBef>
                <a:spcPct val="0"/>
              </a:spcBef>
              <a:defRPr/>
            </a:pPr>
            <a:r>
              <a:rPr lang="zh-CN" altLang="en-US" sz="32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物理层关键</a:t>
            </a:r>
            <a:r>
              <a:rPr lang="zh-CN" altLang="en-US" sz="32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技术</a:t>
            </a:r>
            <a:r>
              <a:rPr lang="en-US" altLang="zh-CN" sz="32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a:t>
            </a:r>
            <a:r>
              <a:rPr lang="zh-CN" altLang="en-US" sz="32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技术挑战和难题</a:t>
            </a:r>
            <a:endParaRPr lang="en-US" altLang="zh-CN" sz="32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5" name="矩形 4"/>
          <p:cNvSpPr/>
          <p:nvPr/>
        </p:nvSpPr>
        <p:spPr>
          <a:xfrm>
            <a:off x="145341" y="1671974"/>
            <a:ext cx="9236654" cy="4923912"/>
          </a:xfrm>
          <a:prstGeom prst="rect">
            <a:avLst/>
          </a:prstGeom>
        </p:spPr>
        <p:txBody>
          <a:bodyPr wrap="square">
            <a:spAutoFit/>
          </a:bodyPr>
          <a:lstStyle/>
          <a:p>
            <a:pPr marL="360680" marR="471805" indent="-285750">
              <a:lnSpc>
                <a:spcPct val="200000"/>
              </a:lnSpc>
              <a:spcAft>
                <a:spcPts val="0"/>
              </a:spcAft>
              <a:buFont typeface="Wingdings" panose="05000000000000000000" pitchFamily="2" charset="2"/>
              <a:buChar char="n"/>
            </a:pPr>
            <a:r>
              <a:rPr kumimoji="1" lang="en-US" altLang="zh-CN" sz="2000" dirty="0" smtClean="0">
                <a:latin typeface="Microsoft YaHei" panose="020B0503020204020204" pitchFamily="34" charset="-122"/>
                <a:ea typeface="Microsoft YaHei" panose="020B0503020204020204" pitchFamily="34" charset="-122"/>
                <a:cs typeface="微软雅黑" charset="0"/>
              </a:rPr>
              <a:t>V2X</a:t>
            </a:r>
            <a:r>
              <a:rPr kumimoji="1" lang="zh-CN" altLang="en-US" sz="2000" dirty="0" smtClean="0">
                <a:latin typeface="Microsoft YaHei" panose="020B0503020204020204" pitchFamily="34" charset="-122"/>
                <a:ea typeface="Microsoft YaHei" panose="020B0503020204020204" pitchFamily="34" charset="-122"/>
                <a:cs typeface="微软雅黑" charset="0"/>
              </a:rPr>
              <a:t>业务</a:t>
            </a:r>
            <a:r>
              <a:rPr kumimoji="1" lang="zh-CN" altLang="en-US" sz="2000" dirty="0">
                <a:latin typeface="Microsoft YaHei" panose="020B0503020204020204" pitchFamily="34" charset="-122"/>
                <a:ea typeface="Microsoft YaHei" panose="020B0503020204020204" pitchFamily="34" charset="-122"/>
                <a:cs typeface="微软雅黑" charset="0"/>
              </a:rPr>
              <a:t>低时延、高可靠为严苛通信需求</a:t>
            </a:r>
            <a:r>
              <a:rPr kumimoji="1" lang="zh-CN" altLang="en-US" sz="2000" dirty="0" smtClean="0">
                <a:latin typeface="Microsoft YaHei" panose="020B0503020204020204" pitchFamily="34" charset="-122"/>
                <a:ea typeface="Microsoft YaHei" panose="020B0503020204020204" pitchFamily="34" charset="-122"/>
                <a:cs typeface="微软雅黑" charset="0"/>
              </a:rPr>
              <a:t>；</a:t>
            </a:r>
            <a:endParaRPr kumimoji="1" lang="en-US" altLang="zh-CN" sz="2000" dirty="0" smtClean="0">
              <a:latin typeface="Microsoft YaHei" panose="020B0503020204020204" pitchFamily="34" charset="-122"/>
              <a:ea typeface="Microsoft YaHei" panose="020B0503020204020204" pitchFamily="34" charset="-122"/>
              <a:cs typeface="微软雅黑" charset="0"/>
            </a:endParaRPr>
          </a:p>
          <a:p>
            <a:pPr marL="360680" marR="471805" indent="-285750">
              <a:lnSpc>
                <a:spcPct val="200000"/>
              </a:lnSpc>
              <a:spcAft>
                <a:spcPts val="0"/>
              </a:spcAft>
              <a:buFont typeface="Wingdings" panose="05000000000000000000" pitchFamily="2" charset="2"/>
              <a:buChar char="n"/>
            </a:pPr>
            <a:r>
              <a:rPr kumimoji="1" lang="en-US" altLang="zh-CN" sz="2000" dirty="0" smtClean="0">
                <a:latin typeface="Microsoft YaHei" panose="020B0503020204020204" pitchFamily="34" charset="-122"/>
                <a:ea typeface="Microsoft YaHei" panose="020B0503020204020204" pitchFamily="34" charset="-122"/>
                <a:cs typeface="微软雅黑" charset="0"/>
              </a:rPr>
              <a:t>V2X </a:t>
            </a:r>
            <a:r>
              <a:rPr kumimoji="1" lang="zh-CN" altLang="en-US" sz="2000" dirty="0">
                <a:latin typeface="Microsoft YaHei" panose="020B0503020204020204" pitchFamily="34" charset="-122"/>
                <a:ea typeface="Microsoft YaHei" panose="020B0503020204020204" pitchFamily="34" charset="-122"/>
                <a:cs typeface="微软雅黑" charset="0"/>
              </a:rPr>
              <a:t>通信系统中较高的节点度和</a:t>
            </a:r>
            <a:r>
              <a:rPr kumimoji="1" lang="zh-CN" altLang="en-US" sz="2000" dirty="0" smtClean="0">
                <a:latin typeface="Microsoft YaHei" panose="020B0503020204020204" pitchFamily="34" charset="-122"/>
                <a:ea typeface="Microsoft YaHei" panose="020B0503020204020204" pitchFamily="34" charset="-122"/>
                <a:cs typeface="微软雅黑" charset="0"/>
              </a:rPr>
              <a:t>业务量；</a:t>
            </a:r>
            <a:endParaRPr kumimoji="1" lang="en-US" altLang="zh-CN" sz="2000" dirty="0" smtClean="0">
              <a:latin typeface="Microsoft YaHei" panose="020B0503020204020204" pitchFamily="34" charset="-122"/>
              <a:ea typeface="Microsoft YaHei" panose="020B0503020204020204" pitchFamily="34" charset="-122"/>
              <a:cs typeface="微软雅黑" charset="0"/>
            </a:endParaRPr>
          </a:p>
          <a:p>
            <a:pPr marL="360680" marR="471805" indent="-285750">
              <a:lnSpc>
                <a:spcPct val="200000"/>
              </a:lnSpc>
              <a:spcAft>
                <a:spcPts val="0"/>
              </a:spcAft>
              <a:buFont typeface="Wingdings" panose="05000000000000000000" pitchFamily="2" charset="2"/>
              <a:buChar char="n"/>
            </a:pPr>
            <a:r>
              <a:rPr kumimoji="1" lang="zh-CN" altLang="en-US" sz="2000" dirty="0" smtClean="0">
                <a:latin typeface="Microsoft YaHei" panose="020B0503020204020204" pitchFamily="34" charset="-122"/>
                <a:ea typeface="Microsoft YaHei" panose="020B0503020204020204" pitchFamily="34" charset="-122"/>
                <a:cs typeface="微软雅黑" charset="0"/>
              </a:rPr>
              <a:t>车辆</a:t>
            </a:r>
            <a:r>
              <a:rPr kumimoji="1" lang="zh-CN" altLang="en-US" sz="2000" dirty="0">
                <a:latin typeface="Microsoft YaHei" panose="020B0503020204020204" pitchFamily="34" charset="-122"/>
                <a:ea typeface="Microsoft YaHei" panose="020B0503020204020204" pitchFamily="34" charset="-122"/>
                <a:cs typeface="微软雅黑" charset="0"/>
              </a:rPr>
              <a:t>高速移动带来的多普勒频移</a:t>
            </a:r>
            <a:r>
              <a:rPr kumimoji="1" lang="zh-CN" altLang="en-US" sz="2000" dirty="0" smtClean="0">
                <a:latin typeface="Microsoft YaHei" panose="020B0503020204020204" pitchFamily="34" charset="-122"/>
                <a:ea typeface="Microsoft YaHei" panose="020B0503020204020204" pitchFamily="34" charset="-122"/>
                <a:cs typeface="微软雅黑" charset="0"/>
              </a:rPr>
              <a:t>影响；</a:t>
            </a:r>
            <a:endParaRPr kumimoji="1" lang="en-US" altLang="zh-CN" sz="2000" dirty="0" smtClean="0">
              <a:latin typeface="Microsoft YaHei" panose="020B0503020204020204" pitchFamily="34" charset="-122"/>
              <a:ea typeface="Microsoft YaHei" panose="020B0503020204020204" pitchFamily="34" charset="-122"/>
              <a:cs typeface="微软雅黑" charset="0"/>
            </a:endParaRPr>
          </a:p>
          <a:p>
            <a:pPr marL="360680" marR="471805" indent="-285750">
              <a:lnSpc>
                <a:spcPct val="200000"/>
              </a:lnSpc>
              <a:spcAft>
                <a:spcPts val="0"/>
              </a:spcAft>
              <a:buFont typeface="Wingdings" panose="05000000000000000000" pitchFamily="2" charset="2"/>
              <a:buChar char="n"/>
            </a:pPr>
            <a:r>
              <a:rPr kumimoji="1" lang="en-US" altLang="zh-CN" sz="2000" dirty="0" smtClean="0">
                <a:latin typeface="Microsoft YaHei" panose="020B0503020204020204" pitchFamily="34" charset="-122"/>
                <a:ea typeface="Microsoft YaHei" panose="020B0503020204020204" pitchFamily="34" charset="-122"/>
                <a:cs typeface="微软雅黑" charset="0"/>
              </a:rPr>
              <a:t>V2X </a:t>
            </a:r>
            <a:r>
              <a:rPr kumimoji="1" lang="zh-CN" altLang="en-US" sz="2000" dirty="0">
                <a:latin typeface="Microsoft YaHei" panose="020B0503020204020204" pitchFamily="34" charset="-122"/>
                <a:ea typeface="Microsoft YaHei" panose="020B0503020204020204" pitchFamily="34" charset="-122"/>
                <a:cs typeface="微软雅黑" charset="0"/>
              </a:rPr>
              <a:t>工作的高载频带来的频偏对信道</a:t>
            </a:r>
            <a:r>
              <a:rPr kumimoji="1" lang="zh-CN" altLang="en-US" sz="2000" dirty="0" smtClean="0">
                <a:latin typeface="Microsoft YaHei" panose="020B0503020204020204" pitchFamily="34" charset="-122"/>
                <a:ea typeface="Microsoft YaHei" panose="020B0503020204020204" pitchFamily="34" charset="-122"/>
                <a:cs typeface="微软雅黑" charset="0"/>
              </a:rPr>
              <a:t>估计产生巨大</a:t>
            </a:r>
            <a:r>
              <a:rPr kumimoji="1" lang="zh-CN" altLang="en-US" sz="2000" dirty="0">
                <a:latin typeface="Microsoft YaHei" panose="020B0503020204020204" pitchFamily="34" charset="-122"/>
                <a:ea typeface="Microsoft YaHei" panose="020B0503020204020204" pitchFamily="34" charset="-122"/>
                <a:cs typeface="微软雅黑" charset="0"/>
              </a:rPr>
              <a:t>挑战</a:t>
            </a:r>
            <a:r>
              <a:rPr kumimoji="1" lang="zh-CN" altLang="en-US" sz="2000" dirty="0" smtClean="0">
                <a:latin typeface="Microsoft YaHei" panose="020B0503020204020204" pitchFamily="34" charset="-122"/>
                <a:ea typeface="Microsoft YaHei" panose="020B0503020204020204" pitchFamily="34" charset="-122"/>
                <a:cs typeface="微软雅黑" charset="0"/>
              </a:rPr>
              <a:t>；</a:t>
            </a:r>
            <a:endParaRPr kumimoji="1" lang="en-US" altLang="zh-CN" sz="2000" dirty="0" smtClean="0">
              <a:latin typeface="Microsoft YaHei" panose="020B0503020204020204" pitchFamily="34" charset="-122"/>
              <a:ea typeface="Microsoft YaHei" panose="020B0503020204020204" pitchFamily="34" charset="-122"/>
              <a:cs typeface="微软雅黑" charset="0"/>
            </a:endParaRPr>
          </a:p>
          <a:p>
            <a:pPr marL="360680" marR="471805" indent="-285750">
              <a:lnSpc>
                <a:spcPct val="200000"/>
              </a:lnSpc>
              <a:spcAft>
                <a:spcPts val="0"/>
              </a:spcAft>
              <a:buFont typeface="Wingdings" panose="05000000000000000000" pitchFamily="2" charset="2"/>
              <a:buChar char="n"/>
            </a:pPr>
            <a:r>
              <a:rPr kumimoji="1" lang="zh-CN" altLang="en-US" sz="2000" dirty="0" smtClean="0">
                <a:latin typeface="Microsoft YaHei" panose="020B0503020204020204" pitchFamily="34" charset="-122"/>
                <a:ea typeface="Microsoft YaHei" panose="020B0503020204020204" pitchFamily="34" charset="-122"/>
                <a:cs typeface="微软雅黑" charset="0"/>
              </a:rPr>
              <a:t>无线通信</a:t>
            </a:r>
            <a:r>
              <a:rPr kumimoji="1" lang="zh-CN" altLang="en-US" sz="2000" dirty="0">
                <a:latin typeface="Microsoft YaHei" panose="020B0503020204020204" pitchFamily="34" charset="-122"/>
                <a:ea typeface="Microsoft YaHei" panose="020B0503020204020204" pitchFamily="34" charset="-122"/>
                <a:cs typeface="微软雅黑" charset="0"/>
              </a:rPr>
              <a:t>半双工的</a:t>
            </a:r>
            <a:r>
              <a:rPr kumimoji="1" lang="zh-CN" altLang="en-US" sz="2000" dirty="0" smtClean="0">
                <a:latin typeface="Microsoft YaHei" panose="020B0503020204020204" pitchFamily="34" charset="-122"/>
                <a:ea typeface="Microsoft YaHei" panose="020B0503020204020204" pitchFamily="34" charset="-122"/>
                <a:cs typeface="微软雅黑" charset="0"/>
              </a:rPr>
              <a:t>限制；</a:t>
            </a:r>
            <a:endParaRPr kumimoji="1" lang="en-US" altLang="zh-CN" sz="2000" dirty="0" smtClean="0">
              <a:latin typeface="Microsoft YaHei" panose="020B0503020204020204" pitchFamily="34" charset="-122"/>
              <a:ea typeface="Microsoft YaHei" panose="020B0503020204020204" pitchFamily="34" charset="-122"/>
              <a:cs typeface="微软雅黑" charset="0"/>
            </a:endParaRPr>
          </a:p>
          <a:p>
            <a:pPr marL="360680" marR="471805" indent="-285750">
              <a:lnSpc>
                <a:spcPct val="200000"/>
              </a:lnSpc>
              <a:spcAft>
                <a:spcPts val="0"/>
              </a:spcAft>
              <a:buFont typeface="Wingdings" panose="05000000000000000000" pitchFamily="2" charset="2"/>
              <a:buChar char="n"/>
            </a:pPr>
            <a:r>
              <a:rPr kumimoji="1" lang="en-US" altLang="zh-CN" sz="2000" dirty="0" smtClean="0">
                <a:latin typeface="Microsoft YaHei" panose="020B0503020204020204" pitchFamily="34" charset="-122"/>
                <a:ea typeface="Microsoft YaHei" panose="020B0503020204020204" pitchFamily="34" charset="-122"/>
                <a:cs typeface="微软雅黑" charset="0"/>
              </a:rPr>
              <a:t>V2X </a:t>
            </a:r>
            <a:r>
              <a:rPr kumimoji="1" lang="zh-CN" altLang="en-US" sz="2000" dirty="0" smtClean="0">
                <a:latin typeface="Microsoft YaHei" panose="020B0503020204020204" pitchFamily="34" charset="-122"/>
                <a:ea typeface="Microsoft YaHei" panose="020B0503020204020204" pitchFamily="34" charset="-122"/>
                <a:cs typeface="微软雅黑" charset="0"/>
              </a:rPr>
              <a:t>通信系统需要</a:t>
            </a:r>
            <a:r>
              <a:rPr kumimoji="1" lang="zh-CN" altLang="en-US" sz="2000" dirty="0">
                <a:latin typeface="Microsoft YaHei" panose="020B0503020204020204" pitchFamily="34" charset="-122"/>
                <a:ea typeface="Microsoft YaHei" panose="020B0503020204020204" pitchFamily="34" charset="-122"/>
                <a:cs typeface="微软雅黑" charset="0"/>
              </a:rPr>
              <a:t>支持不同时刻和不同距离的多对多节点间</a:t>
            </a:r>
            <a:r>
              <a:rPr kumimoji="1" lang="zh-CN" altLang="en-US" sz="2000" dirty="0" smtClean="0">
                <a:latin typeface="Microsoft YaHei" panose="020B0503020204020204" pitchFamily="34" charset="-122"/>
                <a:ea typeface="Microsoft YaHei" panose="020B0503020204020204" pitchFamily="34" charset="-122"/>
                <a:cs typeface="微软雅黑" charset="0"/>
              </a:rPr>
              <a:t>通信；</a:t>
            </a:r>
            <a:endParaRPr kumimoji="1" lang="en-US" altLang="zh-CN" sz="2000" dirty="0" smtClean="0">
              <a:latin typeface="Microsoft YaHei" panose="020B0503020204020204" pitchFamily="34" charset="-122"/>
              <a:ea typeface="Microsoft YaHei" panose="020B0503020204020204" pitchFamily="34" charset="-122"/>
              <a:cs typeface="微软雅黑" charset="0"/>
            </a:endParaRPr>
          </a:p>
          <a:p>
            <a:pPr marL="360680" marR="471805" indent="-285750">
              <a:lnSpc>
                <a:spcPct val="200000"/>
              </a:lnSpc>
              <a:spcAft>
                <a:spcPts val="0"/>
              </a:spcAft>
              <a:buFont typeface="Wingdings" panose="05000000000000000000" pitchFamily="2" charset="2"/>
              <a:buChar char="n"/>
            </a:pPr>
            <a:r>
              <a:rPr kumimoji="1" lang="zh-CN" altLang="en-US" sz="2000" dirty="0" smtClean="0">
                <a:latin typeface="Microsoft YaHei" panose="020B0503020204020204" pitchFamily="34" charset="-122"/>
                <a:ea typeface="Microsoft YaHei" panose="020B0503020204020204" pitchFamily="34" charset="-122"/>
                <a:cs typeface="微软雅黑" charset="0"/>
              </a:rPr>
              <a:t>接收</a:t>
            </a:r>
            <a:r>
              <a:rPr kumimoji="1" lang="zh-CN" altLang="en-US" sz="2000" dirty="0">
                <a:latin typeface="Microsoft YaHei" panose="020B0503020204020204" pitchFamily="34" charset="-122"/>
                <a:ea typeface="Microsoft YaHei" panose="020B0503020204020204" pitchFamily="34" charset="-122"/>
                <a:cs typeface="微软雅黑" charset="0"/>
              </a:rPr>
              <a:t>功率变化范围大</a:t>
            </a:r>
            <a:r>
              <a:rPr kumimoji="1" lang="en-US" altLang="zh-CN" sz="2000" dirty="0">
                <a:latin typeface="Microsoft YaHei" panose="020B0503020204020204" pitchFamily="34" charset="-122"/>
                <a:ea typeface="Microsoft YaHei" panose="020B0503020204020204" pitchFamily="34" charset="-122"/>
                <a:cs typeface="微软雅黑" charset="0"/>
              </a:rPr>
              <a:t>(</a:t>
            </a:r>
            <a:r>
              <a:rPr kumimoji="1" lang="zh-CN" altLang="en-US" sz="2000" dirty="0">
                <a:latin typeface="Microsoft YaHei" panose="020B0503020204020204" pitchFamily="34" charset="-122"/>
                <a:ea typeface="Microsoft YaHei" panose="020B0503020204020204" pitchFamily="34" charset="-122"/>
                <a:cs typeface="微软雅黑" charset="0"/>
              </a:rPr>
              <a:t>可达 </a:t>
            </a:r>
            <a:r>
              <a:rPr kumimoji="1" lang="en-US" altLang="zh-CN" sz="2000" dirty="0">
                <a:latin typeface="Microsoft YaHei" panose="020B0503020204020204" pitchFamily="34" charset="-122"/>
                <a:ea typeface="Microsoft YaHei" panose="020B0503020204020204" pitchFamily="34" charset="-122"/>
                <a:cs typeface="微软雅黑" charset="0"/>
              </a:rPr>
              <a:t>80dB</a:t>
            </a:r>
            <a:r>
              <a:rPr kumimoji="1" lang="en-US" altLang="zh-CN" sz="2000" dirty="0" smtClean="0">
                <a:latin typeface="Microsoft YaHei" panose="020B0503020204020204" pitchFamily="34" charset="-122"/>
                <a:ea typeface="Microsoft YaHei" panose="020B0503020204020204" pitchFamily="34" charset="-122"/>
                <a:cs typeface="微软雅黑" charset="0"/>
              </a:rPr>
              <a:t>)</a:t>
            </a:r>
            <a:r>
              <a:rPr kumimoji="1" lang="zh-CN" altLang="en-US" sz="2000" dirty="0" smtClean="0">
                <a:latin typeface="Microsoft YaHei" panose="020B0503020204020204" pitchFamily="34" charset="-122"/>
                <a:ea typeface="Microsoft YaHei" panose="020B0503020204020204" pitchFamily="34" charset="-122"/>
                <a:cs typeface="微软雅黑" charset="0"/>
              </a:rPr>
              <a:t>；</a:t>
            </a:r>
            <a:endParaRPr kumimoji="1" lang="en-US" altLang="zh-CN" sz="2000" dirty="0" smtClean="0">
              <a:latin typeface="Microsoft YaHei" panose="020B0503020204020204" pitchFamily="34" charset="-122"/>
              <a:ea typeface="Microsoft YaHei" panose="020B0503020204020204" pitchFamily="34" charset="-122"/>
              <a:cs typeface="微软雅黑" charset="0"/>
            </a:endParaRPr>
          </a:p>
          <a:p>
            <a:pPr marL="360680" marR="471805" indent="-285750">
              <a:lnSpc>
                <a:spcPct val="200000"/>
              </a:lnSpc>
              <a:spcAft>
                <a:spcPts val="0"/>
              </a:spcAft>
              <a:buFont typeface="Wingdings" panose="05000000000000000000" pitchFamily="2" charset="2"/>
              <a:buChar char="n"/>
            </a:pPr>
            <a:r>
              <a:rPr kumimoji="1" lang="zh-CN" altLang="en-US" sz="2000" dirty="0" smtClean="0">
                <a:latin typeface="Microsoft YaHei" panose="020B0503020204020204" pitchFamily="34" charset="-122"/>
                <a:ea typeface="Microsoft YaHei" panose="020B0503020204020204" pitchFamily="34" charset="-122"/>
                <a:cs typeface="微软雅黑" charset="0"/>
              </a:rPr>
              <a:t>由于</a:t>
            </a:r>
            <a:r>
              <a:rPr kumimoji="1" lang="zh-CN" altLang="en-US" sz="2000" dirty="0">
                <a:latin typeface="Microsoft YaHei" panose="020B0503020204020204" pitchFamily="34" charset="-122"/>
                <a:ea typeface="Microsoft YaHei" panose="020B0503020204020204" pitchFamily="34" charset="-122"/>
                <a:cs typeface="微软雅黑" charset="0"/>
              </a:rPr>
              <a:t>远近效应的影响，信号泄漏对邻频接收信号的干扰</a:t>
            </a:r>
            <a:r>
              <a:rPr kumimoji="1" lang="zh-CN" altLang="en-US" sz="2000" dirty="0" smtClean="0">
                <a:latin typeface="Microsoft YaHei" panose="020B0503020204020204" pitchFamily="34" charset="-122"/>
                <a:ea typeface="Microsoft YaHei" panose="020B0503020204020204" pitchFamily="34" charset="-122"/>
                <a:cs typeface="微软雅黑" charset="0"/>
              </a:rPr>
              <a:t>较大。</a:t>
            </a:r>
            <a:endParaRPr kumimoji="1" lang="zh-CN" altLang="en-US" sz="2000" dirty="0">
              <a:latin typeface="Microsoft YaHei" panose="020B0503020204020204" pitchFamily="34" charset="-122"/>
              <a:ea typeface="Microsoft YaHei" panose="020B0503020204020204" pitchFamily="34" charset="-122"/>
              <a:cs typeface="微软雅黑" charset="0"/>
            </a:endParaRPr>
          </a:p>
        </p:txBody>
      </p:sp>
    </p:spTree>
    <p:extLst>
      <p:ext uri="{BB962C8B-B14F-4D97-AF65-F5344CB8AC3E}">
        <p14:creationId xmlns:p14="http://schemas.microsoft.com/office/powerpoint/2010/main" val="2235288883"/>
      </p:ext>
    </p:extLst>
  </p:cSld>
  <p:clrMapOvr>
    <a:masterClrMapping/>
  </p:clrMapOvr>
  <p:transition spd="slow" advClick="0"/>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11" descr="program-ciat2020"/>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sp>
        <p:nvSpPr>
          <p:cNvPr id="2" name="标题 1"/>
          <p:cNvSpPr txBox="1"/>
          <p:nvPr/>
        </p:nvSpPr>
        <p:spPr>
          <a:xfrm>
            <a:off x="237392" y="191297"/>
            <a:ext cx="9251576" cy="679847"/>
          </a:xfrm>
          <a:prstGeom prst="rect">
            <a:avLst/>
          </a:prstGeom>
        </p:spPr>
        <p:txBody>
          <a:bodyPr vert="horz" lIns="68580" tIns="34290" rIns="68580" bIns="34290" rtlCol="0" anchor="ctr">
            <a:normAutofit/>
          </a:bodyPr>
          <a:lstStyle/>
          <a:p>
            <a:pPr lvl="0">
              <a:spcBef>
                <a:spcPct val="0"/>
              </a:spcBef>
              <a:defRPr/>
            </a:pPr>
            <a:r>
              <a:rPr lang="en-US" altLang="zh-CN" sz="34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LTE-V2X </a:t>
            </a:r>
            <a:r>
              <a:rPr lang="zh-CN" altLang="en-US" sz="34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关键</a:t>
            </a:r>
            <a:r>
              <a:rPr lang="zh-CN" altLang="en-US" sz="34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技术</a:t>
            </a:r>
            <a:endParaRPr lang="en-US" altLang="zh-CN" sz="36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8" name="矩形 7"/>
          <p:cNvSpPr/>
          <p:nvPr/>
        </p:nvSpPr>
        <p:spPr>
          <a:xfrm>
            <a:off x="237391" y="1069052"/>
            <a:ext cx="8530828" cy="584775"/>
          </a:xfrm>
          <a:prstGeom prst="rect">
            <a:avLst/>
          </a:prstGeom>
        </p:spPr>
        <p:txBody>
          <a:bodyPr wrap="square">
            <a:spAutoFit/>
          </a:bodyPr>
          <a:lstStyle/>
          <a:p>
            <a:pPr lvl="0">
              <a:spcBef>
                <a:spcPct val="0"/>
              </a:spcBef>
              <a:defRPr/>
            </a:pPr>
            <a:r>
              <a:rPr lang="zh-CN" altLang="en-US" sz="32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物理层关键</a:t>
            </a:r>
            <a:r>
              <a:rPr lang="zh-CN" altLang="en-US" sz="32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技术</a:t>
            </a:r>
            <a:r>
              <a:rPr lang="en-US" altLang="zh-CN" sz="32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a:t>
            </a:r>
            <a:r>
              <a:rPr lang="zh-CN" altLang="en-US" sz="32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物理层设计</a:t>
            </a:r>
            <a:endParaRPr lang="en-US" altLang="zh-CN" sz="32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5" name="矩形 4"/>
          <p:cNvSpPr/>
          <p:nvPr/>
        </p:nvSpPr>
        <p:spPr>
          <a:xfrm>
            <a:off x="145341" y="1671974"/>
            <a:ext cx="9236654" cy="3785652"/>
          </a:xfrm>
          <a:prstGeom prst="rect">
            <a:avLst/>
          </a:prstGeom>
        </p:spPr>
        <p:txBody>
          <a:bodyPr wrap="square">
            <a:spAutoFit/>
          </a:bodyPr>
          <a:lstStyle/>
          <a:p>
            <a:pPr marL="360680" marR="471805" indent="-285750">
              <a:lnSpc>
                <a:spcPct val="200000"/>
              </a:lnSpc>
              <a:spcAft>
                <a:spcPts val="0"/>
              </a:spcAft>
              <a:buFont typeface="Wingdings" panose="05000000000000000000" pitchFamily="2" charset="2"/>
              <a:buChar char="n"/>
            </a:pPr>
            <a:r>
              <a:rPr kumimoji="1" lang="zh-CN" altLang="en-US" sz="2000" dirty="0">
                <a:latin typeface="Microsoft YaHei" panose="020B0503020204020204" pitchFamily="34" charset="-122"/>
                <a:ea typeface="Microsoft YaHei" panose="020B0503020204020204" pitchFamily="34" charset="-122"/>
                <a:cs typeface="微软雅黑" charset="0"/>
              </a:rPr>
              <a:t>对于 </a:t>
            </a:r>
            <a:r>
              <a:rPr kumimoji="1" lang="en-US" altLang="zh-CN" sz="2000" dirty="0">
                <a:latin typeface="Microsoft YaHei" panose="020B0503020204020204" pitchFamily="34" charset="-122"/>
                <a:ea typeface="Microsoft YaHei" panose="020B0503020204020204" pitchFamily="34" charset="-122"/>
                <a:cs typeface="微软雅黑" charset="0"/>
              </a:rPr>
              <a:t>LTE-</a:t>
            </a:r>
            <a:r>
              <a:rPr kumimoji="1" lang="en-US" altLang="zh-CN" sz="2000" dirty="0" err="1">
                <a:latin typeface="Microsoft YaHei" panose="020B0503020204020204" pitchFamily="34" charset="-122"/>
                <a:ea typeface="Microsoft YaHei" panose="020B0503020204020204" pitchFamily="34" charset="-122"/>
                <a:cs typeface="微软雅黑" charset="0"/>
              </a:rPr>
              <a:t>Uu</a:t>
            </a:r>
            <a:r>
              <a:rPr kumimoji="1" lang="en-US" altLang="zh-CN" sz="2000" dirty="0">
                <a:latin typeface="Microsoft YaHei" panose="020B0503020204020204" pitchFamily="34" charset="-122"/>
                <a:ea typeface="Microsoft YaHei" panose="020B0503020204020204" pitchFamily="34" charset="-122"/>
                <a:cs typeface="微软雅黑" charset="0"/>
              </a:rPr>
              <a:t> </a:t>
            </a:r>
            <a:r>
              <a:rPr kumimoji="1" lang="zh-CN" altLang="en-US" sz="2000" dirty="0">
                <a:latin typeface="Microsoft YaHei" panose="020B0503020204020204" pitchFamily="34" charset="-122"/>
                <a:ea typeface="Microsoft YaHei" panose="020B0503020204020204" pitchFamily="34" charset="-122"/>
                <a:cs typeface="微软雅黑" charset="0"/>
              </a:rPr>
              <a:t>口尽量复用 </a:t>
            </a:r>
            <a:r>
              <a:rPr kumimoji="1" lang="en-US" altLang="zh-CN" sz="2000" dirty="0">
                <a:latin typeface="Microsoft YaHei" panose="020B0503020204020204" pitchFamily="34" charset="-122"/>
                <a:ea typeface="Microsoft YaHei" panose="020B0503020204020204" pitchFamily="34" charset="-122"/>
                <a:cs typeface="微软雅黑" charset="0"/>
              </a:rPr>
              <a:t>LTE 4G </a:t>
            </a:r>
            <a:r>
              <a:rPr kumimoji="1" lang="zh-CN" altLang="en-US" sz="2000" dirty="0">
                <a:latin typeface="Microsoft YaHei" panose="020B0503020204020204" pitchFamily="34" charset="-122"/>
                <a:ea typeface="Microsoft YaHei" panose="020B0503020204020204" pitchFamily="34" charset="-122"/>
                <a:cs typeface="微软雅黑" charset="0"/>
              </a:rPr>
              <a:t>蜂窝网络的设计，只做必要的技术增强</a:t>
            </a:r>
            <a:r>
              <a:rPr kumimoji="1" lang="zh-CN" altLang="en-US" sz="2000" dirty="0" smtClean="0">
                <a:latin typeface="Microsoft YaHei" panose="020B0503020204020204" pitchFamily="34" charset="-122"/>
                <a:ea typeface="Microsoft YaHei" panose="020B0503020204020204" pitchFamily="34" charset="-122"/>
                <a:cs typeface="微软雅黑" charset="0"/>
              </a:rPr>
              <a:t>设计；</a:t>
            </a:r>
            <a:endParaRPr kumimoji="1" lang="en-US" altLang="zh-CN" sz="2000" dirty="0" smtClean="0">
              <a:latin typeface="Microsoft YaHei" panose="020B0503020204020204" pitchFamily="34" charset="-122"/>
              <a:ea typeface="Microsoft YaHei" panose="020B0503020204020204" pitchFamily="34" charset="-122"/>
              <a:cs typeface="微软雅黑" charset="0"/>
            </a:endParaRPr>
          </a:p>
          <a:p>
            <a:pPr marL="360680" marR="471805" indent="-285750">
              <a:lnSpc>
                <a:spcPct val="200000"/>
              </a:lnSpc>
              <a:spcAft>
                <a:spcPts val="0"/>
              </a:spcAft>
              <a:buFont typeface="Wingdings" panose="05000000000000000000" pitchFamily="2" charset="2"/>
              <a:buChar char="n"/>
            </a:pPr>
            <a:r>
              <a:rPr kumimoji="1" lang="zh-CN" altLang="en-US" sz="2000" dirty="0">
                <a:latin typeface="Microsoft YaHei" panose="020B0503020204020204" pitchFamily="34" charset="-122"/>
                <a:ea typeface="Microsoft YaHei" panose="020B0503020204020204" pitchFamily="34" charset="-122"/>
                <a:cs typeface="微软雅黑" charset="0"/>
              </a:rPr>
              <a:t>对于 </a:t>
            </a:r>
            <a:r>
              <a:rPr kumimoji="1" lang="en-US" altLang="zh-CN" sz="2000" dirty="0">
                <a:latin typeface="Microsoft YaHei" panose="020B0503020204020204" pitchFamily="34" charset="-122"/>
                <a:ea typeface="Microsoft YaHei" panose="020B0503020204020204" pitchFamily="34" charset="-122"/>
                <a:cs typeface="微软雅黑" charset="0"/>
              </a:rPr>
              <a:t>LTE-V2X </a:t>
            </a:r>
            <a:r>
              <a:rPr kumimoji="1" lang="zh-CN" altLang="en-US" sz="2000" dirty="0">
                <a:latin typeface="Microsoft YaHei" panose="020B0503020204020204" pitchFamily="34" charset="-122"/>
                <a:ea typeface="Microsoft YaHei" panose="020B0503020204020204" pitchFamily="34" charset="-122"/>
                <a:cs typeface="微软雅黑" charset="0"/>
              </a:rPr>
              <a:t>最重要的终端间基于 </a:t>
            </a:r>
            <a:r>
              <a:rPr kumimoji="1" lang="en-US" altLang="zh-CN" sz="2000" dirty="0">
                <a:latin typeface="Microsoft YaHei" panose="020B0503020204020204" pitchFamily="34" charset="-122"/>
                <a:ea typeface="Microsoft YaHei" panose="020B0503020204020204" pitchFamily="34" charset="-122"/>
                <a:cs typeface="微软雅黑" charset="0"/>
              </a:rPr>
              <a:t>PC5 </a:t>
            </a:r>
            <a:r>
              <a:rPr kumimoji="1" lang="zh-CN" altLang="en-US" sz="2000" dirty="0">
                <a:latin typeface="Microsoft YaHei" panose="020B0503020204020204" pitchFamily="34" charset="-122"/>
                <a:ea typeface="Microsoft YaHei" panose="020B0503020204020204" pitchFamily="34" charset="-122"/>
                <a:cs typeface="微软雅黑" charset="0"/>
              </a:rPr>
              <a:t>口的直通通信、基于支持直通通信的 </a:t>
            </a:r>
            <a:r>
              <a:rPr kumimoji="1" lang="en-US" altLang="zh-CN" sz="2000" dirty="0">
                <a:latin typeface="Microsoft YaHei" panose="020B0503020204020204" pitchFamily="34" charset="-122"/>
                <a:ea typeface="Microsoft YaHei" panose="020B0503020204020204" pitchFamily="34" charset="-122"/>
                <a:cs typeface="微软雅黑" charset="0"/>
              </a:rPr>
              <a:t>LTE 4G </a:t>
            </a:r>
            <a:r>
              <a:rPr kumimoji="1" lang="zh-CN" altLang="en-US" sz="2000" dirty="0">
                <a:latin typeface="Microsoft YaHei" panose="020B0503020204020204" pitchFamily="34" charset="-122"/>
                <a:ea typeface="Microsoft YaHei" panose="020B0503020204020204" pitchFamily="34" charset="-122"/>
                <a:cs typeface="微软雅黑" charset="0"/>
              </a:rPr>
              <a:t>蜂窝通信技术进行优化</a:t>
            </a:r>
            <a:r>
              <a:rPr kumimoji="1" lang="zh-CN" altLang="en-US" sz="2000" dirty="0" smtClean="0">
                <a:latin typeface="Microsoft YaHei" panose="020B0503020204020204" pitchFamily="34" charset="-122"/>
                <a:ea typeface="Microsoft YaHei" panose="020B0503020204020204" pitchFamily="34" charset="-122"/>
                <a:cs typeface="微软雅黑" charset="0"/>
              </a:rPr>
              <a:t>设计</a:t>
            </a:r>
            <a:endParaRPr kumimoji="1" lang="en-US" altLang="zh-CN" sz="2000" dirty="0" smtClean="0">
              <a:latin typeface="Microsoft YaHei" panose="020B0503020204020204" pitchFamily="34" charset="-122"/>
              <a:ea typeface="Microsoft YaHei" panose="020B0503020204020204" pitchFamily="34" charset="-122"/>
              <a:cs typeface="微软雅黑" charset="0"/>
            </a:endParaRPr>
          </a:p>
          <a:p>
            <a:pPr marL="360680" marR="471805" indent="-285750">
              <a:lnSpc>
                <a:spcPct val="200000"/>
              </a:lnSpc>
              <a:spcAft>
                <a:spcPts val="0"/>
              </a:spcAft>
              <a:buFont typeface="Wingdings" panose="05000000000000000000" pitchFamily="2" charset="2"/>
              <a:buChar char="n"/>
            </a:pPr>
            <a:r>
              <a:rPr kumimoji="1" lang="zh-CN" altLang="en-US" sz="2000" dirty="0">
                <a:latin typeface="Microsoft YaHei" panose="020B0503020204020204" pitchFamily="34" charset="-122"/>
                <a:ea typeface="Microsoft YaHei" panose="020B0503020204020204" pitchFamily="34" charset="-122"/>
                <a:cs typeface="微软雅黑" charset="0"/>
              </a:rPr>
              <a:t>针对 </a:t>
            </a:r>
            <a:r>
              <a:rPr kumimoji="1" lang="en-US" altLang="zh-CN" sz="2000" dirty="0">
                <a:latin typeface="Microsoft YaHei" panose="020B0503020204020204" pitchFamily="34" charset="-122"/>
                <a:ea typeface="Microsoft YaHei" panose="020B0503020204020204" pitchFamily="34" charset="-122"/>
                <a:cs typeface="微软雅黑" charset="0"/>
              </a:rPr>
              <a:t>V2X </a:t>
            </a:r>
            <a:r>
              <a:rPr kumimoji="1" lang="zh-CN" altLang="en-US" sz="2000" dirty="0">
                <a:latin typeface="Microsoft YaHei" panose="020B0503020204020204" pitchFamily="34" charset="-122"/>
                <a:ea typeface="Microsoft YaHei" panose="020B0503020204020204" pitchFamily="34" charset="-122"/>
                <a:cs typeface="微软雅黑" charset="0"/>
              </a:rPr>
              <a:t>特点进行的物理层优化设计主要体现在解调参考信号</a:t>
            </a:r>
            <a:r>
              <a:rPr kumimoji="1" lang="en-US" altLang="zh-CN" sz="2000" dirty="0" smtClean="0">
                <a:latin typeface="Microsoft YaHei" panose="020B0503020204020204" pitchFamily="34" charset="-122"/>
                <a:ea typeface="Microsoft YaHei" panose="020B0503020204020204" pitchFamily="34" charset="-122"/>
                <a:cs typeface="微软雅黑" charset="0"/>
              </a:rPr>
              <a:t>(DMRS</a:t>
            </a:r>
            <a:r>
              <a:rPr kumimoji="1" lang="en-US" altLang="zh-CN" sz="2000" dirty="0">
                <a:latin typeface="Microsoft YaHei" panose="020B0503020204020204" pitchFamily="34" charset="-122"/>
                <a:ea typeface="Microsoft YaHei" panose="020B0503020204020204" pitchFamily="34" charset="-122"/>
                <a:cs typeface="微软雅黑" charset="0"/>
              </a:rPr>
              <a:t>)</a:t>
            </a:r>
            <a:r>
              <a:rPr kumimoji="1" lang="zh-CN" altLang="en-US" sz="2000" dirty="0">
                <a:latin typeface="Microsoft YaHei" panose="020B0503020204020204" pitchFamily="34" charset="-122"/>
                <a:ea typeface="Microsoft YaHei" panose="020B0503020204020204" pitchFamily="34" charset="-122"/>
                <a:cs typeface="微软雅黑" charset="0"/>
              </a:rPr>
              <a:t>设计、控制信道和数据信道复用方式设计，以及自动增益控制</a:t>
            </a:r>
            <a:r>
              <a:rPr kumimoji="1" lang="en-US" altLang="zh-CN" sz="2000" dirty="0" smtClean="0">
                <a:latin typeface="Microsoft YaHei" panose="020B0503020204020204" pitchFamily="34" charset="-122"/>
                <a:ea typeface="Microsoft YaHei" panose="020B0503020204020204" pitchFamily="34" charset="-122"/>
                <a:cs typeface="微软雅黑" charset="0"/>
              </a:rPr>
              <a:t>(AGC</a:t>
            </a:r>
            <a:r>
              <a:rPr kumimoji="1" lang="en-US" altLang="zh-CN" sz="2000" dirty="0">
                <a:latin typeface="Microsoft YaHei" panose="020B0503020204020204" pitchFamily="34" charset="-122"/>
                <a:ea typeface="Microsoft YaHei" panose="020B0503020204020204" pitchFamily="34" charset="-122"/>
                <a:cs typeface="微软雅黑" charset="0"/>
              </a:rPr>
              <a:t>)</a:t>
            </a:r>
            <a:r>
              <a:rPr kumimoji="1" lang="zh-CN" altLang="en-US" sz="2000" dirty="0">
                <a:latin typeface="Microsoft YaHei" panose="020B0503020204020204" pitchFamily="34" charset="-122"/>
                <a:ea typeface="Microsoft YaHei" panose="020B0503020204020204" pitchFamily="34" charset="-122"/>
                <a:cs typeface="微软雅黑" charset="0"/>
              </a:rPr>
              <a:t>设计上。</a:t>
            </a:r>
            <a:endParaRPr kumimoji="1" lang="en-US" altLang="zh-CN" sz="2000" dirty="0" smtClean="0">
              <a:latin typeface="Microsoft YaHei" panose="020B0503020204020204" pitchFamily="34" charset="-122"/>
              <a:ea typeface="Microsoft YaHei" panose="020B0503020204020204" pitchFamily="34" charset="-122"/>
              <a:cs typeface="微软雅黑" charset="0"/>
            </a:endParaRPr>
          </a:p>
        </p:txBody>
      </p:sp>
    </p:spTree>
    <p:extLst>
      <p:ext uri="{BB962C8B-B14F-4D97-AF65-F5344CB8AC3E}">
        <p14:creationId xmlns:p14="http://schemas.microsoft.com/office/powerpoint/2010/main" val="2541957957"/>
      </p:ext>
    </p:extLst>
  </p:cSld>
  <p:clrMapOvr>
    <a:masterClrMapping/>
  </p:clrMapOvr>
  <p:transition spd="slow" advClick="0"/>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11" descr="program-ciat2020"/>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sp>
        <p:nvSpPr>
          <p:cNvPr id="2" name="标题 1"/>
          <p:cNvSpPr txBox="1"/>
          <p:nvPr/>
        </p:nvSpPr>
        <p:spPr>
          <a:xfrm>
            <a:off x="237392" y="191297"/>
            <a:ext cx="9251576" cy="679847"/>
          </a:xfrm>
          <a:prstGeom prst="rect">
            <a:avLst/>
          </a:prstGeom>
        </p:spPr>
        <p:txBody>
          <a:bodyPr vert="horz" lIns="68580" tIns="34290" rIns="68580" bIns="34290" rtlCol="0" anchor="ctr">
            <a:normAutofit/>
          </a:bodyPr>
          <a:lstStyle/>
          <a:p>
            <a:pPr lvl="0">
              <a:spcBef>
                <a:spcPct val="0"/>
              </a:spcBef>
              <a:defRPr/>
            </a:pPr>
            <a:r>
              <a:rPr lang="en-US" altLang="zh-CN" sz="34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LTE-V2X </a:t>
            </a:r>
            <a:r>
              <a:rPr lang="zh-CN" altLang="en-US" sz="34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关键</a:t>
            </a:r>
            <a:r>
              <a:rPr lang="zh-CN" altLang="en-US" sz="34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技术</a:t>
            </a:r>
            <a:endParaRPr lang="en-US" altLang="zh-CN" sz="36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8" name="矩形 7"/>
          <p:cNvSpPr/>
          <p:nvPr/>
        </p:nvSpPr>
        <p:spPr>
          <a:xfrm>
            <a:off x="237391" y="1069052"/>
            <a:ext cx="6507875" cy="584775"/>
          </a:xfrm>
          <a:prstGeom prst="rect">
            <a:avLst/>
          </a:prstGeom>
        </p:spPr>
        <p:txBody>
          <a:bodyPr wrap="square">
            <a:spAutoFit/>
          </a:bodyPr>
          <a:lstStyle/>
          <a:p>
            <a:pPr lvl="0">
              <a:spcBef>
                <a:spcPct val="0"/>
              </a:spcBef>
              <a:defRPr/>
            </a:pPr>
            <a:r>
              <a:rPr lang="zh-CN" altLang="en-US" sz="32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资源分配</a:t>
            </a:r>
            <a:r>
              <a:rPr lang="zh-CN" altLang="en-US" sz="32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方法</a:t>
            </a:r>
            <a:r>
              <a:rPr lang="en-US" altLang="zh-CN" sz="32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a:t>
            </a:r>
            <a:r>
              <a:rPr lang="zh-CN" altLang="en-US" sz="32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需要考虑的因素</a:t>
            </a:r>
            <a:endParaRPr lang="en-US" altLang="zh-CN" sz="32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5" name="矩形 4"/>
          <p:cNvSpPr/>
          <p:nvPr/>
        </p:nvSpPr>
        <p:spPr>
          <a:xfrm>
            <a:off x="145341" y="1671974"/>
            <a:ext cx="9236654" cy="3785652"/>
          </a:xfrm>
          <a:prstGeom prst="rect">
            <a:avLst/>
          </a:prstGeom>
        </p:spPr>
        <p:txBody>
          <a:bodyPr wrap="square">
            <a:spAutoFit/>
          </a:bodyPr>
          <a:lstStyle/>
          <a:p>
            <a:pPr marL="360680" marR="471805" indent="-285750">
              <a:lnSpc>
                <a:spcPct val="200000"/>
              </a:lnSpc>
              <a:spcAft>
                <a:spcPts val="0"/>
              </a:spcAft>
              <a:buFont typeface="Wingdings" panose="05000000000000000000" pitchFamily="2" charset="2"/>
              <a:buChar char="n"/>
            </a:pPr>
            <a:r>
              <a:rPr kumimoji="1" lang="zh-CN" altLang="en-US" sz="2000" dirty="0" smtClean="0">
                <a:latin typeface="Microsoft YaHei" panose="020B0503020204020204" pitchFamily="34" charset="-122"/>
                <a:ea typeface="Microsoft YaHei" panose="020B0503020204020204" pitchFamily="34" charset="-122"/>
                <a:cs typeface="微软雅黑" charset="0"/>
              </a:rPr>
              <a:t>业务需求：</a:t>
            </a:r>
            <a:r>
              <a:rPr kumimoji="1" lang="en-US" altLang="zh-CN" sz="2000" dirty="0">
                <a:latin typeface="Microsoft YaHei" panose="020B0503020204020204" pitchFamily="34" charset="-122"/>
                <a:ea typeface="Microsoft YaHei" panose="020B0503020204020204" pitchFamily="34" charset="-122"/>
                <a:cs typeface="微软雅黑" charset="0"/>
              </a:rPr>
              <a:t>LTE-V2X </a:t>
            </a:r>
            <a:r>
              <a:rPr kumimoji="1" lang="zh-CN" altLang="en-US" sz="2000" dirty="0">
                <a:latin typeface="Microsoft YaHei" panose="020B0503020204020204" pitchFamily="34" charset="-122"/>
                <a:ea typeface="Microsoft YaHei" panose="020B0503020204020204" pitchFamily="34" charset="-122"/>
                <a:cs typeface="微软雅黑" charset="0"/>
              </a:rPr>
              <a:t>面向基本道路安全应用，</a:t>
            </a:r>
            <a:r>
              <a:rPr kumimoji="1" lang="en-US" altLang="zh-CN" sz="2000" dirty="0">
                <a:latin typeface="Microsoft YaHei" panose="020B0503020204020204" pitchFamily="34" charset="-122"/>
                <a:ea typeface="Microsoft YaHei" panose="020B0503020204020204" pitchFamily="34" charset="-122"/>
                <a:cs typeface="微软雅黑" charset="0"/>
              </a:rPr>
              <a:t>V2X </a:t>
            </a:r>
            <a:r>
              <a:rPr kumimoji="1" lang="zh-CN" altLang="en-US" sz="2000" dirty="0">
                <a:latin typeface="Microsoft YaHei" panose="020B0503020204020204" pitchFamily="34" charset="-122"/>
                <a:ea typeface="Microsoft YaHei" panose="020B0503020204020204" pitchFamily="34" charset="-122"/>
                <a:cs typeface="微软雅黑" charset="0"/>
              </a:rPr>
              <a:t>业务具有低时延、高可靠的严苛通信需求</a:t>
            </a:r>
            <a:r>
              <a:rPr kumimoji="1" lang="zh-CN" altLang="en-US" sz="2000" dirty="0" smtClean="0">
                <a:latin typeface="Microsoft YaHei" panose="020B0503020204020204" pitchFamily="34" charset="-122"/>
                <a:ea typeface="Microsoft YaHei" panose="020B0503020204020204" pitchFamily="34" charset="-122"/>
                <a:cs typeface="微软雅黑" charset="0"/>
              </a:rPr>
              <a:t>。</a:t>
            </a:r>
            <a:endParaRPr kumimoji="1" lang="en-US" altLang="zh-CN" sz="2000" dirty="0" smtClean="0">
              <a:latin typeface="Microsoft YaHei" panose="020B0503020204020204" pitchFamily="34" charset="-122"/>
              <a:ea typeface="Microsoft YaHei" panose="020B0503020204020204" pitchFamily="34" charset="-122"/>
              <a:cs typeface="微软雅黑" charset="0"/>
            </a:endParaRPr>
          </a:p>
          <a:p>
            <a:pPr marL="360680" marR="471805" indent="-285750">
              <a:lnSpc>
                <a:spcPct val="200000"/>
              </a:lnSpc>
              <a:spcAft>
                <a:spcPts val="0"/>
              </a:spcAft>
              <a:buFont typeface="Wingdings" panose="05000000000000000000" pitchFamily="2" charset="2"/>
              <a:buChar char="n"/>
            </a:pPr>
            <a:r>
              <a:rPr kumimoji="1" lang="zh-CN" altLang="en-US" sz="2000" dirty="0">
                <a:latin typeface="Microsoft YaHei" panose="020B0503020204020204" pitchFamily="34" charset="-122"/>
                <a:ea typeface="Microsoft YaHei" panose="020B0503020204020204" pitchFamily="34" charset="-122"/>
                <a:cs typeface="微软雅黑" charset="0"/>
              </a:rPr>
              <a:t>多对多</a:t>
            </a:r>
            <a:r>
              <a:rPr kumimoji="1" lang="zh-CN" altLang="en-US" sz="2000" dirty="0" smtClean="0">
                <a:latin typeface="Microsoft YaHei" panose="020B0503020204020204" pitchFamily="34" charset="-122"/>
                <a:ea typeface="Microsoft YaHei" panose="020B0503020204020204" pitchFamily="34" charset="-122"/>
                <a:cs typeface="微软雅黑" charset="0"/>
              </a:rPr>
              <a:t>广播通信</a:t>
            </a:r>
            <a:endParaRPr kumimoji="1" lang="en-US" altLang="zh-CN" sz="2000" dirty="0" smtClean="0">
              <a:latin typeface="Microsoft YaHei" panose="020B0503020204020204" pitchFamily="34" charset="-122"/>
              <a:ea typeface="Microsoft YaHei" panose="020B0503020204020204" pitchFamily="34" charset="-122"/>
              <a:cs typeface="微软雅黑" charset="0"/>
            </a:endParaRPr>
          </a:p>
          <a:p>
            <a:pPr marL="360680" marR="471805" indent="-285750">
              <a:lnSpc>
                <a:spcPct val="200000"/>
              </a:lnSpc>
              <a:spcAft>
                <a:spcPts val="0"/>
              </a:spcAft>
              <a:buFont typeface="Wingdings" panose="05000000000000000000" pitchFamily="2" charset="2"/>
              <a:buChar char="n"/>
            </a:pPr>
            <a:r>
              <a:rPr kumimoji="1" lang="zh-CN" altLang="en-US" sz="2000" dirty="0">
                <a:latin typeface="Microsoft YaHei" panose="020B0503020204020204" pitchFamily="34" charset="-122"/>
                <a:ea typeface="Microsoft YaHei" panose="020B0503020204020204" pitchFamily="34" charset="-122"/>
                <a:cs typeface="微软雅黑" charset="0"/>
              </a:rPr>
              <a:t>集中式和分布式资源分配</a:t>
            </a:r>
            <a:r>
              <a:rPr kumimoji="1" lang="zh-CN" altLang="en-US" sz="2000" dirty="0" smtClean="0">
                <a:latin typeface="Microsoft YaHei" panose="020B0503020204020204" pitchFamily="34" charset="-122"/>
                <a:ea typeface="Microsoft YaHei" panose="020B0503020204020204" pitchFamily="34" charset="-122"/>
                <a:cs typeface="微软雅黑" charset="0"/>
              </a:rPr>
              <a:t>方法</a:t>
            </a:r>
            <a:endParaRPr kumimoji="1" lang="en-US" altLang="zh-CN" sz="2000" dirty="0" smtClean="0">
              <a:latin typeface="Microsoft YaHei" panose="020B0503020204020204" pitchFamily="34" charset="-122"/>
              <a:ea typeface="Microsoft YaHei" panose="020B0503020204020204" pitchFamily="34" charset="-122"/>
              <a:cs typeface="微软雅黑" charset="0"/>
            </a:endParaRPr>
          </a:p>
          <a:p>
            <a:pPr marL="360680" marR="471805" indent="-285750">
              <a:lnSpc>
                <a:spcPct val="200000"/>
              </a:lnSpc>
              <a:spcAft>
                <a:spcPts val="0"/>
              </a:spcAft>
              <a:buFont typeface="Wingdings" panose="05000000000000000000" pitchFamily="2" charset="2"/>
              <a:buChar char="n"/>
            </a:pPr>
            <a:r>
              <a:rPr kumimoji="1" lang="zh-CN" altLang="en-US" sz="2000" dirty="0">
                <a:latin typeface="Microsoft YaHei" panose="020B0503020204020204" pitchFamily="34" charset="-122"/>
                <a:ea typeface="Microsoft YaHei" panose="020B0503020204020204" pitchFamily="34" charset="-122"/>
                <a:cs typeface="微软雅黑" charset="0"/>
              </a:rPr>
              <a:t>地理位置</a:t>
            </a:r>
            <a:r>
              <a:rPr kumimoji="1" lang="zh-CN" altLang="en-US" sz="2000" dirty="0" smtClean="0">
                <a:latin typeface="Microsoft YaHei" panose="020B0503020204020204" pitchFamily="34" charset="-122"/>
                <a:ea typeface="Microsoft YaHei" panose="020B0503020204020204" pitchFamily="34" charset="-122"/>
                <a:cs typeface="微软雅黑" charset="0"/>
              </a:rPr>
              <a:t>信息</a:t>
            </a:r>
            <a:endParaRPr kumimoji="1" lang="en-US" altLang="zh-CN" sz="2000" dirty="0" smtClean="0">
              <a:latin typeface="Microsoft YaHei" panose="020B0503020204020204" pitchFamily="34" charset="-122"/>
              <a:ea typeface="Microsoft YaHei" panose="020B0503020204020204" pitchFamily="34" charset="-122"/>
              <a:cs typeface="微软雅黑" charset="0"/>
            </a:endParaRPr>
          </a:p>
          <a:p>
            <a:pPr marL="360680" marR="471805" indent="-285750">
              <a:lnSpc>
                <a:spcPct val="200000"/>
              </a:lnSpc>
              <a:spcAft>
                <a:spcPts val="0"/>
              </a:spcAft>
              <a:buFont typeface="Wingdings" panose="05000000000000000000" pitchFamily="2" charset="2"/>
              <a:buChar char="n"/>
            </a:pPr>
            <a:r>
              <a:rPr kumimoji="1" lang="zh-CN" altLang="en-US" sz="2000" dirty="0">
                <a:latin typeface="Microsoft YaHei" panose="020B0503020204020204" pitchFamily="34" charset="-122"/>
                <a:ea typeface="Microsoft YaHei" panose="020B0503020204020204" pitchFamily="34" charset="-122"/>
                <a:cs typeface="微软雅黑" charset="0"/>
              </a:rPr>
              <a:t>手持终端</a:t>
            </a:r>
            <a:r>
              <a:rPr kumimoji="1" lang="zh-CN" altLang="en-US" sz="2000" dirty="0" smtClean="0">
                <a:latin typeface="Microsoft YaHei" panose="020B0503020204020204" pitchFamily="34" charset="-122"/>
                <a:ea typeface="Microsoft YaHei" panose="020B0503020204020204" pitchFamily="34" charset="-122"/>
                <a:cs typeface="微软雅黑" charset="0"/>
              </a:rPr>
              <a:t>（</a:t>
            </a:r>
            <a:r>
              <a:rPr kumimoji="1" lang="en-US" altLang="zh-CN" sz="2000" dirty="0" smtClean="0">
                <a:latin typeface="Microsoft YaHei" panose="020B0503020204020204" pitchFamily="34" charset="-122"/>
                <a:ea typeface="Microsoft YaHei" panose="020B0503020204020204" pitchFamily="34" charset="-122"/>
                <a:cs typeface="微软雅黑" charset="0"/>
              </a:rPr>
              <a:t>Pedestrian UE</a:t>
            </a:r>
            <a:r>
              <a:rPr kumimoji="1" lang="zh-CN" altLang="en-US" sz="2000" dirty="0" smtClean="0">
                <a:latin typeface="Microsoft YaHei" panose="020B0503020204020204" pitchFamily="34" charset="-122"/>
                <a:ea typeface="Microsoft YaHei" panose="020B0503020204020204" pitchFamily="34" charset="-122"/>
                <a:cs typeface="微软雅黑" charset="0"/>
              </a:rPr>
              <a:t>，</a:t>
            </a:r>
            <a:r>
              <a:rPr kumimoji="1" lang="en-US" altLang="zh-CN" sz="2000" dirty="0" smtClean="0">
                <a:latin typeface="Microsoft YaHei" panose="020B0503020204020204" pitchFamily="34" charset="-122"/>
                <a:ea typeface="Microsoft YaHei" panose="020B0503020204020204" pitchFamily="34" charset="-122"/>
                <a:cs typeface="微软雅黑" charset="0"/>
              </a:rPr>
              <a:t>P-UE</a:t>
            </a:r>
            <a:r>
              <a:rPr kumimoji="1" lang="zh-CN" altLang="en-US" sz="2000" dirty="0">
                <a:latin typeface="Microsoft YaHei" panose="020B0503020204020204" pitchFamily="34" charset="-122"/>
                <a:ea typeface="Microsoft YaHei" panose="020B0503020204020204" pitchFamily="34" charset="-122"/>
                <a:cs typeface="微软雅黑" charset="0"/>
              </a:rPr>
              <a:t>）的节电需求</a:t>
            </a:r>
            <a:endParaRPr kumimoji="1" lang="en-US" altLang="zh-CN" sz="2000" dirty="0" smtClean="0">
              <a:latin typeface="Microsoft YaHei" panose="020B0503020204020204" pitchFamily="34" charset="-122"/>
              <a:ea typeface="Microsoft YaHei" panose="020B0503020204020204" pitchFamily="34" charset="-122"/>
              <a:cs typeface="微软雅黑" charset="0"/>
            </a:endParaRPr>
          </a:p>
        </p:txBody>
      </p:sp>
    </p:spTree>
    <p:extLst>
      <p:ext uri="{BB962C8B-B14F-4D97-AF65-F5344CB8AC3E}">
        <p14:creationId xmlns:p14="http://schemas.microsoft.com/office/powerpoint/2010/main" val="2452652570"/>
      </p:ext>
    </p:extLst>
  </p:cSld>
  <p:clrMapOvr>
    <a:masterClrMapping/>
  </p:clrMapOvr>
  <p:transition spd="slow" advClick="0"/>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11" descr="program-ciat2020"/>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sp>
        <p:nvSpPr>
          <p:cNvPr id="2" name="标题 1"/>
          <p:cNvSpPr txBox="1"/>
          <p:nvPr/>
        </p:nvSpPr>
        <p:spPr>
          <a:xfrm>
            <a:off x="237392" y="191297"/>
            <a:ext cx="9251576" cy="679847"/>
          </a:xfrm>
          <a:prstGeom prst="rect">
            <a:avLst/>
          </a:prstGeom>
        </p:spPr>
        <p:txBody>
          <a:bodyPr vert="horz" lIns="68580" tIns="34290" rIns="68580" bIns="34290" rtlCol="0" anchor="ctr">
            <a:normAutofit/>
          </a:bodyPr>
          <a:lstStyle/>
          <a:p>
            <a:pPr lvl="0">
              <a:spcBef>
                <a:spcPct val="0"/>
              </a:spcBef>
              <a:defRPr/>
            </a:pPr>
            <a:r>
              <a:rPr lang="en-US" altLang="zh-CN" sz="34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LTE-V2X </a:t>
            </a:r>
            <a:r>
              <a:rPr lang="zh-CN" altLang="en-US" sz="34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关键</a:t>
            </a:r>
            <a:r>
              <a:rPr lang="zh-CN" altLang="en-US" sz="34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技术</a:t>
            </a:r>
            <a:endParaRPr lang="en-US" altLang="zh-CN" sz="36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8" name="矩形 7"/>
          <p:cNvSpPr/>
          <p:nvPr/>
        </p:nvSpPr>
        <p:spPr>
          <a:xfrm>
            <a:off x="237391" y="1069052"/>
            <a:ext cx="6507875" cy="584775"/>
          </a:xfrm>
          <a:prstGeom prst="rect">
            <a:avLst/>
          </a:prstGeom>
        </p:spPr>
        <p:txBody>
          <a:bodyPr wrap="square">
            <a:spAutoFit/>
          </a:bodyPr>
          <a:lstStyle/>
          <a:p>
            <a:pPr lvl="0">
              <a:spcBef>
                <a:spcPct val="0"/>
              </a:spcBef>
              <a:defRPr/>
            </a:pPr>
            <a:r>
              <a:rPr lang="zh-CN" altLang="en-US" sz="32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资源分配</a:t>
            </a:r>
            <a:r>
              <a:rPr lang="zh-CN" altLang="en-US" sz="32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方法</a:t>
            </a:r>
            <a:endParaRPr lang="en-US" altLang="zh-CN" sz="32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5" name="矩形 4"/>
          <p:cNvSpPr/>
          <p:nvPr/>
        </p:nvSpPr>
        <p:spPr>
          <a:xfrm>
            <a:off x="145341" y="1671974"/>
            <a:ext cx="9236654" cy="4401205"/>
          </a:xfrm>
          <a:prstGeom prst="rect">
            <a:avLst/>
          </a:prstGeom>
        </p:spPr>
        <p:txBody>
          <a:bodyPr wrap="square">
            <a:spAutoFit/>
          </a:bodyPr>
          <a:lstStyle/>
          <a:p>
            <a:pPr marL="74930" marR="471805">
              <a:lnSpc>
                <a:spcPct val="200000"/>
              </a:lnSpc>
              <a:spcAft>
                <a:spcPts val="0"/>
              </a:spcAft>
            </a:pPr>
            <a:r>
              <a:rPr kumimoji="1" lang="zh-CN" altLang="en-US" sz="2000" dirty="0" smtClean="0">
                <a:latin typeface="Microsoft YaHei" panose="020B0503020204020204" pitchFamily="34" charset="-122"/>
                <a:ea typeface="Microsoft YaHei" panose="020B0503020204020204" pitchFamily="34" charset="-122"/>
                <a:cs typeface="微软雅黑" charset="0"/>
              </a:rPr>
              <a:t>根据 </a:t>
            </a:r>
            <a:r>
              <a:rPr kumimoji="1" lang="en-US" altLang="zh-CN" sz="2000" dirty="0">
                <a:latin typeface="Microsoft YaHei" panose="020B0503020204020204" pitchFamily="34" charset="-122"/>
                <a:ea typeface="Microsoft YaHei" panose="020B0503020204020204" pitchFamily="34" charset="-122"/>
                <a:cs typeface="微软雅黑" charset="0"/>
              </a:rPr>
              <a:t>PC5 </a:t>
            </a:r>
            <a:r>
              <a:rPr kumimoji="1" lang="zh-CN" altLang="en-US" sz="2000" dirty="0">
                <a:latin typeface="Microsoft YaHei" panose="020B0503020204020204" pitchFamily="34" charset="-122"/>
                <a:ea typeface="Microsoft YaHei" panose="020B0503020204020204" pitchFamily="34" charset="-122"/>
                <a:cs typeface="微软雅黑" charset="0"/>
              </a:rPr>
              <a:t>口的资源分配方法和蜂窝通信基站的关系，资源分配方法可</a:t>
            </a:r>
            <a:r>
              <a:rPr kumimoji="1" lang="zh-CN" altLang="en-US" sz="2000" dirty="0" smtClean="0">
                <a:latin typeface="Microsoft YaHei" panose="020B0503020204020204" pitchFamily="34" charset="-122"/>
                <a:ea typeface="Microsoft YaHei" panose="020B0503020204020204" pitchFamily="34" charset="-122"/>
                <a:cs typeface="微软雅黑" charset="0"/>
              </a:rPr>
              <a:t>分为</a:t>
            </a:r>
            <a:r>
              <a:rPr kumimoji="1" lang="zh-CN" altLang="en-US" sz="2000" dirty="0">
                <a:latin typeface="Microsoft YaHei" panose="020B0503020204020204" pitchFamily="34" charset="-122"/>
                <a:ea typeface="Microsoft YaHei" panose="020B0503020204020204" pitchFamily="34" charset="-122"/>
                <a:cs typeface="微软雅黑" charset="0"/>
              </a:rPr>
              <a:t>：</a:t>
            </a:r>
            <a:endParaRPr kumimoji="1" lang="en-US" altLang="zh-CN" sz="2000" dirty="0" smtClean="0">
              <a:latin typeface="Microsoft YaHei" panose="020B0503020204020204" pitchFamily="34" charset="-122"/>
              <a:ea typeface="Microsoft YaHei" panose="020B0503020204020204" pitchFamily="34" charset="-122"/>
              <a:cs typeface="微软雅黑" charset="0"/>
            </a:endParaRPr>
          </a:p>
          <a:p>
            <a:pPr marL="360680" marR="471805" indent="-285750">
              <a:lnSpc>
                <a:spcPct val="200000"/>
              </a:lnSpc>
              <a:spcAft>
                <a:spcPts val="0"/>
              </a:spcAft>
              <a:buFont typeface="Wingdings" panose="05000000000000000000" pitchFamily="2" charset="2"/>
              <a:buChar char="n"/>
            </a:pPr>
            <a:r>
              <a:rPr kumimoji="1" lang="zh-CN" altLang="en-US" sz="2000" b="1" dirty="0">
                <a:latin typeface="Microsoft YaHei" panose="020B0503020204020204" pitchFamily="34" charset="-122"/>
                <a:ea typeface="Microsoft YaHei" panose="020B0503020204020204" pitchFamily="34" charset="-122"/>
                <a:cs typeface="微软雅黑" charset="0"/>
              </a:rPr>
              <a:t>模式 </a:t>
            </a:r>
            <a:r>
              <a:rPr kumimoji="1" lang="en-US" altLang="zh-CN" sz="2000" b="1" dirty="0">
                <a:latin typeface="Microsoft YaHei" panose="020B0503020204020204" pitchFamily="34" charset="-122"/>
                <a:ea typeface="Microsoft YaHei" panose="020B0503020204020204" pitchFamily="34" charset="-122"/>
                <a:cs typeface="微软雅黑" charset="0"/>
              </a:rPr>
              <a:t>4</a:t>
            </a:r>
            <a:r>
              <a:rPr kumimoji="1" lang="zh-CN" altLang="en-US" sz="2000" b="1" dirty="0">
                <a:latin typeface="Microsoft YaHei" panose="020B0503020204020204" pitchFamily="34" charset="-122"/>
                <a:ea typeface="Microsoft YaHei" panose="020B0503020204020204" pitchFamily="34" charset="-122"/>
                <a:cs typeface="微软雅黑" charset="0"/>
              </a:rPr>
              <a:t>：</a:t>
            </a:r>
            <a:r>
              <a:rPr kumimoji="1" lang="en-US" altLang="zh-CN" sz="2000" b="1" dirty="0">
                <a:latin typeface="Microsoft YaHei" panose="020B0503020204020204" pitchFamily="34" charset="-122"/>
                <a:ea typeface="Microsoft YaHei" panose="020B0503020204020204" pitchFamily="34" charset="-122"/>
                <a:cs typeface="微软雅黑" charset="0"/>
              </a:rPr>
              <a:t>UE </a:t>
            </a:r>
            <a:r>
              <a:rPr kumimoji="1" lang="zh-CN" altLang="en-US" sz="2000" b="1" dirty="0">
                <a:latin typeface="Microsoft YaHei" panose="020B0503020204020204" pitchFamily="34" charset="-122"/>
                <a:ea typeface="Microsoft YaHei" panose="020B0503020204020204" pitchFamily="34" charset="-122"/>
                <a:cs typeface="微软雅黑" charset="0"/>
              </a:rPr>
              <a:t>自主资源选择（分布式资源分配方法）</a:t>
            </a:r>
            <a:r>
              <a:rPr kumimoji="1" lang="zh-CN" altLang="en-US" sz="2000" dirty="0">
                <a:latin typeface="Microsoft YaHei" panose="020B0503020204020204" pitchFamily="34" charset="-122"/>
                <a:ea typeface="Microsoft YaHei" panose="020B0503020204020204" pitchFamily="34" charset="-122"/>
                <a:cs typeface="微软雅黑" charset="0"/>
              </a:rPr>
              <a:t>。自主资源选择机制不通过基站调度进行 </a:t>
            </a:r>
            <a:r>
              <a:rPr kumimoji="1" lang="en-US" altLang="zh-CN" sz="2000" dirty="0">
                <a:latin typeface="Microsoft YaHei" panose="020B0503020204020204" pitchFamily="34" charset="-122"/>
                <a:ea typeface="Microsoft YaHei" panose="020B0503020204020204" pitchFamily="34" charset="-122"/>
                <a:cs typeface="微软雅黑" charset="0"/>
              </a:rPr>
              <a:t>UE </a:t>
            </a:r>
            <a:r>
              <a:rPr kumimoji="1" lang="zh-CN" altLang="en-US" sz="2000" dirty="0">
                <a:latin typeface="Microsoft YaHei" panose="020B0503020204020204" pitchFamily="34" charset="-122"/>
                <a:ea typeface="Microsoft YaHei" panose="020B0503020204020204" pitchFamily="34" charset="-122"/>
                <a:cs typeface="微软雅黑" charset="0"/>
              </a:rPr>
              <a:t>间直通通信，避免了基站调度的信令开销</a:t>
            </a:r>
            <a:r>
              <a:rPr kumimoji="1" lang="zh-CN" altLang="en-US" sz="2000" dirty="0" smtClean="0">
                <a:latin typeface="Microsoft YaHei" panose="020B0503020204020204" pitchFamily="34" charset="-122"/>
                <a:ea typeface="Microsoft YaHei" panose="020B0503020204020204" pitchFamily="34" charset="-122"/>
                <a:cs typeface="微软雅黑" charset="0"/>
              </a:rPr>
              <a:t>。</a:t>
            </a:r>
            <a:endParaRPr kumimoji="1" lang="en-US" altLang="zh-CN" sz="2000" dirty="0" smtClean="0">
              <a:latin typeface="Microsoft YaHei" panose="020B0503020204020204" pitchFamily="34" charset="-122"/>
              <a:ea typeface="Microsoft YaHei" panose="020B0503020204020204" pitchFamily="34" charset="-122"/>
              <a:cs typeface="微软雅黑" charset="0"/>
            </a:endParaRPr>
          </a:p>
          <a:p>
            <a:pPr marL="360680" marR="471805" indent="-285750">
              <a:lnSpc>
                <a:spcPct val="200000"/>
              </a:lnSpc>
              <a:spcAft>
                <a:spcPts val="0"/>
              </a:spcAft>
              <a:buFont typeface="Wingdings" panose="05000000000000000000" pitchFamily="2" charset="2"/>
              <a:buChar char="n"/>
            </a:pPr>
            <a:endParaRPr kumimoji="1" lang="en-US" altLang="zh-CN" sz="2000" dirty="0" smtClean="0">
              <a:latin typeface="Microsoft YaHei" panose="020B0503020204020204" pitchFamily="34" charset="-122"/>
              <a:ea typeface="Microsoft YaHei" panose="020B0503020204020204" pitchFamily="34" charset="-122"/>
              <a:cs typeface="微软雅黑" charset="0"/>
            </a:endParaRPr>
          </a:p>
          <a:p>
            <a:pPr marL="360680" marR="471805" indent="-285750">
              <a:lnSpc>
                <a:spcPct val="200000"/>
              </a:lnSpc>
              <a:spcAft>
                <a:spcPts val="0"/>
              </a:spcAft>
              <a:buFont typeface="Wingdings" panose="05000000000000000000" pitchFamily="2" charset="2"/>
              <a:buChar char="n"/>
            </a:pPr>
            <a:r>
              <a:rPr kumimoji="1" lang="zh-CN" altLang="en-US" sz="2000" b="1" dirty="0">
                <a:latin typeface="Microsoft YaHei" panose="020B0503020204020204" pitchFamily="34" charset="-122"/>
                <a:ea typeface="Microsoft YaHei" panose="020B0503020204020204" pitchFamily="34" charset="-122"/>
                <a:cs typeface="微软雅黑" charset="0"/>
              </a:rPr>
              <a:t>模式 </a:t>
            </a:r>
            <a:r>
              <a:rPr kumimoji="1" lang="en-US" altLang="zh-CN" sz="2000" b="1" dirty="0">
                <a:latin typeface="Microsoft YaHei" panose="020B0503020204020204" pitchFamily="34" charset="-122"/>
                <a:ea typeface="Microsoft YaHei" panose="020B0503020204020204" pitchFamily="34" charset="-122"/>
                <a:cs typeface="微软雅黑" charset="0"/>
              </a:rPr>
              <a:t>3</a:t>
            </a:r>
            <a:r>
              <a:rPr kumimoji="1" lang="zh-CN" altLang="en-US" sz="2000" b="1" dirty="0">
                <a:latin typeface="Microsoft YaHei" panose="020B0503020204020204" pitchFamily="34" charset="-122"/>
                <a:ea typeface="Microsoft YaHei" panose="020B0503020204020204" pitchFamily="34" charset="-122"/>
                <a:cs typeface="微软雅黑" charset="0"/>
              </a:rPr>
              <a:t>：基站资源调度分配（集中式资源分配方法）</a:t>
            </a:r>
            <a:r>
              <a:rPr kumimoji="1" lang="zh-CN" altLang="en-US" sz="2000" dirty="0">
                <a:latin typeface="Microsoft YaHei" panose="020B0503020204020204" pitchFamily="34" charset="-122"/>
                <a:ea typeface="Microsoft YaHei" panose="020B0503020204020204" pitchFamily="34" charset="-122"/>
                <a:cs typeface="微软雅黑" charset="0"/>
              </a:rPr>
              <a:t>。基站分配资源机制中，由于 </a:t>
            </a:r>
            <a:r>
              <a:rPr kumimoji="1" lang="en-US" altLang="zh-CN" sz="2000" dirty="0">
                <a:latin typeface="Microsoft YaHei" panose="020B0503020204020204" pitchFamily="34" charset="-122"/>
                <a:ea typeface="Microsoft YaHei" panose="020B0503020204020204" pitchFamily="34" charset="-122"/>
                <a:cs typeface="微软雅黑" charset="0"/>
              </a:rPr>
              <a:t>UE </a:t>
            </a:r>
            <a:r>
              <a:rPr kumimoji="1" lang="zh-CN" altLang="en-US" sz="2000" dirty="0">
                <a:latin typeface="Microsoft YaHei" panose="020B0503020204020204" pitchFamily="34" charset="-122"/>
                <a:ea typeface="Microsoft YaHei" panose="020B0503020204020204" pitchFamily="34" charset="-122"/>
                <a:cs typeface="微软雅黑" charset="0"/>
              </a:rPr>
              <a:t>发送的资源是 </a:t>
            </a:r>
            <a:r>
              <a:rPr kumimoji="1" lang="en-US" altLang="zh-CN" sz="2000" dirty="0" err="1">
                <a:latin typeface="Microsoft YaHei" panose="020B0503020204020204" pitchFamily="34" charset="-122"/>
                <a:ea typeface="Microsoft YaHei" panose="020B0503020204020204" pitchFamily="34" charset="-122"/>
                <a:cs typeface="微软雅黑" charset="0"/>
              </a:rPr>
              <a:t>eNB</a:t>
            </a:r>
            <a:r>
              <a:rPr kumimoji="1" lang="en-US" altLang="zh-CN" sz="2000" dirty="0">
                <a:latin typeface="Microsoft YaHei" panose="020B0503020204020204" pitchFamily="34" charset="-122"/>
                <a:ea typeface="Microsoft YaHei" panose="020B0503020204020204" pitchFamily="34" charset="-122"/>
                <a:cs typeface="微软雅黑" charset="0"/>
              </a:rPr>
              <a:t> </a:t>
            </a:r>
            <a:r>
              <a:rPr kumimoji="1" lang="zh-CN" altLang="en-US" sz="2000" dirty="0">
                <a:latin typeface="Microsoft YaHei" panose="020B0503020204020204" pitchFamily="34" charset="-122"/>
                <a:ea typeface="Microsoft YaHei" panose="020B0503020204020204" pitchFamily="34" charset="-122"/>
                <a:cs typeface="微软雅黑" charset="0"/>
              </a:rPr>
              <a:t>集中调度的，可很好地避免资源冲突。进一步结合 </a:t>
            </a:r>
            <a:r>
              <a:rPr kumimoji="1" lang="en-US" altLang="zh-CN" sz="2000" dirty="0">
                <a:latin typeface="Microsoft YaHei" panose="020B0503020204020204" pitchFamily="34" charset="-122"/>
                <a:ea typeface="Microsoft YaHei" panose="020B0503020204020204" pitchFamily="34" charset="-122"/>
                <a:cs typeface="微软雅黑" charset="0"/>
              </a:rPr>
              <a:t>UE </a:t>
            </a:r>
            <a:r>
              <a:rPr kumimoji="1" lang="zh-CN" altLang="en-US" sz="2000" dirty="0">
                <a:latin typeface="Microsoft YaHei" panose="020B0503020204020204" pitchFamily="34" charset="-122"/>
                <a:ea typeface="Microsoft YaHei" panose="020B0503020204020204" pitchFamily="34" charset="-122"/>
                <a:cs typeface="微软雅黑" charset="0"/>
              </a:rPr>
              <a:t>的地理位置信息，</a:t>
            </a:r>
            <a:r>
              <a:rPr kumimoji="1" lang="en-US" altLang="zh-CN" sz="2000" dirty="0" err="1">
                <a:latin typeface="Microsoft YaHei" panose="020B0503020204020204" pitchFamily="34" charset="-122"/>
                <a:ea typeface="Microsoft YaHei" panose="020B0503020204020204" pitchFamily="34" charset="-122"/>
                <a:cs typeface="微软雅黑" charset="0"/>
              </a:rPr>
              <a:t>eNB</a:t>
            </a:r>
            <a:r>
              <a:rPr kumimoji="1" lang="en-US" altLang="zh-CN" sz="2000" dirty="0">
                <a:latin typeface="Microsoft YaHei" panose="020B0503020204020204" pitchFamily="34" charset="-122"/>
                <a:ea typeface="Microsoft YaHei" panose="020B0503020204020204" pitchFamily="34" charset="-122"/>
                <a:cs typeface="微软雅黑" charset="0"/>
              </a:rPr>
              <a:t> </a:t>
            </a:r>
            <a:r>
              <a:rPr kumimoji="1" lang="zh-CN" altLang="en-US" sz="2000" dirty="0">
                <a:latin typeface="Microsoft YaHei" panose="020B0503020204020204" pitchFamily="34" charset="-122"/>
                <a:ea typeface="Microsoft YaHei" panose="020B0503020204020204" pitchFamily="34" charset="-122"/>
                <a:cs typeface="微软雅黑" charset="0"/>
              </a:rPr>
              <a:t>可实现基于地理位置的资源分配。</a:t>
            </a:r>
            <a:endParaRPr kumimoji="1" lang="en-US" altLang="zh-CN" sz="2000" dirty="0" smtClean="0">
              <a:latin typeface="Microsoft YaHei" panose="020B0503020204020204" pitchFamily="34" charset="-122"/>
              <a:ea typeface="Microsoft YaHei" panose="020B0503020204020204" pitchFamily="34" charset="-122"/>
              <a:cs typeface="微软雅黑" charset="0"/>
            </a:endParaRPr>
          </a:p>
        </p:txBody>
      </p:sp>
    </p:spTree>
    <p:extLst>
      <p:ext uri="{BB962C8B-B14F-4D97-AF65-F5344CB8AC3E}">
        <p14:creationId xmlns:p14="http://schemas.microsoft.com/office/powerpoint/2010/main" val="2279350638"/>
      </p:ext>
    </p:extLst>
  </p:cSld>
  <p:clrMapOvr>
    <a:masterClrMapping/>
  </p:clrMapOvr>
  <p:transition spd="slow" advClick="0"/>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11" descr="program-ciat2020"/>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sp>
        <p:nvSpPr>
          <p:cNvPr id="2" name="标题 1"/>
          <p:cNvSpPr txBox="1"/>
          <p:nvPr/>
        </p:nvSpPr>
        <p:spPr>
          <a:xfrm>
            <a:off x="237392" y="191297"/>
            <a:ext cx="9251576" cy="679847"/>
          </a:xfrm>
          <a:prstGeom prst="rect">
            <a:avLst/>
          </a:prstGeom>
        </p:spPr>
        <p:txBody>
          <a:bodyPr vert="horz" lIns="68580" tIns="34290" rIns="68580" bIns="34290" rtlCol="0" anchor="ctr">
            <a:normAutofit/>
          </a:bodyPr>
          <a:lstStyle/>
          <a:p>
            <a:pPr lvl="0">
              <a:spcBef>
                <a:spcPct val="0"/>
              </a:spcBef>
              <a:defRPr/>
            </a:pPr>
            <a:r>
              <a:rPr lang="en-US" altLang="zh-CN" sz="34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LTE-V2X </a:t>
            </a:r>
            <a:r>
              <a:rPr lang="zh-CN" altLang="en-US" sz="34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关键</a:t>
            </a:r>
            <a:r>
              <a:rPr lang="zh-CN" altLang="en-US" sz="34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技术</a:t>
            </a:r>
            <a:endParaRPr lang="en-US" altLang="zh-CN" sz="36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8" name="矩形 7"/>
          <p:cNvSpPr/>
          <p:nvPr/>
        </p:nvSpPr>
        <p:spPr>
          <a:xfrm>
            <a:off x="237391" y="1069052"/>
            <a:ext cx="3504185" cy="584775"/>
          </a:xfrm>
          <a:prstGeom prst="rect">
            <a:avLst/>
          </a:prstGeom>
        </p:spPr>
        <p:txBody>
          <a:bodyPr wrap="square">
            <a:spAutoFit/>
          </a:bodyPr>
          <a:lstStyle/>
          <a:p>
            <a:pPr lvl="0">
              <a:spcBef>
                <a:spcPct val="0"/>
              </a:spcBef>
              <a:defRPr/>
            </a:pPr>
            <a:r>
              <a:rPr lang="zh-CN" altLang="en-US" sz="32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同步机制</a:t>
            </a:r>
            <a:endParaRPr lang="en-US" altLang="zh-CN" sz="32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5" name="矩形 4"/>
          <p:cNvSpPr/>
          <p:nvPr/>
        </p:nvSpPr>
        <p:spPr>
          <a:xfrm>
            <a:off x="145341" y="1671974"/>
            <a:ext cx="9236654" cy="3785652"/>
          </a:xfrm>
          <a:prstGeom prst="rect">
            <a:avLst/>
          </a:prstGeom>
        </p:spPr>
        <p:txBody>
          <a:bodyPr wrap="square">
            <a:spAutoFit/>
          </a:bodyPr>
          <a:lstStyle/>
          <a:p>
            <a:pPr marL="74930" marR="471805">
              <a:lnSpc>
                <a:spcPct val="200000"/>
              </a:lnSpc>
              <a:spcAft>
                <a:spcPts val="0"/>
              </a:spcAft>
            </a:pPr>
            <a:r>
              <a:rPr kumimoji="1" lang="en-US" altLang="zh-CN" sz="2000" dirty="0" smtClean="0">
                <a:latin typeface="Microsoft YaHei" panose="020B0503020204020204" pitchFamily="34" charset="-122"/>
                <a:ea typeface="Microsoft YaHei" panose="020B0503020204020204" pitchFamily="34" charset="-122"/>
                <a:cs typeface="微软雅黑" charset="0"/>
              </a:rPr>
              <a:t>LTE-V2X</a:t>
            </a:r>
            <a:r>
              <a:rPr kumimoji="1" lang="zh-CN" altLang="en-US" sz="2000" dirty="0" smtClean="0">
                <a:latin typeface="Microsoft YaHei" panose="020B0503020204020204" pitchFamily="34" charset="-122"/>
                <a:ea typeface="Microsoft YaHei" panose="020B0503020204020204" pitchFamily="34" charset="-122"/>
                <a:cs typeface="微软雅黑" charset="0"/>
              </a:rPr>
              <a:t>直通</a:t>
            </a:r>
            <a:r>
              <a:rPr kumimoji="1" lang="zh-CN" altLang="en-US" sz="2000" dirty="0">
                <a:latin typeface="Microsoft YaHei" panose="020B0503020204020204" pitchFamily="34" charset="-122"/>
                <a:ea typeface="Microsoft YaHei" panose="020B0503020204020204" pitchFamily="34" charset="-122"/>
                <a:cs typeface="微软雅黑" charset="0"/>
              </a:rPr>
              <a:t>链路有 </a:t>
            </a:r>
            <a:r>
              <a:rPr kumimoji="1" lang="en-US" altLang="zh-CN" sz="2000" dirty="0">
                <a:latin typeface="Microsoft YaHei" panose="020B0503020204020204" pitchFamily="34" charset="-122"/>
                <a:ea typeface="Microsoft YaHei" panose="020B0503020204020204" pitchFamily="34" charset="-122"/>
                <a:cs typeface="微软雅黑" charset="0"/>
              </a:rPr>
              <a:t>4 </a:t>
            </a:r>
            <a:r>
              <a:rPr kumimoji="1" lang="zh-CN" altLang="en-US" sz="2000" dirty="0">
                <a:latin typeface="Microsoft YaHei" panose="020B0503020204020204" pitchFamily="34" charset="-122"/>
                <a:ea typeface="Microsoft YaHei" panose="020B0503020204020204" pitchFamily="34" charset="-122"/>
                <a:cs typeface="微软雅黑" charset="0"/>
              </a:rPr>
              <a:t>种基本的同步源：</a:t>
            </a:r>
            <a:r>
              <a:rPr kumimoji="1" lang="en-US" altLang="zh-CN" sz="2000" dirty="0">
                <a:latin typeface="Microsoft YaHei" panose="020B0503020204020204" pitchFamily="34" charset="-122"/>
                <a:ea typeface="Microsoft YaHei" panose="020B0503020204020204" pitchFamily="34" charset="-122"/>
                <a:cs typeface="微软雅黑" charset="0"/>
              </a:rPr>
              <a:t>GNSS</a:t>
            </a:r>
            <a:r>
              <a:rPr kumimoji="1" lang="zh-CN" altLang="en-US" sz="2000" dirty="0">
                <a:latin typeface="Microsoft YaHei" panose="020B0503020204020204" pitchFamily="34" charset="-122"/>
                <a:ea typeface="Microsoft YaHei" panose="020B0503020204020204" pitchFamily="34" charset="-122"/>
                <a:cs typeface="微软雅黑" charset="0"/>
              </a:rPr>
              <a:t>、基站、发送直通链路</a:t>
            </a:r>
            <a:r>
              <a:rPr kumimoji="1" lang="zh-CN" altLang="en-US" sz="2000" dirty="0" smtClean="0">
                <a:latin typeface="Microsoft YaHei" panose="020B0503020204020204" pitchFamily="34" charset="-122"/>
                <a:ea typeface="Microsoft YaHei" panose="020B0503020204020204" pitchFamily="34" charset="-122"/>
                <a:cs typeface="微软雅黑" charset="0"/>
              </a:rPr>
              <a:t>同步信号的</a:t>
            </a:r>
            <a:r>
              <a:rPr kumimoji="1" lang="zh-CN" altLang="en-US" sz="2000" dirty="0">
                <a:latin typeface="Microsoft YaHei" panose="020B0503020204020204" pitchFamily="34" charset="-122"/>
                <a:ea typeface="Microsoft YaHei" panose="020B0503020204020204" pitchFamily="34" charset="-122"/>
                <a:cs typeface="微软雅黑" charset="0"/>
              </a:rPr>
              <a:t>终端以及终端内部的时钟</a:t>
            </a:r>
            <a:r>
              <a:rPr kumimoji="1" lang="zh-CN" altLang="en-US" sz="2000" dirty="0" smtClean="0">
                <a:latin typeface="Microsoft YaHei" panose="020B0503020204020204" pitchFamily="34" charset="-122"/>
                <a:ea typeface="Microsoft YaHei" panose="020B0503020204020204" pitchFamily="34" charset="-122"/>
                <a:cs typeface="微软雅黑" charset="0"/>
              </a:rPr>
              <a:t>。具体</a:t>
            </a:r>
            <a:r>
              <a:rPr kumimoji="1" lang="zh-CN" altLang="en-US" sz="2000" dirty="0">
                <a:latin typeface="Microsoft YaHei" panose="020B0503020204020204" pitchFamily="34" charset="-122"/>
                <a:ea typeface="Microsoft YaHei" panose="020B0503020204020204" pitchFamily="34" charset="-122"/>
                <a:cs typeface="微软雅黑" charset="0"/>
              </a:rPr>
              <a:t>优先级别顺序</a:t>
            </a:r>
            <a:r>
              <a:rPr kumimoji="1" lang="zh-CN" altLang="en-US" sz="2000" dirty="0" smtClean="0">
                <a:latin typeface="Microsoft YaHei" panose="020B0503020204020204" pitchFamily="34" charset="-122"/>
                <a:ea typeface="Microsoft YaHei" panose="020B0503020204020204" pitchFamily="34" charset="-122"/>
                <a:cs typeface="微软雅黑" charset="0"/>
              </a:rPr>
              <a:t>如下：</a:t>
            </a:r>
            <a:endParaRPr kumimoji="1" lang="zh-CN" altLang="en-US" sz="2000" dirty="0">
              <a:latin typeface="Microsoft YaHei" panose="020B0503020204020204" pitchFamily="34" charset="-122"/>
              <a:ea typeface="Microsoft YaHei" panose="020B0503020204020204" pitchFamily="34" charset="-122"/>
              <a:cs typeface="微软雅黑" charset="0"/>
            </a:endParaRPr>
          </a:p>
          <a:p>
            <a:pPr marL="417830" marR="471805" indent="-342900">
              <a:lnSpc>
                <a:spcPct val="200000"/>
              </a:lnSpc>
              <a:spcAft>
                <a:spcPts val="0"/>
              </a:spcAft>
              <a:buFont typeface="Wingdings" panose="05000000000000000000" pitchFamily="2" charset="2"/>
              <a:buChar char="Ø"/>
            </a:pPr>
            <a:r>
              <a:rPr kumimoji="1" lang="en-US" altLang="zh-CN" sz="2000" dirty="0">
                <a:latin typeface="Microsoft YaHei" panose="020B0503020204020204" pitchFamily="34" charset="-122"/>
                <a:ea typeface="Microsoft YaHei" panose="020B0503020204020204" pitchFamily="34" charset="-122"/>
                <a:cs typeface="微软雅黑" charset="0"/>
              </a:rPr>
              <a:t>Level 1</a:t>
            </a:r>
            <a:r>
              <a:rPr kumimoji="1" lang="zh-CN" altLang="en-US" sz="2000" dirty="0">
                <a:latin typeface="Microsoft YaHei" panose="020B0503020204020204" pitchFamily="34" charset="-122"/>
                <a:ea typeface="Microsoft YaHei" panose="020B0503020204020204" pitchFamily="34" charset="-122"/>
                <a:cs typeface="微软雅黑" charset="0"/>
              </a:rPr>
              <a:t>：系统</a:t>
            </a:r>
            <a:r>
              <a:rPr kumimoji="1" lang="en-US" altLang="zh-CN" sz="2000" dirty="0">
                <a:latin typeface="Microsoft YaHei" panose="020B0503020204020204" pitchFamily="34" charset="-122"/>
                <a:ea typeface="Microsoft YaHei" panose="020B0503020204020204" pitchFamily="34" charset="-122"/>
                <a:cs typeface="微软雅黑" charset="0"/>
              </a:rPr>
              <a:t>(</a:t>
            </a:r>
            <a:r>
              <a:rPr kumimoji="1" lang="zh-CN" altLang="en-US" sz="2000" dirty="0">
                <a:latin typeface="Microsoft YaHei" panose="020B0503020204020204" pitchFamily="34" charset="-122"/>
                <a:ea typeface="Microsoft YaHei" panose="020B0503020204020204" pitchFamily="34" charset="-122"/>
                <a:cs typeface="微软雅黑" charset="0"/>
              </a:rPr>
              <a:t>预</a:t>
            </a:r>
            <a:r>
              <a:rPr kumimoji="1" lang="en-US" altLang="zh-CN" sz="2000" dirty="0">
                <a:latin typeface="Microsoft YaHei" panose="020B0503020204020204" pitchFamily="34" charset="-122"/>
                <a:ea typeface="Microsoft YaHei" panose="020B0503020204020204" pitchFamily="34" charset="-122"/>
                <a:cs typeface="微软雅黑" charset="0"/>
              </a:rPr>
              <a:t>)</a:t>
            </a:r>
            <a:r>
              <a:rPr kumimoji="1" lang="zh-CN" altLang="en-US" sz="2000" dirty="0">
                <a:latin typeface="Microsoft YaHei" panose="020B0503020204020204" pitchFamily="34" charset="-122"/>
                <a:ea typeface="Microsoft YaHei" panose="020B0503020204020204" pitchFamily="34" charset="-122"/>
                <a:cs typeface="微软雅黑" charset="0"/>
              </a:rPr>
              <a:t>配置的 </a:t>
            </a:r>
            <a:r>
              <a:rPr kumimoji="1" lang="en-US" altLang="zh-CN" sz="2000" dirty="0">
                <a:latin typeface="Microsoft YaHei" panose="020B0503020204020204" pitchFamily="34" charset="-122"/>
                <a:ea typeface="Microsoft YaHei" panose="020B0503020204020204" pitchFamily="34" charset="-122"/>
                <a:cs typeface="微软雅黑" charset="0"/>
              </a:rPr>
              <a:t>GNSS </a:t>
            </a:r>
            <a:r>
              <a:rPr kumimoji="1" lang="zh-CN" altLang="en-US" sz="2000" dirty="0">
                <a:latin typeface="Microsoft YaHei" panose="020B0503020204020204" pitchFamily="34" charset="-122"/>
                <a:ea typeface="Microsoft YaHei" panose="020B0503020204020204" pitchFamily="34" charset="-122"/>
                <a:cs typeface="微软雅黑" charset="0"/>
              </a:rPr>
              <a:t>或者基站；</a:t>
            </a:r>
          </a:p>
          <a:p>
            <a:pPr marL="417830" marR="471805" indent="-342900">
              <a:lnSpc>
                <a:spcPct val="200000"/>
              </a:lnSpc>
              <a:spcAft>
                <a:spcPts val="0"/>
              </a:spcAft>
              <a:buFont typeface="Wingdings" panose="05000000000000000000" pitchFamily="2" charset="2"/>
              <a:buChar char="Ø"/>
            </a:pPr>
            <a:r>
              <a:rPr kumimoji="1" lang="en-US" altLang="zh-CN" sz="2000" dirty="0" smtClean="0">
                <a:latin typeface="Microsoft YaHei" panose="020B0503020204020204" pitchFamily="34" charset="-122"/>
                <a:ea typeface="Microsoft YaHei" panose="020B0503020204020204" pitchFamily="34" charset="-122"/>
                <a:cs typeface="微软雅黑" charset="0"/>
              </a:rPr>
              <a:t>Level </a:t>
            </a:r>
            <a:r>
              <a:rPr kumimoji="1" lang="en-US" altLang="zh-CN" sz="2000" dirty="0">
                <a:latin typeface="Microsoft YaHei" panose="020B0503020204020204" pitchFamily="34" charset="-122"/>
                <a:ea typeface="Microsoft YaHei" panose="020B0503020204020204" pitchFamily="34" charset="-122"/>
                <a:cs typeface="微软雅黑" charset="0"/>
              </a:rPr>
              <a:t>2</a:t>
            </a:r>
            <a:r>
              <a:rPr kumimoji="1" lang="zh-CN" altLang="en-US" sz="2000" dirty="0">
                <a:latin typeface="Microsoft YaHei" panose="020B0503020204020204" pitchFamily="34" charset="-122"/>
                <a:ea typeface="Microsoft YaHei" panose="020B0503020204020204" pitchFamily="34" charset="-122"/>
                <a:cs typeface="微软雅黑" charset="0"/>
              </a:rPr>
              <a:t>：与 </a:t>
            </a:r>
            <a:r>
              <a:rPr kumimoji="1" lang="en-US" altLang="zh-CN" sz="2000" dirty="0">
                <a:latin typeface="Microsoft YaHei" panose="020B0503020204020204" pitchFamily="34" charset="-122"/>
                <a:ea typeface="Microsoft YaHei" panose="020B0503020204020204" pitchFamily="34" charset="-122"/>
                <a:cs typeface="微软雅黑" charset="0"/>
              </a:rPr>
              <a:t>Level1 </a:t>
            </a:r>
            <a:r>
              <a:rPr kumimoji="1" lang="zh-CN" altLang="en-US" sz="2000" dirty="0">
                <a:latin typeface="Microsoft YaHei" panose="020B0503020204020204" pitchFamily="34" charset="-122"/>
                <a:ea typeface="Microsoft YaHei" panose="020B0503020204020204" pitchFamily="34" charset="-122"/>
                <a:cs typeface="微软雅黑" charset="0"/>
              </a:rPr>
              <a:t>直接同步的参考终端；</a:t>
            </a:r>
          </a:p>
          <a:p>
            <a:pPr marL="417830" marR="471805" indent="-342900">
              <a:lnSpc>
                <a:spcPct val="200000"/>
              </a:lnSpc>
              <a:spcAft>
                <a:spcPts val="0"/>
              </a:spcAft>
              <a:buFont typeface="Wingdings" panose="05000000000000000000" pitchFamily="2" charset="2"/>
              <a:buChar char="Ø"/>
            </a:pPr>
            <a:r>
              <a:rPr kumimoji="1" lang="en-US" altLang="zh-CN" sz="2000" dirty="0">
                <a:latin typeface="Microsoft YaHei" panose="020B0503020204020204" pitchFamily="34" charset="-122"/>
                <a:ea typeface="Microsoft YaHei" panose="020B0503020204020204" pitchFamily="34" charset="-122"/>
                <a:cs typeface="微软雅黑" charset="0"/>
              </a:rPr>
              <a:t>Level 3</a:t>
            </a:r>
            <a:r>
              <a:rPr kumimoji="1" lang="zh-CN" altLang="en-US" sz="2000" dirty="0">
                <a:latin typeface="Microsoft YaHei" panose="020B0503020204020204" pitchFamily="34" charset="-122"/>
                <a:ea typeface="Microsoft YaHei" panose="020B0503020204020204" pitchFamily="34" charset="-122"/>
                <a:cs typeface="微软雅黑" charset="0"/>
              </a:rPr>
              <a:t>：与 </a:t>
            </a:r>
            <a:r>
              <a:rPr kumimoji="1" lang="en-US" altLang="zh-CN" sz="2000" dirty="0">
                <a:latin typeface="Microsoft YaHei" panose="020B0503020204020204" pitchFamily="34" charset="-122"/>
                <a:ea typeface="Microsoft YaHei" panose="020B0503020204020204" pitchFamily="34" charset="-122"/>
                <a:cs typeface="微软雅黑" charset="0"/>
              </a:rPr>
              <a:t>Level2 </a:t>
            </a:r>
            <a:r>
              <a:rPr kumimoji="1" lang="zh-CN" altLang="en-US" sz="2000" dirty="0">
                <a:latin typeface="Microsoft YaHei" panose="020B0503020204020204" pitchFamily="34" charset="-122"/>
                <a:ea typeface="Microsoft YaHei" panose="020B0503020204020204" pitchFamily="34" charset="-122"/>
                <a:cs typeface="微软雅黑" charset="0"/>
              </a:rPr>
              <a:t>直接同步的参考终端，即与 </a:t>
            </a:r>
            <a:r>
              <a:rPr kumimoji="1" lang="en-US" altLang="zh-CN" sz="2000" dirty="0">
                <a:latin typeface="Microsoft YaHei" panose="020B0503020204020204" pitchFamily="34" charset="-122"/>
                <a:ea typeface="Microsoft YaHei" panose="020B0503020204020204" pitchFamily="34" charset="-122"/>
                <a:cs typeface="微软雅黑" charset="0"/>
              </a:rPr>
              <a:t>Level 1 </a:t>
            </a:r>
            <a:r>
              <a:rPr kumimoji="1" lang="zh-CN" altLang="en-US" sz="2000" dirty="0">
                <a:latin typeface="Microsoft YaHei" panose="020B0503020204020204" pitchFamily="34" charset="-122"/>
                <a:ea typeface="Microsoft YaHei" panose="020B0503020204020204" pitchFamily="34" charset="-122"/>
                <a:cs typeface="微软雅黑" charset="0"/>
              </a:rPr>
              <a:t>间接同步；</a:t>
            </a:r>
          </a:p>
          <a:p>
            <a:pPr marL="417830" marR="471805" indent="-342900">
              <a:lnSpc>
                <a:spcPct val="200000"/>
              </a:lnSpc>
              <a:spcAft>
                <a:spcPts val="0"/>
              </a:spcAft>
              <a:buFont typeface="Wingdings" panose="05000000000000000000" pitchFamily="2" charset="2"/>
              <a:buChar char="Ø"/>
            </a:pPr>
            <a:r>
              <a:rPr kumimoji="1" lang="en-US" altLang="zh-CN" sz="2000" dirty="0">
                <a:latin typeface="Microsoft YaHei" panose="020B0503020204020204" pitchFamily="34" charset="-122"/>
                <a:ea typeface="Microsoft YaHei" panose="020B0503020204020204" pitchFamily="34" charset="-122"/>
                <a:cs typeface="微软雅黑" charset="0"/>
              </a:rPr>
              <a:t>Level 4</a:t>
            </a:r>
            <a:r>
              <a:rPr kumimoji="1" lang="zh-CN" altLang="en-US" sz="2000" dirty="0">
                <a:latin typeface="Microsoft YaHei" panose="020B0503020204020204" pitchFamily="34" charset="-122"/>
                <a:ea typeface="Microsoft YaHei" panose="020B0503020204020204" pitchFamily="34" charset="-122"/>
                <a:cs typeface="微软雅黑" charset="0"/>
              </a:rPr>
              <a:t>：其他参考终端</a:t>
            </a:r>
            <a:r>
              <a:rPr kumimoji="1" lang="zh-CN" altLang="en-US" sz="2000" dirty="0" smtClean="0">
                <a:latin typeface="Microsoft YaHei" panose="020B0503020204020204" pitchFamily="34" charset="-122"/>
                <a:ea typeface="Microsoft YaHei" panose="020B0503020204020204" pitchFamily="34" charset="-122"/>
                <a:cs typeface="微软雅黑" charset="0"/>
              </a:rPr>
              <a:t>。</a:t>
            </a:r>
            <a:endParaRPr kumimoji="1" lang="zh-CN" altLang="en-US" sz="2000" dirty="0">
              <a:latin typeface="Microsoft YaHei" panose="020B0503020204020204" pitchFamily="34" charset="-122"/>
              <a:ea typeface="Microsoft YaHei" panose="020B0503020204020204" pitchFamily="34" charset="-122"/>
              <a:cs typeface="微软雅黑" charset="0"/>
            </a:endParaRPr>
          </a:p>
        </p:txBody>
      </p:sp>
    </p:spTree>
    <p:extLst>
      <p:ext uri="{BB962C8B-B14F-4D97-AF65-F5344CB8AC3E}">
        <p14:creationId xmlns:p14="http://schemas.microsoft.com/office/powerpoint/2010/main" val="368470001"/>
      </p:ext>
    </p:extLst>
  </p:cSld>
  <p:clrMapOvr>
    <a:masterClrMapping/>
  </p:clrMapOvr>
  <p:transition spd="slow" advClick="0"/>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11" descr="program-ciat2020"/>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sp>
        <p:nvSpPr>
          <p:cNvPr id="2" name="标题 1"/>
          <p:cNvSpPr txBox="1"/>
          <p:nvPr/>
        </p:nvSpPr>
        <p:spPr>
          <a:xfrm>
            <a:off x="237392" y="191297"/>
            <a:ext cx="9251576" cy="679847"/>
          </a:xfrm>
          <a:prstGeom prst="rect">
            <a:avLst/>
          </a:prstGeom>
        </p:spPr>
        <p:txBody>
          <a:bodyPr vert="horz" lIns="68580" tIns="34290" rIns="68580" bIns="34290" rtlCol="0" anchor="ctr">
            <a:normAutofit/>
          </a:bodyPr>
          <a:lstStyle/>
          <a:p>
            <a:pPr lvl="0">
              <a:spcBef>
                <a:spcPct val="0"/>
              </a:spcBef>
              <a:defRPr/>
            </a:pPr>
            <a:r>
              <a:rPr lang="en-US" altLang="zh-CN" sz="34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LTE-V2X </a:t>
            </a:r>
            <a:r>
              <a:rPr lang="zh-CN" altLang="en-US" sz="34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关键</a:t>
            </a:r>
            <a:r>
              <a:rPr lang="zh-CN" altLang="en-US" sz="34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技术</a:t>
            </a:r>
            <a:endParaRPr lang="en-US" altLang="zh-CN" sz="36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8" name="矩形 7"/>
          <p:cNvSpPr/>
          <p:nvPr/>
        </p:nvSpPr>
        <p:spPr>
          <a:xfrm>
            <a:off x="237391" y="1069052"/>
            <a:ext cx="3504185" cy="584775"/>
          </a:xfrm>
          <a:prstGeom prst="rect">
            <a:avLst/>
          </a:prstGeom>
        </p:spPr>
        <p:txBody>
          <a:bodyPr wrap="square">
            <a:spAutoFit/>
          </a:bodyPr>
          <a:lstStyle/>
          <a:p>
            <a:pPr lvl="0">
              <a:spcBef>
                <a:spcPct val="0"/>
              </a:spcBef>
              <a:defRPr/>
            </a:pPr>
            <a:r>
              <a:rPr lang="zh-CN" altLang="en-US" sz="32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服务质量管理</a:t>
            </a:r>
            <a:endParaRPr lang="en-US" altLang="zh-CN" sz="32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5" name="矩形 4"/>
          <p:cNvSpPr/>
          <p:nvPr/>
        </p:nvSpPr>
        <p:spPr>
          <a:xfrm>
            <a:off x="145341" y="1671974"/>
            <a:ext cx="9236654" cy="3785652"/>
          </a:xfrm>
          <a:prstGeom prst="rect">
            <a:avLst/>
          </a:prstGeom>
        </p:spPr>
        <p:txBody>
          <a:bodyPr wrap="square">
            <a:spAutoFit/>
          </a:bodyPr>
          <a:lstStyle/>
          <a:p>
            <a:pPr marL="417830" marR="471805" indent="-342900">
              <a:lnSpc>
                <a:spcPct val="200000"/>
              </a:lnSpc>
              <a:spcAft>
                <a:spcPts val="0"/>
              </a:spcAft>
              <a:buFont typeface="Wingdings" panose="05000000000000000000" pitchFamily="2" charset="2"/>
              <a:buChar char="n"/>
            </a:pPr>
            <a:r>
              <a:rPr kumimoji="1" lang="zh-CN" altLang="en-US" sz="2000" dirty="0">
                <a:latin typeface="Microsoft YaHei" panose="020B0503020204020204" pitchFamily="34" charset="-122"/>
                <a:ea typeface="Microsoft YaHei" panose="020B0503020204020204" pitchFamily="34" charset="-122"/>
                <a:cs typeface="微软雅黑" charset="0"/>
              </a:rPr>
              <a:t>针对不同业务提供差异化的传输服务，采用 </a:t>
            </a:r>
            <a:r>
              <a:rPr kumimoji="1" lang="en-US" altLang="zh-CN" sz="2000" dirty="0" err="1">
                <a:latin typeface="Microsoft YaHei" panose="020B0503020204020204" pitchFamily="34" charset="-122"/>
                <a:ea typeface="Microsoft YaHei" panose="020B0503020204020204" pitchFamily="34" charset="-122"/>
                <a:cs typeface="微软雅黑" charset="0"/>
              </a:rPr>
              <a:t>ProSe</a:t>
            </a:r>
            <a:r>
              <a:rPr kumimoji="1" lang="en-US" altLang="zh-CN" sz="2000" dirty="0">
                <a:latin typeface="Microsoft YaHei" panose="020B0503020204020204" pitchFamily="34" charset="-122"/>
                <a:ea typeface="Microsoft YaHei" panose="020B0503020204020204" pitchFamily="34" charset="-122"/>
                <a:cs typeface="微软雅黑" charset="0"/>
              </a:rPr>
              <a:t> Per-Packet Priority (PPPP)</a:t>
            </a:r>
            <a:r>
              <a:rPr kumimoji="1" lang="zh-CN" altLang="en-US" sz="2000" dirty="0">
                <a:latin typeface="Microsoft YaHei" panose="020B0503020204020204" pitchFamily="34" charset="-122"/>
                <a:ea typeface="Microsoft YaHei" panose="020B0503020204020204" pitchFamily="34" charset="-122"/>
                <a:cs typeface="微软雅黑" charset="0"/>
              </a:rPr>
              <a:t>机制，其特点在于以逐个数据分组的粒度定义其发送优先级</a:t>
            </a:r>
            <a:r>
              <a:rPr kumimoji="1" lang="zh-CN" altLang="en-US" sz="2000" dirty="0" smtClean="0">
                <a:latin typeface="Microsoft YaHei" panose="020B0503020204020204" pitchFamily="34" charset="-122"/>
                <a:ea typeface="Microsoft YaHei" panose="020B0503020204020204" pitchFamily="34" charset="-122"/>
                <a:cs typeface="微软雅黑" charset="0"/>
              </a:rPr>
              <a:t>。</a:t>
            </a:r>
            <a:endParaRPr kumimoji="1" lang="en-US" altLang="zh-CN" sz="2000" dirty="0" smtClean="0">
              <a:latin typeface="Microsoft YaHei" panose="020B0503020204020204" pitchFamily="34" charset="-122"/>
              <a:ea typeface="Microsoft YaHei" panose="020B0503020204020204" pitchFamily="34" charset="-122"/>
              <a:cs typeface="微软雅黑" charset="0"/>
            </a:endParaRPr>
          </a:p>
          <a:p>
            <a:pPr marL="417830" marR="471805" indent="-342900">
              <a:lnSpc>
                <a:spcPct val="200000"/>
              </a:lnSpc>
              <a:spcAft>
                <a:spcPts val="0"/>
              </a:spcAft>
              <a:buFont typeface="Wingdings" panose="05000000000000000000" pitchFamily="2" charset="2"/>
              <a:buChar char="n"/>
            </a:pPr>
            <a:endParaRPr kumimoji="1" lang="zh-CN" altLang="en-US" sz="2000" dirty="0">
              <a:latin typeface="Microsoft YaHei" panose="020B0503020204020204" pitchFamily="34" charset="-122"/>
              <a:ea typeface="Microsoft YaHei" panose="020B0503020204020204" pitchFamily="34" charset="-122"/>
              <a:cs typeface="微软雅黑" charset="0"/>
            </a:endParaRPr>
          </a:p>
          <a:p>
            <a:pPr marL="417830" marR="471805" indent="-342900">
              <a:lnSpc>
                <a:spcPct val="200000"/>
              </a:lnSpc>
              <a:spcAft>
                <a:spcPts val="0"/>
              </a:spcAft>
              <a:buFont typeface="Wingdings" panose="05000000000000000000" pitchFamily="2" charset="2"/>
              <a:buChar char="n"/>
            </a:pPr>
            <a:r>
              <a:rPr kumimoji="1" lang="en-US" altLang="zh-CN" sz="2000" dirty="0" smtClean="0">
                <a:latin typeface="Microsoft YaHei" panose="020B0503020204020204" pitchFamily="34" charset="-122"/>
                <a:ea typeface="Microsoft YaHei" panose="020B0503020204020204" pitchFamily="34" charset="-122"/>
                <a:cs typeface="微软雅黑" charset="0"/>
              </a:rPr>
              <a:t>UE </a:t>
            </a:r>
            <a:r>
              <a:rPr kumimoji="1" lang="zh-CN" altLang="en-US" sz="2000" dirty="0">
                <a:latin typeface="Microsoft YaHei" panose="020B0503020204020204" pitchFamily="34" charset="-122"/>
                <a:ea typeface="Microsoft YaHei" panose="020B0503020204020204" pitchFamily="34" charset="-122"/>
                <a:cs typeface="微软雅黑" charset="0"/>
              </a:rPr>
              <a:t>将上层提供的 </a:t>
            </a:r>
            <a:r>
              <a:rPr kumimoji="1" lang="en-US" altLang="zh-CN" sz="2000" dirty="0">
                <a:latin typeface="Microsoft YaHei" panose="020B0503020204020204" pitchFamily="34" charset="-122"/>
                <a:ea typeface="Microsoft YaHei" panose="020B0503020204020204" pitchFamily="34" charset="-122"/>
                <a:cs typeface="微软雅黑" charset="0"/>
              </a:rPr>
              <a:t>V2X </a:t>
            </a:r>
            <a:r>
              <a:rPr kumimoji="1" lang="zh-CN" altLang="en-US" sz="2000" dirty="0">
                <a:latin typeface="Microsoft YaHei" panose="020B0503020204020204" pitchFamily="34" charset="-122"/>
                <a:ea typeface="Microsoft YaHei" panose="020B0503020204020204" pitchFamily="34" charset="-122"/>
                <a:cs typeface="微软雅黑" charset="0"/>
              </a:rPr>
              <a:t>数据分组的消息优先级映射为接入层使用的发送优先级 </a:t>
            </a:r>
            <a:r>
              <a:rPr kumimoji="1" lang="en-US" altLang="zh-CN" sz="2000" dirty="0">
                <a:latin typeface="Microsoft YaHei" panose="020B0503020204020204" pitchFamily="34" charset="-122"/>
                <a:ea typeface="Microsoft YaHei" panose="020B0503020204020204" pitchFamily="34" charset="-122"/>
                <a:cs typeface="微软雅黑" charset="0"/>
              </a:rPr>
              <a:t>PPPP</a:t>
            </a:r>
            <a:r>
              <a:rPr kumimoji="1" lang="zh-CN" altLang="en-US" sz="2000" dirty="0">
                <a:latin typeface="Microsoft YaHei" panose="020B0503020204020204" pitchFamily="34" charset="-122"/>
                <a:ea typeface="Microsoft YaHei" panose="020B0503020204020204" pitchFamily="34" charset="-122"/>
                <a:cs typeface="微软雅黑" charset="0"/>
              </a:rPr>
              <a:t>，并用于底层发送过程。</a:t>
            </a:r>
            <a:r>
              <a:rPr kumimoji="1" lang="en-US" altLang="zh-CN" sz="2000" dirty="0">
                <a:latin typeface="Microsoft YaHei" panose="020B0503020204020204" pitchFamily="34" charset="-122"/>
                <a:ea typeface="Microsoft YaHei" panose="020B0503020204020204" pitchFamily="34" charset="-122"/>
                <a:cs typeface="微软雅黑" charset="0"/>
              </a:rPr>
              <a:t>PPPP </a:t>
            </a:r>
            <a:r>
              <a:rPr kumimoji="1" lang="zh-CN" altLang="en-US" sz="2000" dirty="0">
                <a:latin typeface="Microsoft YaHei" panose="020B0503020204020204" pitchFamily="34" charset="-122"/>
                <a:ea typeface="Microsoft YaHei" panose="020B0503020204020204" pitchFamily="34" charset="-122"/>
                <a:cs typeface="微软雅黑" charset="0"/>
              </a:rPr>
              <a:t>取值为 </a:t>
            </a:r>
            <a:r>
              <a:rPr kumimoji="1" lang="en-US" altLang="zh-CN" sz="2000" dirty="0">
                <a:latin typeface="Microsoft YaHei" panose="020B0503020204020204" pitchFamily="34" charset="-122"/>
                <a:ea typeface="Microsoft YaHei" panose="020B0503020204020204" pitchFamily="34" charset="-122"/>
                <a:cs typeface="微软雅黑" charset="0"/>
              </a:rPr>
              <a:t>1~8</a:t>
            </a:r>
            <a:r>
              <a:rPr kumimoji="1" lang="zh-CN" altLang="en-US" sz="2000" dirty="0">
                <a:latin typeface="Microsoft YaHei" panose="020B0503020204020204" pitchFamily="34" charset="-122"/>
                <a:ea typeface="Microsoft YaHei" panose="020B0503020204020204" pitchFamily="34" charset="-122"/>
                <a:cs typeface="微软雅黑" charset="0"/>
              </a:rPr>
              <a:t>（</a:t>
            </a:r>
            <a:r>
              <a:rPr kumimoji="1" lang="en-US" altLang="zh-CN" sz="2000" dirty="0">
                <a:latin typeface="Microsoft YaHei" panose="020B0503020204020204" pitchFamily="34" charset="-122"/>
                <a:ea typeface="Microsoft YaHei" panose="020B0503020204020204" pitchFamily="34" charset="-122"/>
                <a:cs typeface="微软雅黑" charset="0"/>
              </a:rPr>
              <a:t>1 </a:t>
            </a:r>
            <a:r>
              <a:rPr kumimoji="1" lang="zh-CN" altLang="en-US" sz="2000" dirty="0">
                <a:latin typeface="Microsoft YaHei" panose="020B0503020204020204" pitchFamily="34" charset="-122"/>
                <a:ea typeface="Microsoft YaHei" panose="020B0503020204020204" pitchFamily="34" charset="-122"/>
                <a:cs typeface="微软雅黑" charset="0"/>
              </a:rPr>
              <a:t>代表最高优先级，</a:t>
            </a:r>
            <a:r>
              <a:rPr kumimoji="1" lang="en-US" altLang="zh-CN" sz="2000" dirty="0">
                <a:latin typeface="Microsoft YaHei" panose="020B0503020204020204" pitchFamily="34" charset="-122"/>
                <a:ea typeface="Microsoft YaHei" panose="020B0503020204020204" pitchFamily="34" charset="-122"/>
                <a:cs typeface="微软雅黑" charset="0"/>
              </a:rPr>
              <a:t>8 </a:t>
            </a:r>
            <a:r>
              <a:rPr kumimoji="1" lang="zh-CN" altLang="en-US" sz="2000" dirty="0">
                <a:latin typeface="Microsoft YaHei" panose="020B0503020204020204" pitchFamily="34" charset="-122"/>
                <a:ea typeface="Microsoft YaHei" panose="020B0503020204020204" pitchFamily="34" charset="-122"/>
                <a:cs typeface="微软雅黑" charset="0"/>
              </a:rPr>
              <a:t>代表最低优先级）</a:t>
            </a:r>
            <a:r>
              <a:rPr kumimoji="1" lang="zh-CN" altLang="en-US" sz="2000" dirty="0" smtClean="0">
                <a:latin typeface="Microsoft YaHei" panose="020B0503020204020204" pitchFamily="34" charset="-122"/>
                <a:ea typeface="Microsoft YaHei" panose="020B0503020204020204" pitchFamily="34" charset="-122"/>
                <a:cs typeface="微软雅黑" charset="0"/>
              </a:rPr>
              <a:t>。</a:t>
            </a:r>
            <a:endParaRPr kumimoji="1" lang="zh-CN" altLang="en-US" sz="2000" dirty="0">
              <a:latin typeface="Microsoft YaHei" panose="020B0503020204020204" pitchFamily="34" charset="-122"/>
              <a:ea typeface="Microsoft YaHei" panose="020B0503020204020204" pitchFamily="34" charset="-122"/>
              <a:cs typeface="微软雅黑" charset="0"/>
            </a:endParaRPr>
          </a:p>
        </p:txBody>
      </p:sp>
    </p:spTree>
    <p:extLst>
      <p:ext uri="{BB962C8B-B14F-4D97-AF65-F5344CB8AC3E}">
        <p14:creationId xmlns:p14="http://schemas.microsoft.com/office/powerpoint/2010/main" val="3557060478"/>
      </p:ext>
    </p:extLst>
  </p:cSld>
  <p:clrMapOvr>
    <a:masterClrMapping/>
  </p:clrMapOvr>
  <p:transition spd="slow" advClick="0"/>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11" descr="program-ciat2020"/>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sp>
        <p:nvSpPr>
          <p:cNvPr id="2" name="标题 1"/>
          <p:cNvSpPr txBox="1"/>
          <p:nvPr/>
        </p:nvSpPr>
        <p:spPr>
          <a:xfrm>
            <a:off x="237392" y="191297"/>
            <a:ext cx="9251576" cy="679847"/>
          </a:xfrm>
          <a:prstGeom prst="rect">
            <a:avLst/>
          </a:prstGeom>
        </p:spPr>
        <p:txBody>
          <a:bodyPr vert="horz" lIns="68580" tIns="34290" rIns="68580" bIns="34290" rtlCol="0" anchor="ctr">
            <a:normAutofit/>
          </a:bodyPr>
          <a:lstStyle/>
          <a:p>
            <a:pPr lvl="0">
              <a:spcBef>
                <a:spcPct val="0"/>
              </a:spcBef>
              <a:defRPr/>
            </a:pPr>
            <a:r>
              <a:rPr lang="en-US" altLang="zh-CN" sz="34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LTE-V2X </a:t>
            </a:r>
            <a:r>
              <a:rPr lang="zh-CN" altLang="en-US" sz="34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关键</a:t>
            </a:r>
            <a:r>
              <a:rPr lang="zh-CN" altLang="en-US" sz="34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技术</a:t>
            </a:r>
            <a:endParaRPr lang="en-US" altLang="zh-CN" sz="36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8" name="矩形 7"/>
          <p:cNvSpPr/>
          <p:nvPr/>
        </p:nvSpPr>
        <p:spPr>
          <a:xfrm>
            <a:off x="237391" y="1069052"/>
            <a:ext cx="3504185" cy="584775"/>
          </a:xfrm>
          <a:prstGeom prst="rect">
            <a:avLst/>
          </a:prstGeom>
        </p:spPr>
        <p:txBody>
          <a:bodyPr wrap="square">
            <a:spAutoFit/>
          </a:bodyPr>
          <a:lstStyle/>
          <a:p>
            <a:pPr lvl="0">
              <a:spcBef>
                <a:spcPct val="0"/>
              </a:spcBef>
              <a:defRPr/>
            </a:pPr>
            <a:r>
              <a:rPr lang="zh-CN" altLang="en-US" sz="32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拥塞控制</a:t>
            </a:r>
            <a:endParaRPr lang="en-US" altLang="zh-CN" sz="32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5" name="矩形 4"/>
          <p:cNvSpPr/>
          <p:nvPr/>
        </p:nvSpPr>
        <p:spPr>
          <a:xfrm>
            <a:off x="145341" y="1671974"/>
            <a:ext cx="9236654" cy="4401205"/>
          </a:xfrm>
          <a:prstGeom prst="rect">
            <a:avLst/>
          </a:prstGeom>
        </p:spPr>
        <p:txBody>
          <a:bodyPr wrap="square">
            <a:spAutoFit/>
          </a:bodyPr>
          <a:lstStyle/>
          <a:p>
            <a:pPr marL="417830" marR="471805" indent="-342900">
              <a:lnSpc>
                <a:spcPct val="200000"/>
              </a:lnSpc>
              <a:spcAft>
                <a:spcPts val="0"/>
              </a:spcAft>
              <a:buFont typeface="Wingdings" panose="05000000000000000000" pitchFamily="2" charset="2"/>
              <a:buChar char="n"/>
            </a:pPr>
            <a:r>
              <a:rPr kumimoji="1" lang="zh-CN" altLang="en-US" sz="2000" b="1" dirty="0">
                <a:latin typeface="Microsoft YaHei" panose="020B0503020204020204" pitchFamily="34" charset="-122"/>
                <a:ea typeface="Microsoft YaHei" panose="020B0503020204020204" pitchFamily="34" charset="-122"/>
                <a:cs typeface="微软雅黑" charset="0"/>
              </a:rPr>
              <a:t>核心：</a:t>
            </a:r>
            <a:r>
              <a:rPr kumimoji="1" lang="zh-CN" altLang="en-US" sz="2000" dirty="0">
                <a:latin typeface="Microsoft YaHei" panose="020B0503020204020204" pitchFamily="34" charset="-122"/>
                <a:ea typeface="Microsoft YaHei" panose="020B0503020204020204" pitchFamily="34" charset="-122"/>
                <a:cs typeface="微软雅黑" charset="0"/>
              </a:rPr>
              <a:t>保证各个车辆之间传输资源占用的公平性，并且优先保证高优先级数据分组的发送</a:t>
            </a:r>
            <a:r>
              <a:rPr kumimoji="1" lang="zh-CN" altLang="en-US" sz="2000" dirty="0" smtClean="0">
                <a:latin typeface="Microsoft YaHei" panose="020B0503020204020204" pitchFamily="34" charset="-122"/>
                <a:ea typeface="Microsoft YaHei" panose="020B0503020204020204" pitchFamily="34" charset="-122"/>
                <a:cs typeface="微软雅黑" charset="0"/>
              </a:rPr>
              <a:t>。</a:t>
            </a:r>
            <a:endParaRPr kumimoji="1" lang="en-US" altLang="zh-CN" sz="2000" dirty="0" smtClean="0">
              <a:latin typeface="Microsoft YaHei" panose="020B0503020204020204" pitchFamily="34" charset="-122"/>
              <a:ea typeface="Microsoft YaHei" panose="020B0503020204020204" pitchFamily="34" charset="-122"/>
              <a:cs typeface="微软雅黑" charset="0"/>
            </a:endParaRPr>
          </a:p>
          <a:p>
            <a:pPr marL="417830" marR="471805" indent="-342900">
              <a:lnSpc>
                <a:spcPct val="200000"/>
              </a:lnSpc>
              <a:spcAft>
                <a:spcPts val="0"/>
              </a:spcAft>
              <a:buFont typeface="Wingdings" panose="05000000000000000000" pitchFamily="2" charset="2"/>
              <a:buChar char="n"/>
            </a:pPr>
            <a:r>
              <a:rPr kumimoji="1" lang="zh-CN" altLang="en-US" sz="2000" b="1" dirty="0">
                <a:latin typeface="Microsoft YaHei" panose="020B0503020204020204" pitchFamily="34" charset="-122"/>
                <a:ea typeface="Microsoft YaHei" panose="020B0503020204020204" pitchFamily="34" charset="-122"/>
                <a:cs typeface="微软雅黑" charset="0"/>
              </a:rPr>
              <a:t>作用：</a:t>
            </a:r>
            <a:r>
              <a:rPr kumimoji="1" lang="zh-CN" altLang="en-US" sz="2000" dirty="0">
                <a:latin typeface="Microsoft YaHei" panose="020B0503020204020204" pitchFamily="34" charset="-122"/>
                <a:ea typeface="Microsoft YaHei" panose="020B0503020204020204" pitchFamily="34" charset="-122"/>
                <a:cs typeface="微软雅黑" charset="0"/>
              </a:rPr>
              <a:t>支持拥塞控制机制，可以提高系统资源利用率，减少系统干扰，提高消息接收的可靠性</a:t>
            </a:r>
            <a:r>
              <a:rPr kumimoji="1" lang="zh-CN" altLang="en-US" sz="2000" dirty="0" smtClean="0">
                <a:latin typeface="Microsoft YaHei" panose="020B0503020204020204" pitchFamily="34" charset="-122"/>
                <a:ea typeface="Microsoft YaHei" panose="020B0503020204020204" pitchFamily="34" charset="-122"/>
                <a:cs typeface="微软雅黑" charset="0"/>
              </a:rPr>
              <a:t>。</a:t>
            </a:r>
            <a:endParaRPr kumimoji="1" lang="zh-CN" altLang="en-US" sz="2000" dirty="0">
              <a:latin typeface="Microsoft YaHei" panose="020B0503020204020204" pitchFamily="34" charset="-122"/>
              <a:ea typeface="Microsoft YaHei" panose="020B0503020204020204" pitchFamily="34" charset="-122"/>
              <a:cs typeface="微软雅黑" charset="0"/>
            </a:endParaRPr>
          </a:p>
          <a:p>
            <a:pPr marL="417830" marR="471805" indent="-342900">
              <a:lnSpc>
                <a:spcPct val="200000"/>
              </a:lnSpc>
              <a:spcAft>
                <a:spcPts val="0"/>
              </a:spcAft>
              <a:buFont typeface="Wingdings" panose="05000000000000000000" pitchFamily="2" charset="2"/>
              <a:buChar char="n"/>
            </a:pPr>
            <a:r>
              <a:rPr kumimoji="1" lang="en-US" altLang="zh-CN" sz="2000" dirty="0">
                <a:latin typeface="Microsoft YaHei" panose="020B0503020204020204" pitchFamily="34" charset="-122"/>
                <a:ea typeface="Microsoft YaHei" panose="020B0503020204020204" pitchFamily="34" charset="-122"/>
                <a:cs typeface="微软雅黑" charset="0"/>
              </a:rPr>
              <a:t>LTE-V2X </a:t>
            </a:r>
            <a:r>
              <a:rPr kumimoji="1" lang="zh-CN" altLang="en-US" sz="2000" dirty="0">
                <a:latin typeface="Microsoft YaHei" panose="020B0503020204020204" pitchFamily="34" charset="-122"/>
                <a:ea typeface="Microsoft YaHei" panose="020B0503020204020204" pitchFamily="34" charset="-122"/>
                <a:cs typeface="微软雅黑" charset="0"/>
              </a:rPr>
              <a:t>标准未规定具体的拥塞控制算法，仅定义了拥塞控制的基本框架，包括信道拥塞状态的衡量标准和拥塞状态与发送参数之间的映射关系</a:t>
            </a:r>
            <a:r>
              <a:rPr kumimoji="1" lang="zh-CN" altLang="en-US" sz="2000" dirty="0" smtClean="0">
                <a:latin typeface="Microsoft YaHei" panose="020B0503020204020204" pitchFamily="34" charset="-122"/>
                <a:ea typeface="Microsoft YaHei" panose="020B0503020204020204" pitchFamily="34" charset="-122"/>
                <a:cs typeface="微软雅黑" charset="0"/>
              </a:rPr>
              <a:t>。衡量</a:t>
            </a:r>
            <a:r>
              <a:rPr kumimoji="1" lang="zh-CN" altLang="en-US" sz="2000" dirty="0">
                <a:latin typeface="Microsoft YaHei" panose="020B0503020204020204" pitchFamily="34" charset="-122"/>
                <a:ea typeface="Microsoft YaHei" panose="020B0503020204020204" pitchFamily="34" charset="-122"/>
                <a:cs typeface="微软雅黑" charset="0"/>
              </a:rPr>
              <a:t>标准为接收 </a:t>
            </a:r>
            <a:r>
              <a:rPr kumimoji="1" lang="en-US" altLang="zh-CN" sz="2000" dirty="0">
                <a:latin typeface="Microsoft YaHei" panose="020B0503020204020204" pitchFamily="34" charset="-122"/>
                <a:ea typeface="Microsoft YaHei" panose="020B0503020204020204" pitchFamily="34" charset="-122"/>
                <a:cs typeface="微软雅黑" charset="0"/>
              </a:rPr>
              <a:t>UE </a:t>
            </a:r>
            <a:r>
              <a:rPr kumimoji="1" lang="zh-CN" altLang="en-US" sz="2000" dirty="0">
                <a:latin typeface="Microsoft YaHei" panose="020B0503020204020204" pitchFamily="34" charset="-122"/>
                <a:ea typeface="Microsoft YaHei" panose="020B0503020204020204" pitchFamily="34" charset="-122"/>
                <a:cs typeface="微软雅黑" charset="0"/>
              </a:rPr>
              <a:t>角度的资源池粒度的信道忙比例</a:t>
            </a:r>
            <a:r>
              <a:rPr kumimoji="1" lang="zh-CN" altLang="en-US" sz="2000" dirty="0" smtClean="0">
                <a:latin typeface="Microsoft YaHei" panose="020B0503020204020204" pitchFamily="34" charset="-122"/>
                <a:ea typeface="Microsoft YaHei" panose="020B0503020204020204" pitchFamily="34" charset="-122"/>
                <a:cs typeface="微软雅黑" charset="0"/>
              </a:rPr>
              <a:t>（</a:t>
            </a:r>
            <a:r>
              <a:rPr kumimoji="1" lang="en-US" altLang="zh-CN" sz="2000" dirty="0" smtClean="0">
                <a:latin typeface="Microsoft YaHei" panose="020B0503020204020204" pitchFamily="34" charset="-122"/>
                <a:ea typeface="Microsoft YaHei" panose="020B0503020204020204" pitchFamily="34" charset="-122"/>
                <a:cs typeface="微软雅黑" charset="0"/>
              </a:rPr>
              <a:t>CBR</a:t>
            </a:r>
            <a:r>
              <a:rPr kumimoji="1" lang="zh-CN" altLang="en-US" sz="2000" dirty="0">
                <a:latin typeface="Microsoft YaHei" panose="020B0503020204020204" pitchFamily="34" charset="-122"/>
                <a:ea typeface="Microsoft YaHei" panose="020B0503020204020204" pitchFamily="34" charset="-122"/>
                <a:cs typeface="微软雅黑" charset="0"/>
              </a:rPr>
              <a:t>）。</a:t>
            </a:r>
          </a:p>
        </p:txBody>
      </p:sp>
    </p:spTree>
    <p:extLst>
      <p:ext uri="{BB962C8B-B14F-4D97-AF65-F5344CB8AC3E}">
        <p14:creationId xmlns:p14="http://schemas.microsoft.com/office/powerpoint/2010/main" val="2896871153"/>
      </p:ext>
    </p:extLst>
  </p:cSld>
  <p:clrMapOvr>
    <a:masterClrMapping/>
  </p:clrMapOvr>
  <p:transition spd="slow" advClick="0"/>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11" descr="program-ciat2020"/>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sp>
        <p:nvSpPr>
          <p:cNvPr id="2" name="标题 1"/>
          <p:cNvSpPr txBox="1"/>
          <p:nvPr/>
        </p:nvSpPr>
        <p:spPr>
          <a:xfrm>
            <a:off x="237392" y="191297"/>
            <a:ext cx="9251576" cy="679847"/>
          </a:xfrm>
          <a:prstGeom prst="rect">
            <a:avLst/>
          </a:prstGeom>
        </p:spPr>
        <p:txBody>
          <a:bodyPr vert="horz" lIns="68580" tIns="34290" rIns="68580" bIns="34290" rtlCol="0" anchor="ctr">
            <a:normAutofit/>
          </a:bodyPr>
          <a:lstStyle/>
          <a:p>
            <a:pPr lvl="0">
              <a:spcBef>
                <a:spcPct val="0"/>
              </a:spcBef>
              <a:defRPr/>
            </a:pPr>
            <a:r>
              <a:rPr lang="en-US" altLang="zh-CN" sz="34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LTE-V2X </a:t>
            </a:r>
            <a:r>
              <a:rPr lang="zh-CN" altLang="en-US" sz="34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关键</a:t>
            </a:r>
            <a:r>
              <a:rPr lang="zh-CN" altLang="en-US" sz="34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技术</a:t>
            </a:r>
            <a:endParaRPr lang="en-US" altLang="zh-CN" sz="36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8" name="矩形 7"/>
          <p:cNvSpPr/>
          <p:nvPr/>
        </p:nvSpPr>
        <p:spPr>
          <a:xfrm>
            <a:off x="237391" y="1069052"/>
            <a:ext cx="6797891" cy="584775"/>
          </a:xfrm>
          <a:prstGeom prst="rect">
            <a:avLst/>
          </a:prstGeom>
        </p:spPr>
        <p:txBody>
          <a:bodyPr wrap="square">
            <a:spAutoFit/>
          </a:bodyPr>
          <a:lstStyle/>
          <a:p>
            <a:pPr lvl="0">
              <a:spcBef>
                <a:spcPct val="0"/>
              </a:spcBef>
              <a:defRPr/>
            </a:pPr>
            <a:r>
              <a:rPr lang="en-US" altLang="zh-CN" sz="32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LTE-V2X </a:t>
            </a:r>
            <a:r>
              <a:rPr lang="zh-CN" altLang="en-US" sz="32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对 </a:t>
            </a:r>
            <a:r>
              <a:rPr lang="en-US" altLang="zh-CN" sz="3200" b="1" dirty="0" err="1">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Uu</a:t>
            </a:r>
            <a:r>
              <a:rPr lang="en-US" altLang="zh-CN" sz="32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 </a:t>
            </a:r>
            <a:r>
              <a:rPr lang="zh-CN" altLang="en-US" sz="32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接口的增强技术</a:t>
            </a:r>
            <a:endParaRPr lang="en-US" altLang="zh-CN" sz="32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5" name="矩形 4"/>
          <p:cNvSpPr/>
          <p:nvPr/>
        </p:nvSpPr>
        <p:spPr>
          <a:xfrm>
            <a:off x="145341" y="1671974"/>
            <a:ext cx="9236654" cy="4708981"/>
          </a:xfrm>
          <a:prstGeom prst="rect">
            <a:avLst/>
          </a:prstGeom>
        </p:spPr>
        <p:txBody>
          <a:bodyPr wrap="square">
            <a:spAutoFit/>
          </a:bodyPr>
          <a:lstStyle/>
          <a:p>
            <a:pPr marL="417830" marR="471805" indent="-342900">
              <a:lnSpc>
                <a:spcPct val="150000"/>
              </a:lnSpc>
              <a:spcAft>
                <a:spcPts val="0"/>
              </a:spcAft>
              <a:buFont typeface="Wingdings" panose="05000000000000000000" pitchFamily="2" charset="2"/>
              <a:buChar char="n"/>
            </a:pPr>
            <a:r>
              <a:rPr kumimoji="1" lang="en-US" altLang="zh-CN" sz="2000" b="1" dirty="0">
                <a:latin typeface="Microsoft YaHei" panose="020B0503020204020204" pitchFamily="34" charset="-122"/>
                <a:ea typeface="Microsoft YaHei" panose="020B0503020204020204" pitchFamily="34" charset="-122"/>
                <a:cs typeface="微软雅黑" charset="0"/>
              </a:rPr>
              <a:t>V2X </a:t>
            </a:r>
            <a:r>
              <a:rPr kumimoji="1" lang="zh-CN" altLang="en-US" sz="2000" b="1" dirty="0">
                <a:latin typeface="Microsoft YaHei" panose="020B0503020204020204" pitchFamily="34" charset="-122"/>
                <a:ea typeface="Microsoft YaHei" panose="020B0503020204020204" pitchFamily="34" charset="-122"/>
                <a:cs typeface="微软雅黑" charset="0"/>
              </a:rPr>
              <a:t>业务质量指示</a:t>
            </a:r>
            <a:r>
              <a:rPr kumimoji="1" lang="zh-CN" altLang="en-US" sz="2000" b="1" dirty="0" smtClean="0">
                <a:latin typeface="Microsoft YaHei" panose="020B0503020204020204" pitchFamily="34" charset="-122"/>
                <a:ea typeface="Microsoft YaHei" panose="020B0503020204020204" pitchFamily="34" charset="-122"/>
                <a:cs typeface="微软雅黑" charset="0"/>
              </a:rPr>
              <a:t>。</a:t>
            </a:r>
            <a:r>
              <a:rPr kumimoji="1" lang="zh-CN" altLang="en-US" sz="2000" dirty="0" smtClean="0">
                <a:latin typeface="Microsoft YaHei" panose="020B0503020204020204" pitchFamily="34" charset="-122"/>
                <a:ea typeface="Microsoft YaHei" panose="020B0503020204020204" pitchFamily="34" charset="-122"/>
                <a:cs typeface="微软雅黑" charset="0"/>
              </a:rPr>
              <a:t>在 </a:t>
            </a:r>
            <a:r>
              <a:rPr kumimoji="1" lang="en-US" altLang="zh-CN" sz="2000" dirty="0">
                <a:latin typeface="Microsoft YaHei" panose="020B0503020204020204" pitchFamily="34" charset="-122"/>
                <a:ea typeface="Microsoft YaHei" panose="020B0503020204020204" pitchFamily="34" charset="-122"/>
                <a:cs typeface="微软雅黑" charset="0"/>
              </a:rPr>
              <a:t>3GPP </a:t>
            </a:r>
            <a:r>
              <a:rPr kumimoji="1" lang="zh-CN" altLang="en-US" sz="2000" dirty="0">
                <a:latin typeface="Microsoft YaHei" panose="020B0503020204020204" pitchFamily="34" charset="-122"/>
                <a:ea typeface="Microsoft YaHei" panose="020B0503020204020204" pitchFamily="34" charset="-122"/>
                <a:cs typeface="微软雅黑" charset="0"/>
              </a:rPr>
              <a:t>标准中，服务质量通常用服务质量分类标识 </a:t>
            </a:r>
            <a:r>
              <a:rPr kumimoji="1" lang="zh-CN" altLang="en-US" sz="2000" dirty="0" smtClean="0">
                <a:latin typeface="Microsoft YaHei" panose="020B0503020204020204" pitchFamily="34" charset="-122"/>
                <a:ea typeface="Microsoft YaHei" panose="020B0503020204020204" pitchFamily="34" charset="-122"/>
                <a:cs typeface="微软雅黑" charset="0"/>
              </a:rPr>
              <a:t>（</a:t>
            </a:r>
            <a:r>
              <a:rPr kumimoji="1" lang="en-US" altLang="zh-CN" sz="2000" dirty="0" smtClean="0">
                <a:latin typeface="Microsoft YaHei" panose="020B0503020204020204" pitchFamily="34" charset="-122"/>
                <a:ea typeface="Microsoft YaHei" panose="020B0503020204020204" pitchFamily="34" charset="-122"/>
                <a:cs typeface="微软雅黑" charset="0"/>
              </a:rPr>
              <a:t>QCI</a:t>
            </a:r>
            <a:r>
              <a:rPr kumimoji="1" lang="zh-CN" altLang="en-US" sz="2000" dirty="0">
                <a:latin typeface="Microsoft YaHei" panose="020B0503020204020204" pitchFamily="34" charset="-122"/>
                <a:ea typeface="Microsoft YaHei" panose="020B0503020204020204" pitchFamily="34" charset="-122"/>
                <a:cs typeface="微软雅黑" charset="0"/>
              </a:rPr>
              <a:t>）定义，</a:t>
            </a:r>
            <a:r>
              <a:rPr kumimoji="1" lang="en-US" altLang="zh-CN" sz="2000" dirty="0">
                <a:latin typeface="Microsoft YaHei" panose="020B0503020204020204" pitchFamily="34" charset="-122"/>
                <a:ea typeface="Microsoft YaHei" panose="020B0503020204020204" pitchFamily="34" charset="-122"/>
                <a:cs typeface="微软雅黑" charset="0"/>
              </a:rPr>
              <a:t>QCI </a:t>
            </a:r>
            <a:r>
              <a:rPr kumimoji="1" lang="zh-CN" altLang="en-US" sz="2000" dirty="0">
                <a:latin typeface="Microsoft YaHei" panose="020B0503020204020204" pitchFamily="34" charset="-122"/>
                <a:ea typeface="Microsoft YaHei" panose="020B0503020204020204" pitchFamily="34" charset="-122"/>
                <a:cs typeface="微软雅黑" charset="0"/>
              </a:rPr>
              <a:t>是一个数量等级，代表了系统应该为某项业务提供的业务质量</a:t>
            </a:r>
            <a:r>
              <a:rPr kumimoji="1" lang="zh-CN" altLang="en-US" sz="2000" dirty="0" smtClean="0">
                <a:latin typeface="Microsoft YaHei" panose="020B0503020204020204" pitchFamily="34" charset="-122"/>
                <a:ea typeface="Microsoft YaHei" panose="020B0503020204020204" pitchFamily="34" charset="-122"/>
                <a:cs typeface="微软雅黑" charset="0"/>
              </a:rPr>
              <a:t>特性，影响</a:t>
            </a:r>
            <a:r>
              <a:rPr kumimoji="1" lang="zh-CN" altLang="en-US" sz="2000" dirty="0">
                <a:latin typeface="Microsoft YaHei" panose="020B0503020204020204" pitchFamily="34" charset="-122"/>
                <a:ea typeface="Microsoft YaHei" panose="020B0503020204020204" pitchFamily="34" charset="-122"/>
                <a:cs typeface="微软雅黑" charset="0"/>
              </a:rPr>
              <a:t>的是基站对 </a:t>
            </a:r>
            <a:r>
              <a:rPr kumimoji="1" lang="en-US" altLang="zh-CN" sz="2000" dirty="0" err="1">
                <a:latin typeface="Microsoft YaHei" panose="020B0503020204020204" pitchFamily="34" charset="-122"/>
                <a:ea typeface="Microsoft YaHei" panose="020B0503020204020204" pitchFamily="34" charset="-122"/>
                <a:cs typeface="微软雅黑" charset="0"/>
              </a:rPr>
              <a:t>Uu</a:t>
            </a:r>
            <a:r>
              <a:rPr kumimoji="1" lang="en-US" altLang="zh-CN" sz="2000" dirty="0">
                <a:latin typeface="Microsoft YaHei" panose="020B0503020204020204" pitchFamily="34" charset="-122"/>
                <a:ea typeface="Microsoft YaHei" panose="020B0503020204020204" pitchFamily="34" charset="-122"/>
                <a:cs typeface="微软雅黑" charset="0"/>
              </a:rPr>
              <a:t> </a:t>
            </a:r>
            <a:r>
              <a:rPr kumimoji="1" lang="zh-CN" altLang="en-US" sz="2000" dirty="0">
                <a:latin typeface="Microsoft YaHei" panose="020B0503020204020204" pitchFamily="34" charset="-122"/>
                <a:ea typeface="Microsoft YaHei" panose="020B0503020204020204" pitchFamily="34" charset="-122"/>
                <a:cs typeface="微软雅黑" charset="0"/>
              </a:rPr>
              <a:t>的调度行为，对 </a:t>
            </a:r>
            <a:r>
              <a:rPr kumimoji="1" lang="en-US" altLang="zh-CN" sz="2000" dirty="0">
                <a:latin typeface="Microsoft YaHei" panose="020B0503020204020204" pitchFamily="34" charset="-122"/>
                <a:ea typeface="Microsoft YaHei" panose="020B0503020204020204" pitchFamily="34" charset="-122"/>
                <a:cs typeface="微软雅黑" charset="0"/>
              </a:rPr>
              <a:t>UE </a:t>
            </a:r>
            <a:r>
              <a:rPr kumimoji="1" lang="zh-CN" altLang="en-US" sz="2000" dirty="0">
                <a:latin typeface="Microsoft YaHei" panose="020B0503020204020204" pitchFamily="34" charset="-122"/>
                <a:ea typeface="Microsoft YaHei" panose="020B0503020204020204" pitchFamily="34" charset="-122"/>
                <a:cs typeface="微软雅黑" charset="0"/>
              </a:rPr>
              <a:t>无直接</a:t>
            </a:r>
            <a:r>
              <a:rPr kumimoji="1" lang="zh-CN" altLang="en-US" sz="2000" dirty="0" smtClean="0">
                <a:latin typeface="Microsoft YaHei" panose="020B0503020204020204" pitchFamily="34" charset="-122"/>
                <a:ea typeface="Microsoft YaHei" panose="020B0503020204020204" pitchFamily="34" charset="-122"/>
                <a:cs typeface="微软雅黑" charset="0"/>
              </a:rPr>
              <a:t>影响。</a:t>
            </a:r>
            <a:endParaRPr kumimoji="1" lang="en-US" altLang="zh-CN" sz="2000" dirty="0" smtClean="0">
              <a:latin typeface="Microsoft YaHei" panose="020B0503020204020204" pitchFamily="34" charset="-122"/>
              <a:ea typeface="Microsoft YaHei" panose="020B0503020204020204" pitchFamily="34" charset="-122"/>
              <a:cs typeface="微软雅黑" charset="0"/>
            </a:endParaRPr>
          </a:p>
          <a:p>
            <a:pPr marL="417830" marR="471805" indent="-342900">
              <a:lnSpc>
                <a:spcPct val="150000"/>
              </a:lnSpc>
              <a:spcAft>
                <a:spcPts val="0"/>
              </a:spcAft>
              <a:buFont typeface="Wingdings" panose="05000000000000000000" pitchFamily="2" charset="2"/>
              <a:buChar char="n"/>
            </a:pPr>
            <a:endParaRPr kumimoji="1" lang="en-US" altLang="zh-CN" sz="2000" dirty="0" smtClean="0">
              <a:latin typeface="Microsoft YaHei" panose="020B0503020204020204" pitchFamily="34" charset="-122"/>
              <a:ea typeface="Microsoft YaHei" panose="020B0503020204020204" pitchFamily="34" charset="-122"/>
              <a:cs typeface="微软雅黑" charset="0"/>
            </a:endParaRPr>
          </a:p>
          <a:p>
            <a:pPr marL="417830" marR="471805" indent="-342900">
              <a:lnSpc>
                <a:spcPct val="150000"/>
              </a:lnSpc>
              <a:spcAft>
                <a:spcPts val="0"/>
              </a:spcAft>
              <a:buFont typeface="Wingdings" panose="05000000000000000000" pitchFamily="2" charset="2"/>
              <a:buChar char="n"/>
            </a:pPr>
            <a:r>
              <a:rPr kumimoji="1" lang="zh-CN" altLang="en-US" sz="2000" b="1" dirty="0">
                <a:latin typeface="Microsoft YaHei" panose="020B0503020204020204" pitchFamily="34" charset="-122"/>
                <a:ea typeface="Microsoft YaHei" panose="020B0503020204020204" pitchFamily="34" charset="-122"/>
                <a:cs typeface="微软雅黑" charset="0"/>
              </a:rPr>
              <a:t>上行链路半持续调度增强</a:t>
            </a:r>
            <a:r>
              <a:rPr kumimoji="1" lang="zh-CN" altLang="en-US" sz="2000" b="1" dirty="0" smtClean="0">
                <a:latin typeface="Microsoft YaHei" panose="020B0503020204020204" pitchFamily="34" charset="-122"/>
                <a:ea typeface="Microsoft YaHei" panose="020B0503020204020204" pitchFamily="34" charset="-122"/>
                <a:cs typeface="微软雅黑" charset="0"/>
              </a:rPr>
              <a:t>。</a:t>
            </a:r>
            <a:r>
              <a:rPr kumimoji="1" lang="zh-CN" altLang="en-US" sz="2000" dirty="0" smtClean="0">
                <a:latin typeface="Microsoft YaHei" panose="020B0503020204020204" pitchFamily="34" charset="-122"/>
                <a:ea typeface="Microsoft YaHei" panose="020B0503020204020204" pitchFamily="34" charset="-122"/>
                <a:cs typeface="微软雅黑" charset="0"/>
              </a:rPr>
              <a:t>为支持 </a:t>
            </a:r>
            <a:r>
              <a:rPr kumimoji="1" lang="en-US" altLang="zh-CN" sz="2000" dirty="0">
                <a:latin typeface="Microsoft YaHei" panose="020B0503020204020204" pitchFamily="34" charset="-122"/>
                <a:ea typeface="Microsoft YaHei" panose="020B0503020204020204" pitchFamily="34" charset="-122"/>
                <a:cs typeface="微软雅黑" charset="0"/>
              </a:rPr>
              <a:t>V2X </a:t>
            </a:r>
            <a:r>
              <a:rPr kumimoji="1" lang="zh-CN" altLang="en-US" sz="2000" dirty="0">
                <a:latin typeface="Microsoft YaHei" panose="020B0503020204020204" pitchFamily="34" charset="-122"/>
                <a:ea typeface="Microsoft YaHei" panose="020B0503020204020204" pitchFamily="34" charset="-122"/>
                <a:cs typeface="微软雅黑" charset="0"/>
              </a:rPr>
              <a:t>业务所呈现的多种周期性业务</a:t>
            </a:r>
            <a:r>
              <a:rPr kumimoji="1" lang="zh-CN" altLang="en-US" sz="2000" dirty="0" smtClean="0">
                <a:latin typeface="Microsoft YaHei" panose="020B0503020204020204" pitchFamily="34" charset="-122"/>
                <a:ea typeface="Microsoft YaHei" panose="020B0503020204020204" pitchFamily="34" charset="-122"/>
                <a:cs typeface="微软雅黑" charset="0"/>
              </a:rPr>
              <a:t>并发的</a:t>
            </a:r>
            <a:r>
              <a:rPr kumimoji="1" lang="zh-CN" altLang="en-US" sz="2000" dirty="0">
                <a:latin typeface="Microsoft YaHei" panose="020B0503020204020204" pitchFamily="34" charset="-122"/>
                <a:ea typeface="Microsoft YaHei" panose="020B0503020204020204" pitchFamily="34" charset="-122"/>
                <a:cs typeface="微软雅黑" charset="0"/>
              </a:rPr>
              <a:t>现象，</a:t>
            </a:r>
            <a:r>
              <a:rPr kumimoji="1" lang="en-US" altLang="zh-CN" sz="2000" dirty="0">
                <a:latin typeface="Microsoft YaHei" panose="020B0503020204020204" pitchFamily="34" charset="-122"/>
                <a:ea typeface="Microsoft YaHei" panose="020B0503020204020204" pitchFamily="34" charset="-122"/>
                <a:cs typeface="微软雅黑" charset="0"/>
              </a:rPr>
              <a:t>LTE-V2X </a:t>
            </a:r>
            <a:r>
              <a:rPr kumimoji="1" lang="zh-CN" altLang="en-US" sz="2000" dirty="0">
                <a:latin typeface="Microsoft YaHei" panose="020B0503020204020204" pitchFamily="34" charset="-122"/>
                <a:ea typeface="Microsoft YaHei" panose="020B0503020204020204" pitchFamily="34" charset="-122"/>
                <a:cs typeface="微软雅黑" charset="0"/>
              </a:rPr>
              <a:t>标准引入了上行多 </a:t>
            </a:r>
            <a:r>
              <a:rPr kumimoji="1" lang="en-US" altLang="zh-CN" sz="2000" dirty="0">
                <a:latin typeface="Microsoft YaHei" panose="020B0503020204020204" pitchFamily="34" charset="-122"/>
                <a:ea typeface="Microsoft YaHei" panose="020B0503020204020204" pitchFamily="34" charset="-122"/>
                <a:cs typeface="微软雅黑" charset="0"/>
              </a:rPr>
              <a:t>SPS </a:t>
            </a:r>
            <a:r>
              <a:rPr kumimoji="1" lang="zh-CN" altLang="en-US" sz="2000" dirty="0">
                <a:latin typeface="Microsoft YaHei" panose="020B0503020204020204" pitchFamily="34" charset="-122"/>
                <a:ea typeface="Microsoft YaHei" panose="020B0503020204020204" pitchFamily="34" charset="-122"/>
                <a:cs typeface="微软雅黑" charset="0"/>
              </a:rPr>
              <a:t>进程的</a:t>
            </a:r>
            <a:r>
              <a:rPr kumimoji="1" lang="zh-CN" altLang="en-US" sz="2000" dirty="0" smtClean="0">
                <a:latin typeface="Microsoft YaHei" panose="020B0503020204020204" pitchFamily="34" charset="-122"/>
                <a:ea typeface="Microsoft YaHei" panose="020B0503020204020204" pitchFamily="34" charset="-122"/>
                <a:cs typeface="微软雅黑" charset="0"/>
              </a:rPr>
              <a:t>设计。</a:t>
            </a:r>
            <a:endParaRPr kumimoji="1" lang="en-US" altLang="zh-CN" sz="2000" dirty="0" smtClean="0">
              <a:latin typeface="Microsoft YaHei" panose="020B0503020204020204" pitchFamily="34" charset="-122"/>
              <a:ea typeface="Microsoft YaHei" panose="020B0503020204020204" pitchFamily="34" charset="-122"/>
              <a:cs typeface="微软雅黑" charset="0"/>
            </a:endParaRPr>
          </a:p>
          <a:p>
            <a:pPr marL="417830" marR="471805" indent="-342900">
              <a:lnSpc>
                <a:spcPct val="150000"/>
              </a:lnSpc>
              <a:spcAft>
                <a:spcPts val="0"/>
              </a:spcAft>
              <a:buFont typeface="Wingdings" panose="05000000000000000000" pitchFamily="2" charset="2"/>
              <a:buChar char="n"/>
            </a:pPr>
            <a:endParaRPr kumimoji="1" lang="zh-CN" altLang="en-US" sz="2000" dirty="0">
              <a:latin typeface="Microsoft YaHei" panose="020B0503020204020204" pitchFamily="34" charset="-122"/>
              <a:ea typeface="Microsoft YaHei" panose="020B0503020204020204" pitchFamily="34" charset="-122"/>
              <a:cs typeface="微软雅黑" charset="0"/>
            </a:endParaRPr>
          </a:p>
          <a:p>
            <a:pPr marL="417830" marR="471805" indent="-342900">
              <a:lnSpc>
                <a:spcPct val="150000"/>
              </a:lnSpc>
              <a:spcAft>
                <a:spcPts val="0"/>
              </a:spcAft>
              <a:buFont typeface="Wingdings" panose="05000000000000000000" pitchFamily="2" charset="2"/>
              <a:buChar char="n"/>
            </a:pPr>
            <a:r>
              <a:rPr kumimoji="1" lang="zh-CN" altLang="en-US" sz="2000" b="1" dirty="0">
                <a:latin typeface="Microsoft YaHei" panose="020B0503020204020204" pitchFamily="34" charset="-122"/>
                <a:ea typeface="Microsoft YaHei" panose="020B0503020204020204" pitchFamily="34" charset="-122"/>
                <a:cs typeface="微软雅黑" charset="0"/>
              </a:rPr>
              <a:t>下行广播周期优化</a:t>
            </a:r>
            <a:r>
              <a:rPr kumimoji="1" lang="zh-CN" altLang="en-US" sz="2000" b="1" dirty="0" smtClean="0">
                <a:latin typeface="Microsoft YaHei" panose="020B0503020204020204" pitchFamily="34" charset="-122"/>
                <a:ea typeface="Microsoft YaHei" panose="020B0503020204020204" pitchFamily="34" charset="-122"/>
                <a:cs typeface="微软雅黑" charset="0"/>
              </a:rPr>
              <a:t>。</a:t>
            </a:r>
            <a:r>
              <a:rPr kumimoji="1" lang="en-US" altLang="zh-CN" sz="2000" dirty="0" smtClean="0">
                <a:latin typeface="Microsoft YaHei" panose="020B0503020204020204" pitchFamily="34" charset="-122"/>
                <a:ea typeface="Microsoft YaHei" panose="020B0503020204020204" pitchFamily="34" charset="-122"/>
                <a:cs typeface="微软雅黑" charset="0"/>
              </a:rPr>
              <a:t>V2X </a:t>
            </a:r>
            <a:r>
              <a:rPr kumimoji="1" lang="zh-CN" altLang="en-US" sz="2000" dirty="0">
                <a:latin typeface="Microsoft YaHei" panose="020B0503020204020204" pitchFamily="34" charset="-122"/>
                <a:ea typeface="Microsoft YaHei" panose="020B0503020204020204" pitchFamily="34" charset="-122"/>
                <a:cs typeface="微软雅黑" charset="0"/>
              </a:rPr>
              <a:t>消息分发的距离通常仅为几百米，为了降低广播区域范围，提升效率，可以由 </a:t>
            </a:r>
            <a:r>
              <a:rPr kumimoji="1" lang="en-US" altLang="zh-CN" sz="2000" dirty="0">
                <a:latin typeface="Microsoft YaHei" panose="020B0503020204020204" pitchFamily="34" charset="-122"/>
                <a:ea typeface="Microsoft YaHei" panose="020B0503020204020204" pitchFamily="34" charset="-122"/>
                <a:cs typeface="微软雅黑" charset="0"/>
              </a:rPr>
              <a:t>V2X </a:t>
            </a:r>
            <a:r>
              <a:rPr kumimoji="1" lang="zh-CN" altLang="en-US" sz="2000" dirty="0">
                <a:latin typeface="Microsoft YaHei" panose="020B0503020204020204" pitchFamily="34" charset="-122"/>
                <a:ea typeface="Microsoft YaHei" panose="020B0503020204020204" pitchFamily="34" charset="-122"/>
                <a:cs typeface="微软雅黑" charset="0"/>
              </a:rPr>
              <a:t>应用服务器指定根据地理位置信息选择合适的目标标识，作为广播发送</a:t>
            </a:r>
            <a:r>
              <a:rPr kumimoji="1" lang="zh-CN" altLang="en-US" sz="2000" dirty="0" smtClean="0">
                <a:latin typeface="Microsoft YaHei" panose="020B0503020204020204" pitchFamily="34" charset="-122"/>
                <a:ea typeface="Microsoft YaHei" panose="020B0503020204020204" pitchFamily="34" charset="-122"/>
                <a:cs typeface="微软雅黑" charset="0"/>
              </a:rPr>
              <a:t>区域。</a:t>
            </a:r>
            <a:endParaRPr kumimoji="1" lang="zh-CN" altLang="en-US" sz="2000" dirty="0">
              <a:latin typeface="Microsoft YaHei" panose="020B0503020204020204" pitchFamily="34" charset="-122"/>
              <a:ea typeface="Microsoft YaHei" panose="020B0503020204020204" pitchFamily="34" charset="-122"/>
              <a:cs typeface="微软雅黑" charset="0"/>
            </a:endParaRPr>
          </a:p>
        </p:txBody>
      </p:sp>
    </p:spTree>
    <p:extLst>
      <p:ext uri="{BB962C8B-B14F-4D97-AF65-F5344CB8AC3E}">
        <p14:creationId xmlns:p14="http://schemas.microsoft.com/office/powerpoint/2010/main" val="662724230"/>
      </p:ext>
    </p:extLst>
  </p:cSld>
  <p:clrMapOvr>
    <a:masterClrMapping/>
  </p:clrMapOvr>
  <p:transition spd="slow" advClick="0"/>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11" descr="program-ciat2020"/>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sp>
        <p:nvSpPr>
          <p:cNvPr id="2" name="标题 1"/>
          <p:cNvSpPr txBox="1"/>
          <p:nvPr/>
        </p:nvSpPr>
        <p:spPr>
          <a:xfrm>
            <a:off x="237392" y="191297"/>
            <a:ext cx="9251576" cy="679847"/>
          </a:xfrm>
          <a:prstGeom prst="rect">
            <a:avLst/>
          </a:prstGeom>
        </p:spPr>
        <p:txBody>
          <a:bodyPr vert="horz" lIns="68580" tIns="34290" rIns="68580" bIns="34290" rtlCol="0" anchor="ctr">
            <a:normAutofit/>
          </a:bodyPr>
          <a:lstStyle/>
          <a:p>
            <a:pPr lvl="0">
              <a:spcBef>
                <a:spcPct val="0"/>
              </a:spcBef>
              <a:defRPr/>
            </a:pPr>
            <a:r>
              <a:rPr lang="en-US" altLang="zh-CN" sz="34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LTE-V2X </a:t>
            </a:r>
            <a:r>
              <a:rPr lang="zh-CN" altLang="en-US" sz="34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与 </a:t>
            </a:r>
            <a:r>
              <a:rPr lang="en-US" altLang="zh-CN" sz="34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DSRC </a:t>
            </a:r>
            <a:r>
              <a:rPr lang="zh-CN" altLang="en-US" sz="34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对比分析</a:t>
            </a:r>
            <a:endParaRPr lang="en-US" altLang="zh-CN" sz="36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5" name="矩形 4"/>
          <p:cNvSpPr/>
          <p:nvPr/>
        </p:nvSpPr>
        <p:spPr>
          <a:xfrm>
            <a:off x="237391" y="1069052"/>
            <a:ext cx="6797891" cy="584775"/>
          </a:xfrm>
          <a:prstGeom prst="rect">
            <a:avLst/>
          </a:prstGeom>
        </p:spPr>
        <p:txBody>
          <a:bodyPr wrap="square">
            <a:spAutoFit/>
          </a:bodyPr>
          <a:lstStyle/>
          <a:p>
            <a:pPr lvl="0">
              <a:spcBef>
                <a:spcPct val="0"/>
              </a:spcBef>
              <a:defRPr/>
            </a:pPr>
            <a:r>
              <a:rPr lang="en-US" altLang="zh-CN" sz="32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1. </a:t>
            </a:r>
            <a:r>
              <a:rPr lang="zh-CN" altLang="en-US" sz="32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架构对比</a:t>
            </a:r>
            <a:endParaRPr lang="en-US" altLang="zh-CN" sz="32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3" name="矩形 2"/>
          <p:cNvSpPr/>
          <p:nvPr/>
        </p:nvSpPr>
        <p:spPr>
          <a:xfrm>
            <a:off x="291179" y="1653827"/>
            <a:ext cx="8591563" cy="4247317"/>
          </a:xfrm>
          <a:prstGeom prst="rect">
            <a:avLst/>
          </a:prstGeom>
        </p:spPr>
        <p:txBody>
          <a:bodyPr wrap="square">
            <a:spAutoFit/>
          </a:bodyPr>
          <a:lstStyle/>
          <a:p>
            <a:pPr marL="342900" indent="-342900">
              <a:lnSpc>
                <a:spcPct val="150000"/>
              </a:lnSpc>
              <a:buFont typeface="Wingdings" panose="05000000000000000000" pitchFamily="2" charset="2"/>
              <a:buChar char="n"/>
            </a:pPr>
            <a:r>
              <a:rPr lang="en-US" altLang="zh-CN" sz="2000" dirty="0" smtClean="0">
                <a:latin typeface="Microsoft YaHei" panose="020B0503020204020204" pitchFamily="34" charset="-122"/>
                <a:ea typeface="Microsoft YaHei" panose="020B0503020204020204" pitchFamily="34" charset="-122"/>
              </a:rPr>
              <a:t>LTE-V2X</a:t>
            </a:r>
            <a:r>
              <a:rPr lang="zh-CN" altLang="en-US" sz="2000" dirty="0" smtClean="0">
                <a:latin typeface="Microsoft YaHei" panose="020B0503020204020204" pitchFamily="34" charset="-122"/>
                <a:ea typeface="Microsoft YaHei" panose="020B0503020204020204" pitchFamily="34" charset="-122"/>
              </a:rPr>
              <a:t>针对</a:t>
            </a:r>
            <a:r>
              <a:rPr lang="zh-CN" altLang="en-US" sz="2000" dirty="0">
                <a:latin typeface="Microsoft YaHei" panose="020B0503020204020204" pitchFamily="34" charset="-122"/>
                <a:ea typeface="Microsoft YaHei" panose="020B0503020204020204" pitchFamily="34" charset="-122"/>
              </a:rPr>
              <a:t>车辆应用定义了两种通信方式，蜂窝方式（</a:t>
            </a:r>
            <a:r>
              <a:rPr lang="en-US" altLang="zh-CN" sz="2000" dirty="0">
                <a:latin typeface="Microsoft YaHei" panose="020B0503020204020204" pitchFamily="34" charset="-122"/>
                <a:ea typeface="Microsoft YaHei" panose="020B0503020204020204" pitchFamily="34" charset="-122"/>
              </a:rPr>
              <a:t>LTE-V-Cell</a:t>
            </a:r>
            <a:r>
              <a:rPr lang="zh-CN" altLang="en-US" sz="2000" dirty="0">
                <a:latin typeface="Microsoft YaHei" panose="020B0503020204020204" pitchFamily="34" charset="-122"/>
                <a:ea typeface="Microsoft YaHei" panose="020B0503020204020204" pitchFamily="34" charset="-122"/>
              </a:rPr>
              <a:t>）和直通通信模式（</a:t>
            </a:r>
            <a:r>
              <a:rPr lang="en-US" altLang="zh-CN" sz="2000" dirty="0">
                <a:latin typeface="Microsoft YaHei" panose="020B0503020204020204" pitchFamily="34" charset="-122"/>
                <a:ea typeface="Microsoft YaHei" panose="020B0503020204020204" pitchFamily="34" charset="-122"/>
              </a:rPr>
              <a:t>LTE-V-Direct</a:t>
            </a:r>
            <a:r>
              <a:rPr lang="zh-CN" altLang="en-US" sz="2000" dirty="0">
                <a:latin typeface="Microsoft YaHei" panose="020B0503020204020204" pitchFamily="34" charset="-122"/>
                <a:ea typeface="Microsoft YaHei" panose="020B0503020204020204" pitchFamily="34" charset="-122"/>
              </a:rPr>
              <a:t>）。其中，</a:t>
            </a:r>
            <a:r>
              <a:rPr lang="en-US" altLang="zh-CN" sz="2000" dirty="0" smtClean="0">
                <a:latin typeface="Microsoft YaHei" panose="020B0503020204020204" pitchFamily="34" charset="-122"/>
                <a:ea typeface="Microsoft YaHei" panose="020B0503020204020204" pitchFamily="34" charset="-122"/>
              </a:rPr>
              <a:t>LTE-V-Cell</a:t>
            </a:r>
            <a:r>
              <a:rPr lang="zh-CN" altLang="en-US" sz="2000" dirty="0" smtClean="0">
                <a:latin typeface="Microsoft YaHei" panose="020B0503020204020204" pitchFamily="34" charset="-122"/>
                <a:ea typeface="Microsoft YaHei" panose="020B0503020204020204" pitchFamily="34" charset="-122"/>
              </a:rPr>
              <a:t>通过</a:t>
            </a:r>
            <a:r>
              <a:rPr lang="en-US" altLang="zh-CN" sz="2000" dirty="0" err="1" smtClean="0">
                <a:latin typeface="Microsoft YaHei" panose="020B0503020204020204" pitchFamily="34" charset="-122"/>
                <a:ea typeface="Microsoft YaHei" panose="020B0503020204020204" pitchFamily="34" charset="-122"/>
              </a:rPr>
              <a:t>Uu</a:t>
            </a:r>
            <a:r>
              <a:rPr lang="zh-CN" altLang="en-US" sz="2000" dirty="0" smtClean="0">
                <a:latin typeface="Microsoft YaHei" panose="020B0503020204020204" pitchFamily="34" charset="-122"/>
                <a:ea typeface="Microsoft YaHei" panose="020B0503020204020204" pitchFamily="34" charset="-122"/>
              </a:rPr>
              <a:t>接口</a:t>
            </a:r>
            <a:r>
              <a:rPr lang="zh-CN" altLang="en-US" sz="2000" dirty="0">
                <a:latin typeface="Microsoft YaHei" panose="020B0503020204020204" pitchFamily="34" charset="-122"/>
                <a:ea typeface="Microsoft YaHei" panose="020B0503020204020204" pitchFamily="34" charset="-122"/>
              </a:rPr>
              <a:t>承载传统的车联网远程信息处理</a:t>
            </a:r>
            <a:r>
              <a:rPr lang="zh-CN" altLang="en-US" sz="2000" dirty="0" smtClean="0">
                <a:latin typeface="Microsoft YaHei" panose="020B0503020204020204" pitchFamily="34" charset="-122"/>
                <a:ea typeface="Microsoft YaHei" panose="020B0503020204020204" pitchFamily="34" charset="-122"/>
              </a:rPr>
              <a:t>业务，</a:t>
            </a:r>
            <a:r>
              <a:rPr lang="en-US" altLang="zh-CN" sz="2000" dirty="0" smtClean="0">
                <a:latin typeface="Microsoft YaHei" panose="020B0503020204020204" pitchFamily="34" charset="-122"/>
                <a:ea typeface="Microsoft YaHei" panose="020B0503020204020204" pitchFamily="34" charset="-122"/>
              </a:rPr>
              <a:t>LTE-V-Direct </a:t>
            </a:r>
            <a:r>
              <a:rPr lang="zh-CN" altLang="en-US" sz="2000" dirty="0" smtClean="0">
                <a:latin typeface="Microsoft YaHei" panose="020B0503020204020204" pitchFamily="34" charset="-122"/>
                <a:ea typeface="Microsoft YaHei" panose="020B0503020204020204" pitchFamily="34" charset="-122"/>
              </a:rPr>
              <a:t>通过</a:t>
            </a:r>
            <a:r>
              <a:rPr lang="en-US" altLang="zh-CN" sz="2000" dirty="0" smtClean="0">
                <a:latin typeface="Microsoft YaHei" panose="020B0503020204020204" pitchFamily="34" charset="-122"/>
                <a:ea typeface="Microsoft YaHei" panose="020B0503020204020204" pitchFamily="34" charset="-122"/>
              </a:rPr>
              <a:t>PC5</a:t>
            </a:r>
            <a:r>
              <a:rPr lang="zh-CN" altLang="en-US" sz="2000" dirty="0" smtClean="0">
                <a:latin typeface="Microsoft YaHei" panose="020B0503020204020204" pitchFamily="34" charset="-122"/>
                <a:ea typeface="Microsoft YaHei" panose="020B0503020204020204" pitchFamily="34" charset="-122"/>
              </a:rPr>
              <a:t>接口</a:t>
            </a:r>
            <a:r>
              <a:rPr lang="zh-CN" altLang="en-US" sz="2000" dirty="0">
                <a:latin typeface="Microsoft YaHei" panose="020B0503020204020204" pitchFamily="34" charset="-122"/>
                <a:ea typeface="Microsoft YaHei" panose="020B0503020204020204" pitchFamily="34" charset="-122"/>
              </a:rPr>
              <a:t>实现车、人、路之间的短距离直连通信，保证车联网中终端间低时延、高可靠性，促进实现汽车安全驾驶。</a:t>
            </a:r>
          </a:p>
          <a:p>
            <a:pPr marL="342900" indent="-342900">
              <a:lnSpc>
                <a:spcPct val="150000"/>
              </a:lnSpc>
              <a:buFont typeface="Wingdings" panose="05000000000000000000" pitchFamily="2" charset="2"/>
              <a:buChar char="n"/>
            </a:pPr>
            <a:r>
              <a:rPr lang="zh-CN" altLang="en-US" sz="2000" dirty="0" smtClean="0">
                <a:latin typeface="Microsoft YaHei" panose="020B0503020204020204" pitchFamily="34" charset="-122"/>
                <a:ea typeface="Microsoft YaHei" panose="020B0503020204020204" pitchFamily="34" charset="-122"/>
              </a:rPr>
              <a:t>在</a:t>
            </a:r>
            <a:r>
              <a:rPr lang="en-US" altLang="zh-CN" sz="2000" dirty="0" smtClean="0">
                <a:latin typeface="Microsoft YaHei" panose="020B0503020204020204" pitchFamily="34" charset="-122"/>
                <a:ea typeface="Microsoft YaHei" panose="020B0503020204020204" pitchFamily="34" charset="-122"/>
              </a:rPr>
              <a:t>DSRC</a:t>
            </a:r>
            <a:r>
              <a:rPr lang="zh-CN" altLang="en-US" sz="2000" dirty="0" smtClean="0">
                <a:latin typeface="Microsoft YaHei" panose="020B0503020204020204" pitchFamily="34" charset="-122"/>
                <a:ea typeface="Microsoft YaHei" panose="020B0503020204020204" pitchFamily="34" charset="-122"/>
              </a:rPr>
              <a:t>架构</a:t>
            </a:r>
            <a:r>
              <a:rPr lang="zh-CN" altLang="en-US" sz="2000" dirty="0">
                <a:latin typeface="Microsoft YaHei" panose="020B0503020204020204" pitchFamily="34" charset="-122"/>
                <a:ea typeface="Microsoft YaHei" panose="020B0503020204020204" pitchFamily="34" charset="-122"/>
              </a:rPr>
              <a:t>中，路侧单元是其重要组成部分，并且通过有线光纤的方式连入互联网。汽车可实现安全业务和远程信息处理业务。车与车之间的信息交换通过路侧单元和车载设备之间的通信实现，远程信息处理业务通过 </a:t>
            </a:r>
            <a:r>
              <a:rPr lang="en-US" altLang="zh-CN" sz="2000" dirty="0">
                <a:latin typeface="Microsoft YaHei" panose="020B0503020204020204" pitchFamily="34" charset="-122"/>
                <a:ea typeface="Microsoft YaHei" panose="020B0503020204020204" pitchFamily="34" charset="-122"/>
              </a:rPr>
              <a:t>IEEE 802.11p + </a:t>
            </a:r>
            <a:r>
              <a:rPr lang="zh-CN" altLang="en-US" sz="2000" dirty="0">
                <a:latin typeface="Microsoft YaHei" panose="020B0503020204020204" pitchFamily="34" charset="-122"/>
                <a:ea typeface="Microsoft YaHei" panose="020B0503020204020204" pitchFamily="34" charset="-122"/>
              </a:rPr>
              <a:t>路侧单元回程的方式实现。</a:t>
            </a:r>
          </a:p>
        </p:txBody>
      </p:sp>
    </p:spTree>
    <p:extLst>
      <p:ext uri="{BB962C8B-B14F-4D97-AF65-F5344CB8AC3E}">
        <p14:creationId xmlns:p14="http://schemas.microsoft.com/office/powerpoint/2010/main" val="3845983024"/>
      </p:ext>
    </p:extLst>
  </p:cSld>
  <p:clrMapOvr>
    <a:masterClrMapping/>
  </p:clrMapOvr>
  <p:transition spd="slow" advClick="0"/>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11" descr="program-ciat2020"/>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sp>
        <p:nvSpPr>
          <p:cNvPr id="2" name="标题 1"/>
          <p:cNvSpPr txBox="1"/>
          <p:nvPr/>
        </p:nvSpPr>
        <p:spPr>
          <a:xfrm>
            <a:off x="237392" y="191297"/>
            <a:ext cx="9251576" cy="679847"/>
          </a:xfrm>
          <a:prstGeom prst="rect">
            <a:avLst/>
          </a:prstGeom>
        </p:spPr>
        <p:txBody>
          <a:bodyPr vert="horz" lIns="68580" tIns="34290" rIns="68580" bIns="34290" rtlCol="0" anchor="ctr">
            <a:normAutofit/>
          </a:bodyPr>
          <a:lstStyle/>
          <a:p>
            <a:pPr lvl="0">
              <a:spcBef>
                <a:spcPct val="0"/>
              </a:spcBef>
              <a:defRPr/>
            </a:pPr>
            <a:r>
              <a:rPr lang="en-US" altLang="zh-CN" sz="34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LTE-V2X </a:t>
            </a:r>
            <a:r>
              <a:rPr lang="zh-CN" altLang="en-US" sz="34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与 </a:t>
            </a:r>
            <a:r>
              <a:rPr lang="en-US" altLang="zh-CN" sz="34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DSRC </a:t>
            </a:r>
            <a:r>
              <a:rPr lang="zh-CN" altLang="en-US" sz="34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对比分析</a:t>
            </a:r>
            <a:endParaRPr lang="en-US" altLang="zh-CN" sz="36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5" name="矩形 4"/>
          <p:cNvSpPr/>
          <p:nvPr/>
        </p:nvSpPr>
        <p:spPr>
          <a:xfrm>
            <a:off x="237391" y="1006305"/>
            <a:ext cx="6797891" cy="584775"/>
          </a:xfrm>
          <a:prstGeom prst="rect">
            <a:avLst/>
          </a:prstGeom>
        </p:spPr>
        <p:txBody>
          <a:bodyPr wrap="square">
            <a:spAutoFit/>
          </a:bodyPr>
          <a:lstStyle/>
          <a:p>
            <a:pPr lvl="0">
              <a:spcBef>
                <a:spcPct val="0"/>
              </a:spcBef>
              <a:defRPr/>
            </a:pPr>
            <a:r>
              <a:rPr lang="en-US" altLang="zh-CN" sz="32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2</a:t>
            </a:r>
            <a:r>
              <a:rPr lang="en-US" altLang="zh-CN" sz="32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 </a:t>
            </a:r>
            <a:r>
              <a:rPr lang="zh-CN" altLang="en-US" sz="32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性能对比</a:t>
            </a:r>
            <a:endParaRPr lang="en-US" altLang="zh-CN" sz="32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graphicFrame>
        <p:nvGraphicFramePr>
          <p:cNvPr id="3" name="表格 2"/>
          <p:cNvGraphicFramePr>
            <a:graphicFrameLocks noGrp="1"/>
          </p:cNvGraphicFramePr>
          <p:nvPr>
            <p:extLst>
              <p:ext uri="{D42A27DB-BD31-4B8C-83A1-F6EECF244321}">
                <p14:modId xmlns:p14="http://schemas.microsoft.com/office/powerpoint/2010/main" val="445833533"/>
              </p:ext>
            </p:extLst>
          </p:nvPr>
        </p:nvGraphicFramePr>
        <p:xfrm>
          <a:off x="237391" y="1591080"/>
          <a:ext cx="8514724" cy="4904605"/>
        </p:xfrm>
        <a:graphic>
          <a:graphicData uri="http://schemas.openxmlformats.org/drawingml/2006/table">
            <a:tbl>
              <a:tblPr firstRow="1" firstCol="1" lastRow="1" lastCol="1" bandRow="1" bandCol="1"/>
              <a:tblGrid>
                <a:gridCol w="2022322">
                  <a:extLst>
                    <a:ext uri="{9D8B030D-6E8A-4147-A177-3AD203B41FA5}">
                      <a16:colId xmlns:a16="http://schemas.microsoft.com/office/drawing/2014/main" val="4003331410"/>
                    </a:ext>
                  </a:extLst>
                </a:gridCol>
                <a:gridCol w="3246201">
                  <a:extLst>
                    <a:ext uri="{9D8B030D-6E8A-4147-A177-3AD203B41FA5}">
                      <a16:colId xmlns:a16="http://schemas.microsoft.com/office/drawing/2014/main" val="998146772"/>
                    </a:ext>
                  </a:extLst>
                </a:gridCol>
                <a:gridCol w="3246201">
                  <a:extLst>
                    <a:ext uri="{9D8B030D-6E8A-4147-A177-3AD203B41FA5}">
                      <a16:colId xmlns:a16="http://schemas.microsoft.com/office/drawing/2014/main" val="1221301923"/>
                    </a:ext>
                  </a:extLst>
                </a:gridCol>
              </a:tblGrid>
              <a:tr h="409554">
                <a:tc>
                  <a:txBody>
                    <a:bodyPr/>
                    <a:lstStyle/>
                    <a:p>
                      <a:pPr marL="133350" marR="128905" algn="ctr">
                        <a:spcBef>
                          <a:spcPts val="400"/>
                        </a:spcBef>
                        <a:spcAft>
                          <a:spcPts val="0"/>
                        </a:spcAft>
                      </a:pPr>
                      <a:r>
                        <a:rPr lang="zh-CN" sz="1800" b="1" dirty="0">
                          <a:effectLst/>
                          <a:latin typeface="微软雅黑" panose="020B0503020204020204" pitchFamily="34" charset="-122"/>
                          <a:ea typeface="微软雅黑" panose="020B0503020204020204" pitchFamily="34" charset="-122"/>
                          <a:cs typeface="宋体" panose="02010600030101010101" pitchFamily="2" charset="-122"/>
                        </a:rPr>
                        <a:t>性能</a:t>
                      </a:r>
                      <a:endParaRPr lang="zh-CN" sz="16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solidFill>
                  </a:tcPr>
                </a:tc>
                <a:tc>
                  <a:txBody>
                    <a:bodyPr/>
                    <a:lstStyle/>
                    <a:p>
                      <a:pPr marL="86360" marR="83185" algn="ctr">
                        <a:spcBef>
                          <a:spcPts val="400"/>
                        </a:spcBef>
                        <a:spcAft>
                          <a:spcPts val="0"/>
                        </a:spcAft>
                      </a:pPr>
                      <a:r>
                        <a:rPr lang="en-US" sz="1800" b="1" kern="1200" spc="-10" dirty="0">
                          <a:solidFill>
                            <a:schemeClr val="tx1"/>
                          </a:solidFill>
                          <a:effectLst/>
                          <a:latin typeface="微软雅黑" panose="020B0503020204020204" pitchFamily="34" charset="-122"/>
                          <a:ea typeface="微软雅黑" panose="020B0503020204020204" pitchFamily="34" charset="-122"/>
                          <a:cs typeface="宋体" panose="02010600030101010101" pitchFamily="2" charset="-122"/>
                        </a:rPr>
                        <a:t>DSRC </a:t>
                      </a:r>
                      <a:r>
                        <a:rPr lang="zh-CN" sz="1800" b="1" kern="1200" spc="-10" dirty="0">
                          <a:solidFill>
                            <a:schemeClr val="tx1"/>
                          </a:solidFill>
                          <a:effectLst/>
                          <a:latin typeface="微软雅黑" panose="020B0503020204020204" pitchFamily="34" charset="-122"/>
                          <a:ea typeface="微软雅黑" panose="020B0503020204020204" pitchFamily="34" charset="-122"/>
                          <a:cs typeface="宋体" panose="02010600030101010101" pitchFamily="2" charset="-122"/>
                        </a:rPr>
                        <a:t>技术</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solidFill>
                  </a:tcPr>
                </a:tc>
                <a:tc>
                  <a:txBody>
                    <a:bodyPr/>
                    <a:lstStyle/>
                    <a:p>
                      <a:pPr marL="676275" algn="ctr">
                        <a:spcBef>
                          <a:spcPts val="400"/>
                        </a:spcBef>
                        <a:spcAft>
                          <a:spcPts val="0"/>
                        </a:spcAft>
                      </a:pPr>
                      <a:r>
                        <a:rPr lang="en-US" sz="1800" b="1" kern="1200" spc="-10" dirty="0" smtClean="0">
                          <a:solidFill>
                            <a:schemeClr val="tx1"/>
                          </a:solidFill>
                          <a:effectLst/>
                          <a:latin typeface="微软雅黑" panose="020B0503020204020204" pitchFamily="34" charset="-122"/>
                          <a:ea typeface="微软雅黑" panose="020B0503020204020204" pitchFamily="34" charset="-122"/>
                          <a:cs typeface="宋体" panose="02010600030101010101" pitchFamily="2" charset="-122"/>
                        </a:rPr>
                        <a:t>LTE-V2X </a:t>
                      </a:r>
                      <a:r>
                        <a:rPr lang="zh-CN" sz="1800" b="1" kern="1200" spc="-10" dirty="0">
                          <a:solidFill>
                            <a:schemeClr val="tx1"/>
                          </a:solidFill>
                          <a:effectLst/>
                          <a:latin typeface="微软雅黑" panose="020B0503020204020204" pitchFamily="34" charset="-122"/>
                          <a:ea typeface="微软雅黑" panose="020B0503020204020204" pitchFamily="34" charset="-122"/>
                          <a:cs typeface="宋体" panose="02010600030101010101" pitchFamily="2" charset="-122"/>
                        </a:rPr>
                        <a:t>技术</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solidFill>
                  </a:tcPr>
                </a:tc>
                <a:extLst>
                  <a:ext uri="{0D108BD9-81ED-4DB2-BD59-A6C34878D82A}">
                    <a16:rowId xmlns:a16="http://schemas.microsoft.com/office/drawing/2014/main" val="242718319"/>
                  </a:ext>
                </a:extLst>
              </a:tr>
              <a:tr h="286408">
                <a:tc>
                  <a:txBody>
                    <a:bodyPr/>
                    <a:lstStyle/>
                    <a:p>
                      <a:pPr marL="133350" marR="128905" algn="ctr">
                        <a:spcBef>
                          <a:spcPts val="400"/>
                        </a:spcBef>
                        <a:spcAft>
                          <a:spcPts val="0"/>
                        </a:spcAft>
                      </a:pPr>
                      <a:r>
                        <a:rPr lang="zh-CN" sz="1800" dirty="0">
                          <a:effectLst/>
                          <a:latin typeface="微软雅黑" panose="020B0503020204020204" pitchFamily="34" charset="-122"/>
                          <a:ea typeface="微软雅黑" panose="020B0503020204020204" pitchFamily="34" charset="-122"/>
                          <a:cs typeface="宋体" panose="02010600030101010101" pitchFamily="2" charset="-122"/>
                        </a:rPr>
                        <a:t>支持车速</a:t>
                      </a:r>
                      <a:endParaRPr lang="zh-CN" sz="16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marL="86995" marR="83185" algn="ctr">
                        <a:spcBef>
                          <a:spcPts val="480"/>
                        </a:spcBef>
                        <a:spcAft>
                          <a:spcPts val="0"/>
                        </a:spcAft>
                      </a:pPr>
                      <a:r>
                        <a:rPr lang="en-US" sz="1800" dirty="0">
                          <a:effectLst/>
                          <a:latin typeface="微软雅黑" panose="020B0503020204020204" pitchFamily="34" charset="-122"/>
                          <a:ea typeface="微软雅黑" panose="020B0503020204020204" pitchFamily="34" charset="-122"/>
                          <a:cs typeface="宋体" panose="02010600030101010101" pitchFamily="2" charset="-122"/>
                        </a:rPr>
                        <a:t>200km/h</a:t>
                      </a:r>
                      <a:endParaRPr lang="zh-CN" sz="16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marL="86360" marR="82550" algn="ctr">
                        <a:spcBef>
                          <a:spcPts val="480"/>
                        </a:spcBef>
                        <a:spcAft>
                          <a:spcPts val="0"/>
                        </a:spcAft>
                      </a:pPr>
                      <a:r>
                        <a:rPr lang="en-US" sz="1800" dirty="0">
                          <a:effectLst/>
                          <a:latin typeface="微软雅黑" panose="020B0503020204020204" pitchFamily="34" charset="-122"/>
                          <a:ea typeface="微软雅黑" panose="020B0503020204020204" pitchFamily="34" charset="-122"/>
                          <a:cs typeface="宋体" panose="02010600030101010101" pitchFamily="2" charset="-122"/>
                        </a:rPr>
                        <a:t>500km/h</a:t>
                      </a:r>
                      <a:endParaRPr lang="zh-CN" sz="16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2267166571"/>
                  </a:ext>
                </a:extLst>
              </a:tr>
              <a:tr h="286408">
                <a:tc>
                  <a:txBody>
                    <a:bodyPr/>
                    <a:lstStyle/>
                    <a:p>
                      <a:pPr marL="133350" marR="128905" algn="ctr">
                        <a:spcBef>
                          <a:spcPts val="405"/>
                        </a:spcBef>
                        <a:spcAft>
                          <a:spcPts val="0"/>
                        </a:spcAft>
                      </a:pPr>
                      <a:r>
                        <a:rPr lang="zh-CN" sz="1800" dirty="0">
                          <a:effectLst/>
                          <a:latin typeface="微软雅黑" panose="020B0503020204020204" pitchFamily="34" charset="-122"/>
                          <a:ea typeface="微软雅黑" panose="020B0503020204020204" pitchFamily="34" charset="-122"/>
                          <a:cs typeface="宋体" panose="02010600030101010101" pitchFamily="2" charset="-122"/>
                        </a:rPr>
                        <a:t>带宽</a:t>
                      </a:r>
                      <a:endParaRPr lang="zh-CN" sz="16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marL="86995" marR="83185" algn="ctr">
                        <a:spcBef>
                          <a:spcPts val="485"/>
                        </a:spcBef>
                        <a:spcAft>
                          <a:spcPts val="0"/>
                        </a:spcAft>
                      </a:pPr>
                      <a:r>
                        <a:rPr lang="en-US" sz="1800" dirty="0">
                          <a:effectLst/>
                          <a:latin typeface="微软雅黑" panose="020B0503020204020204" pitchFamily="34" charset="-122"/>
                          <a:ea typeface="微软雅黑" panose="020B0503020204020204" pitchFamily="34" charset="-122"/>
                          <a:cs typeface="宋体" panose="02010600030101010101" pitchFamily="2" charset="-122"/>
                        </a:rPr>
                        <a:t>75MHz</a:t>
                      </a:r>
                      <a:endParaRPr lang="zh-CN" sz="16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marL="419100" algn="ctr">
                        <a:spcBef>
                          <a:spcPts val="405"/>
                        </a:spcBef>
                        <a:spcAft>
                          <a:spcPts val="0"/>
                        </a:spcAft>
                      </a:pPr>
                      <a:r>
                        <a:rPr lang="zh-CN" sz="1800" spc="-60" dirty="0">
                          <a:effectLst/>
                          <a:latin typeface="微软雅黑" panose="020B0503020204020204" pitchFamily="34" charset="-122"/>
                          <a:ea typeface="微软雅黑" panose="020B0503020204020204" pitchFamily="34" charset="-122"/>
                          <a:cs typeface="宋体" panose="02010600030101010101" pitchFamily="2" charset="-122"/>
                        </a:rPr>
                        <a:t>可拓展到 </a:t>
                      </a:r>
                      <a:r>
                        <a:rPr lang="en-US" sz="1800" dirty="0">
                          <a:effectLst/>
                          <a:latin typeface="微软雅黑" panose="020B0503020204020204" pitchFamily="34" charset="-122"/>
                          <a:ea typeface="微软雅黑" panose="020B0503020204020204" pitchFamily="34" charset="-122"/>
                          <a:cs typeface="宋体" panose="02010600030101010101" pitchFamily="2" charset="-122"/>
                        </a:rPr>
                        <a:t>100MHz</a:t>
                      </a:r>
                      <a:endParaRPr lang="zh-CN" sz="16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4127198065"/>
                  </a:ext>
                </a:extLst>
              </a:tr>
              <a:tr h="680220">
                <a:tc>
                  <a:txBody>
                    <a:bodyPr/>
                    <a:lstStyle/>
                    <a:p>
                      <a:pPr algn="ctr">
                        <a:spcBef>
                          <a:spcPts val="30"/>
                        </a:spcBef>
                        <a:spcAft>
                          <a:spcPts val="0"/>
                        </a:spcAft>
                      </a:pPr>
                      <a:r>
                        <a:rPr lang="en-US" sz="1800" b="1" dirty="0">
                          <a:effectLst/>
                          <a:latin typeface="微软雅黑" panose="020B0503020204020204" pitchFamily="34" charset="-122"/>
                          <a:ea typeface="微软雅黑" panose="020B0503020204020204" pitchFamily="34" charset="-122"/>
                          <a:cs typeface="宋体" panose="02010600030101010101" pitchFamily="2" charset="-122"/>
                        </a:rPr>
                        <a:t> </a:t>
                      </a:r>
                      <a:r>
                        <a:rPr lang="zh-CN" sz="1800" dirty="0" smtClean="0">
                          <a:effectLst/>
                          <a:latin typeface="微软雅黑" panose="020B0503020204020204" pitchFamily="34" charset="-122"/>
                          <a:ea typeface="微软雅黑" panose="020B0503020204020204" pitchFamily="34" charset="-122"/>
                          <a:cs typeface="宋体" panose="02010600030101010101" pitchFamily="2" charset="-122"/>
                        </a:rPr>
                        <a:t>传输速率</a:t>
                      </a:r>
                      <a:endParaRPr lang="zh-CN" sz="16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gn="ctr">
                        <a:spcBef>
                          <a:spcPts val="30"/>
                        </a:spcBef>
                        <a:spcAft>
                          <a:spcPts val="0"/>
                        </a:spcAft>
                      </a:pPr>
                      <a:r>
                        <a:rPr lang="en-US" sz="1800" b="1" dirty="0">
                          <a:effectLst/>
                          <a:latin typeface="微软雅黑" panose="020B0503020204020204" pitchFamily="34" charset="-122"/>
                          <a:ea typeface="微软雅黑" panose="020B0503020204020204" pitchFamily="34" charset="-122"/>
                          <a:cs typeface="宋体" panose="02010600030101010101" pitchFamily="2" charset="-122"/>
                        </a:rPr>
                        <a:t> </a:t>
                      </a:r>
                      <a:r>
                        <a:rPr lang="en-US" sz="1800" spc="-5" dirty="0" smtClean="0">
                          <a:effectLst/>
                          <a:latin typeface="微软雅黑" panose="020B0503020204020204" pitchFamily="34" charset="-122"/>
                          <a:ea typeface="微软雅黑" panose="020B0503020204020204" pitchFamily="34" charset="-122"/>
                          <a:cs typeface="宋体" panose="02010600030101010101" pitchFamily="2" charset="-122"/>
                        </a:rPr>
                        <a:t>3~27Mbit/s</a:t>
                      </a:r>
                      <a:r>
                        <a:rPr lang="zh-CN" sz="1800" spc="-80" dirty="0">
                          <a:effectLst/>
                          <a:latin typeface="微软雅黑" panose="020B0503020204020204" pitchFamily="34" charset="-122"/>
                          <a:ea typeface="微软雅黑" panose="020B0503020204020204" pitchFamily="34" charset="-122"/>
                          <a:cs typeface="宋体" panose="02010600030101010101" pitchFamily="2" charset="-122"/>
                        </a:rPr>
                        <a:t>，平均 </a:t>
                      </a:r>
                      <a:r>
                        <a:rPr lang="en-US" sz="1800" dirty="0">
                          <a:effectLst/>
                          <a:latin typeface="微软雅黑" panose="020B0503020204020204" pitchFamily="34" charset="-122"/>
                          <a:ea typeface="微软雅黑" panose="020B0503020204020204" pitchFamily="34" charset="-122"/>
                          <a:cs typeface="宋体" panose="02010600030101010101" pitchFamily="2" charset="-122"/>
                        </a:rPr>
                        <a:t>12Mbit/s</a:t>
                      </a:r>
                      <a:endParaRPr lang="zh-CN" sz="16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marL="86360" marR="83185" algn="ctr">
                        <a:spcBef>
                          <a:spcPts val="400"/>
                        </a:spcBef>
                        <a:spcAft>
                          <a:spcPts val="0"/>
                        </a:spcAft>
                      </a:pPr>
                      <a:r>
                        <a:rPr lang="zh-CN" sz="1800" spc="-65" dirty="0">
                          <a:effectLst/>
                          <a:latin typeface="微软雅黑" panose="020B0503020204020204" pitchFamily="34" charset="-122"/>
                          <a:ea typeface="微软雅黑" panose="020B0503020204020204" pitchFamily="34" charset="-122"/>
                          <a:cs typeface="宋体" panose="02010600030101010101" pitchFamily="2" charset="-122"/>
                        </a:rPr>
                        <a:t>峰值上行 </a:t>
                      </a:r>
                      <a:r>
                        <a:rPr lang="en-US" sz="1800" dirty="0">
                          <a:effectLst/>
                          <a:latin typeface="微软雅黑" panose="020B0503020204020204" pitchFamily="34" charset="-122"/>
                          <a:ea typeface="微软雅黑" panose="020B0503020204020204" pitchFamily="34" charset="-122"/>
                          <a:cs typeface="宋体" panose="02010600030101010101" pitchFamily="2" charset="-122"/>
                        </a:rPr>
                        <a:t>500Mbit/s</a:t>
                      </a:r>
                      <a:r>
                        <a:rPr lang="zh-CN" sz="1800" dirty="0">
                          <a:effectLst/>
                          <a:latin typeface="微软雅黑" panose="020B0503020204020204" pitchFamily="34" charset="-122"/>
                          <a:ea typeface="微软雅黑" panose="020B0503020204020204" pitchFamily="34" charset="-122"/>
                          <a:cs typeface="宋体" panose="02010600030101010101" pitchFamily="2" charset="-122"/>
                        </a:rPr>
                        <a:t>，下行</a:t>
                      </a:r>
                      <a:endParaRPr lang="zh-CN" sz="1600" dirty="0">
                        <a:effectLst/>
                        <a:latin typeface="微软雅黑" panose="020B0503020204020204" pitchFamily="34" charset="-122"/>
                        <a:ea typeface="微软雅黑" panose="020B0503020204020204" pitchFamily="34" charset="-122"/>
                        <a:cs typeface="宋体" panose="02010600030101010101" pitchFamily="2" charset="-122"/>
                      </a:endParaRPr>
                    </a:p>
                    <a:p>
                      <a:pPr marL="86360" marR="81280" algn="ctr">
                        <a:spcBef>
                          <a:spcPts val="880"/>
                        </a:spcBef>
                        <a:spcAft>
                          <a:spcPts val="0"/>
                        </a:spcAft>
                      </a:pPr>
                      <a:r>
                        <a:rPr lang="en-US" sz="1800" dirty="0">
                          <a:effectLst/>
                          <a:latin typeface="微软雅黑" panose="020B0503020204020204" pitchFamily="34" charset="-122"/>
                          <a:ea typeface="微软雅黑" panose="020B0503020204020204" pitchFamily="34" charset="-122"/>
                          <a:cs typeface="宋体" panose="02010600030101010101" pitchFamily="2" charset="-122"/>
                        </a:rPr>
                        <a:t>1Gbit/s</a:t>
                      </a:r>
                      <a:endParaRPr lang="zh-CN" sz="16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2999503077"/>
                  </a:ext>
                </a:extLst>
              </a:tr>
              <a:tr h="572817">
                <a:tc>
                  <a:txBody>
                    <a:bodyPr/>
                    <a:lstStyle/>
                    <a:p>
                      <a:pPr marL="133350" marR="128905" algn="ctr">
                        <a:spcAft>
                          <a:spcPts val="0"/>
                        </a:spcAft>
                      </a:pPr>
                      <a:r>
                        <a:rPr lang="zh-CN" sz="1800" dirty="0" smtClean="0">
                          <a:effectLst/>
                          <a:latin typeface="微软雅黑" panose="020B0503020204020204" pitchFamily="34" charset="-122"/>
                          <a:ea typeface="微软雅黑" panose="020B0503020204020204" pitchFamily="34" charset="-122"/>
                          <a:cs typeface="宋体" panose="02010600030101010101" pitchFamily="2" charset="-122"/>
                        </a:rPr>
                        <a:t>通信</a:t>
                      </a:r>
                      <a:r>
                        <a:rPr lang="zh-CN" sz="1800" dirty="0">
                          <a:effectLst/>
                          <a:latin typeface="微软雅黑" panose="020B0503020204020204" pitchFamily="34" charset="-122"/>
                          <a:ea typeface="微软雅黑" panose="020B0503020204020204" pitchFamily="34" charset="-122"/>
                          <a:cs typeface="宋体" panose="02010600030101010101" pitchFamily="2" charset="-122"/>
                        </a:rPr>
                        <a:t>距离</a:t>
                      </a:r>
                      <a:endParaRPr lang="zh-CN" sz="16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marL="86360" marR="83185" algn="ctr">
                        <a:spcBef>
                          <a:spcPts val="400"/>
                        </a:spcBef>
                        <a:spcAft>
                          <a:spcPts val="0"/>
                        </a:spcAft>
                      </a:pPr>
                      <a:r>
                        <a:rPr lang="zh-CN" sz="1800" spc="-150" dirty="0">
                          <a:effectLst/>
                          <a:latin typeface="微软雅黑" panose="020B0503020204020204" pitchFamily="34" charset="-122"/>
                          <a:ea typeface="微软雅黑" panose="020B0503020204020204" pitchFamily="34" charset="-122"/>
                          <a:cs typeface="宋体" panose="02010600030101010101" pitchFamily="2" charset="-122"/>
                        </a:rPr>
                        <a:t>约 </a:t>
                      </a:r>
                      <a:r>
                        <a:rPr lang="en-US" sz="1800" dirty="0">
                          <a:effectLst/>
                          <a:latin typeface="微软雅黑" panose="020B0503020204020204" pitchFamily="34" charset="-122"/>
                          <a:ea typeface="微软雅黑" panose="020B0503020204020204" pitchFamily="34" charset="-122"/>
                          <a:cs typeface="宋体" panose="02010600030101010101" pitchFamily="2" charset="-122"/>
                        </a:rPr>
                        <a:t>225m</a:t>
                      </a:r>
                      <a:r>
                        <a:rPr lang="zh-CN" sz="1800" dirty="0">
                          <a:effectLst/>
                          <a:latin typeface="微软雅黑" panose="020B0503020204020204" pitchFamily="34" charset="-122"/>
                          <a:ea typeface="微软雅黑" panose="020B0503020204020204" pitchFamily="34" charset="-122"/>
                          <a:cs typeface="宋体" panose="02010600030101010101" pitchFamily="2" charset="-122"/>
                        </a:rPr>
                        <a:t>，容易被建筑遮挡</a:t>
                      </a:r>
                      <a:r>
                        <a:rPr lang="zh-CN" sz="1800" dirty="0" smtClean="0">
                          <a:effectLst/>
                          <a:latin typeface="微软雅黑" panose="020B0503020204020204" pitchFamily="34" charset="-122"/>
                          <a:ea typeface="微软雅黑" panose="020B0503020204020204" pitchFamily="34" charset="-122"/>
                          <a:cs typeface="宋体" panose="02010600030101010101" pitchFamily="2" charset="-122"/>
                        </a:rPr>
                        <a:t>，受</a:t>
                      </a:r>
                      <a:r>
                        <a:rPr lang="zh-CN" sz="1800" dirty="0">
                          <a:effectLst/>
                          <a:latin typeface="微软雅黑" panose="020B0503020204020204" pitchFamily="34" charset="-122"/>
                          <a:ea typeface="微软雅黑" panose="020B0503020204020204" pitchFamily="34" charset="-122"/>
                          <a:cs typeface="宋体" panose="02010600030101010101" pitchFamily="2" charset="-122"/>
                        </a:rPr>
                        <a:t>路侧单元密度影响</a:t>
                      </a:r>
                      <a:endParaRPr lang="zh-CN" sz="16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gn="ctr">
                        <a:spcBef>
                          <a:spcPts val="30"/>
                        </a:spcBef>
                        <a:spcAft>
                          <a:spcPts val="0"/>
                        </a:spcAft>
                      </a:pPr>
                      <a:r>
                        <a:rPr lang="en-US" sz="1800" b="1" dirty="0">
                          <a:effectLst/>
                          <a:latin typeface="微软雅黑" panose="020B0503020204020204" pitchFamily="34" charset="-122"/>
                          <a:ea typeface="微软雅黑" panose="020B0503020204020204" pitchFamily="34" charset="-122"/>
                          <a:cs typeface="宋体" panose="02010600030101010101" pitchFamily="2" charset="-122"/>
                        </a:rPr>
                        <a:t> </a:t>
                      </a:r>
                      <a:r>
                        <a:rPr lang="zh-CN" sz="1800" spc="-5" dirty="0" smtClean="0">
                          <a:effectLst/>
                          <a:latin typeface="微软雅黑" panose="020B0503020204020204" pitchFamily="34" charset="-122"/>
                          <a:ea typeface="微软雅黑" panose="020B0503020204020204" pitchFamily="34" charset="-122"/>
                          <a:cs typeface="宋体" panose="02010600030101010101" pitchFamily="2" charset="-122"/>
                        </a:rPr>
                        <a:t>大于 </a:t>
                      </a:r>
                      <a:r>
                        <a:rPr lang="en-US" sz="1800" dirty="0">
                          <a:effectLst/>
                          <a:latin typeface="微软雅黑" panose="020B0503020204020204" pitchFamily="34" charset="-122"/>
                          <a:ea typeface="微软雅黑" panose="020B0503020204020204" pitchFamily="34" charset="-122"/>
                          <a:cs typeface="宋体" panose="02010600030101010101" pitchFamily="2" charset="-122"/>
                        </a:rPr>
                        <a:t>450m</a:t>
                      </a:r>
                      <a:endParaRPr lang="zh-CN" sz="16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2870788776"/>
                  </a:ext>
                </a:extLst>
              </a:tr>
              <a:tr h="668286">
                <a:tc>
                  <a:txBody>
                    <a:bodyPr/>
                    <a:lstStyle/>
                    <a:p>
                      <a:pPr algn="ctr">
                        <a:spcBef>
                          <a:spcPts val="30"/>
                        </a:spcBef>
                        <a:spcAft>
                          <a:spcPts val="0"/>
                        </a:spcAft>
                      </a:pPr>
                      <a:r>
                        <a:rPr lang="en-US" sz="1800" b="1" dirty="0">
                          <a:effectLst/>
                          <a:latin typeface="微软雅黑" panose="020B0503020204020204" pitchFamily="34" charset="-122"/>
                          <a:ea typeface="微软雅黑" panose="020B0503020204020204" pitchFamily="34" charset="-122"/>
                          <a:cs typeface="宋体" panose="02010600030101010101" pitchFamily="2" charset="-122"/>
                        </a:rPr>
                        <a:t> </a:t>
                      </a:r>
                      <a:r>
                        <a:rPr lang="en-US" sz="1800" dirty="0" smtClean="0">
                          <a:effectLst/>
                          <a:latin typeface="微软雅黑" panose="020B0503020204020204" pitchFamily="34" charset="-122"/>
                          <a:ea typeface="微软雅黑" panose="020B0503020204020204" pitchFamily="34" charset="-122"/>
                          <a:cs typeface="宋体" panose="02010600030101010101" pitchFamily="2" charset="-122"/>
                        </a:rPr>
                        <a:t>IP</a:t>
                      </a:r>
                      <a:r>
                        <a:rPr lang="en-US" sz="1800" spc="-5" dirty="0" smtClean="0">
                          <a:effectLst/>
                          <a:latin typeface="微软雅黑" panose="020B0503020204020204" pitchFamily="34" charset="-122"/>
                          <a:ea typeface="微软雅黑" panose="020B0503020204020204" pitchFamily="34" charset="-122"/>
                          <a:cs typeface="宋体" panose="02010600030101010101" pitchFamily="2" charset="-122"/>
                        </a:rPr>
                        <a:t> </a:t>
                      </a:r>
                      <a:r>
                        <a:rPr lang="zh-CN" sz="1800" dirty="0">
                          <a:effectLst/>
                          <a:latin typeface="微软雅黑" panose="020B0503020204020204" pitchFamily="34" charset="-122"/>
                          <a:ea typeface="微软雅黑" panose="020B0503020204020204" pitchFamily="34" charset="-122"/>
                          <a:cs typeface="宋体" panose="02010600030101010101" pitchFamily="2" charset="-122"/>
                        </a:rPr>
                        <a:t>接入方式</a:t>
                      </a:r>
                      <a:endParaRPr lang="zh-CN" sz="16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gn="ctr">
                        <a:spcBef>
                          <a:spcPts val="30"/>
                        </a:spcBef>
                        <a:spcAft>
                          <a:spcPts val="0"/>
                        </a:spcAft>
                      </a:pPr>
                      <a:r>
                        <a:rPr lang="en-US" sz="1800" b="1" dirty="0">
                          <a:effectLst/>
                          <a:latin typeface="微软雅黑" panose="020B0503020204020204" pitchFamily="34" charset="-122"/>
                          <a:ea typeface="微软雅黑" panose="020B0503020204020204" pitchFamily="34" charset="-122"/>
                          <a:cs typeface="宋体" panose="02010600030101010101" pitchFamily="2" charset="-122"/>
                        </a:rPr>
                        <a:t> </a:t>
                      </a:r>
                      <a:r>
                        <a:rPr lang="zh-CN" sz="1800" dirty="0" smtClean="0">
                          <a:effectLst/>
                          <a:latin typeface="微软雅黑" panose="020B0503020204020204" pitchFamily="34" charset="-122"/>
                          <a:ea typeface="微软雅黑" panose="020B0503020204020204" pitchFamily="34" charset="-122"/>
                          <a:cs typeface="宋体" panose="02010600030101010101" pitchFamily="2" charset="-122"/>
                        </a:rPr>
                        <a:t>部署</a:t>
                      </a:r>
                      <a:r>
                        <a:rPr lang="zh-CN" sz="1800" dirty="0">
                          <a:effectLst/>
                          <a:latin typeface="微软雅黑" panose="020B0503020204020204" pitchFamily="34" charset="-122"/>
                          <a:ea typeface="微软雅黑" panose="020B0503020204020204" pitchFamily="34" charset="-122"/>
                          <a:cs typeface="宋体" panose="02010600030101010101" pitchFamily="2" charset="-122"/>
                        </a:rPr>
                        <a:t>路侧单元作为网关</a:t>
                      </a:r>
                      <a:endParaRPr lang="zh-CN" sz="16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marL="86360" marR="83185" algn="ctr">
                        <a:spcBef>
                          <a:spcPts val="400"/>
                        </a:spcBef>
                        <a:spcAft>
                          <a:spcPts val="0"/>
                        </a:spcAft>
                      </a:pPr>
                      <a:r>
                        <a:rPr lang="zh-CN" sz="1800" dirty="0">
                          <a:effectLst/>
                          <a:latin typeface="微软雅黑" panose="020B0503020204020204" pitchFamily="34" charset="-122"/>
                          <a:ea typeface="微软雅黑" panose="020B0503020204020204" pitchFamily="34" charset="-122"/>
                          <a:cs typeface="宋体" panose="02010600030101010101" pitchFamily="2" charset="-122"/>
                        </a:rPr>
                        <a:t>通过蜂窝基站接入，</a:t>
                      </a:r>
                      <a:r>
                        <a:rPr lang="zh-CN" sz="1800" dirty="0" smtClean="0">
                          <a:effectLst/>
                          <a:latin typeface="微软雅黑" panose="020B0503020204020204" pitchFamily="34" charset="-122"/>
                          <a:ea typeface="微软雅黑" panose="020B0503020204020204" pitchFamily="34" charset="-122"/>
                          <a:cs typeface="宋体" panose="02010600030101010101" pitchFamily="2" charset="-122"/>
                        </a:rPr>
                        <a:t>集中调度</a:t>
                      </a:r>
                      <a:endParaRPr lang="zh-CN" sz="16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279515597"/>
                  </a:ext>
                </a:extLst>
              </a:tr>
              <a:tr h="558496">
                <a:tc>
                  <a:txBody>
                    <a:bodyPr/>
                    <a:lstStyle/>
                    <a:p>
                      <a:pPr marL="133350" marR="128905" algn="ctr">
                        <a:spcBef>
                          <a:spcPts val="400"/>
                        </a:spcBef>
                        <a:spcAft>
                          <a:spcPts val="0"/>
                        </a:spcAft>
                      </a:pPr>
                      <a:r>
                        <a:rPr lang="zh-CN" sz="1800">
                          <a:effectLst/>
                          <a:latin typeface="微软雅黑" panose="020B0503020204020204" pitchFamily="34" charset="-122"/>
                          <a:ea typeface="微软雅黑" panose="020B0503020204020204" pitchFamily="34" charset="-122"/>
                          <a:cs typeface="宋体" panose="02010600030101010101" pitchFamily="2" charset="-122"/>
                        </a:rPr>
                        <a:t>成熟度</a:t>
                      </a:r>
                      <a:endParaRPr lang="zh-CN" sz="1600">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marL="86360" marR="83185" algn="ctr">
                        <a:spcBef>
                          <a:spcPts val="400"/>
                        </a:spcBef>
                        <a:spcAft>
                          <a:spcPts val="0"/>
                        </a:spcAft>
                      </a:pPr>
                      <a:r>
                        <a:rPr lang="zh-CN" sz="1800" dirty="0">
                          <a:effectLst/>
                          <a:latin typeface="微软雅黑" panose="020B0503020204020204" pitchFamily="34" charset="-122"/>
                          <a:ea typeface="微软雅黑" panose="020B0503020204020204" pitchFamily="34" charset="-122"/>
                          <a:cs typeface="宋体" panose="02010600030101010101" pitchFamily="2" charset="-122"/>
                        </a:rPr>
                        <a:t>已成熟</a:t>
                      </a:r>
                      <a:endParaRPr lang="zh-CN" sz="16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marL="86360" marR="83185" algn="ctr">
                        <a:spcBef>
                          <a:spcPts val="400"/>
                        </a:spcBef>
                        <a:spcAft>
                          <a:spcPts val="0"/>
                        </a:spcAft>
                      </a:pPr>
                      <a:r>
                        <a:rPr lang="zh-CN" sz="1800" dirty="0">
                          <a:effectLst/>
                          <a:latin typeface="微软雅黑" panose="020B0503020204020204" pitchFamily="34" charset="-122"/>
                          <a:ea typeface="微软雅黑" panose="020B0503020204020204" pitchFamily="34" charset="-122"/>
                          <a:cs typeface="宋体" panose="02010600030101010101" pitchFamily="2" charset="-122"/>
                        </a:rPr>
                        <a:t>基本成熟</a:t>
                      </a:r>
                      <a:endParaRPr lang="zh-CN" sz="16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73280538"/>
                  </a:ext>
                </a:extLst>
              </a:tr>
              <a:tr h="558496">
                <a:tc>
                  <a:txBody>
                    <a:bodyPr/>
                    <a:lstStyle/>
                    <a:p>
                      <a:pPr marL="133350" marR="128905" algn="ctr">
                        <a:spcBef>
                          <a:spcPts val="405"/>
                        </a:spcBef>
                        <a:spcAft>
                          <a:spcPts val="0"/>
                        </a:spcAft>
                      </a:pPr>
                      <a:r>
                        <a:rPr lang="zh-CN" sz="1800">
                          <a:effectLst/>
                          <a:latin typeface="微软雅黑" panose="020B0503020204020204" pitchFamily="34" charset="-122"/>
                          <a:ea typeface="微软雅黑" panose="020B0503020204020204" pitchFamily="34" charset="-122"/>
                          <a:cs typeface="宋体" panose="02010600030101010101" pitchFamily="2" charset="-122"/>
                        </a:rPr>
                        <a:t>长期演进</a:t>
                      </a:r>
                      <a:endParaRPr lang="zh-CN" sz="1600">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marL="86360" marR="83185" algn="ctr">
                        <a:spcBef>
                          <a:spcPts val="405"/>
                        </a:spcBef>
                        <a:spcAft>
                          <a:spcPts val="0"/>
                        </a:spcAft>
                      </a:pPr>
                      <a:r>
                        <a:rPr lang="zh-CN" sz="1800">
                          <a:effectLst/>
                          <a:latin typeface="微软雅黑" panose="020B0503020204020204" pitchFamily="34" charset="-122"/>
                          <a:ea typeface="微软雅黑" panose="020B0503020204020204" pitchFamily="34" charset="-122"/>
                          <a:cs typeface="宋体" panose="02010600030101010101" pitchFamily="2" charset="-122"/>
                        </a:rPr>
                        <a:t>目前无后向演进计划</a:t>
                      </a:r>
                      <a:endParaRPr lang="zh-CN" sz="1600">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marL="86360" marR="83185" algn="ctr">
                        <a:spcBef>
                          <a:spcPts val="405"/>
                        </a:spcBef>
                        <a:spcAft>
                          <a:spcPts val="0"/>
                        </a:spcAft>
                      </a:pPr>
                      <a:r>
                        <a:rPr lang="zh-CN" sz="1800" spc="-50" dirty="0">
                          <a:effectLst/>
                          <a:latin typeface="微软雅黑" panose="020B0503020204020204" pitchFamily="34" charset="-122"/>
                          <a:ea typeface="微软雅黑" panose="020B0503020204020204" pitchFamily="34" charset="-122"/>
                          <a:cs typeface="宋体" panose="02010600030101010101" pitchFamily="2" charset="-122"/>
                        </a:rPr>
                        <a:t>可平滑演进至 </a:t>
                      </a:r>
                      <a:r>
                        <a:rPr lang="en-US" sz="1800" dirty="0">
                          <a:effectLst/>
                          <a:latin typeface="微软雅黑" panose="020B0503020204020204" pitchFamily="34" charset="-122"/>
                          <a:ea typeface="微软雅黑" panose="020B0503020204020204" pitchFamily="34" charset="-122"/>
                          <a:cs typeface="宋体" panose="02010600030101010101" pitchFamily="2" charset="-122"/>
                        </a:rPr>
                        <a:t>5G</a:t>
                      </a:r>
                      <a:endParaRPr lang="zh-CN" sz="16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3687648102"/>
                  </a:ext>
                </a:extLst>
              </a:tr>
              <a:tr h="859225">
                <a:tc>
                  <a:txBody>
                    <a:bodyPr/>
                    <a:lstStyle/>
                    <a:p>
                      <a:pPr marL="133350" marR="128905" algn="ctr">
                        <a:spcAft>
                          <a:spcPts val="0"/>
                        </a:spcAft>
                      </a:pPr>
                      <a:r>
                        <a:rPr lang="zh-CN" sz="1800" dirty="0" smtClean="0">
                          <a:effectLst/>
                          <a:latin typeface="微软雅黑" panose="020B0503020204020204" pitchFamily="34" charset="-122"/>
                          <a:ea typeface="微软雅黑" panose="020B0503020204020204" pitchFamily="34" charset="-122"/>
                          <a:cs typeface="宋体" panose="02010600030101010101" pitchFamily="2" charset="-122"/>
                        </a:rPr>
                        <a:t>应用</a:t>
                      </a:r>
                      <a:r>
                        <a:rPr lang="zh-CN" sz="1800" dirty="0">
                          <a:effectLst/>
                          <a:latin typeface="微软雅黑" panose="020B0503020204020204" pitchFamily="34" charset="-122"/>
                          <a:ea typeface="微软雅黑" panose="020B0503020204020204" pitchFamily="34" charset="-122"/>
                          <a:cs typeface="宋体" panose="02010600030101010101" pitchFamily="2" charset="-122"/>
                        </a:rPr>
                        <a:t>场景</a:t>
                      </a:r>
                      <a:endParaRPr lang="zh-CN" sz="16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marL="86360" marR="83185" algn="ctr">
                        <a:spcBef>
                          <a:spcPts val="400"/>
                        </a:spcBef>
                        <a:spcAft>
                          <a:spcPts val="0"/>
                        </a:spcAft>
                      </a:pPr>
                      <a:r>
                        <a:rPr lang="zh-CN" sz="1800" dirty="0">
                          <a:effectLst/>
                          <a:latin typeface="微软雅黑" panose="020B0503020204020204" pitchFamily="34" charset="-122"/>
                          <a:ea typeface="微软雅黑" panose="020B0503020204020204" pitchFamily="34" charset="-122"/>
                          <a:cs typeface="宋体" panose="02010600030101010101" pitchFamily="2" charset="-122"/>
                        </a:rPr>
                        <a:t>短距离、低时延</a:t>
                      </a:r>
                      <a:endParaRPr lang="zh-CN" sz="1600" dirty="0">
                        <a:effectLst/>
                        <a:latin typeface="微软雅黑" panose="020B0503020204020204" pitchFamily="34" charset="-122"/>
                        <a:ea typeface="微软雅黑" panose="020B0503020204020204" pitchFamily="34" charset="-122"/>
                        <a:cs typeface="宋体" panose="02010600030101010101" pitchFamily="2" charset="-122"/>
                      </a:endParaRPr>
                    </a:p>
                    <a:p>
                      <a:pPr marL="87630" marR="83185" algn="ctr">
                        <a:lnSpc>
                          <a:spcPts val="2350"/>
                        </a:lnSpc>
                        <a:spcAft>
                          <a:spcPts val="0"/>
                        </a:spcAft>
                      </a:pPr>
                      <a:r>
                        <a:rPr lang="zh-CN" sz="1800" spc="-5" dirty="0">
                          <a:effectLst/>
                          <a:latin typeface="微软雅黑" panose="020B0503020204020204" pitchFamily="34" charset="-122"/>
                          <a:ea typeface="微软雅黑" panose="020B0503020204020204" pitchFamily="34" charset="-122"/>
                          <a:cs typeface="宋体" panose="02010600030101010101" pitchFamily="2" charset="-122"/>
                        </a:rPr>
                        <a:t>协议仅支持终端设备之间的直</a:t>
                      </a:r>
                      <a:r>
                        <a:rPr lang="zh-CN" sz="1800" dirty="0">
                          <a:effectLst/>
                          <a:latin typeface="微软雅黑" panose="020B0503020204020204" pitchFamily="34" charset="-122"/>
                          <a:ea typeface="微软雅黑" panose="020B0503020204020204" pitchFamily="34" charset="-122"/>
                          <a:cs typeface="宋体" panose="02010600030101010101" pitchFamily="2" charset="-122"/>
                        </a:rPr>
                        <a:t>连通信</a:t>
                      </a:r>
                      <a:endParaRPr lang="zh-CN" sz="16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marL="86360" marR="83185" algn="ctr">
                        <a:spcBef>
                          <a:spcPts val="400"/>
                        </a:spcBef>
                        <a:spcAft>
                          <a:spcPts val="0"/>
                        </a:spcAft>
                      </a:pPr>
                      <a:r>
                        <a:rPr lang="zh-CN" sz="1800" dirty="0">
                          <a:effectLst/>
                          <a:latin typeface="微软雅黑" panose="020B0503020204020204" pitchFamily="34" charset="-122"/>
                          <a:ea typeface="微软雅黑" panose="020B0503020204020204" pitchFamily="34" charset="-122"/>
                          <a:cs typeface="宋体" panose="02010600030101010101" pitchFamily="2" charset="-122"/>
                        </a:rPr>
                        <a:t>长距离、广覆盖</a:t>
                      </a:r>
                      <a:endParaRPr lang="zh-CN" sz="1600" dirty="0">
                        <a:effectLst/>
                        <a:latin typeface="微软雅黑" panose="020B0503020204020204" pitchFamily="34" charset="-122"/>
                        <a:ea typeface="微软雅黑" panose="020B0503020204020204" pitchFamily="34" charset="-122"/>
                        <a:cs typeface="宋体" panose="02010600030101010101" pitchFamily="2" charset="-122"/>
                      </a:endParaRPr>
                    </a:p>
                    <a:p>
                      <a:pPr marL="99060" marR="94615" algn="ctr">
                        <a:lnSpc>
                          <a:spcPts val="2350"/>
                        </a:lnSpc>
                        <a:spcAft>
                          <a:spcPts val="0"/>
                        </a:spcAft>
                      </a:pPr>
                      <a:r>
                        <a:rPr lang="zh-CN" sz="1800" spc="-5" dirty="0">
                          <a:effectLst/>
                          <a:latin typeface="微软雅黑" panose="020B0503020204020204" pitchFamily="34" charset="-122"/>
                          <a:ea typeface="微软雅黑" panose="020B0503020204020204" pitchFamily="34" charset="-122"/>
                          <a:cs typeface="宋体" panose="02010600030101010101" pitchFamily="2" charset="-122"/>
                        </a:rPr>
                        <a:t>可满足车路协同、自动驾驶</a:t>
                      </a:r>
                      <a:r>
                        <a:rPr lang="zh-CN" sz="1800" dirty="0">
                          <a:effectLst/>
                          <a:latin typeface="微软雅黑" panose="020B0503020204020204" pitchFamily="34" charset="-122"/>
                          <a:ea typeface="微软雅黑" panose="020B0503020204020204" pitchFamily="34" charset="-122"/>
                          <a:cs typeface="宋体" panose="02010600030101010101" pitchFamily="2" charset="-122"/>
                        </a:rPr>
                        <a:t>等要求</a:t>
                      </a:r>
                      <a:endParaRPr lang="zh-CN" sz="16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2849196366"/>
                  </a:ext>
                </a:extLst>
              </a:tr>
            </a:tbl>
          </a:graphicData>
        </a:graphic>
      </p:graphicFrame>
      <p:sp>
        <p:nvSpPr>
          <p:cNvPr id="7" name="Rectangle 1"/>
          <p:cNvSpPr>
            <a:spLocks noChangeArrowheads="1"/>
          </p:cNvSpPr>
          <p:nvPr/>
        </p:nvSpPr>
        <p:spPr bwMode="auto">
          <a:xfrm>
            <a:off x="2152650" y="508032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200" b="0" i="0" u="none" strike="noStrike" cap="none" normalizeH="0" baseline="0" smtClean="0">
                <a:ln>
                  <a:noFill/>
                </a:ln>
                <a:solidFill>
                  <a:schemeClr val="tx1"/>
                </a:solidFill>
                <a:effectLst/>
                <a:latin typeface="Arial" panose="020B0604020202020204" pitchFamily="34" charset="0"/>
                <a:ea typeface="Times New Roman" panose="02020603050405020304" pitchFamily="18" charset="0"/>
                <a:cs typeface="宋体" panose="02010600030101010101" pitchFamily="2" charset="-122"/>
              </a:rPr>
              <a:t/>
            </a:r>
            <a:br>
              <a:rPr kumimoji="0" lang="en-US" altLang="zh-CN" sz="1200" b="0" i="0" u="none" strike="noStrike" cap="none" normalizeH="0" baseline="0" smtClean="0">
                <a:ln>
                  <a:noFill/>
                </a:ln>
                <a:solidFill>
                  <a:schemeClr val="tx1"/>
                </a:solidFill>
                <a:effectLst/>
                <a:latin typeface="Arial" panose="020B0604020202020204" pitchFamily="34" charset="0"/>
                <a:ea typeface="Times New Roman" panose="02020603050405020304" pitchFamily="18" charset="0"/>
                <a:cs typeface="宋体" panose="02010600030101010101" pitchFamily="2" charset="-122"/>
              </a:rPr>
            </a:br>
            <a:endParaRPr kumimoji="0" lang="en-US" altLang="zh-CN" sz="600" b="0" i="0" u="none" strike="noStrike" cap="none" normalizeH="0" baseline="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800" b="0" i="0" u="none" strike="noStrike" cap="none" normalizeH="0" baseline="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571709102"/>
      </p:ext>
    </p:extLst>
  </p:cSld>
  <p:clrMapOvr>
    <a:masterClrMapping/>
  </p:clrMapOvr>
  <p:transition spd="slow" advClick="0"/>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标题 1">
            <a:extLst>
              <a:ext uri="{FF2B5EF4-FFF2-40B4-BE49-F238E27FC236}">
                <a16:creationId xmlns:a16="http://schemas.microsoft.com/office/drawing/2014/main" id="{A1B259F4-61D9-D54A-A46D-A8AB65FCCBE6}"/>
              </a:ext>
            </a:extLst>
          </p:cNvPr>
          <p:cNvSpPr txBox="1"/>
          <p:nvPr/>
        </p:nvSpPr>
        <p:spPr>
          <a:xfrm>
            <a:off x="237392" y="191297"/>
            <a:ext cx="9251576" cy="679847"/>
          </a:xfrm>
          <a:prstGeom prst="rect">
            <a:avLst/>
          </a:prstGeom>
        </p:spPr>
        <p:txBody>
          <a:bodyPr vert="horz" lIns="68580" tIns="34290" rIns="68580" bIns="34290" rtlCol="0" anchor="ctr">
            <a:normAutofit/>
          </a:bodyPr>
          <a:lstStyle/>
          <a:p>
            <a:pPr lvl="0">
              <a:spcBef>
                <a:spcPct val="0"/>
              </a:spcBef>
              <a:defRPr/>
            </a:pPr>
            <a:r>
              <a:rPr lang="en-US" altLang="zh-CN" sz="34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5G-V2X </a:t>
            </a:r>
            <a:r>
              <a:rPr lang="zh-CN" altLang="en-US" sz="34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技术的</a:t>
            </a:r>
            <a:r>
              <a:rPr lang="zh-CN" altLang="en-US" sz="34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定义</a:t>
            </a:r>
            <a:endParaRPr lang="en-US" altLang="zh-CN" sz="36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pic>
        <p:nvPicPr>
          <p:cNvPr id="31" name="Picture 11" descr="program-ciat2020">
            <a:extLst>
              <a:ext uri="{FF2B5EF4-FFF2-40B4-BE49-F238E27FC236}">
                <a16:creationId xmlns:a16="http://schemas.microsoft.com/office/drawing/2014/main" id="{590FEF71-8EB3-6941-9167-6129C74764E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sp>
        <p:nvSpPr>
          <p:cNvPr id="6" name="矩形 5"/>
          <p:cNvSpPr/>
          <p:nvPr/>
        </p:nvSpPr>
        <p:spPr>
          <a:xfrm>
            <a:off x="237392" y="1108899"/>
            <a:ext cx="8591563" cy="3785652"/>
          </a:xfrm>
          <a:prstGeom prst="rect">
            <a:avLst/>
          </a:prstGeom>
        </p:spPr>
        <p:txBody>
          <a:bodyPr wrap="square">
            <a:spAutoFit/>
          </a:bodyPr>
          <a:lstStyle/>
          <a:p>
            <a:pPr marL="342900" indent="-342900">
              <a:lnSpc>
                <a:spcPct val="150000"/>
              </a:lnSpc>
              <a:buFont typeface="Wingdings" panose="05000000000000000000" pitchFamily="2" charset="2"/>
              <a:buChar char="n"/>
            </a:pPr>
            <a:r>
              <a:rPr lang="en-US" altLang="zh-CN" sz="2000" b="1" dirty="0">
                <a:latin typeface="Microsoft YaHei" panose="020B0503020204020204" pitchFamily="34" charset="-122"/>
                <a:ea typeface="Microsoft YaHei" panose="020B0503020204020204" pitchFamily="34" charset="-122"/>
              </a:rPr>
              <a:t>5G</a:t>
            </a:r>
            <a:r>
              <a:rPr lang="en-US" altLang="zh-CN" sz="2000" dirty="0">
                <a:latin typeface="Microsoft YaHei" panose="020B0503020204020204" pitchFamily="34" charset="-122"/>
                <a:ea typeface="Microsoft YaHei" panose="020B0503020204020204" pitchFamily="34" charset="-122"/>
              </a:rPr>
              <a:t> </a:t>
            </a:r>
            <a:r>
              <a:rPr lang="zh-CN" altLang="en-US" sz="2000" dirty="0">
                <a:latin typeface="Microsoft YaHei" panose="020B0503020204020204" pitchFamily="34" charset="-122"/>
                <a:ea typeface="Microsoft YaHei" panose="020B0503020204020204" pitchFamily="34" charset="-122"/>
              </a:rPr>
              <a:t>是第五代移动通信系统，是 </a:t>
            </a:r>
            <a:r>
              <a:rPr lang="en-US" altLang="zh-CN" sz="2000" dirty="0">
                <a:latin typeface="Microsoft YaHei" panose="020B0503020204020204" pitchFamily="34" charset="-122"/>
                <a:ea typeface="Microsoft YaHei" panose="020B0503020204020204" pitchFamily="34" charset="-122"/>
              </a:rPr>
              <a:t>4G </a:t>
            </a:r>
            <a:r>
              <a:rPr lang="zh-CN" altLang="en-US" sz="2000" dirty="0">
                <a:latin typeface="Microsoft YaHei" panose="020B0503020204020204" pitchFamily="34" charset="-122"/>
                <a:ea typeface="Microsoft YaHei" panose="020B0503020204020204" pitchFamily="34" charset="-122"/>
              </a:rPr>
              <a:t>的延伸，是对现有无线接入技术（包括 </a:t>
            </a:r>
            <a:r>
              <a:rPr lang="en-US" altLang="zh-CN" sz="2000" dirty="0">
                <a:latin typeface="Microsoft YaHei" panose="020B0503020204020204" pitchFamily="34" charset="-122"/>
                <a:ea typeface="Microsoft YaHei" panose="020B0503020204020204" pitchFamily="34" charset="-122"/>
              </a:rPr>
              <a:t>3G</a:t>
            </a:r>
            <a:r>
              <a:rPr lang="zh-CN" altLang="en-US" sz="2000" dirty="0">
                <a:latin typeface="Microsoft YaHei" panose="020B0503020204020204" pitchFamily="34" charset="-122"/>
                <a:ea typeface="Microsoft YaHei" panose="020B0503020204020204" pitchFamily="34" charset="-122"/>
              </a:rPr>
              <a:t>、</a:t>
            </a:r>
            <a:r>
              <a:rPr lang="en-US" altLang="zh-CN" sz="2000" dirty="0">
                <a:latin typeface="Microsoft YaHei" panose="020B0503020204020204" pitchFamily="34" charset="-122"/>
                <a:ea typeface="Microsoft YaHei" panose="020B0503020204020204" pitchFamily="34" charset="-122"/>
              </a:rPr>
              <a:t>4G </a:t>
            </a:r>
            <a:r>
              <a:rPr lang="zh-CN" altLang="en-US" sz="2000" dirty="0">
                <a:latin typeface="Microsoft YaHei" panose="020B0503020204020204" pitchFamily="34" charset="-122"/>
                <a:ea typeface="Microsoft YaHei" panose="020B0503020204020204" pitchFamily="34" charset="-122"/>
              </a:rPr>
              <a:t>和 </a:t>
            </a:r>
            <a:r>
              <a:rPr lang="en-US" altLang="zh-CN" sz="2000" dirty="0">
                <a:latin typeface="Microsoft YaHei" panose="020B0503020204020204" pitchFamily="34" charset="-122"/>
                <a:ea typeface="Microsoft YaHei" panose="020B0503020204020204" pitchFamily="34" charset="-122"/>
              </a:rPr>
              <a:t>Wi-Fi</a:t>
            </a:r>
            <a:r>
              <a:rPr lang="zh-CN" altLang="en-US" sz="2000" dirty="0">
                <a:latin typeface="Microsoft YaHei" panose="020B0503020204020204" pitchFamily="34" charset="-122"/>
                <a:ea typeface="Microsoft YaHei" panose="020B0503020204020204" pitchFamily="34" charset="-122"/>
              </a:rPr>
              <a:t>）的技术演进，以及一些新增的补充性无线接入技术集成后解决方案的总称</a:t>
            </a:r>
            <a:r>
              <a:rPr lang="zh-CN" altLang="en-US" sz="2000" dirty="0" smtClean="0">
                <a:latin typeface="Microsoft YaHei" panose="020B0503020204020204" pitchFamily="34" charset="-122"/>
                <a:ea typeface="Microsoft YaHei" panose="020B0503020204020204" pitchFamily="34" charset="-122"/>
              </a:rPr>
              <a:t>。</a:t>
            </a:r>
            <a:endParaRPr lang="en-US" altLang="zh-CN" sz="2000" dirty="0" smtClean="0">
              <a:latin typeface="Microsoft YaHei" panose="020B0503020204020204" pitchFamily="34" charset="-122"/>
              <a:ea typeface="Microsoft YaHei" panose="020B0503020204020204" pitchFamily="34" charset="-122"/>
            </a:endParaRPr>
          </a:p>
          <a:p>
            <a:pPr marL="342900" indent="-342900">
              <a:lnSpc>
                <a:spcPct val="150000"/>
              </a:lnSpc>
              <a:buFont typeface="Wingdings" panose="05000000000000000000" pitchFamily="2" charset="2"/>
              <a:buChar char="n"/>
            </a:pPr>
            <a:endParaRPr lang="en-US" altLang="zh-CN" sz="2000" dirty="0">
              <a:latin typeface="Microsoft YaHei" panose="020B0503020204020204" pitchFamily="34" charset="-122"/>
              <a:ea typeface="Microsoft YaHei" panose="020B0503020204020204" pitchFamily="34" charset="-122"/>
            </a:endParaRPr>
          </a:p>
          <a:p>
            <a:pPr marL="342900" indent="-342900">
              <a:lnSpc>
                <a:spcPct val="150000"/>
              </a:lnSpc>
              <a:buFont typeface="Wingdings" panose="05000000000000000000" pitchFamily="2" charset="2"/>
              <a:buChar char="n"/>
            </a:pPr>
            <a:endParaRPr lang="en-US" altLang="zh-CN" sz="2000" dirty="0" smtClean="0">
              <a:latin typeface="Microsoft YaHei" panose="020B0503020204020204" pitchFamily="34" charset="-122"/>
              <a:ea typeface="Microsoft YaHei" panose="020B0503020204020204" pitchFamily="34" charset="-122"/>
            </a:endParaRPr>
          </a:p>
          <a:p>
            <a:pPr marL="342900" indent="-342900">
              <a:lnSpc>
                <a:spcPct val="150000"/>
              </a:lnSpc>
              <a:buFont typeface="Wingdings" panose="05000000000000000000" pitchFamily="2" charset="2"/>
              <a:buChar char="n"/>
            </a:pPr>
            <a:r>
              <a:rPr lang="en-US" altLang="zh-CN" sz="2000" b="1" dirty="0">
                <a:latin typeface="Microsoft YaHei" panose="020B0503020204020204" pitchFamily="34" charset="-122"/>
                <a:ea typeface="Microsoft YaHei" panose="020B0503020204020204" pitchFamily="34" charset="-122"/>
              </a:rPr>
              <a:t>5G-V2X </a:t>
            </a:r>
            <a:r>
              <a:rPr lang="zh-CN" altLang="en-US" sz="2000" dirty="0">
                <a:latin typeface="Microsoft YaHei" panose="020B0503020204020204" pitchFamily="34" charset="-122"/>
                <a:ea typeface="Microsoft YaHei" panose="020B0503020204020204" pitchFamily="34" charset="-122"/>
              </a:rPr>
              <a:t>技术（又名 </a:t>
            </a:r>
            <a:r>
              <a:rPr lang="en-US" altLang="zh-CN" sz="2000" dirty="0">
                <a:latin typeface="Microsoft YaHei" panose="020B0503020204020204" pitchFamily="34" charset="-122"/>
                <a:ea typeface="Microsoft YaHei" panose="020B0503020204020204" pitchFamily="34" charset="-122"/>
              </a:rPr>
              <a:t>NR-V2X </a:t>
            </a:r>
            <a:r>
              <a:rPr lang="zh-CN" altLang="en-US" sz="2000" dirty="0">
                <a:latin typeface="Microsoft YaHei" panose="020B0503020204020204" pitchFamily="34" charset="-122"/>
                <a:ea typeface="Microsoft YaHei" panose="020B0503020204020204" pitchFamily="34" charset="-122"/>
              </a:rPr>
              <a:t>技术），是在传统 </a:t>
            </a:r>
            <a:r>
              <a:rPr lang="en-US" altLang="zh-CN" sz="2000" dirty="0">
                <a:latin typeface="Microsoft YaHei" panose="020B0503020204020204" pitchFamily="34" charset="-122"/>
                <a:ea typeface="Microsoft YaHei" panose="020B0503020204020204" pitchFamily="34" charset="-122"/>
              </a:rPr>
              <a:t>C-V2X </a:t>
            </a:r>
            <a:r>
              <a:rPr lang="zh-CN" altLang="en-US" sz="2000" dirty="0">
                <a:latin typeface="Microsoft YaHei" panose="020B0503020204020204" pitchFamily="34" charset="-122"/>
                <a:ea typeface="Microsoft YaHei" panose="020B0503020204020204" pitchFamily="34" charset="-122"/>
              </a:rPr>
              <a:t>的基础上，引入 </a:t>
            </a:r>
            <a:r>
              <a:rPr lang="en-US" altLang="zh-CN" sz="2000" dirty="0">
                <a:latin typeface="Microsoft YaHei" panose="020B0503020204020204" pitchFamily="34" charset="-122"/>
                <a:ea typeface="Microsoft YaHei" panose="020B0503020204020204" pitchFamily="34" charset="-122"/>
              </a:rPr>
              <a:t>5G </a:t>
            </a:r>
            <a:r>
              <a:rPr lang="zh-CN" altLang="en-US" sz="2000" dirty="0">
                <a:latin typeface="Microsoft YaHei" panose="020B0503020204020204" pitchFamily="34" charset="-122"/>
                <a:ea typeface="Microsoft YaHei" panose="020B0503020204020204" pitchFamily="34" charset="-122"/>
              </a:rPr>
              <a:t>网络和边缘计算，充分利用 </a:t>
            </a:r>
            <a:r>
              <a:rPr lang="en-US" altLang="zh-CN" sz="2000" dirty="0">
                <a:latin typeface="Microsoft YaHei" panose="020B0503020204020204" pitchFamily="34" charset="-122"/>
                <a:ea typeface="Microsoft YaHei" panose="020B0503020204020204" pitchFamily="34" charset="-122"/>
              </a:rPr>
              <a:t>5G </a:t>
            </a:r>
            <a:r>
              <a:rPr lang="zh-CN" altLang="en-US" sz="2000" dirty="0">
                <a:latin typeface="Microsoft YaHei" panose="020B0503020204020204" pitchFamily="34" charset="-122"/>
                <a:ea typeface="Microsoft YaHei" panose="020B0503020204020204" pitchFamily="34" charset="-122"/>
              </a:rPr>
              <a:t>网络的高带宽、高可靠性和低时延等特性，挖掘边缘计算的潜能， 助力智能网联驾驶。</a:t>
            </a:r>
            <a:endParaRPr lang="zh-CN" altLang="en-US" sz="2000"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1908316692"/>
      </p:ext>
    </p:extLst>
  </p:cSld>
  <p:clrMapOvr>
    <a:masterClrMapping/>
  </p:clrMapOvr>
  <p:transition spd="slow" advClick="0"/>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标题 1">
            <a:extLst>
              <a:ext uri="{FF2B5EF4-FFF2-40B4-BE49-F238E27FC236}">
                <a16:creationId xmlns:a16="http://schemas.microsoft.com/office/drawing/2014/main" id="{A1B259F4-61D9-D54A-A46D-A8AB65FCCBE6}"/>
              </a:ext>
            </a:extLst>
          </p:cNvPr>
          <p:cNvSpPr txBox="1"/>
          <p:nvPr/>
        </p:nvSpPr>
        <p:spPr>
          <a:xfrm>
            <a:off x="237392" y="191297"/>
            <a:ext cx="9251576" cy="679847"/>
          </a:xfrm>
          <a:prstGeom prst="rect">
            <a:avLst/>
          </a:prstGeom>
        </p:spPr>
        <p:txBody>
          <a:bodyPr vert="horz" lIns="68580" tIns="34290" rIns="68580" bIns="34290" rtlCol="0" anchor="ctr">
            <a:normAutofit/>
          </a:bodyPr>
          <a:lstStyle/>
          <a:p>
            <a:pPr lvl="0">
              <a:spcBef>
                <a:spcPct val="0"/>
              </a:spcBef>
              <a:defRPr/>
            </a:pPr>
            <a:r>
              <a:rPr lang="en-US" altLang="zh-CN" sz="34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5G-V2X </a:t>
            </a:r>
            <a:r>
              <a:rPr lang="zh-CN" altLang="en-US" sz="34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网络架构</a:t>
            </a:r>
            <a:endParaRPr lang="en-US" altLang="zh-CN" sz="36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pic>
        <p:nvPicPr>
          <p:cNvPr id="31" name="Picture 11" descr="program-ciat2020">
            <a:extLst>
              <a:ext uri="{FF2B5EF4-FFF2-40B4-BE49-F238E27FC236}">
                <a16:creationId xmlns:a16="http://schemas.microsoft.com/office/drawing/2014/main" id="{590FEF71-8EB3-6941-9167-6129C74764E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pic>
        <p:nvPicPr>
          <p:cNvPr id="3" name="图片 2"/>
          <p:cNvPicPr>
            <a:picLocks noChangeAspect="1"/>
          </p:cNvPicPr>
          <p:nvPr/>
        </p:nvPicPr>
        <p:blipFill>
          <a:blip r:embed="rId3"/>
          <a:stretch>
            <a:fillRect/>
          </a:stretch>
        </p:blipFill>
        <p:spPr>
          <a:xfrm>
            <a:off x="457200" y="1127297"/>
            <a:ext cx="8286737" cy="4983240"/>
          </a:xfrm>
          <a:prstGeom prst="rect">
            <a:avLst/>
          </a:prstGeom>
        </p:spPr>
      </p:pic>
    </p:spTree>
    <p:extLst>
      <p:ext uri="{BB962C8B-B14F-4D97-AF65-F5344CB8AC3E}">
        <p14:creationId xmlns:p14="http://schemas.microsoft.com/office/powerpoint/2010/main" val="3745481992"/>
      </p:ext>
    </p:extLst>
  </p:cSld>
  <p:clrMapOvr>
    <a:masterClrMapping/>
  </p:clrMapOvr>
  <p:transition spd="slow" advClick="0"/>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标题 1">
            <a:extLst>
              <a:ext uri="{FF2B5EF4-FFF2-40B4-BE49-F238E27FC236}">
                <a16:creationId xmlns:a16="http://schemas.microsoft.com/office/drawing/2014/main" id="{A1B259F4-61D9-D54A-A46D-A8AB65FCCBE6}"/>
              </a:ext>
            </a:extLst>
          </p:cNvPr>
          <p:cNvSpPr txBox="1"/>
          <p:nvPr/>
        </p:nvSpPr>
        <p:spPr>
          <a:xfrm>
            <a:off x="237392" y="191297"/>
            <a:ext cx="9251576" cy="679847"/>
          </a:xfrm>
          <a:prstGeom prst="rect">
            <a:avLst/>
          </a:prstGeom>
        </p:spPr>
        <p:txBody>
          <a:bodyPr vert="horz" lIns="68580" tIns="34290" rIns="68580" bIns="34290" rtlCol="0" anchor="ctr">
            <a:normAutofit/>
          </a:bodyPr>
          <a:lstStyle/>
          <a:p>
            <a:pPr lvl="0">
              <a:spcBef>
                <a:spcPct val="0"/>
              </a:spcBef>
              <a:defRPr/>
            </a:pPr>
            <a:r>
              <a:rPr lang="en-US" altLang="zh-CN" sz="34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5G-V2X </a:t>
            </a:r>
            <a:r>
              <a:rPr lang="zh-CN" altLang="en-US" sz="34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网络架构</a:t>
            </a:r>
            <a:endParaRPr lang="en-US" altLang="zh-CN" sz="36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pic>
        <p:nvPicPr>
          <p:cNvPr id="31" name="Picture 11" descr="program-ciat2020">
            <a:extLst>
              <a:ext uri="{FF2B5EF4-FFF2-40B4-BE49-F238E27FC236}">
                <a16:creationId xmlns:a16="http://schemas.microsoft.com/office/drawing/2014/main" id="{590FEF71-8EB3-6941-9167-6129C74764E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sp>
        <p:nvSpPr>
          <p:cNvPr id="3" name="矩形 2"/>
          <p:cNvSpPr/>
          <p:nvPr/>
        </p:nvSpPr>
        <p:spPr>
          <a:xfrm>
            <a:off x="65314" y="936000"/>
            <a:ext cx="9078686" cy="5047536"/>
          </a:xfrm>
          <a:prstGeom prst="rect">
            <a:avLst/>
          </a:prstGeom>
        </p:spPr>
        <p:txBody>
          <a:bodyPr wrap="square">
            <a:spAutoFit/>
          </a:bodyPr>
          <a:lstStyle/>
          <a:p>
            <a:pPr marL="360680" marR="471805" indent="-285750">
              <a:lnSpc>
                <a:spcPct val="130000"/>
              </a:lnSpc>
              <a:spcAft>
                <a:spcPts val="0"/>
              </a:spcAft>
              <a:buFont typeface="Wingdings" panose="05000000000000000000" pitchFamily="2" charset="2"/>
              <a:buChar char="n"/>
            </a:pPr>
            <a:r>
              <a:rPr kumimoji="1" lang="en-US" altLang="zh-CN" sz="2000" b="1" dirty="0" smtClean="0">
                <a:latin typeface="Microsoft YaHei" panose="020B0503020204020204" pitchFamily="34" charset="-122"/>
                <a:ea typeface="Microsoft YaHei" panose="020B0503020204020204" pitchFamily="34" charset="-122"/>
                <a:cs typeface="微软雅黑" charset="0"/>
              </a:rPr>
              <a:t>5G </a:t>
            </a:r>
            <a:r>
              <a:rPr kumimoji="1" lang="zh-CN" altLang="en-US" sz="2000" b="1" dirty="0" smtClean="0">
                <a:latin typeface="Microsoft YaHei" panose="020B0503020204020204" pitchFamily="34" charset="-122"/>
                <a:ea typeface="Microsoft YaHei" panose="020B0503020204020204" pitchFamily="34" charset="-122"/>
                <a:cs typeface="微软雅黑" charset="0"/>
              </a:rPr>
              <a:t>核心网：</a:t>
            </a:r>
            <a:r>
              <a:rPr kumimoji="1" lang="zh-CN" altLang="en-US" sz="2000" dirty="0" smtClean="0">
                <a:latin typeface="Microsoft YaHei" panose="020B0503020204020204" pitchFamily="34" charset="-122"/>
                <a:ea typeface="Microsoft YaHei" panose="020B0503020204020204" pitchFamily="34" charset="-122"/>
                <a:cs typeface="微软雅黑" charset="0"/>
              </a:rPr>
              <a:t>与 </a:t>
            </a:r>
            <a:r>
              <a:rPr kumimoji="1" lang="en-US" altLang="zh-CN" sz="2000" dirty="0">
                <a:latin typeface="Microsoft YaHei" panose="020B0503020204020204" pitchFamily="34" charset="-122"/>
                <a:ea typeface="Microsoft YaHei" panose="020B0503020204020204" pitchFamily="34" charset="-122"/>
                <a:cs typeface="微软雅黑" charset="0"/>
              </a:rPr>
              <a:t>V2X </a:t>
            </a:r>
            <a:r>
              <a:rPr kumimoji="1" lang="zh-CN" altLang="en-US" sz="2000" dirty="0">
                <a:latin typeface="Microsoft YaHei" panose="020B0503020204020204" pitchFamily="34" charset="-122"/>
                <a:ea typeface="Microsoft YaHei" panose="020B0503020204020204" pitchFamily="34" charset="-122"/>
                <a:cs typeface="微软雅黑" charset="0"/>
              </a:rPr>
              <a:t>应用服务器</a:t>
            </a:r>
            <a:r>
              <a:rPr kumimoji="1" lang="zh-CN" altLang="en-US" sz="2000" dirty="0" smtClean="0">
                <a:latin typeface="Microsoft YaHei" panose="020B0503020204020204" pitchFamily="34" charset="-122"/>
                <a:ea typeface="Microsoft YaHei" panose="020B0503020204020204" pitchFamily="34" charset="-122"/>
                <a:cs typeface="微软雅黑" charset="0"/>
              </a:rPr>
              <a:t>连接</a:t>
            </a:r>
            <a:r>
              <a:rPr kumimoji="1" lang="zh-CN" altLang="en-US" sz="2000" dirty="0" smtClean="0">
                <a:latin typeface="Microsoft YaHei" panose="020B0503020204020204" pitchFamily="34" charset="-122"/>
                <a:ea typeface="Microsoft YaHei" panose="020B0503020204020204" pitchFamily="34" charset="-122"/>
                <a:cs typeface="微软雅黑" charset="0"/>
              </a:rPr>
              <a:t>。采用服务化</a:t>
            </a:r>
            <a:r>
              <a:rPr kumimoji="1" lang="zh-CN" altLang="en-US" sz="2000" dirty="0">
                <a:latin typeface="Microsoft YaHei" panose="020B0503020204020204" pitchFamily="34" charset="-122"/>
                <a:ea typeface="Microsoft YaHei" panose="020B0503020204020204" pitchFamily="34" charset="-122"/>
                <a:cs typeface="微软雅黑" charset="0"/>
              </a:rPr>
              <a:t>架构，各个网络功能可以独立演进和</a:t>
            </a:r>
            <a:r>
              <a:rPr kumimoji="1" lang="zh-CN" altLang="en-US" sz="2000" dirty="0" smtClean="0">
                <a:latin typeface="Microsoft YaHei" panose="020B0503020204020204" pitchFamily="34" charset="-122"/>
                <a:ea typeface="Microsoft YaHei" panose="020B0503020204020204" pitchFamily="34" charset="-122"/>
                <a:cs typeface="微软雅黑" charset="0"/>
              </a:rPr>
              <a:t>扩展：</a:t>
            </a:r>
            <a:endParaRPr kumimoji="1" lang="en-US" altLang="zh-CN" sz="2000" dirty="0">
              <a:latin typeface="Microsoft YaHei" panose="020B0503020204020204" pitchFamily="34" charset="-122"/>
              <a:ea typeface="Microsoft YaHei" panose="020B0503020204020204" pitchFamily="34" charset="-122"/>
              <a:cs typeface="微软雅黑" charset="0"/>
            </a:endParaRPr>
          </a:p>
          <a:p>
            <a:pPr marL="875030" marR="471805" lvl="1" indent="-342900">
              <a:lnSpc>
                <a:spcPct val="150000"/>
              </a:lnSpc>
              <a:buFont typeface="Wingdings" panose="05000000000000000000" pitchFamily="2" charset="2"/>
              <a:buChar char="Ø"/>
            </a:pPr>
            <a:r>
              <a:rPr kumimoji="1" lang="zh-CN" altLang="en-US" b="1" dirty="0" smtClean="0">
                <a:latin typeface="Microsoft YaHei" panose="020B0503020204020204" pitchFamily="34" charset="-122"/>
                <a:ea typeface="Microsoft YaHei" panose="020B0503020204020204" pitchFamily="34" charset="-122"/>
                <a:cs typeface="微软雅黑" charset="0"/>
              </a:rPr>
              <a:t>统一</a:t>
            </a:r>
            <a:r>
              <a:rPr kumimoji="1" lang="zh-CN" altLang="en-US" b="1" dirty="0">
                <a:latin typeface="Microsoft YaHei" panose="020B0503020204020204" pitchFamily="34" charset="-122"/>
                <a:ea typeface="Microsoft YaHei" panose="020B0503020204020204" pitchFamily="34" charset="-122"/>
                <a:cs typeface="微软雅黑" charset="0"/>
              </a:rPr>
              <a:t>数据存储</a:t>
            </a:r>
            <a:r>
              <a:rPr kumimoji="1" lang="zh-CN" altLang="en-US" b="1" dirty="0" smtClean="0">
                <a:latin typeface="Microsoft YaHei" panose="020B0503020204020204" pitchFamily="34" charset="-122"/>
                <a:ea typeface="Microsoft YaHei" panose="020B0503020204020204" pitchFamily="34" charset="-122"/>
                <a:cs typeface="微软雅黑" charset="0"/>
              </a:rPr>
              <a:t>库（</a:t>
            </a:r>
            <a:r>
              <a:rPr kumimoji="1" lang="en-US" altLang="zh-CN" b="1" dirty="0" smtClean="0">
                <a:latin typeface="Microsoft YaHei" panose="020B0503020204020204" pitchFamily="34" charset="-122"/>
                <a:ea typeface="Microsoft YaHei" panose="020B0503020204020204" pitchFamily="34" charset="-122"/>
                <a:cs typeface="微软雅黑" charset="0"/>
              </a:rPr>
              <a:t>UDR</a:t>
            </a:r>
            <a:r>
              <a:rPr kumimoji="1" lang="zh-CN" altLang="en-US" b="1" dirty="0" smtClean="0">
                <a:latin typeface="Microsoft YaHei" panose="020B0503020204020204" pitchFamily="34" charset="-122"/>
                <a:ea typeface="Microsoft YaHei" panose="020B0503020204020204" pitchFamily="34" charset="-122"/>
                <a:cs typeface="微软雅黑" charset="0"/>
              </a:rPr>
              <a:t>）</a:t>
            </a:r>
            <a:r>
              <a:rPr kumimoji="1" lang="zh-CN" altLang="en-US" dirty="0" smtClean="0">
                <a:latin typeface="Microsoft YaHei" panose="020B0503020204020204" pitchFamily="34" charset="-122"/>
                <a:ea typeface="Microsoft YaHei" panose="020B0503020204020204" pitchFamily="34" charset="-122"/>
                <a:cs typeface="微软雅黑" charset="0"/>
              </a:rPr>
              <a:t>功能</a:t>
            </a:r>
            <a:r>
              <a:rPr kumimoji="1" lang="zh-CN" altLang="en-US" dirty="0">
                <a:latin typeface="Microsoft YaHei" panose="020B0503020204020204" pitchFamily="34" charset="-122"/>
                <a:ea typeface="Microsoft YaHei" panose="020B0503020204020204" pitchFamily="34" charset="-122"/>
                <a:cs typeface="微软雅黑" charset="0"/>
              </a:rPr>
              <a:t>扩展</a:t>
            </a:r>
            <a:r>
              <a:rPr kumimoji="1" lang="zh-CN" altLang="en-US" dirty="0" smtClean="0">
                <a:latin typeface="Microsoft YaHei" panose="020B0503020204020204" pitchFamily="34" charset="-122"/>
                <a:ea typeface="Microsoft YaHei" panose="020B0503020204020204" pitchFamily="34" charset="-122"/>
                <a:cs typeface="微软雅黑" charset="0"/>
              </a:rPr>
              <a:t>，存储 </a:t>
            </a:r>
            <a:r>
              <a:rPr kumimoji="1" lang="en-US" altLang="zh-CN" dirty="0">
                <a:latin typeface="Microsoft YaHei" panose="020B0503020204020204" pitchFamily="34" charset="-122"/>
                <a:ea typeface="Microsoft YaHei" panose="020B0503020204020204" pitchFamily="34" charset="-122"/>
                <a:cs typeface="微软雅黑" charset="0"/>
              </a:rPr>
              <a:t>V2X </a:t>
            </a:r>
            <a:r>
              <a:rPr kumimoji="1" lang="zh-CN" altLang="en-US" dirty="0">
                <a:latin typeface="Microsoft YaHei" panose="020B0503020204020204" pitchFamily="34" charset="-122"/>
                <a:ea typeface="Microsoft YaHei" panose="020B0503020204020204" pitchFamily="34" charset="-122"/>
                <a:cs typeface="微软雅黑" charset="0"/>
              </a:rPr>
              <a:t>通信所有参数配置的</a:t>
            </a:r>
            <a:r>
              <a:rPr kumimoji="1" lang="zh-CN" altLang="en-US" dirty="0" smtClean="0">
                <a:latin typeface="Microsoft YaHei" panose="020B0503020204020204" pitchFamily="34" charset="-122"/>
                <a:ea typeface="Microsoft YaHei" panose="020B0503020204020204" pitchFamily="34" charset="-122"/>
                <a:cs typeface="微软雅黑" charset="0"/>
              </a:rPr>
              <a:t>数据库，可以根据 </a:t>
            </a:r>
            <a:r>
              <a:rPr kumimoji="1" lang="en-US" altLang="zh-CN" dirty="0" smtClean="0">
                <a:latin typeface="Microsoft YaHei" panose="020B0503020204020204" pitchFamily="34" charset="-122"/>
                <a:ea typeface="Microsoft YaHei" panose="020B0503020204020204" pitchFamily="34" charset="-122"/>
                <a:cs typeface="微软雅黑" charset="0"/>
              </a:rPr>
              <a:t>V2X </a:t>
            </a:r>
            <a:r>
              <a:rPr kumimoji="1" lang="zh-CN" altLang="en-US" dirty="0" smtClean="0">
                <a:latin typeface="Microsoft YaHei" panose="020B0503020204020204" pitchFamily="34" charset="-122"/>
                <a:ea typeface="Microsoft YaHei" panose="020B0503020204020204" pitchFamily="34" charset="-122"/>
                <a:cs typeface="微软雅黑" charset="0"/>
              </a:rPr>
              <a:t>应用服务器的数据进行更新。</a:t>
            </a:r>
            <a:endParaRPr kumimoji="1" lang="en-US" altLang="zh-CN" dirty="0" smtClean="0">
              <a:latin typeface="Microsoft YaHei" panose="020B0503020204020204" pitchFamily="34" charset="-122"/>
              <a:ea typeface="Microsoft YaHei" panose="020B0503020204020204" pitchFamily="34" charset="-122"/>
              <a:cs typeface="微软雅黑" charset="0"/>
            </a:endParaRPr>
          </a:p>
          <a:p>
            <a:pPr marL="875030" marR="471805" lvl="1" indent="-342900">
              <a:lnSpc>
                <a:spcPct val="150000"/>
              </a:lnSpc>
              <a:buFont typeface="Wingdings" panose="05000000000000000000" pitchFamily="2" charset="2"/>
              <a:buChar char="Ø"/>
            </a:pPr>
            <a:r>
              <a:rPr kumimoji="1" lang="zh-CN" altLang="en-US" b="1" dirty="0" smtClean="0">
                <a:latin typeface="Microsoft YaHei" panose="020B0503020204020204" pitchFamily="34" charset="-122"/>
                <a:ea typeface="Microsoft YaHei" panose="020B0503020204020204" pitchFamily="34" charset="-122"/>
                <a:cs typeface="微软雅黑" charset="0"/>
              </a:rPr>
              <a:t>策略控制功能（</a:t>
            </a:r>
            <a:r>
              <a:rPr kumimoji="1" lang="en-US" altLang="zh-CN" b="1" dirty="0" smtClean="0">
                <a:latin typeface="Microsoft YaHei" panose="020B0503020204020204" pitchFamily="34" charset="-122"/>
                <a:ea typeface="Microsoft YaHei" panose="020B0503020204020204" pitchFamily="34" charset="-122"/>
                <a:cs typeface="微软雅黑" charset="0"/>
              </a:rPr>
              <a:t>PCF</a:t>
            </a:r>
            <a:r>
              <a:rPr kumimoji="1" lang="zh-CN" altLang="en-US" b="1" dirty="0" smtClean="0">
                <a:latin typeface="Microsoft YaHei" panose="020B0503020204020204" pitchFamily="34" charset="-122"/>
                <a:ea typeface="Microsoft YaHei" panose="020B0503020204020204" pitchFamily="34" charset="-122"/>
                <a:cs typeface="微软雅黑" charset="0"/>
              </a:rPr>
              <a:t>）</a:t>
            </a:r>
            <a:r>
              <a:rPr kumimoji="1" lang="zh-CN" altLang="en-US" dirty="0" smtClean="0">
                <a:latin typeface="Microsoft YaHei" panose="020B0503020204020204" pitchFamily="34" charset="-122"/>
                <a:ea typeface="Microsoft YaHei" panose="020B0503020204020204" pitchFamily="34" charset="-122"/>
                <a:cs typeface="微软雅黑" charset="0"/>
              </a:rPr>
              <a:t>扩展</a:t>
            </a:r>
            <a:r>
              <a:rPr kumimoji="1" lang="zh-CN" altLang="en-US" dirty="0">
                <a:latin typeface="Microsoft YaHei" panose="020B0503020204020204" pitchFamily="34" charset="-122"/>
                <a:ea typeface="Microsoft YaHei" panose="020B0503020204020204" pitchFamily="34" charset="-122"/>
                <a:cs typeface="微软雅黑" charset="0"/>
              </a:rPr>
              <a:t>，用于 </a:t>
            </a:r>
            <a:r>
              <a:rPr kumimoji="1" lang="en-US" altLang="zh-CN" dirty="0">
                <a:latin typeface="Microsoft YaHei" panose="020B0503020204020204" pitchFamily="34" charset="-122"/>
                <a:ea typeface="Microsoft YaHei" panose="020B0503020204020204" pitchFamily="34" charset="-122"/>
                <a:cs typeface="微软雅黑" charset="0"/>
              </a:rPr>
              <a:t>V2X </a:t>
            </a:r>
            <a:r>
              <a:rPr kumimoji="1" lang="zh-CN" altLang="en-US" dirty="0">
                <a:latin typeface="Microsoft YaHei" panose="020B0503020204020204" pitchFamily="34" charset="-122"/>
                <a:ea typeface="Microsoft YaHei" panose="020B0503020204020204" pitchFamily="34" charset="-122"/>
                <a:cs typeface="微软雅黑" charset="0"/>
              </a:rPr>
              <a:t>终端的鉴权信息管理，以及 </a:t>
            </a:r>
            <a:r>
              <a:rPr kumimoji="1" lang="en-US" altLang="zh-CN" dirty="0">
                <a:latin typeface="Microsoft YaHei" panose="020B0503020204020204" pitchFamily="34" charset="-122"/>
                <a:ea typeface="Microsoft YaHei" panose="020B0503020204020204" pitchFamily="34" charset="-122"/>
                <a:cs typeface="微软雅黑" charset="0"/>
              </a:rPr>
              <a:t>V2X </a:t>
            </a:r>
            <a:r>
              <a:rPr kumimoji="1" lang="zh-CN" altLang="en-US" dirty="0" smtClean="0">
                <a:latin typeface="Microsoft YaHei" panose="020B0503020204020204" pitchFamily="34" charset="-122"/>
                <a:ea typeface="Microsoft YaHei" panose="020B0503020204020204" pitchFamily="34" charset="-122"/>
                <a:cs typeface="微软雅黑" charset="0"/>
              </a:rPr>
              <a:t>通信（</a:t>
            </a:r>
            <a:r>
              <a:rPr kumimoji="1" lang="en-US" altLang="zh-CN" dirty="0" smtClean="0">
                <a:latin typeface="Microsoft YaHei" panose="020B0503020204020204" pitchFamily="34" charset="-122"/>
                <a:ea typeface="Microsoft YaHei" panose="020B0503020204020204" pitchFamily="34" charset="-122"/>
                <a:cs typeface="微软雅黑" charset="0"/>
              </a:rPr>
              <a:t>PC5 </a:t>
            </a:r>
            <a:r>
              <a:rPr kumimoji="1" lang="zh-CN" altLang="en-US" dirty="0" smtClean="0">
                <a:latin typeface="Microsoft YaHei" panose="020B0503020204020204" pitchFamily="34" charset="-122"/>
                <a:ea typeface="Microsoft YaHei" panose="020B0503020204020204" pitchFamily="34" charset="-122"/>
                <a:cs typeface="微软雅黑" charset="0"/>
              </a:rPr>
              <a:t>和 </a:t>
            </a:r>
            <a:r>
              <a:rPr kumimoji="1" lang="en-US" altLang="zh-CN" dirty="0" err="1" smtClean="0">
                <a:latin typeface="Microsoft YaHei" panose="020B0503020204020204" pitchFamily="34" charset="-122"/>
                <a:ea typeface="Microsoft YaHei" panose="020B0503020204020204" pitchFamily="34" charset="-122"/>
                <a:cs typeface="微软雅黑" charset="0"/>
              </a:rPr>
              <a:t>Uu</a:t>
            </a:r>
            <a:r>
              <a:rPr kumimoji="1" lang="zh-CN" altLang="en-US" dirty="0" smtClean="0">
                <a:latin typeface="Microsoft YaHei" panose="020B0503020204020204" pitchFamily="34" charset="-122"/>
                <a:ea typeface="Microsoft YaHei" panose="020B0503020204020204" pitchFamily="34" charset="-122"/>
                <a:cs typeface="微软雅黑" charset="0"/>
              </a:rPr>
              <a:t>）的</a:t>
            </a:r>
            <a:r>
              <a:rPr kumimoji="1" lang="zh-CN" altLang="en-US" dirty="0">
                <a:latin typeface="Microsoft YaHei" panose="020B0503020204020204" pitchFamily="34" charset="-122"/>
                <a:ea typeface="Microsoft YaHei" panose="020B0503020204020204" pitchFamily="34" charset="-122"/>
                <a:cs typeface="微软雅黑" charset="0"/>
              </a:rPr>
              <a:t>策略和参数</a:t>
            </a:r>
            <a:r>
              <a:rPr kumimoji="1" lang="zh-CN" altLang="en-US" dirty="0" smtClean="0">
                <a:latin typeface="Microsoft YaHei" panose="020B0503020204020204" pitchFamily="34" charset="-122"/>
                <a:ea typeface="Microsoft YaHei" panose="020B0503020204020204" pitchFamily="34" charset="-122"/>
                <a:cs typeface="微软雅黑" charset="0"/>
              </a:rPr>
              <a:t>管理，</a:t>
            </a:r>
            <a:r>
              <a:rPr kumimoji="1" lang="en-US" altLang="zh-CN" dirty="0" smtClean="0">
                <a:latin typeface="Microsoft YaHei" panose="020B0503020204020204" pitchFamily="34" charset="-122"/>
                <a:ea typeface="Microsoft YaHei" panose="020B0503020204020204" pitchFamily="34" charset="-122"/>
                <a:cs typeface="微软雅黑" charset="0"/>
              </a:rPr>
              <a:t>PCF </a:t>
            </a:r>
            <a:r>
              <a:rPr kumimoji="1" lang="zh-CN" altLang="en-US" dirty="0" smtClean="0">
                <a:latin typeface="Microsoft YaHei" panose="020B0503020204020204" pitchFamily="34" charset="-122"/>
                <a:ea typeface="Microsoft YaHei" panose="020B0503020204020204" pitchFamily="34" charset="-122"/>
                <a:cs typeface="微软雅黑" charset="0"/>
              </a:rPr>
              <a:t>通过 </a:t>
            </a:r>
            <a:r>
              <a:rPr kumimoji="1" lang="en-US" altLang="zh-CN" dirty="0" smtClean="0">
                <a:latin typeface="Microsoft YaHei" panose="020B0503020204020204" pitchFamily="34" charset="-122"/>
                <a:ea typeface="Microsoft YaHei" panose="020B0503020204020204" pitchFamily="34" charset="-122"/>
                <a:cs typeface="微软雅黑" charset="0"/>
              </a:rPr>
              <a:t>UDR </a:t>
            </a:r>
            <a:r>
              <a:rPr kumimoji="1" lang="zh-CN" altLang="en-US" dirty="0" smtClean="0">
                <a:latin typeface="Microsoft YaHei" panose="020B0503020204020204" pitchFamily="34" charset="-122"/>
                <a:ea typeface="Microsoft YaHei" panose="020B0503020204020204" pitchFamily="34" charset="-122"/>
                <a:cs typeface="微软雅黑" charset="0"/>
              </a:rPr>
              <a:t>实现参数更新。</a:t>
            </a:r>
            <a:endParaRPr kumimoji="1" lang="en-US" altLang="zh-CN" dirty="0" smtClean="0">
              <a:latin typeface="Microsoft YaHei" panose="020B0503020204020204" pitchFamily="34" charset="-122"/>
              <a:ea typeface="Microsoft YaHei" panose="020B0503020204020204" pitchFamily="34" charset="-122"/>
              <a:cs typeface="微软雅黑" charset="0"/>
            </a:endParaRPr>
          </a:p>
          <a:p>
            <a:pPr marL="875030" marR="471805" lvl="1" indent="-342900">
              <a:lnSpc>
                <a:spcPct val="150000"/>
              </a:lnSpc>
              <a:buFont typeface="Wingdings" panose="05000000000000000000" pitchFamily="2" charset="2"/>
              <a:buChar char="Ø"/>
            </a:pPr>
            <a:r>
              <a:rPr kumimoji="1" lang="zh-CN" altLang="en-US" b="1" dirty="0" smtClean="0">
                <a:latin typeface="Microsoft YaHei" panose="020B0503020204020204" pitchFamily="34" charset="-122"/>
                <a:ea typeface="Microsoft YaHei" panose="020B0503020204020204" pitchFamily="34" charset="-122"/>
                <a:cs typeface="微软雅黑" charset="0"/>
              </a:rPr>
              <a:t>网络</a:t>
            </a:r>
            <a:r>
              <a:rPr kumimoji="1" lang="zh-CN" altLang="en-US" b="1" dirty="0">
                <a:latin typeface="Microsoft YaHei" panose="020B0503020204020204" pitchFamily="34" charset="-122"/>
                <a:ea typeface="Microsoft YaHei" panose="020B0503020204020204" pitchFamily="34" charset="-122"/>
                <a:cs typeface="微软雅黑" charset="0"/>
              </a:rPr>
              <a:t>存储库</a:t>
            </a:r>
            <a:r>
              <a:rPr kumimoji="1" lang="zh-CN" altLang="en-US" b="1" dirty="0" smtClean="0">
                <a:latin typeface="Microsoft YaHei" panose="020B0503020204020204" pitchFamily="34" charset="-122"/>
                <a:ea typeface="Microsoft YaHei" panose="020B0503020204020204" pitchFamily="34" charset="-122"/>
                <a:cs typeface="微软雅黑" charset="0"/>
              </a:rPr>
              <a:t>功能（</a:t>
            </a:r>
            <a:r>
              <a:rPr kumimoji="1" lang="en-US" altLang="zh-CN" b="1" dirty="0" smtClean="0">
                <a:latin typeface="Microsoft YaHei" panose="020B0503020204020204" pitchFamily="34" charset="-122"/>
                <a:ea typeface="Microsoft YaHei" panose="020B0503020204020204" pitchFamily="34" charset="-122"/>
                <a:cs typeface="微软雅黑" charset="0"/>
              </a:rPr>
              <a:t>NRF</a:t>
            </a:r>
            <a:r>
              <a:rPr kumimoji="1" lang="zh-CN" altLang="en-US" b="1" dirty="0" smtClean="0">
                <a:latin typeface="Microsoft YaHei" panose="020B0503020204020204" pitchFamily="34" charset="-122"/>
                <a:ea typeface="Microsoft YaHei" panose="020B0503020204020204" pitchFamily="34" charset="-122"/>
                <a:cs typeface="微软雅黑" charset="0"/>
              </a:rPr>
              <a:t>）</a:t>
            </a:r>
            <a:r>
              <a:rPr kumimoji="1" lang="zh-CN" altLang="en-US" dirty="0" smtClean="0">
                <a:latin typeface="Microsoft YaHei" panose="020B0503020204020204" pitchFamily="34" charset="-122"/>
                <a:ea typeface="Microsoft YaHei" panose="020B0503020204020204" pitchFamily="34" charset="-122"/>
                <a:cs typeface="微软雅黑" charset="0"/>
              </a:rPr>
              <a:t>扩展</a:t>
            </a:r>
            <a:r>
              <a:rPr kumimoji="1" lang="zh-CN" altLang="en-US" dirty="0">
                <a:latin typeface="Microsoft YaHei" panose="020B0503020204020204" pitchFamily="34" charset="-122"/>
                <a:ea typeface="Microsoft YaHei" panose="020B0503020204020204" pitchFamily="34" charset="-122"/>
                <a:cs typeface="微软雅黑" charset="0"/>
              </a:rPr>
              <a:t>，主要根据 </a:t>
            </a:r>
            <a:r>
              <a:rPr kumimoji="1" lang="en-US" altLang="zh-CN" dirty="0">
                <a:latin typeface="Microsoft YaHei" panose="020B0503020204020204" pitchFamily="34" charset="-122"/>
                <a:ea typeface="Microsoft YaHei" panose="020B0503020204020204" pitchFamily="34" charset="-122"/>
                <a:cs typeface="微软雅黑" charset="0"/>
              </a:rPr>
              <a:t>V2X </a:t>
            </a:r>
            <a:r>
              <a:rPr kumimoji="1" lang="zh-CN" altLang="en-US" dirty="0">
                <a:latin typeface="Microsoft YaHei" panose="020B0503020204020204" pitchFamily="34" charset="-122"/>
                <a:ea typeface="Microsoft YaHei" panose="020B0503020204020204" pitchFamily="34" charset="-122"/>
                <a:cs typeface="微软雅黑" charset="0"/>
              </a:rPr>
              <a:t>终端能力上报的信息，选择和发现对应的 </a:t>
            </a:r>
            <a:r>
              <a:rPr kumimoji="1" lang="en-US" altLang="zh-CN" dirty="0">
                <a:latin typeface="Microsoft YaHei" panose="020B0503020204020204" pitchFamily="34" charset="-122"/>
                <a:ea typeface="Microsoft YaHei" panose="020B0503020204020204" pitchFamily="34" charset="-122"/>
                <a:cs typeface="微软雅黑" charset="0"/>
              </a:rPr>
              <a:t>PCF </a:t>
            </a:r>
            <a:r>
              <a:rPr kumimoji="1" lang="zh-CN" altLang="en-US" dirty="0">
                <a:latin typeface="Microsoft YaHei" panose="020B0503020204020204" pitchFamily="34" charset="-122"/>
                <a:ea typeface="Microsoft YaHei" panose="020B0503020204020204" pitchFamily="34" charset="-122"/>
                <a:cs typeface="微软雅黑" charset="0"/>
              </a:rPr>
              <a:t>配置</a:t>
            </a:r>
            <a:r>
              <a:rPr kumimoji="1" lang="zh-CN" altLang="en-US" dirty="0" smtClean="0">
                <a:latin typeface="Microsoft YaHei" panose="020B0503020204020204" pitchFamily="34" charset="-122"/>
                <a:ea typeface="Microsoft YaHei" panose="020B0503020204020204" pitchFamily="34" charset="-122"/>
                <a:cs typeface="微软雅黑" charset="0"/>
              </a:rPr>
              <a:t>。</a:t>
            </a:r>
            <a:endParaRPr kumimoji="1" lang="en-US" altLang="zh-CN" dirty="0" smtClean="0">
              <a:latin typeface="Microsoft YaHei" panose="020B0503020204020204" pitchFamily="34" charset="-122"/>
              <a:ea typeface="Microsoft YaHei" panose="020B0503020204020204" pitchFamily="34" charset="-122"/>
              <a:cs typeface="微软雅黑" charset="0"/>
            </a:endParaRPr>
          </a:p>
          <a:p>
            <a:pPr marL="875030" marR="471805" lvl="1" indent="-342900">
              <a:lnSpc>
                <a:spcPct val="150000"/>
              </a:lnSpc>
              <a:buFont typeface="Wingdings" panose="05000000000000000000" pitchFamily="2" charset="2"/>
              <a:buChar char="Ø"/>
            </a:pPr>
            <a:r>
              <a:rPr kumimoji="1" lang="zh-CN" altLang="en-US" b="1" dirty="0" smtClean="0">
                <a:latin typeface="Microsoft YaHei" panose="020B0503020204020204" pitchFamily="34" charset="-122"/>
                <a:ea typeface="Microsoft YaHei" panose="020B0503020204020204" pitchFamily="34" charset="-122"/>
                <a:cs typeface="微软雅黑" charset="0"/>
              </a:rPr>
              <a:t>统一数据管理（</a:t>
            </a:r>
            <a:r>
              <a:rPr kumimoji="1" lang="en-US" altLang="zh-CN" b="1" dirty="0" smtClean="0">
                <a:latin typeface="Microsoft YaHei" panose="020B0503020204020204" pitchFamily="34" charset="-122"/>
                <a:ea typeface="Microsoft YaHei" panose="020B0503020204020204" pitchFamily="34" charset="-122"/>
                <a:cs typeface="微软雅黑" charset="0"/>
              </a:rPr>
              <a:t>UDM</a:t>
            </a:r>
            <a:r>
              <a:rPr kumimoji="1" lang="zh-CN" altLang="en-US" b="1" dirty="0" smtClean="0">
                <a:latin typeface="Microsoft YaHei" panose="020B0503020204020204" pitchFamily="34" charset="-122"/>
                <a:ea typeface="Microsoft YaHei" panose="020B0503020204020204" pitchFamily="34" charset="-122"/>
                <a:cs typeface="微软雅黑" charset="0"/>
              </a:rPr>
              <a:t>）</a:t>
            </a:r>
            <a:r>
              <a:rPr kumimoji="1" lang="zh-CN" altLang="en-US" dirty="0" smtClean="0">
                <a:latin typeface="Microsoft YaHei" panose="020B0503020204020204" pitchFamily="34" charset="-122"/>
                <a:ea typeface="Microsoft YaHei" panose="020B0503020204020204" pitchFamily="34" charset="-122"/>
                <a:cs typeface="微软雅黑" charset="0"/>
              </a:rPr>
              <a:t>功能</a:t>
            </a:r>
            <a:r>
              <a:rPr kumimoji="1" lang="zh-CN" altLang="en-US" dirty="0">
                <a:latin typeface="Microsoft YaHei" panose="020B0503020204020204" pitchFamily="34" charset="-122"/>
                <a:ea typeface="Microsoft YaHei" panose="020B0503020204020204" pitchFamily="34" charset="-122"/>
                <a:cs typeface="微软雅黑" charset="0"/>
              </a:rPr>
              <a:t>扩展，用于 </a:t>
            </a:r>
            <a:r>
              <a:rPr kumimoji="1" lang="en-US" altLang="zh-CN" dirty="0">
                <a:latin typeface="Microsoft YaHei" panose="020B0503020204020204" pitchFamily="34" charset="-122"/>
                <a:ea typeface="Microsoft YaHei" panose="020B0503020204020204" pitchFamily="34" charset="-122"/>
                <a:cs typeface="微软雅黑" charset="0"/>
              </a:rPr>
              <a:t>V2X </a:t>
            </a:r>
            <a:r>
              <a:rPr kumimoji="1" lang="zh-CN" altLang="en-US" dirty="0" smtClean="0">
                <a:latin typeface="Microsoft YaHei" panose="020B0503020204020204" pitchFamily="34" charset="-122"/>
                <a:ea typeface="Microsoft YaHei" panose="020B0503020204020204" pitchFamily="34" charset="-122"/>
                <a:cs typeface="微软雅黑" charset="0"/>
              </a:rPr>
              <a:t>终端</a:t>
            </a:r>
            <a:r>
              <a:rPr kumimoji="1" lang="en-US" altLang="zh-CN" dirty="0" smtClean="0">
                <a:latin typeface="Microsoft YaHei" panose="020B0503020204020204" pitchFamily="34" charset="-122"/>
                <a:ea typeface="Microsoft YaHei" panose="020B0503020204020204" pitchFamily="34" charset="-122"/>
                <a:cs typeface="微软雅黑" charset="0"/>
              </a:rPr>
              <a:t>PC5 </a:t>
            </a:r>
            <a:r>
              <a:rPr kumimoji="1" lang="zh-CN" altLang="en-US" dirty="0">
                <a:latin typeface="Microsoft YaHei" panose="020B0503020204020204" pitchFamily="34" charset="-122"/>
                <a:ea typeface="Microsoft YaHei" panose="020B0503020204020204" pitchFamily="34" charset="-122"/>
                <a:cs typeface="微软雅黑" charset="0"/>
              </a:rPr>
              <a:t>接口通信的签约信息管理</a:t>
            </a:r>
            <a:r>
              <a:rPr kumimoji="1" lang="zh-CN" altLang="en-US" dirty="0" smtClean="0">
                <a:latin typeface="Microsoft YaHei" panose="020B0503020204020204" pitchFamily="34" charset="-122"/>
                <a:ea typeface="Microsoft YaHei" panose="020B0503020204020204" pitchFamily="34" charset="-122"/>
                <a:cs typeface="微软雅黑" charset="0"/>
              </a:rPr>
              <a:t>。</a:t>
            </a:r>
            <a:endParaRPr kumimoji="1" lang="en-US" altLang="zh-CN" dirty="0" smtClean="0">
              <a:latin typeface="Microsoft YaHei" panose="020B0503020204020204" pitchFamily="34" charset="-122"/>
              <a:ea typeface="Microsoft YaHei" panose="020B0503020204020204" pitchFamily="34" charset="-122"/>
              <a:cs typeface="微软雅黑" charset="0"/>
            </a:endParaRPr>
          </a:p>
          <a:p>
            <a:pPr marL="875030" marR="471805" lvl="1" indent="-342900">
              <a:lnSpc>
                <a:spcPct val="150000"/>
              </a:lnSpc>
              <a:buFont typeface="Wingdings" panose="05000000000000000000" pitchFamily="2" charset="2"/>
              <a:buChar char="Ø"/>
            </a:pPr>
            <a:r>
              <a:rPr kumimoji="1" lang="zh-CN" altLang="en-US" b="1" dirty="0" smtClean="0">
                <a:latin typeface="Microsoft YaHei" panose="020B0503020204020204" pitchFamily="34" charset="-122"/>
                <a:ea typeface="Microsoft YaHei" panose="020B0503020204020204" pitchFamily="34" charset="-122"/>
                <a:cs typeface="微软雅黑" charset="0"/>
              </a:rPr>
              <a:t>接入</a:t>
            </a:r>
            <a:r>
              <a:rPr kumimoji="1" lang="zh-CN" altLang="en-US" b="1" dirty="0">
                <a:latin typeface="Microsoft YaHei" panose="020B0503020204020204" pitchFamily="34" charset="-122"/>
                <a:ea typeface="Microsoft YaHei" panose="020B0503020204020204" pitchFamily="34" charset="-122"/>
                <a:cs typeface="微软雅黑" charset="0"/>
              </a:rPr>
              <a:t>和移动性管理</a:t>
            </a:r>
            <a:r>
              <a:rPr kumimoji="1" lang="zh-CN" altLang="en-US" b="1" dirty="0" smtClean="0">
                <a:latin typeface="Microsoft YaHei" panose="020B0503020204020204" pitchFamily="34" charset="-122"/>
                <a:ea typeface="Microsoft YaHei" panose="020B0503020204020204" pitchFamily="34" charset="-122"/>
                <a:cs typeface="微软雅黑" charset="0"/>
              </a:rPr>
              <a:t>功能（</a:t>
            </a:r>
            <a:r>
              <a:rPr kumimoji="1" lang="en-US" altLang="zh-CN" b="1" dirty="0" smtClean="0">
                <a:latin typeface="Microsoft YaHei" panose="020B0503020204020204" pitchFamily="34" charset="-122"/>
                <a:ea typeface="Microsoft YaHei" panose="020B0503020204020204" pitchFamily="34" charset="-122"/>
                <a:cs typeface="微软雅黑" charset="0"/>
              </a:rPr>
              <a:t>AMF</a:t>
            </a:r>
            <a:r>
              <a:rPr kumimoji="1" lang="zh-CN" altLang="en-US" b="1" dirty="0" smtClean="0">
                <a:latin typeface="Microsoft YaHei" panose="020B0503020204020204" pitchFamily="34" charset="-122"/>
                <a:ea typeface="Microsoft YaHei" panose="020B0503020204020204" pitchFamily="34" charset="-122"/>
                <a:cs typeface="微软雅黑" charset="0"/>
              </a:rPr>
              <a:t>）</a:t>
            </a:r>
            <a:r>
              <a:rPr kumimoji="1" lang="zh-CN" altLang="en-US" dirty="0" smtClean="0">
                <a:latin typeface="Microsoft YaHei" panose="020B0503020204020204" pitchFamily="34" charset="-122"/>
                <a:ea typeface="Microsoft YaHei" panose="020B0503020204020204" pitchFamily="34" charset="-122"/>
                <a:cs typeface="微软雅黑" charset="0"/>
              </a:rPr>
              <a:t>扩展，给</a:t>
            </a:r>
            <a:r>
              <a:rPr kumimoji="1" lang="zh-CN" altLang="en-US" dirty="0">
                <a:latin typeface="Microsoft YaHei" panose="020B0503020204020204" pitchFamily="34" charset="-122"/>
                <a:ea typeface="Microsoft YaHei" panose="020B0503020204020204" pitchFamily="34" charset="-122"/>
                <a:cs typeface="微软雅黑" charset="0"/>
              </a:rPr>
              <a:t>终端提供 </a:t>
            </a:r>
            <a:r>
              <a:rPr kumimoji="1" lang="en-US" altLang="zh-CN" dirty="0">
                <a:latin typeface="Microsoft YaHei" panose="020B0503020204020204" pitchFamily="34" charset="-122"/>
                <a:ea typeface="Microsoft YaHei" panose="020B0503020204020204" pitchFamily="34" charset="-122"/>
                <a:cs typeface="微软雅黑" charset="0"/>
              </a:rPr>
              <a:t>PC5 </a:t>
            </a:r>
            <a:r>
              <a:rPr kumimoji="1" lang="zh-CN" altLang="en-US" dirty="0">
                <a:latin typeface="Microsoft YaHei" panose="020B0503020204020204" pitchFamily="34" charset="-122"/>
                <a:ea typeface="Microsoft YaHei" panose="020B0503020204020204" pitchFamily="34" charset="-122"/>
                <a:cs typeface="微软雅黑" charset="0"/>
              </a:rPr>
              <a:t>口通信的策略和参数配置</a:t>
            </a:r>
            <a:r>
              <a:rPr kumimoji="1" lang="zh-CN" altLang="en-US" dirty="0" smtClean="0">
                <a:latin typeface="Microsoft YaHei" panose="020B0503020204020204" pitchFamily="34" charset="-122"/>
                <a:ea typeface="Microsoft YaHei" panose="020B0503020204020204" pitchFamily="34" charset="-122"/>
                <a:cs typeface="微软雅黑" charset="0"/>
              </a:rPr>
              <a:t>信息，管理</a:t>
            </a:r>
            <a:r>
              <a:rPr kumimoji="1" lang="zh-CN" altLang="en-US" dirty="0">
                <a:latin typeface="Microsoft YaHei" panose="020B0503020204020204" pitchFamily="34" charset="-122"/>
                <a:ea typeface="Microsoft YaHei" panose="020B0503020204020204" pitchFamily="34" charset="-122"/>
                <a:cs typeface="微软雅黑" charset="0"/>
              </a:rPr>
              <a:t>终端 </a:t>
            </a:r>
            <a:r>
              <a:rPr kumimoji="1" lang="en-US" altLang="zh-CN" dirty="0">
                <a:latin typeface="Microsoft YaHei" panose="020B0503020204020204" pitchFamily="34" charset="-122"/>
                <a:ea typeface="Microsoft YaHei" panose="020B0503020204020204" pitchFamily="34" charset="-122"/>
                <a:cs typeface="微软雅黑" charset="0"/>
              </a:rPr>
              <a:t>PC5 </a:t>
            </a:r>
            <a:r>
              <a:rPr kumimoji="1" lang="zh-CN" altLang="en-US" dirty="0">
                <a:latin typeface="Microsoft YaHei" panose="020B0503020204020204" pitchFamily="34" charset="-122"/>
                <a:ea typeface="Microsoft YaHei" panose="020B0503020204020204" pitchFamily="34" charset="-122"/>
                <a:cs typeface="微软雅黑" charset="0"/>
              </a:rPr>
              <a:t>口</a:t>
            </a:r>
            <a:r>
              <a:rPr kumimoji="1" lang="zh-CN" altLang="en-US" dirty="0" smtClean="0">
                <a:latin typeface="Microsoft YaHei" panose="020B0503020204020204" pitchFamily="34" charset="-122"/>
                <a:ea typeface="Microsoft YaHei" panose="020B0503020204020204" pitchFamily="34" charset="-122"/>
                <a:cs typeface="微软雅黑" charset="0"/>
              </a:rPr>
              <a:t>签约和</a:t>
            </a:r>
            <a:r>
              <a:rPr kumimoji="1" lang="zh-CN" altLang="en-US" dirty="0">
                <a:latin typeface="Microsoft YaHei" panose="020B0503020204020204" pitchFamily="34" charset="-122"/>
                <a:ea typeface="Microsoft YaHei" panose="020B0503020204020204" pitchFamily="34" charset="-122"/>
                <a:cs typeface="微软雅黑" charset="0"/>
              </a:rPr>
              <a:t>授权状态的上下文信息</a:t>
            </a:r>
            <a:r>
              <a:rPr kumimoji="1" lang="zh-CN" altLang="en-US" dirty="0" smtClean="0">
                <a:latin typeface="Microsoft YaHei" panose="020B0503020204020204" pitchFamily="34" charset="-122"/>
                <a:ea typeface="Microsoft YaHei" panose="020B0503020204020204" pitchFamily="34" charset="-122"/>
                <a:cs typeface="微软雅黑" charset="0"/>
              </a:rPr>
              <a:t>。</a:t>
            </a:r>
            <a:endParaRPr kumimoji="1" lang="zh-CN" altLang="en-US" dirty="0">
              <a:latin typeface="Microsoft YaHei" panose="020B0503020204020204" pitchFamily="34" charset="-122"/>
              <a:ea typeface="Microsoft YaHei" panose="020B0503020204020204" pitchFamily="34" charset="-122"/>
              <a:cs typeface="微软雅黑" charset="0"/>
            </a:endParaRPr>
          </a:p>
        </p:txBody>
      </p:sp>
    </p:spTree>
    <p:extLst>
      <p:ext uri="{BB962C8B-B14F-4D97-AF65-F5344CB8AC3E}">
        <p14:creationId xmlns:p14="http://schemas.microsoft.com/office/powerpoint/2010/main" val="4143413200"/>
      </p:ext>
    </p:extLst>
  </p:cSld>
  <p:clrMapOvr>
    <a:masterClrMapping/>
  </p:clrMapOvr>
  <p:transition spd="slow" advClick="0"/>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标题 1">
            <a:extLst>
              <a:ext uri="{FF2B5EF4-FFF2-40B4-BE49-F238E27FC236}">
                <a16:creationId xmlns:a16="http://schemas.microsoft.com/office/drawing/2014/main" id="{A1B259F4-61D9-D54A-A46D-A8AB65FCCBE6}"/>
              </a:ext>
            </a:extLst>
          </p:cNvPr>
          <p:cNvSpPr txBox="1"/>
          <p:nvPr/>
        </p:nvSpPr>
        <p:spPr>
          <a:xfrm>
            <a:off x="237392" y="191297"/>
            <a:ext cx="9251576" cy="679847"/>
          </a:xfrm>
          <a:prstGeom prst="rect">
            <a:avLst/>
          </a:prstGeom>
        </p:spPr>
        <p:txBody>
          <a:bodyPr vert="horz" lIns="68580" tIns="34290" rIns="68580" bIns="34290" rtlCol="0" anchor="ctr">
            <a:normAutofit/>
          </a:bodyPr>
          <a:lstStyle/>
          <a:p>
            <a:pPr lvl="0">
              <a:spcBef>
                <a:spcPct val="0"/>
              </a:spcBef>
              <a:defRPr/>
            </a:pPr>
            <a:r>
              <a:rPr lang="en-US" altLang="zh-CN" sz="34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5G-V2X </a:t>
            </a:r>
            <a:r>
              <a:rPr lang="zh-CN" altLang="en-US" sz="34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网络架构</a:t>
            </a:r>
            <a:endParaRPr lang="en-US" altLang="zh-CN" sz="36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pic>
        <p:nvPicPr>
          <p:cNvPr id="31" name="Picture 11" descr="program-ciat2020">
            <a:extLst>
              <a:ext uri="{FF2B5EF4-FFF2-40B4-BE49-F238E27FC236}">
                <a16:creationId xmlns:a16="http://schemas.microsoft.com/office/drawing/2014/main" id="{590FEF71-8EB3-6941-9167-6129C74764E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graphicFrame>
        <p:nvGraphicFramePr>
          <p:cNvPr id="5" name="表格 4"/>
          <p:cNvGraphicFramePr>
            <a:graphicFrameLocks noGrp="1"/>
          </p:cNvGraphicFramePr>
          <p:nvPr>
            <p:extLst>
              <p:ext uri="{D42A27DB-BD31-4B8C-83A1-F6EECF244321}">
                <p14:modId xmlns:p14="http://schemas.microsoft.com/office/powerpoint/2010/main" val="3932538811"/>
              </p:ext>
            </p:extLst>
          </p:nvPr>
        </p:nvGraphicFramePr>
        <p:xfrm>
          <a:off x="410546" y="2062950"/>
          <a:ext cx="8136296" cy="3675375"/>
        </p:xfrm>
        <a:graphic>
          <a:graphicData uri="http://schemas.openxmlformats.org/drawingml/2006/table">
            <a:tbl>
              <a:tblPr firstRow="1" firstCol="1" lastRow="1" lastCol="1" bandRow="1" bandCol="1"/>
              <a:tblGrid>
                <a:gridCol w="1600440">
                  <a:extLst>
                    <a:ext uri="{9D8B030D-6E8A-4147-A177-3AD203B41FA5}">
                      <a16:colId xmlns:a16="http://schemas.microsoft.com/office/drawing/2014/main" val="458770313"/>
                    </a:ext>
                  </a:extLst>
                </a:gridCol>
                <a:gridCol w="6535856">
                  <a:extLst>
                    <a:ext uri="{9D8B030D-6E8A-4147-A177-3AD203B41FA5}">
                      <a16:colId xmlns:a16="http://schemas.microsoft.com/office/drawing/2014/main" val="704784543"/>
                    </a:ext>
                  </a:extLst>
                </a:gridCol>
              </a:tblGrid>
              <a:tr h="682560">
                <a:tc>
                  <a:txBody>
                    <a:bodyPr/>
                    <a:lstStyle/>
                    <a:p>
                      <a:pPr marL="514985" marR="509905" algn="ctr">
                        <a:spcBef>
                          <a:spcPts val="400"/>
                        </a:spcBef>
                        <a:spcAft>
                          <a:spcPts val="0"/>
                        </a:spcAft>
                      </a:pPr>
                      <a:r>
                        <a:rPr lang="zh-CN" sz="2000" b="1" dirty="0">
                          <a:effectLst/>
                          <a:latin typeface="微软雅黑" panose="020B0503020204020204" pitchFamily="34" charset="-122"/>
                          <a:ea typeface="微软雅黑" panose="020B0503020204020204" pitchFamily="34" charset="-122"/>
                          <a:cs typeface="宋体" panose="02010600030101010101" pitchFamily="2" charset="-122"/>
                        </a:rPr>
                        <a:t>接口</a:t>
                      </a:r>
                      <a:endParaRPr lang="zh-CN" sz="18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solidFill>
                  </a:tcPr>
                </a:tc>
                <a:tc>
                  <a:txBody>
                    <a:bodyPr/>
                    <a:lstStyle/>
                    <a:p>
                      <a:pPr marL="272415" marR="268605" algn="ctr">
                        <a:spcBef>
                          <a:spcPts val="400"/>
                        </a:spcBef>
                        <a:spcAft>
                          <a:spcPts val="0"/>
                        </a:spcAft>
                      </a:pPr>
                      <a:r>
                        <a:rPr lang="zh-CN" sz="2000" b="1" dirty="0">
                          <a:effectLst/>
                          <a:latin typeface="微软雅黑" panose="020B0503020204020204" pitchFamily="34" charset="-122"/>
                          <a:ea typeface="微软雅黑" panose="020B0503020204020204" pitchFamily="34" charset="-122"/>
                          <a:cs typeface="宋体" panose="02010600030101010101" pitchFamily="2" charset="-122"/>
                        </a:rPr>
                        <a:t>功能</a:t>
                      </a:r>
                      <a:endParaRPr lang="zh-CN" sz="18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solidFill>
                  </a:tcPr>
                </a:tc>
                <a:extLst>
                  <a:ext uri="{0D108BD9-81ED-4DB2-BD59-A6C34878D82A}">
                    <a16:rowId xmlns:a16="http://schemas.microsoft.com/office/drawing/2014/main" val="3063254906"/>
                  </a:ext>
                </a:extLst>
              </a:tr>
              <a:tr h="673846">
                <a:tc>
                  <a:txBody>
                    <a:bodyPr/>
                    <a:lstStyle/>
                    <a:p>
                      <a:pPr marL="514985" marR="509905" algn="ctr">
                        <a:spcBef>
                          <a:spcPts val="485"/>
                        </a:spcBef>
                        <a:spcAft>
                          <a:spcPts val="0"/>
                        </a:spcAft>
                      </a:pPr>
                      <a:r>
                        <a:rPr lang="en-US" sz="2000">
                          <a:effectLst/>
                          <a:latin typeface="微软雅黑" panose="020B0503020204020204" pitchFamily="34" charset="-122"/>
                          <a:ea typeface="微软雅黑" panose="020B0503020204020204" pitchFamily="34" charset="-122"/>
                          <a:cs typeface="宋体" panose="02010600030101010101" pitchFamily="2" charset="-122"/>
                        </a:rPr>
                        <a:t>V1</a:t>
                      </a:r>
                      <a:endParaRPr lang="zh-CN" sz="1800">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marL="272415" marR="269240" algn="ctr">
                        <a:spcBef>
                          <a:spcPts val="405"/>
                        </a:spcBef>
                        <a:spcAft>
                          <a:spcPts val="0"/>
                        </a:spcAft>
                      </a:pPr>
                      <a:r>
                        <a:rPr lang="zh-CN" sz="2000" spc="-105" dirty="0">
                          <a:effectLst/>
                          <a:latin typeface="微软雅黑" panose="020B0503020204020204" pitchFamily="34" charset="-122"/>
                          <a:ea typeface="微软雅黑" panose="020B0503020204020204" pitchFamily="34" charset="-122"/>
                          <a:cs typeface="宋体" panose="02010600030101010101" pitchFamily="2" charset="-122"/>
                        </a:rPr>
                        <a:t>终端 </a:t>
                      </a:r>
                      <a:r>
                        <a:rPr lang="en-US" sz="2000" spc="-5" dirty="0">
                          <a:effectLst/>
                          <a:latin typeface="微软雅黑" panose="020B0503020204020204" pitchFamily="34" charset="-122"/>
                          <a:ea typeface="微软雅黑" panose="020B0503020204020204" pitchFamily="34" charset="-122"/>
                          <a:cs typeface="宋体" panose="02010600030101010101" pitchFamily="2" charset="-122"/>
                        </a:rPr>
                        <a:t>V2X</a:t>
                      </a:r>
                      <a:r>
                        <a:rPr lang="en-US" sz="2000" dirty="0">
                          <a:effectLst/>
                          <a:latin typeface="微软雅黑" panose="020B0503020204020204" pitchFamily="34" charset="-122"/>
                          <a:ea typeface="微软雅黑" panose="020B0503020204020204" pitchFamily="34" charset="-122"/>
                          <a:cs typeface="宋体" panose="02010600030101010101" pitchFamily="2" charset="-122"/>
                        </a:rPr>
                        <a:t> </a:t>
                      </a:r>
                      <a:r>
                        <a:rPr lang="zh-CN" sz="2000" spc="-75" dirty="0">
                          <a:effectLst/>
                          <a:latin typeface="微软雅黑" panose="020B0503020204020204" pitchFamily="34" charset="-122"/>
                          <a:ea typeface="微软雅黑" panose="020B0503020204020204" pitchFamily="34" charset="-122"/>
                          <a:cs typeface="宋体" panose="02010600030101010101" pitchFamily="2" charset="-122"/>
                        </a:rPr>
                        <a:t>应用与 </a:t>
                      </a:r>
                      <a:r>
                        <a:rPr lang="en-US" sz="2000" dirty="0">
                          <a:effectLst/>
                          <a:latin typeface="微软雅黑" panose="020B0503020204020204" pitchFamily="34" charset="-122"/>
                          <a:ea typeface="微软雅黑" panose="020B0503020204020204" pitchFamily="34" charset="-122"/>
                          <a:cs typeface="宋体" panose="02010600030101010101" pitchFamily="2" charset="-122"/>
                        </a:rPr>
                        <a:t>V2X </a:t>
                      </a:r>
                      <a:r>
                        <a:rPr lang="zh-CN" sz="2000" dirty="0">
                          <a:effectLst/>
                          <a:latin typeface="微软雅黑" panose="020B0503020204020204" pitchFamily="34" charset="-122"/>
                          <a:ea typeface="微软雅黑" panose="020B0503020204020204" pitchFamily="34" charset="-122"/>
                          <a:cs typeface="宋体" panose="02010600030101010101" pitchFamily="2" charset="-122"/>
                        </a:rPr>
                        <a:t>应用服务器之间的接口</a:t>
                      </a:r>
                      <a:endParaRPr lang="zh-CN" sz="18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3271722133"/>
                  </a:ext>
                </a:extLst>
              </a:tr>
              <a:tr h="1095427">
                <a:tc>
                  <a:txBody>
                    <a:bodyPr/>
                    <a:lstStyle/>
                    <a:p>
                      <a:pPr marL="514985" marR="509905" algn="ctr">
                        <a:spcBef>
                          <a:spcPts val="480"/>
                        </a:spcBef>
                        <a:spcAft>
                          <a:spcPts val="0"/>
                        </a:spcAft>
                      </a:pPr>
                      <a:r>
                        <a:rPr lang="en-US" sz="2000">
                          <a:effectLst/>
                          <a:latin typeface="微软雅黑" panose="020B0503020204020204" pitchFamily="34" charset="-122"/>
                          <a:ea typeface="微软雅黑" panose="020B0503020204020204" pitchFamily="34" charset="-122"/>
                          <a:cs typeface="宋体" panose="02010600030101010101" pitchFamily="2" charset="-122"/>
                        </a:rPr>
                        <a:t>V3</a:t>
                      </a:r>
                      <a:endParaRPr lang="zh-CN" sz="1800">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marL="272415" marR="269240" algn="ctr">
                        <a:spcBef>
                          <a:spcPts val="400"/>
                        </a:spcBef>
                        <a:spcAft>
                          <a:spcPts val="0"/>
                        </a:spcAft>
                      </a:pPr>
                      <a:r>
                        <a:rPr lang="en-US" sz="2000" spc="-5" dirty="0">
                          <a:effectLst/>
                          <a:latin typeface="微软雅黑" panose="020B0503020204020204" pitchFamily="34" charset="-122"/>
                          <a:ea typeface="微软雅黑" panose="020B0503020204020204" pitchFamily="34" charset="-122"/>
                          <a:cs typeface="宋体" panose="02010600030101010101" pitchFamily="2" charset="-122"/>
                        </a:rPr>
                        <a:t>4G </a:t>
                      </a:r>
                      <a:r>
                        <a:rPr lang="zh-CN" sz="2000" spc="-45" dirty="0">
                          <a:effectLst/>
                          <a:latin typeface="微软雅黑" panose="020B0503020204020204" pitchFamily="34" charset="-122"/>
                          <a:ea typeface="微软雅黑" panose="020B0503020204020204" pitchFamily="34" charset="-122"/>
                          <a:cs typeface="宋体" panose="02010600030101010101" pitchFamily="2" charset="-122"/>
                        </a:rPr>
                        <a:t>网络中，终端 </a:t>
                      </a:r>
                      <a:r>
                        <a:rPr lang="en-US" sz="2000" dirty="0">
                          <a:effectLst/>
                          <a:latin typeface="微软雅黑" panose="020B0503020204020204" pitchFamily="34" charset="-122"/>
                          <a:ea typeface="微软雅黑" panose="020B0503020204020204" pitchFamily="34" charset="-122"/>
                          <a:cs typeface="宋体" panose="02010600030101010101" pitchFamily="2" charset="-122"/>
                        </a:rPr>
                        <a:t>V2X</a:t>
                      </a:r>
                      <a:r>
                        <a:rPr lang="en-US" sz="2000" spc="-5" dirty="0">
                          <a:effectLst/>
                          <a:latin typeface="微软雅黑" panose="020B0503020204020204" pitchFamily="34" charset="-122"/>
                          <a:ea typeface="微软雅黑" panose="020B0503020204020204" pitchFamily="34" charset="-122"/>
                          <a:cs typeface="宋体" panose="02010600030101010101" pitchFamily="2" charset="-122"/>
                        </a:rPr>
                        <a:t> </a:t>
                      </a:r>
                      <a:r>
                        <a:rPr lang="zh-CN" sz="2000" spc="-75" dirty="0">
                          <a:effectLst/>
                          <a:latin typeface="微软雅黑" panose="020B0503020204020204" pitchFamily="34" charset="-122"/>
                          <a:ea typeface="微软雅黑" panose="020B0503020204020204" pitchFamily="34" charset="-122"/>
                          <a:cs typeface="宋体" panose="02010600030101010101" pitchFamily="2" charset="-122"/>
                        </a:rPr>
                        <a:t>应用与 </a:t>
                      </a:r>
                      <a:r>
                        <a:rPr lang="en-US" sz="2000" dirty="0">
                          <a:effectLst/>
                          <a:latin typeface="微软雅黑" panose="020B0503020204020204" pitchFamily="34" charset="-122"/>
                          <a:ea typeface="微软雅黑" panose="020B0503020204020204" pitchFamily="34" charset="-122"/>
                          <a:cs typeface="宋体" panose="02010600030101010101" pitchFamily="2" charset="-122"/>
                        </a:rPr>
                        <a:t>V2X</a:t>
                      </a:r>
                      <a:r>
                        <a:rPr lang="en-US" sz="2000" spc="-5" dirty="0">
                          <a:effectLst/>
                          <a:latin typeface="微软雅黑" panose="020B0503020204020204" pitchFamily="34" charset="-122"/>
                          <a:ea typeface="微软雅黑" panose="020B0503020204020204" pitchFamily="34" charset="-122"/>
                          <a:cs typeface="宋体" panose="02010600030101010101" pitchFamily="2" charset="-122"/>
                        </a:rPr>
                        <a:t> </a:t>
                      </a:r>
                      <a:r>
                        <a:rPr lang="zh-CN" sz="2000" dirty="0">
                          <a:effectLst/>
                          <a:latin typeface="微软雅黑" panose="020B0503020204020204" pitchFamily="34" charset="-122"/>
                          <a:ea typeface="微软雅黑" panose="020B0503020204020204" pitchFamily="34" charset="-122"/>
                          <a:cs typeface="宋体" panose="02010600030101010101" pitchFamily="2" charset="-122"/>
                        </a:rPr>
                        <a:t>控制功能实体之间的接口</a:t>
                      </a:r>
                      <a:endParaRPr lang="zh-CN" sz="18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984667887"/>
                  </a:ext>
                </a:extLst>
              </a:tr>
              <a:tr h="675828">
                <a:tc>
                  <a:txBody>
                    <a:bodyPr/>
                    <a:lstStyle/>
                    <a:p>
                      <a:pPr marL="514985" marR="509905" algn="ctr">
                        <a:spcBef>
                          <a:spcPts val="480"/>
                        </a:spcBef>
                        <a:spcAft>
                          <a:spcPts val="0"/>
                        </a:spcAft>
                      </a:pPr>
                      <a:r>
                        <a:rPr lang="en-US" sz="2000">
                          <a:effectLst/>
                          <a:latin typeface="微软雅黑" panose="020B0503020204020204" pitchFamily="34" charset="-122"/>
                          <a:ea typeface="微软雅黑" panose="020B0503020204020204" pitchFamily="34" charset="-122"/>
                          <a:cs typeface="宋体" panose="02010600030101010101" pitchFamily="2" charset="-122"/>
                        </a:rPr>
                        <a:t>V5</a:t>
                      </a:r>
                      <a:endParaRPr lang="zh-CN" sz="1800">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marL="272415" marR="268605" algn="ctr">
                        <a:spcBef>
                          <a:spcPts val="400"/>
                        </a:spcBef>
                        <a:spcAft>
                          <a:spcPts val="0"/>
                        </a:spcAft>
                      </a:pPr>
                      <a:r>
                        <a:rPr lang="zh-CN" sz="2000" spc="-65" dirty="0">
                          <a:effectLst/>
                          <a:latin typeface="微软雅黑" panose="020B0503020204020204" pitchFamily="34" charset="-122"/>
                          <a:ea typeface="微软雅黑" panose="020B0503020204020204" pitchFamily="34" charset="-122"/>
                          <a:cs typeface="宋体" panose="02010600030101010101" pitchFamily="2" charset="-122"/>
                        </a:rPr>
                        <a:t>不同终端 </a:t>
                      </a:r>
                      <a:r>
                        <a:rPr lang="en-US" sz="2000" dirty="0">
                          <a:effectLst/>
                          <a:latin typeface="微软雅黑" panose="020B0503020204020204" pitchFamily="34" charset="-122"/>
                          <a:ea typeface="微软雅黑" panose="020B0503020204020204" pitchFamily="34" charset="-122"/>
                          <a:cs typeface="宋体" panose="02010600030101010101" pitchFamily="2" charset="-122"/>
                        </a:rPr>
                        <a:t>V2X</a:t>
                      </a:r>
                      <a:r>
                        <a:rPr lang="en-US" sz="2000" spc="-5" dirty="0">
                          <a:effectLst/>
                          <a:latin typeface="微软雅黑" panose="020B0503020204020204" pitchFamily="34" charset="-122"/>
                          <a:ea typeface="微软雅黑" panose="020B0503020204020204" pitchFamily="34" charset="-122"/>
                          <a:cs typeface="宋体" panose="02010600030101010101" pitchFamily="2" charset="-122"/>
                        </a:rPr>
                        <a:t> </a:t>
                      </a:r>
                      <a:r>
                        <a:rPr lang="zh-CN" sz="2000" dirty="0">
                          <a:effectLst/>
                          <a:latin typeface="微软雅黑" panose="020B0503020204020204" pitchFamily="34" charset="-122"/>
                          <a:ea typeface="微软雅黑" panose="020B0503020204020204" pitchFamily="34" charset="-122"/>
                          <a:cs typeface="宋体" panose="02010600030101010101" pitchFamily="2" charset="-122"/>
                        </a:rPr>
                        <a:t>应用之间的接口</a:t>
                      </a:r>
                      <a:endParaRPr lang="zh-CN" sz="18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235786231"/>
                  </a:ext>
                </a:extLst>
              </a:tr>
              <a:tr h="547714">
                <a:tc>
                  <a:txBody>
                    <a:bodyPr/>
                    <a:lstStyle/>
                    <a:p>
                      <a:pPr marL="514985" marR="509905" algn="ctr">
                        <a:spcBef>
                          <a:spcPts val="485"/>
                        </a:spcBef>
                        <a:spcAft>
                          <a:spcPts val="0"/>
                        </a:spcAft>
                      </a:pPr>
                      <a:r>
                        <a:rPr lang="en-US" sz="2000">
                          <a:effectLst/>
                          <a:latin typeface="微软雅黑" panose="020B0503020204020204" pitchFamily="34" charset="-122"/>
                          <a:ea typeface="微软雅黑" panose="020B0503020204020204" pitchFamily="34" charset="-122"/>
                          <a:cs typeface="宋体" panose="02010600030101010101" pitchFamily="2" charset="-122"/>
                        </a:rPr>
                        <a:t>N1</a:t>
                      </a:r>
                      <a:endParaRPr lang="zh-CN" sz="1800">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marL="272415" marR="268605" algn="ctr">
                        <a:spcBef>
                          <a:spcPts val="405"/>
                        </a:spcBef>
                        <a:spcAft>
                          <a:spcPts val="0"/>
                        </a:spcAft>
                      </a:pPr>
                      <a:r>
                        <a:rPr lang="en-US" sz="2000" spc="-5" dirty="0">
                          <a:effectLst/>
                          <a:latin typeface="微软雅黑" panose="020B0503020204020204" pitchFamily="34" charset="-122"/>
                          <a:ea typeface="微软雅黑" panose="020B0503020204020204" pitchFamily="34" charset="-122"/>
                          <a:cs typeface="宋体" panose="02010600030101010101" pitchFamily="2" charset="-122"/>
                        </a:rPr>
                        <a:t>5G </a:t>
                      </a:r>
                      <a:r>
                        <a:rPr lang="zh-CN" sz="2000" spc="-5" dirty="0">
                          <a:effectLst/>
                          <a:latin typeface="微软雅黑" panose="020B0503020204020204" pitchFamily="34" charset="-122"/>
                          <a:ea typeface="微软雅黑" panose="020B0503020204020204" pitchFamily="34" charset="-122"/>
                          <a:cs typeface="宋体" panose="02010600030101010101" pitchFamily="2" charset="-122"/>
                        </a:rPr>
                        <a:t>网络中，</a:t>
                      </a:r>
                      <a:r>
                        <a:rPr lang="en-US" sz="2000" dirty="0">
                          <a:effectLst/>
                          <a:latin typeface="微软雅黑" panose="020B0503020204020204" pitchFamily="34" charset="-122"/>
                          <a:ea typeface="微软雅黑" panose="020B0503020204020204" pitchFamily="34" charset="-122"/>
                          <a:cs typeface="宋体" panose="02010600030101010101" pitchFamily="2" charset="-122"/>
                        </a:rPr>
                        <a:t>AMF</a:t>
                      </a:r>
                      <a:r>
                        <a:rPr lang="en-US" sz="2000" spc="-5" dirty="0">
                          <a:effectLst/>
                          <a:latin typeface="微软雅黑" panose="020B0503020204020204" pitchFamily="34" charset="-122"/>
                          <a:ea typeface="微软雅黑" panose="020B0503020204020204" pitchFamily="34" charset="-122"/>
                          <a:cs typeface="宋体" panose="02010600030101010101" pitchFamily="2" charset="-122"/>
                        </a:rPr>
                        <a:t> </a:t>
                      </a:r>
                      <a:r>
                        <a:rPr lang="zh-CN" sz="2000" spc="-150" dirty="0">
                          <a:effectLst/>
                          <a:latin typeface="微软雅黑" panose="020B0503020204020204" pitchFamily="34" charset="-122"/>
                          <a:ea typeface="微软雅黑" panose="020B0503020204020204" pitchFamily="34" charset="-122"/>
                          <a:cs typeface="宋体" panose="02010600030101010101" pitchFamily="2" charset="-122"/>
                        </a:rPr>
                        <a:t>和 </a:t>
                      </a:r>
                      <a:r>
                        <a:rPr lang="en-US" sz="2000" dirty="0">
                          <a:effectLst/>
                          <a:latin typeface="微软雅黑" panose="020B0503020204020204" pitchFamily="34" charset="-122"/>
                          <a:ea typeface="微软雅黑" panose="020B0503020204020204" pitchFamily="34" charset="-122"/>
                          <a:cs typeface="宋体" panose="02010600030101010101" pitchFamily="2" charset="-122"/>
                        </a:rPr>
                        <a:t>V2X</a:t>
                      </a:r>
                      <a:r>
                        <a:rPr lang="en-US" sz="2000" spc="-5" dirty="0">
                          <a:effectLst/>
                          <a:latin typeface="微软雅黑" panose="020B0503020204020204" pitchFamily="34" charset="-122"/>
                          <a:ea typeface="微软雅黑" panose="020B0503020204020204" pitchFamily="34" charset="-122"/>
                          <a:cs typeface="宋体" panose="02010600030101010101" pitchFamily="2" charset="-122"/>
                        </a:rPr>
                        <a:t> </a:t>
                      </a:r>
                      <a:r>
                        <a:rPr lang="zh-CN" sz="2000" dirty="0">
                          <a:effectLst/>
                          <a:latin typeface="微软雅黑" panose="020B0503020204020204" pitchFamily="34" charset="-122"/>
                          <a:ea typeface="微软雅黑" panose="020B0503020204020204" pitchFamily="34" charset="-122"/>
                          <a:cs typeface="宋体" panose="02010600030101010101" pitchFamily="2" charset="-122"/>
                        </a:rPr>
                        <a:t>用户设备之间的接口</a:t>
                      </a:r>
                      <a:endParaRPr lang="zh-CN" sz="18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3794936019"/>
                  </a:ext>
                </a:extLst>
              </a:tr>
            </a:tbl>
          </a:graphicData>
        </a:graphic>
      </p:graphicFrame>
      <p:sp>
        <p:nvSpPr>
          <p:cNvPr id="2" name="矩形 1"/>
          <p:cNvSpPr/>
          <p:nvPr/>
        </p:nvSpPr>
        <p:spPr>
          <a:xfrm>
            <a:off x="2518381" y="1198664"/>
            <a:ext cx="3920625" cy="461665"/>
          </a:xfrm>
          <a:prstGeom prst="rect">
            <a:avLst/>
          </a:prstGeom>
        </p:spPr>
        <p:txBody>
          <a:bodyPr wrap="none">
            <a:spAutoFit/>
          </a:bodyPr>
          <a:lstStyle/>
          <a:p>
            <a:r>
              <a:rPr lang="en-US" altLang="zh-CN" sz="2400" b="1" dirty="0">
                <a:latin typeface="微软雅黑" panose="020B0503020204020204" pitchFamily="34" charset="-122"/>
                <a:ea typeface="微软雅黑" panose="020B0503020204020204" pitchFamily="34" charset="-122"/>
                <a:cs typeface="宋体" panose="02010600030101010101" pitchFamily="2" charset="-122"/>
              </a:rPr>
              <a:t>5G-V2X</a:t>
            </a:r>
            <a:r>
              <a:rPr lang="en-US" altLang="zh-CN" sz="2400" b="1" spc="-5" dirty="0">
                <a:latin typeface="微软雅黑" panose="020B0503020204020204" pitchFamily="34" charset="-122"/>
                <a:ea typeface="微软雅黑" panose="020B0503020204020204" pitchFamily="34" charset="-122"/>
                <a:cs typeface="宋体" panose="02010600030101010101" pitchFamily="2" charset="-122"/>
              </a:rPr>
              <a:t> </a:t>
            </a:r>
            <a:r>
              <a:rPr lang="zh-CN" altLang="zh-CN" sz="2400" b="1" dirty="0">
                <a:latin typeface="微软雅黑" panose="020B0503020204020204" pitchFamily="34" charset="-122"/>
                <a:ea typeface="微软雅黑" panose="020B0503020204020204" pitchFamily="34" charset="-122"/>
                <a:cs typeface="宋体" panose="02010600030101010101" pitchFamily="2" charset="-122"/>
              </a:rPr>
              <a:t>网络架构接口说明</a:t>
            </a:r>
            <a:endParaRPr lang="zh-CN" altLang="en-US" sz="24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624073351"/>
      </p:ext>
    </p:extLst>
  </p:cSld>
  <p:clrMapOvr>
    <a:masterClrMapping/>
  </p:clrMapOvr>
  <p:transition spd="slow" advClick="0"/>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标题 1">
            <a:extLst>
              <a:ext uri="{FF2B5EF4-FFF2-40B4-BE49-F238E27FC236}">
                <a16:creationId xmlns:a16="http://schemas.microsoft.com/office/drawing/2014/main" id="{A1B259F4-61D9-D54A-A46D-A8AB65FCCBE6}"/>
              </a:ext>
            </a:extLst>
          </p:cNvPr>
          <p:cNvSpPr txBox="1"/>
          <p:nvPr/>
        </p:nvSpPr>
        <p:spPr>
          <a:xfrm>
            <a:off x="237392" y="191297"/>
            <a:ext cx="9251576" cy="679847"/>
          </a:xfrm>
          <a:prstGeom prst="rect">
            <a:avLst/>
          </a:prstGeom>
        </p:spPr>
        <p:txBody>
          <a:bodyPr vert="horz" lIns="68580" tIns="34290" rIns="68580" bIns="34290" rtlCol="0" anchor="ctr">
            <a:normAutofit/>
          </a:bodyPr>
          <a:lstStyle/>
          <a:p>
            <a:pPr lvl="0">
              <a:spcBef>
                <a:spcPct val="0"/>
              </a:spcBef>
              <a:defRPr/>
            </a:pPr>
            <a:r>
              <a:rPr lang="en-US" altLang="zh-CN" sz="34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5G-V2X </a:t>
            </a:r>
            <a:r>
              <a:rPr lang="zh-CN" altLang="en-US" sz="34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应用场景</a:t>
            </a:r>
            <a:endParaRPr lang="en-US" altLang="zh-CN" sz="36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pic>
        <p:nvPicPr>
          <p:cNvPr id="31" name="Picture 11" descr="program-ciat2020">
            <a:extLst>
              <a:ext uri="{FF2B5EF4-FFF2-40B4-BE49-F238E27FC236}">
                <a16:creationId xmlns:a16="http://schemas.microsoft.com/office/drawing/2014/main" id="{590FEF71-8EB3-6941-9167-6129C74764E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sp>
        <p:nvSpPr>
          <p:cNvPr id="3" name="矩形 2"/>
          <p:cNvSpPr/>
          <p:nvPr/>
        </p:nvSpPr>
        <p:spPr>
          <a:xfrm>
            <a:off x="65314" y="936000"/>
            <a:ext cx="9535886" cy="5016758"/>
          </a:xfrm>
          <a:prstGeom prst="rect">
            <a:avLst/>
          </a:prstGeom>
        </p:spPr>
        <p:txBody>
          <a:bodyPr wrap="square">
            <a:spAutoFit/>
          </a:bodyPr>
          <a:lstStyle/>
          <a:p>
            <a:pPr marL="417830" marR="466725" indent="-342900">
              <a:lnSpc>
                <a:spcPct val="150000"/>
              </a:lnSpc>
              <a:spcBef>
                <a:spcPts val="800"/>
              </a:spcBef>
              <a:spcAft>
                <a:spcPts val="0"/>
              </a:spcAft>
              <a:buFont typeface="Wingdings" panose="05000000000000000000" pitchFamily="2" charset="2"/>
              <a:buChar char="n"/>
            </a:pPr>
            <a:r>
              <a:rPr kumimoji="1" lang="zh-CN" altLang="en-US" sz="2000" b="1" dirty="0" smtClean="0">
                <a:latin typeface="Microsoft YaHei" panose="020B0503020204020204" pitchFamily="34" charset="-122"/>
                <a:ea typeface="Microsoft YaHei" panose="020B0503020204020204" pitchFamily="34" charset="-122"/>
                <a:cs typeface="微软雅黑" charset="0"/>
              </a:rPr>
              <a:t>车辆</a:t>
            </a:r>
            <a:r>
              <a:rPr kumimoji="1" lang="zh-CN" altLang="en-US" sz="2000" b="1" dirty="0">
                <a:latin typeface="Microsoft YaHei" panose="020B0503020204020204" pitchFamily="34" charset="-122"/>
                <a:ea typeface="Microsoft YaHei" panose="020B0503020204020204" pitchFamily="34" charset="-122"/>
                <a:cs typeface="微软雅黑" charset="0"/>
              </a:rPr>
              <a:t>编队</a:t>
            </a:r>
            <a:r>
              <a:rPr kumimoji="1" lang="zh-CN" altLang="zh-CN" sz="2000" dirty="0" smtClean="0">
                <a:latin typeface="Microsoft YaHei" panose="020B0503020204020204" pitchFamily="34" charset="-122"/>
                <a:ea typeface="Microsoft YaHei" panose="020B0503020204020204" pitchFamily="34" charset="-122"/>
                <a:cs typeface="微软雅黑" charset="0"/>
              </a:rPr>
              <a:t>：</a:t>
            </a:r>
            <a:r>
              <a:rPr kumimoji="1" lang="zh-CN" altLang="en-US" sz="2000" dirty="0">
                <a:latin typeface="Microsoft YaHei" panose="020B0503020204020204" pitchFamily="34" charset="-122"/>
                <a:ea typeface="Microsoft YaHei" panose="020B0503020204020204" pitchFamily="34" charset="-122"/>
                <a:cs typeface="微软雅黑" charset="0"/>
              </a:rPr>
              <a:t>支持一组车辆组成车队行驶，所有编队行驶的车辆能够从头车获取信息</a:t>
            </a:r>
            <a:r>
              <a:rPr kumimoji="1" lang="zh-CN" altLang="en-US" sz="2000" dirty="0" smtClean="0">
                <a:latin typeface="Microsoft YaHei" panose="020B0503020204020204" pitchFamily="34" charset="-122"/>
                <a:ea typeface="Microsoft YaHei" panose="020B0503020204020204" pitchFamily="34" charset="-122"/>
                <a:cs typeface="微软雅黑" charset="0"/>
              </a:rPr>
              <a:t>，实现传感器</a:t>
            </a:r>
            <a:r>
              <a:rPr kumimoji="1" lang="zh-CN" altLang="en-US" sz="2000" dirty="0">
                <a:latin typeface="Microsoft YaHei" panose="020B0503020204020204" pitchFamily="34" charset="-122"/>
                <a:ea typeface="Microsoft YaHei" panose="020B0503020204020204" pitchFamily="34" charset="-122"/>
                <a:cs typeface="微软雅黑" charset="0"/>
              </a:rPr>
              <a:t>的</a:t>
            </a:r>
            <a:r>
              <a:rPr kumimoji="1" lang="zh-CN" altLang="en-US" sz="2000" dirty="0" smtClean="0">
                <a:latin typeface="Microsoft YaHei" panose="020B0503020204020204" pitchFamily="34" charset="-122"/>
                <a:ea typeface="Microsoft YaHei" panose="020B0503020204020204" pitchFamily="34" charset="-122"/>
                <a:cs typeface="微软雅黑" charset="0"/>
              </a:rPr>
              <a:t>信息共享，使同步</a:t>
            </a:r>
            <a:r>
              <a:rPr kumimoji="1" lang="zh-CN" altLang="en-US" sz="2000" dirty="0">
                <a:latin typeface="Microsoft YaHei" panose="020B0503020204020204" pitchFamily="34" charset="-122"/>
                <a:ea typeface="Microsoft YaHei" panose="020B0503020204020204" pitchFamily="34" charset="-122"/>
                <a:cs typeface="微软雅黑" charset="0"/>
              </a:rPr>
              <a:t>车辆可以保持密集的超短车距</a:t>
            </a:r>
            <a:r>
              <a:rPr kumimoji="1" lang="zh-CN" altLang="en-US" sz="2000" dirty="0" smtClean="0">
                <a:latin typeface="Microsoft YaHei" panose="020B0503020204020204" pitchFamily="34" charset="-122"/>
                <a:ea typeface="Microsoft YaHei" panose="020B0503020204020204" pitchFamily="34" charset="-122"/>
                <a:cs typeface="微软雅黑" charset="0"/>
              </a:rPr>
              <a:t>。</a:t>
            </a:r>
            <a:endParaRPr kumimoji="1" lang="en-US" altLang="zh-CN" sz="2000" dirty="0" smtClean="0">
              <a:latin typeface="Microsoft YaHei" panose="020B0503020204020204" pitchFamily="34" charset="-122"/>
              <a:ea typeface="Microsoft YaHei" panose="020B0503020204020204" pitchFamily="34" charset="-122"/>
              <a:cs typeface="微软雅黑" charset="0"/>
            </a:endParaRPr>
          </a:p>
          <a:p>
            <a:pPr marL="417830" marR="466725" indent="-342900">
              <a:lnSpc>
                <a:spcPct val="150000"/>
              </a:lnSpc>
              <a:spcBef>
                <a:spcPts val="800"/>
              </a:spcBef>
              <a:spcAft>
                <a:spcPts val="0"/>
              </a:spcAft>
              <a:buFont typeface="Wingdings" panose="05000000000000000000" pitchFamily="2" charset="2"/>
              <a:buChar char="n"/>
            </a:pPr>
            <a:endParaRPr kumimoji="1" lang="en-US" altLang="zh-CN" sz="2000" dirty="0" smtClean="0">
              <a:latin typeface="Microsoft YaHei" panose="020B0503020204020204" pitchFamily="34" charset="-122"/>
              <a:ea typeface="Microsoft YaHei" panose="020B0503020204020204" pitchFamily="34" charset="-122"/>
              <a:cs typeface="微软雅黑" charset="0"/>
            </a:endParaRPr>
          </a:p>
          <a:p>
            <a:pPr marL="417830" marR="466725" indent="-342900">
              <a:lnSpc>
                <a:spcPct val="150000"/>
              </a:lnSpc>
              <a:spcBef>
                <a:spcPts val="800"/>
              </a:spcBef>
              <a:spcAft>
                <a:spcPts val="0"/>
              </a:spcAft>
              <a:buFont typeface="Wingdings" panose="05000000000000000000" pitchFamily="2" charset="2"/>
              <a:buChar char="n"/>
            </a:pPr>
            <a:r>
              <a:rPr kumimoji="1" lang="zh-CN" altLang="en-US" sz="2000" b="1" dirty="0" smtClean="0">
                <a:latin typeface="Microsoft YaHei" panose="020B0503020204020204" pitchFamily="34" charset="-122"/>
                <a:ea typeface="Microsoft YaHei" panose="020B0503020204020204" pitchFamily="34" charset="-122"/>
                <a:cs typeface="微软雅黑" charset="0"/>
              </a:rPr>
              <a:t>高级驾驶</a:t>
            </a:r>
            <a:r>
              <a:rPr kumimoji="1" lang="zh-CN" altLang="en-US" sz="2000" dirty="0">
                <a:latin typeface="Microsoft YaHei" panose="020B0503020204020204" pitchFamily="34" charset="-122"/>
                <a:ea typeface="Microsoft YaHei" panose="020B0503020204020204" pitchFamily="34" charset="-122"/>
                <a:cs typeface="微软雅黑" charset="0"/>
              </a:rPr>
              <a:t>：通过相邻车辆之间共享感知数据，共享本车的驾驶意图，实现驾驶策略的协调与同步</a:t>
            </a:r>
            <a:r>
              <a:rPr kumimoji="1" lang="zh-CN" altLang="en-US" sz="2000" dirty="0" smtClean="0">
                <a:latin typeface="Microsoft YaHei" panose="020B0503020204020204" pitchFamily="34" charset="-122"/>
                <a:ea typeface="Microsoft YaHei" panose="020B0503020204020204" pitchFamily="34" charset="-122"/>
                <a:cs typeface="微软雅黑" charset="0"/>
              </a:rPr>
              <a:t>功能</a:t>
            </a:r>
            <a:r>
              <a:rPr kumimoji="1" lang="zh-CN" altLang="en-US" sz="2000" dirty="0" smtClean="0">
                <a:latin typeface="Microsoft YaHei" panose="020B0503020204020204" pitchFamily="34" charset="-122"/>
                <a:ea typeface="Microsoft YaHei" panose="020B0503020204020204" pitchFamily="34" charset="-122"/>
                <a:cs typeface="微软雅黑" charset="0"/>
              </a:rPr>
              <a:t>。</a:t>
            </a:r>
            <a:endParaRPr kumimoji="1" lang="en-US" altLang="zh-CN" sz="2000" dirty="0" smtClean="0">
              <a:latin typeface="Microsoft YaHei" panose="020B0503020204020204" pitchFamily="34" charset="-122"/>
              <a:ea typeface="Microsoft YaHei" panose="020B0503020204020204" pitchFamily="34" charset="-122"/>
              <a:cs typeface="微软雅黑" charset="0"/>
            </a:endParaRPr>
          </a:p>
          <a:p>
            <a:pPr marL="417830" marR="466725" indent="-342900">
              <a:lnSpc>
                <a:spcPct val="150000"/>
              </a:lnSpc>
              <a:spcBef>
                <a:spcPts val="800"/>
              </a:spcBef>
              <a:spcAft>
                <a:spcPts val="0"/>
              </a:spcAft>
              <a:buFont typeface="Wingdings" panose="05000000000000000000" pitchFamily="2" charset="2"/>
              <a:buChar char="n"/>
            </a:pPr>
            <a:endParaRPr kumimoji="1" lang="zh-CN" altLang="zh-CN" sz="2000" dirty="0">
              <a:latin typeface="Microsoft YaHei" panose="020B0503020204020204" pitchFamily="34" charset="-122"/>
              <a:ea typeface="Microsoft YaHei" panose="020B0503020204020204" pitchFamily="34" charset="-122"/>
              <a:cs typeface="微软雅黑" charset="0"/>
            </a:endParaRPr>
          </a:p>
          <a:p>
            <a:pPr marL="417830" marR="485775" indent="-342900">
              <a:lnSpc>
                <a:spcPct val="150000"/>
              </a:lnSpc>
              <a:spcBef>
                <a:spcPts val="5"/>
              </a:spcBef>
              <a:spcAft>
                <a:spcPts val="0"/>
              </a:spcAft>
              <a:buFont typeface="Wingdings" panose="05000000000000000000" pitchFamily="2" charset="2"/>
              <a:buChar char="n"/>
            </a:pPr>
            <a:r>
              <a:rPr kumimoji="1" lang="zh-CN" altLang="en-US" sz="2000" b="1" dirty="0" smtClean="0">
                <a:latin typeface="Microsoft YaHei" panose="020B0503020204020204" pitchFamily="34" charset="-122"/>
                <a:ea typeface="Microsoft YaHei" panose="020B0503020204020204" pitchFamily="34" charset="-122"/>
                <a:cs typeface="微软雅黑" charset="0"/>
              </a:rPr>
              <a:t>传感器扩展</a:t>
            </a:r>
            <a:r>
              <a:rPr kumimoji="1" lang="zh-CN" altLang="en-US" sz="2000" dirty="0">
                <a:latin typeface="Microsoft YaHei" panose="020B0503020204020204" pitchFamily="34" charset="-122"/>
                <a:ea typeface="Microsoft YaHei" panose="020B0503020204020204" pitchFamily="34" charset="-122"/>
                <a:cs typeface="微软雅黑" charset="0"/>
              </a:rPr>
              <a:t>：要求交通</a:t>
            </a:r>
            <a:r>
              <a:rPr kumimoji="1" lang="zh-CN" altLang="en-US" sz="2000" dirty="0" smtClean="0">
                <a:latin typeface="Microsoft YaHei" panose="020B0503020204020204" pitchFamily="34" charset="-122"/>
                <a:ea typeface="Microsoft YaHei" panose="020B0503020204020204" pitchFamily="34" charset="-122"/>
                <a:cs typeface="微软雅黑" charset="0"/>
              </a:rPr>
              <a:t>参与者实现传感器</a:t>
            </a:r>
            <a:r>
              <a:rPr kumimoji="1" lang="zh-CN" altLang="en-US" sz="2000" dirty="0">
                <a:latin typeface="Microsoft YaHei" panose="020B0503020204020204" pitchFamily="34" charset="-122"/>
                <a:ea typeface="Microsoft YaHei" panose="020B0503020204020204" pitchFamily="34" charset="-122"/>
                <a:cs typeface="微软雅黑" charset="0"/>
              </a:rPr>
              <a:t>的交互，</a:t>
            </a:r>
            <a:r>
              <a:rPr kumimoji="1" lang="zh-CN" altLang="en-US" sz="2000" dirty="0" smtClean="0">
                <a:latin typeface="Microsoft YaHei" panose="020B0503020204020204" pitchFamily="34" charset="-122"/>
                <a:ea typeface="Microsoft YaHei" panose="020B0503020204020204" pitchFamily="34" charset="-122"/>
                <a:cs typeface="微软雅黑" charset="0"/>
              </a:rPr>
              <a:t>扩展感知</a:t>
            </a:r>
            <a:r>
              <a:rPr kumimoji="1" lang="zh-CN" altLang="en-US" sz="2000" dirty="0">
                <a:latin typeface="Microsoft YaHei" panose="020B0503020204020204" pitchFamily="34" charset="-122"/>
                <a:ea typeface="Microsoft YaHei" panose="020B0503020204020204" pitchFamily="34" charset="-122"/>
                <a:cs typeface="微软雅黑" charset="0"/>
              </a:rPr>
              <a:t>范围，以获得当前更全面的道路信息，补充目前单车智能超短视距以及非视距的感知</a:t>
            </a:r>
            <a:r>
              <a:rPr kumimoji="1" lang="zh-CN" altLang="en-US" sz="2000" dirty="0" smtClean="0">
                <a:latin typeface="Microsoft YaHei" panose="020B0503020204020204" pitchFamily="34" charset="-122"/>
                <a:ea typeface="Microsoft YaHei" panose="020B0503020204020204" pitchFamily="34" charset="-122"/>
                <a:cs typeface="微软雅黑" charset="0"/>
              </a:rPr>
              <a:t>情况</a:t>
            </a:r>
            <a:r>
              <a:rPr kumimoji="1" lang="zh-CN" altLang="en-US" sz="2000" dirty="0" smtClean="0">
                <a:latin typeface="Microsoft YaHei" panose="020B0503020204020204" pitchFamily="34" charset="-122"/>
                <a:ea typeface="Microsoft YaHei" panose="020B0503020204020204" pitchFamily="34" charset="-122"/>
                <a:cs typeface="微软雅黑" charset="0"/>
              </a:rPr>
              <a:t>。</a:t>
            </a:r>
            <a:endParaRPr kumimoji="1" lang="en-US" altLang="zh-CN" sz="2000" dirty="0" smtClean="0">
              <a:latin typeface="Microsoft YaHei" panose="020B0503020204020204" pitchFamily="34" charset="-122"/>
              <a:ea typeface="Microsoft YaHei" panose="020B0503020204020204" pitchFamily="34" charset="-122"/>
              <a:cs typeface="微软雅黑" charset="0"/>
            </a:endParaRPr>
          </a:p>
          <a:p>
            <a:pPr marL="417830" marR="485775" indent="-342900">
              <a:lnSpc>
                <a:spcPct val="150000"/>
              </a:lnSpc>
              <a:spcBef>
                <a:spcPts val="5"/>
              </a:spcBef>
              <a:spcAft>
                <a:spcPts val="0"/>
              </a:spcAft>
              <a:buFont typeface="Wingdings" panose="05000000000000000000" pitchFamily="2" charset="2"/>
              <a:buChar char="n"/>
            </a:pPr>
            <a:endParaRPr kumimoji="1" lang="zh-CN" altLang="zh-CN" sz="2000" dirty="0">
              <a:latin typeface="Microsoft YaHei" panose="020B0503020204020204" pitchFamily="34" charset="-122"/>
              <a:ea typeface="Microsoft YaHei" panose="020B0503020204020204" pitchFamily="34" charset="-122"/>
              <a:cs typeface="微软雅黑" charset="0"/>
            </a:endParaRPr>
          </a:p>
          <a:p>
            <a:pPr marL="417830" marR="471805" indent="-342900">
              <a:lnSpc>
                <a:spcPct val="150000"/>
              </a:lnSpc>
              <a:spcAft>
                <a:spcPts val="0"/>
              </a:spcAft>
              <a:buFont typeface="Wingdings" panose="05000000000000000000" pitchFamily="2" charset="2"/>
              <a:buChar char="n"/>
            </a:pPr>
            <a:r>
              <a:rPr kumimoji="1" lang="zh-CN" altLang="en-US" sz="2000" b="1" dirty="0" smtClean="0">
                <a:latin typeface="Microsoft YaHei" panose="020B0503020204020204" pitchFamily="34" charset="-122"/>
                <a:ea typeface="Microsoft YaHei" panose="020B0503020204020204" pitchFamily="34" charset="-122"/>
                <a:cs typeface="微软雅黑" charset="0"/>
              </a:rPr>
              <a:t>远程驾驶</a:t>
            </a:r>
            <a:r>
              <a:rPr kumimoji="1" lang="zh-CN" altLang="en-US" sz="2000" dirty="0">
                <a:latin typeface="Microsoft YaHei" panose="020B0503020204020204" pitchFamily="34" charset="-122"/>
                <a:ea typeface="Microsoft YaHei" panose="020B0503020204020204" pitchFamily="34" charset="-122"/>
                <a:cs typeface="微软雅黑" charset="0"/>
              </a:rPr>
              <a:t>：实现远程的驾驶员对远端的车辆进行远程监控和远程操控。</a:t>
            </a:r>
            <a:endParaRPr kumimoji="1" lang="zh-CN" altLang="zh-CN" sz="2000" dirty="0">
              <a:latin typeface="Microsoft YaHei" panose="020B0503020204020204" pitchFamily="34" charset="-122"/>
              <a:ea typeface="Microsoft YaHei" panose="020B0503020204020204" pitchFamily="34" charset="-122"/>
              <a:cs typeface="微软雅黑" charset="0"/>
            </a:endParaRPr>
          </a:p>
        </p:txBody>
      </p:sp>
    </p:spTree>
    <p:extLst>
      <p:ext uri="{BB962C8B-B14F-4D97-AF65-F5344CB8AC3E}">
        <p14:creationId xmlns:p14="http://schemas.microsoft.com/office/powerpoint/2010/main" val="809805486"/>
      </p:ext>
    </p:extLst>
  </p:cSld>
  <p:clrMapOvr>
    <a:masterClrMapping/>
  </p:clrMapOvr>
  <p:transition spd="slow" advClick="0"/>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11" descr="program-ciat2020"/>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sp>
        <p:nvSpPr>
          <p:cNvPr id="2" name="标题 1"/>
          <p:cNvSpPr txBox="1"/>
          <p:nvPr/>
        </p:nvSpPr>
        <p:spPr>
          <a:xfrm>
            <a:off x="237392" y="191297"/>
            <a:ext cx="9251576" cy="679847"/>
          </a:xfrm>
          <a:prstGeom prst="rect">
            <a:avLst/>
          </a:prstGeom>
        </p:spPr>
        <p:txBody>
          <a:bodyPr vert="horz" lIns="68580" tIns="34290" rIns="68580" bIns="34290" rtlCol="0" anchor="ctr">
            <a:normAutofit/>
          </a:bodyPr>
          <a:lstStyle/>
          <a:p>
            <a:pPr lvl="0">
              <a:spcBef>
                <a:spcPct val="0"/>
              </a:spcBef>
              <a:defRPr/>
            </a:pPr>
            <a:r>
              <a:rPr lang="en-US" altLang="zh-CN" sz="34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5G-V2X </a:t>
            </a:r>
            <a:r>
              <a:rPr lang="zh-CN" altLang="en-US" sz="34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关键</a:t>
            </a:r>
            <a:r>
              <a:rPr lang="zh-CN" altLang="en-US" sz="34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技术</a:t>
            </a:r>
            <a:endParaRPr lang="en-US" altLang="zh-CN" sz="36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8" name="矩形 7"/>
          <p:cNvSpPr/>
          <p:nvPr/>
        </p:nvSpPr>
        <p:spPr>
          <a:xfrm>
            <a:off x="237391" y="1069052"/>
            <a:ext cx="6639270" cy="584775"/>
          </a:xfrm>
          <a:prstGeom prst="rect">
            <a:avLst/>
          </a:prstGeom>
        </p:spPr>
        <p:txBody>
          <a:bodyPr wrap="square">
            <a:spAutoFit/>
          </a:bodyPr>
          <a:lstStyle/>
          <a:p>
            <a:pPr lvl="0">
              <a:spcBef>
                <a:spcPct val="0"/>
              </a:spcBef>
              <a:defRPr/>
            </a:pPr>
            <a:r>
              <a:rPr lang="en-US" altLang="zh-CN" sz="32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5G-V2X </a:t>
            </a:r>
            <a:r>
              <a:rPr lang="en-US" altLang="zh-CN" sz="32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PC5 </a:t>
            </a:r>
            <a:r>
              <a:rPr lang="zh-CN" altLang="en-US" sz="32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通信模式管理技术</a:t>
            </a:r>
            <a:endParaRPr lang="en-US" altLang="zh-CN" sz="32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3" name="矩形 2"/>
          <p:cNvSpPr/>
          <p:nvPr/>
        </p:nvSpPr>
        <p:spPr>
          <a:xfrm>
            <a:off x="237390" y="1667842"/>
            <a:ext cx="8710667" cy="4708981"/>
          </a:xfrm>
          <a:prstGeom prst="rect">
            <a:avLst/>
          </a:prstGeom>
        </p:spPr>
        <p:txBody>
          <a:bodyPr wrap="square">
            <a:spAutoFit/>
          </a:bodyPr>
          <a:lstStyle/>
          <a:p>
            <a:pPr algn="just">
              <a:lnSpc>
                <a:spcPct val="150000"/>
              </a:lnSpc>
            </a:pPr>
            <a:r>
              <a:rPr kumimoji="1" lang="en-US" altLang="zh-CN" sz="2000" dirty="0" smtClean="0">
                <a:latin typeface="Microsoft YaHei" panose="020B0503020204020204" pitchFamily="34" charset="-122"/>
                <a:ea typeface="Microsoft YaHei" panose="020B0503020204020204" pitchFamily="34" charset="-122"/>
                <a:cs typeface="微软雅黑" charset="0"/>
              </a:rPr>
              <a:t>5G-V2X</a:t>
            </a:r>
            <a:r>
              <a:rPr kumimoji="1" lang="zh-CN" altLang="en-US" sz="2000" dirty="0" smtClean="0">
                <a:latin typeface="Microsoft YaHei" panose="020B0503020204020204" pitchFamily="34" charset="-122"/>
                <a:ea typeface="Microsoft YaHei" panose="020B0503020204020204" pitchFamily="34" charset="-122"/>
                <a:cs typeface="微软雅黑" charset="0"/>
              </a:rPr>
              <a:t>通信</a:t>
            </a:r>
            <a:r>
              <a:rPr kumimoji="1" lang="zh-CN" altLang="en-US" sz="2000" dirty="0">
                <a:latin typeface="Microsoft YaHei" panose="020B0503020204020204" pitchFamily="34" charset="-122"/>
                <a:ea typeface="Microsoft YaHei" panose="020B0503020204020204" pitchFamily="34" charset="-122"/>
                <a:cs typeface="微软雅黑" charset="0"/>
              </a:rPr>
              <a:t>模式管理主要</a:t>
            </a:r>
            <a:r>
              <a:rPr kumimoji="1" lang="zh-CN" altLang="en-US" sz="2000" dirty="0" smtClean="0">
                <a:latin typeface="Microsoft YaHei" panose="020B0503020204020204" pitchFamily="34" charset="-122"/>
                <a:ea typeface="Microsoft YaHei" panose="020B0503020204020204" pitchFamily="34" charset="-122"/>
                <a:cs typeface="微软雅黑" charset="0"/>
              </a:rPr>
              <a:t>是</a:t>
            </a:r>
            <a:r>
              <a:rPr kumimoji="1" lang="en-US" altLang="zh-CN" sz="2000" dirty="0" smtClean="0">
                <a:latin typeface="Microsoft YaHei" panose="020B0503020204020204" pitchFamily="34" charset="-122"/>
                <a:ea typeface="Microsoft YaHei" panose="020B0503020204020204" pitchFamily="34" charset="-122"/>
                <a:cs typeface="微软雅黑" charset="0"/>
              </a:rPr>
              <a:t>V2X</a:t>
            </a:r>
            <a:r>
              <a:rPr kumimoji="1" lang="zh-CN" altLang="en-US" sz="2000" dirty="0" smtClean="0">
                <a:latin typeface="Microsoft YaHei" panose="020B0503020204020204" pitchFamily="34" charset="-122"/>
                <a:ea typeface="Microsoft YaHei" panose="020B0503020204020204" pitchFamily="34" charset="-122"/>
                <a:cs typeface="微软雅黑" charset="0"/>
              </a:rPr>
              <a:t>应用层管理。</a:t>
            </a:r>
            <a:r>
              <a:rPr kumimoji="1" lang="en-US" altLang="zh-CN" sz="2000" dirty="0" smtClean="0">
                <a:latin typeface="Microsoft YaHei" panose="020B0503020204020204" pitchFamily="34" charset="-122"/>
                <a:ea typeface="Microsoft YaHei" panose="020B0503020204020204" pitchFamily="34" charset="-122"/>
                <a:cs typeface="微软雅黑" charset="0"/>
              </a:rPr>
              <a:t>5G-V2X</a:t>
            </a:r>
            <a:r>
              <a:rPr kumimoji="1" lang="zh-CN" altLang="en-US" sz="2000" dirty="0" smtClean="0">
                <a:latin typeface="Microsoft YaHei" panose="020B0503020204020204" pitchFamily="34" charset="-122"/>
                <a:ea typeface="Microsoft YaHei" panose="020B0503020204020204" pitchFamily="34" charset="-122"/>
                <a:cs typeface="微软雅黑" charset="0"/>
              </a:rPr>
              <a:t>的</a:t>
            </a:r>
            <a:r>
              <a:rPr kumimoji="1" lang="zh-CN" altLang="en-US" sz="2000" dirty="0">
                <a:latin typeface="Microsoft YaHei" panose="020B0503020204020204" pitchFamily="34" charset="-122"/>
                <a:ea typeface="Microsoft YaHei" panose="020B0503020204020204" pitchFamily="34" charset="-122"/>
                <a:cs typeface="微软雅黑" charset="0"/>
              </a:rPr>
              <a:t>策略和参数配置信息中</a:t>
            </a:r>
            <a:r>
              <a:rPr kumimoji="1" lang="zh-CN" altLang="en-US" sz="2000" dirty="0" smtClean="0">
                <a:latin typeface="Microsoft YaHei" panose="020B0503020204020204" pitchFamily="34" charset="-122"/>
                <a:ea typeface="Microsoft YaHei" panose="020B0503020204020204" pitchFamily="34" charset="-122"/>
                <a:cs typeface="微软雅黑" charset="0"/>
              </a:rPr>
              <a:t>包括</a:t>
            </a:r>
            <a:r>
              <a:rPr kumimoji="1" lang="en-US" altLang="zh-CN" sz="2000" dirty="0" smtClean="0">
                <a:latin typeface="Microsoft YaHei" panose="020B0503020204020204" pitchFamily="34" charset="-122"/>
                <a:ea typeface="Microsoft YaHei" panose="020B0503020204020204" pitchFamily="34" charset="-122"/>
                <a:cs typeface="微软雅黑" charset="0"/>
              </a:rPr>
              <a:t>V2X</a:t>
            </a:r>
            <a:r>
              <a:rPr kumimoji="1" lang="zh-CN" altLang="en-US" sz="2000" dirty="0" smtClean="0">
                <a:latin typeface="Microsoft YaHei" panose="020B0503020204020204" pitchFamily="34" charset="-122"/>
                <a:ea typeface="Microsoft YaHei" panose="020B0503020204020204" pitchFamily="34" charset="-122"/>
                <a:cs typeface="微软雅黑" charset="0"/>
              </a:rPr>
              <a:t>广播</a:t>
            </a:r>
            <a:r>
              <a:rPr kumimoji="1" lang="zh-CN" altLang="en-US" sz="2000" dirty="0">
                <a:latin typeface="Microsoft YaHei" panose="020B0503020204020204" pitchFamily="34" charset="-122"/>
                <a:ea typeface="Microsoft YaHei" panose="020B0503020204020204" pitchFamily="34" charset="-122"/>
                <a:cs typeface="微软雅黑" charset="0"/>
              </a:rPr>
              <a:t>、多播和单播通信模式管理配置，主要包括</a:t>
            </a:r>
            <a:r>
              <a:rPr kumimoji="1" lang="zh-CN" altLang="en-US" sz="2000" dirty="0" smtClean="0">
                <a:latin typeface="Microsoft YaHei" panose="020B0503020204020204" pitchFamily="34" charset="-122"/>
                <a:ea typeface="Microsoft YaHei" panose="020B0503020204020204" pitchFamily="34" charset="-122"/>
                <a:cs typeface="微软雅黑" charset="0"/>
              </a:rPr>
              <a:t>：</a:t>
            </a:r>
            <a:endParaRPr kumimoji="1" lang="en-US" altLang="zh-CN" sz="2000" dirty="0" smtClean="0">
              <a:latin typeface="Microsoft YaHei" panose="020B0503020204020204" pitchFamily="34" charset="-122"/>
              <a:ea typeface="Microsoft YaHei" panose="020B0503020204020204" pitchFamily="34" charset="-122"/>
              <a:cs typeface="微软雅黑" charset="0"/>
            </a:endParaRPr>
          </a:p>
          <a:p>
            <a:pPr algn="just">
              <a:lnSpc>
                <a:spcPct val="150000"/>
              </a:lnSpc>
            </a:pPr>
            <a:endParaRPr kumimoji="1" lang="zh-CN" altLang="en-US" sz="2000" dirty="0">
              <a:latin typeface="Microsoft YaHei" panose="020B0503020204020204" pitchFamily="34" charset="-122"/>
              <a:ea typeface="Microsoft YaHei" panose="020B0503020204020204" pitchFamily="34" charset="-122"/>
              <a:cs typeface="微软雅黑" charset="0"/>
            </a:endParaRPr>
          </a:p>
          <a:p>
            <a:pPr marL="342900" indent="-342900" algn="just">
              <a:lnSpc>
                <a:spcPct val="150000"/>
              </a:lnSpc>
              <a:buFont typeface="Wingdings" panose="05000000000000000000" pitchFamily="2" charset="2"/>
              <a:buChar char="n"/>
            </a:pPr>
            <a:r>
              <a:rPr kumimoji="1" lang="en-US" altLang="zh-CN" sz="2000" dirty="0" smtClean="0">
                <a:latin typeface="Microsoft YaHei" panose="020B0503020204020204" pitchFamily="34" charset="-122"/>
                <a:ea typeface="Microsoft YaHei" panose="020B0503020204020204" pitchFamily="34" charset="-122"/>
                <a:cs typeface="微软雅黑" charset="0"/>
              </a:rPr>
              <a:t>V2X </a:t>
            </a:r>
            <a:r>
              <a:rPr kumimoji="1" lang="zh-CN" altLang="en-US" sz="2000" dirty="0">
                <a:latin typeface="Microsoft YaHei" panose="020B0503020204020204" pitchFamily="34" charset="-122"/>
                <a:ea typeface="Microsoft YaHei" panose="020B0503020204020204" pitchFamily="34" charset="-122"/>
                <a:cs typeface="微软雅黑" charset="0"/>
              </a:rPr>
              <a:t>应用的业务标识与 </a:t>
            </a:r>
            <a:r>
              <a:rPr kumimoji="1" lang="en-US" altLang="zh-CN" sz="2000" dirty="0">
                <a:latin typeface="Microsoft YaHei" panose="020B0503020204020204" pitchFamily="34" charset="-122"/>
                <a:ea typeface="Microsoft YaHei" panose="020B0503020204020204" pitchFamily="34" charset="-122"/>
                <a:cs typeface="微软雅黑" charset="0"/>
              </a:rPr>
              <a:t>V2X </a:t>
            </a:r>
            <a:r>
              <a:rPr kumimoji="1" lang="zh-CN" altLang="en-US" sz="2000" dirty="0">
                <a:latin typeface="Microsoft YaHei" panose="020B0503020204020204" pitchFamily="34" charset="-122"/>
                <a:ea typeface="Microsoft YaHei" panose="020B0503020204020204" pitchFamily="34" charset="-122"/>
                <a:cs typeface="微软雅黑" charset="0"/>
              </a:rPr>
              <a:t>通信的广播、多播和单播通信模式的映射关系及配置策略</a:t>
            </a:r>
            <a:r>
              <a:rPr kumimoji="1" lang="zh-CN" altLang="en-US" sz="2000" dirty="0" smtClean="0">
                <a:latin typeface="Microsoft YaHei" panose="020B0503020204020204" pitchFamily="34" charset="-122"/>
                <a:ea typeface="Microsoft YaHei" panose="020B0503020204020204" pitchFamily="34" charset="-122"/>
                <a:cs typeface="微软雅黑" charset="0"/>
              </a:rPr>
              <a:t>；</a:t>
            </a:r>
            <a:endParaRPr kumimoji="1" lang="en-US" altLang="zh-CN" sz="2000" dirty="0" smtClean="0">
              <a:latin typeface="Microsoft YaHei" panose="020B0503020204020204" pitchFamily="34" charset="-122"/>
              <a:ea typeface="Microsoft YaHei" panose="020B0503020204020204" pitchFamily="34" charset="-122"/>
              <a:cs typeface="微软雅黑" charset="0"/>
            </a:endParaRPr>
          </a:p>
          <a:p>
            <a:pPr marL="342900" indent="-342900" algn="just">
              <a:lnSpc>
                <a:spcPct val="150000"/>
              </a:lnSpc>
              <a:buFont typeface="Wingdings" panose="05000000000000000000" pitchFamily="2" charset="2"/>
              <a:buChar char="n"/>
            </a:pPr>
            <a:endParaRPr kumimoji="1" lang="en-US" altLang="zh-CN" sz="2000" dirty="0" smtClean="0">
              <a:latin typeface="Microsoft YaHei" panose="020B0503020204020204" pitchFamily="34" charset="-122"/>
              <a:ea typeface="Microsoft YaHei" panose="020B0503020204020204" pitchFamily="34" charset="-122"/>
              <a:cs typeface="微软雅黑" charset="0"/>
            </a:endParaRPr>
          </a:p>
          <a:p>
            <a:pPr marL="342900" indent="-342900" algn="just">
              <a:lnSpc>
                <a:spcPct val="150000"/>
              </a:lnSpc>
              <a:buFont typeface="Wingdings" panose="05000000000000000000" pitchFamily="2" charset="2"/>
              <a:buChar char="n"/>
            </a:pPr>
            <a:r>
              <a:rPr kumimoji="1" lang="en-US" altLang="zh-CN" sz="2000" dirty="0" smtClean="0">
                <a:latin typeface="Microsoft YaHei" panose="020B0503020204020204" pitchFamily="34" charset="-122"/>
                <a:ea typeface="Microsoft YaHei" panose="020B0503020204020204" pitchFamily="34" charset="-122"/>
                <a:cs typeface="微软雅黑" charset="0"/>
              </a:rPr>
              <a:t>V2X </a:t>
            </a:r>
            <a:r>
              <a:rPr kumimoji="1" lang="zh-CN" altLang="en-US" sz="2000" dirty="0">
                <a:latin typeface="Microsoft YaHei" panose="020B0503020204020204" pitchFamily="34" charset="-122"/>
                <a:ea typeface="Microsoft YaHei" panose="020B0503020204020204" pitchFamily="34" charset="-122"/>
                <a:cs typeface="微软雅黑" charset="0"/>
              </a:rPr>
              <a:t>应用的业务标识与层二目标标识的映射关系及配置</a:t>
            </a:r>
            <a:r>
              <a:rPr kumimoji="1" lang="zh-CN" altLang="en-US" sz="2000" dirty="0" smtClean="0">
                <a:latin typeface="Microsoft YaHei" panose="020B0503020204020204" pitchFamily="34" charset="-122"/>
                <a:ea typeface="Microsoft YaHei" panose="020B0503020204020204" pitchFamily="34" charset="-122"/>
                <a:cs typeface="微软雅黑" charset="0"/>
              </a:rPr>
              <a:t>策略</a:t>
            </a:r>
            <a:r>
              <a:rPr kumimoji="1" lang="zh-CN" altLang="en-US" sz="2000" dirty="0" smtClean="0">
                <a:latin typeface="Microsoft YaHei" panose="020B0503020204020204" pitchFamily="34" charset="-122"/>
                <a:ea typeface="Microsoft YaHei" panose="020B0503020204020204" pitchFamily="34" charset="-122"/>
                <a:cs typeface="微软雅黑" charset="0"/>
              </a:rPr>
              <a:t>；</a:t>
            </a:r>
            <a:endParaRPr kumimoji="1" lang="en-US" altLang="zh-CN" sz="2000" dirty="0" smtClean="0">
              <a:latin typeface="Microsoft YaHei" panose="020B0503020204020204" pitchFamily="34" charset="-122"/>
              <a:ea typeface="Microsoft YaHei" panose="020B0503020204020204" pitchFamily="34" charset="-122"/>
              <a:cs typeface="微软雅黑" charset="0"/>
            </a:endParaRPr>
          </a:p>
          <a:p>
            <a:pPr marL="342900" indent="-342900" algn="just">
              <a:lnSpc>
                <a:spcPct val="150000"/>
              </a:lnSpc>
              <a:buFont typeface="Wingdings" panose="05000000000000000000" pitchFamily="2" charset="2"/>
              <a:buChar char="n"/>
            </a:pPr>
            <a:endParaRPr kumimoji="1" lang="en-US" altLang="zh-CN" sz="2000" dirty="0" smtClean="0">
              <a:latin typeface="Microsoft YaHei" panose="020B0503020204020204" pitchFamily="34" charset="-122"/>
              <a:ea typeface="Microsoft YaHei" panose="020B0503020204020204" pitchFamily="34" charset="-122"/>
              <a:cs typeface="微软雅黑" charset="0"/>
            </a:endParaRPr>
          </a:p>
          <a:p>
            <a:pPr marL="342900" indent="-342900" algn="just">
              <a:lnSpc>
                <a:spcPct val="150000"/>
              </a:lnSpc>
              <a:buFont typeface="Wingdings" panose="05000000000000000000" pitchFamily="2" charset="2"/>
              <a:buChar char="n"/>
            </a:pPr>
            <a:r>
              <a:rPr kumimoji="1" lang="en-US" altLang="zh-CN" sz="2000" dirty="0" smtClean="0">
                <a:latin typeface="Microsoft YaHei" panose="020B0503020204020204" pitchFamily="34" charset="-122"/>
                <a:ea typeface="Microsoft YaHei" panose="020B0503020204020204" pitchFamily="34" charset="-122"/>
                <a:cs typeface="微软雅黑" charset="0"/>
              </a:rPr>
              <a:t>V2X </a:t>
            </a:r>
            <a:r>
              <a:rPr kumimoji="1" lang="zh-CN" altLang="en-US" sz="2000" dirty="0">
                <a:latin typeface="Microsoft YaHei" panose="020B0503020204020204" pitchFamily="34" charset="-122"/>
                <a:ea typeface="Microsoft YaHei" panose="020B0503020204020204" pitchFamily="34" charset="-122"/>
                <a:cs typeface="微软雅黑" charset="0"/>
              </a:rPr>
              <a:t>应用层通过 </a:t>
            </a:r>
            <a:r>
              <a:rPr kumimoji="1" lang="en-US" altLang="zh-CN" sz="2000" dirty="0">
                <a:latin typeface="Microsoft YaHei" panose="020B0503020204020204" pitchFamily="34" charset="-122"/>
                <a:ea typeface="Microsoft YaHei" panose="020B0503020204020204" pitchFamily="34" charset="-122"/>
                <a:cs typeface="微软雅黑" charset="0"/>
              </a:rPr>
              <a:t>3 </a:t>
            </a:r>
            <a:r>
              <a:rPr kumimoji="1" lang="zh-CN" altLang="en-US" sz="2000" dirty="0">
                <a:latin typeface="Microsoft YaHei" panose="020B0503020204020204" pitchFamily="34" charset="-122"/>
                <a:ea typeface="Microsoft YaHei" panose="020B0503020204020204" pitchFamily="34" charset="-122"/>
                <a:cs typeface="微软雅黑" charset="0"/>
              </a:rPr>
              <a:t>个信息管理 </a:t>
            </a:r>
            <a:r>
              <a:rPr kumimoji="1" lang="en-US" altLang="zh-CN" sz="2000" dirty="0">
                <a:latin typeface="Microsoft YaHei" panose="020B0503020204020204" pitchFamily="34" charset="-122"/>
                <a:ea typeface="Microsoft YaHei" panose="020B0503020204020204" pitchFamily="34" charset="-122"/>
                <a:cs typeface="微软雅黑" charset="0"/>
              </a:rPr>
              <a:t>PC5 </a:t>
            </a:r>
            <a:r>
              <a:rPr kumimoji="1" lang="zh-CN" altLang="en-US" sz="2000" dirty="0">
                <a:latin typeface="Microsoft YaHei" panose="020B0503020204020204" pitchFamily="34" charset="-122"/>
                <a:ea typeface="Microsoft YaHei" panose="020B0503020204020204" pitchFamily="34" charset="-122"/>
                <a:cs typeface="微软雅黑" charset="0"/>
              </a:rPr>
              <a:t>链路，具体为：层二的源标识、层二的目标标识和通信模式</a:t>
            </a:r>
            <a:r>
              <a:rPr kumimoji="1" lang="en-US" altLang="zh-CN" sz="2000" dirty="0">
                <a:latin typeface="Microsoft YaHei" panose="020B0503020204020204" pitchFamily="34" charset="-122"/>
                <a:ea typeface="Microsoft YaHei" panose="020B0503020204020204" pitchFamily="34" charset="-122"/>
                <a:cs typeface="微软雅黑" charset="0"/>
              </a:rPr>
              <a:t>(</a:t>
            </a:r>
            <a:r>
              <a:rPr kumimoji="1" lang="zh-CN" altLang="en-US" sz="2000" dirty="0">
                <a:latin typeface="Microsoft YaHei" panose="020B0503020204020204" pitchFamily="34" charset="-122"/>
                <a:ea typeface="Microsoft YaHei" panose="020B0503020204020204" pitchFamily="34" charset="-122"/>
                <a:cs typeface="微软雅黑" charset="0"/>
              </a:rPr>
              <a:t>包括广播、多播或者单播</a:t>
            </a:r>
            <a:r>
              <a:rPr kumimoji="1" lang="en-US" altLang="zh-CN" sz="2000" dirty="0">
                <a:latin typeface="Microsoft YaHei" panose="020B0503020204020204" pitchFamily="34" charset="-122"/>
                <a:ea typeface="Microsoft YaHei" panose="020B0503020204020204" pitchFamily="34" charset="-122"/>
                <a:cs typeface="微软雅黑" charset="0"/>
              </a:rPr>
              <a:t>)</a:t>
            </a:r>
            <a:r>
              <a:rPr kumimoji="1" lang="zh-CN" altLang="en-US" sz="2000" dirty="0" smtClean="0">
                <a:latin typeface="Microsoft YaHei" panose="020B0503020204020204" pitchFamily="34" charset="-122"/>
                <a:ea typeface="Microsoft YaHei" panose="020B0503020204020204" pitchFamily="34" charset="-122"/>
                <a:cs typeface="微软雅黑" charset="0"/>
              </a:rPr>
              <a:t>。</a:t>
            </a:r>
            <a:endParaRPr kumimoji="1" lang="zh-CN" altLang="en-US" sz="2000" dirty="0">
              <a:latin typeface="Microsoft YaHei" panose="020B0503020204020204" pitchFamily="34" charset="-122"/>
              <a:ea typeface="Microsoft YaHei" panose="020B0503020204020204" pitchFamily="34" charset="-122"/>
              <a:cs typeface="微软雅黑" charset="0"/>
            </a:endParaRPr>
          </a:p>
        </p:txBody>
      </p:sp>
    </p:spTree>
    <p:extLst>
      <p:ext uri="{BB962C8B-B14F-4D97-AF65-F5344CB8AC3E}">
        <p14:creationId xmlns:p14="http://schemas.microsoft.com/office/powerpoint/2010/main" val="1807801895"/>
      </p:ext>
    </p:extLst>
  </p:cSld>
  <p:clrMapOvr>
    <a:masterClrMapping/>
  </p:clrMapOvr>
  <p:transition spd="slow" advClick="0"/>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11" descr="program-ciat2020"/>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sp>
        <p:nvSpPr>
          <p:cNvPr id="2" name="标题 1"/>
          <p:cNvSpPr txBox="1"/>
          <p:nvPr/>
        </p:nvSpPr>
        <p:spPr>
          <a:xfrm>
            <a:off x="237392" y="191297"/>
            <a:ext cx="9251576" cy="679847"/>
          </a:xfrm>
          <a:prstGeom prst="rect">
            <a:avLst/>
          </a:prstGeom>
        </p:spPr>
        <p:txBody>
          <a:bodyPr vert="horz" lIns="68580" tIns="34290" rIns="68580" bIns="34290" rtlCol="0" anchor="ctr">
            <a:normAutofit/>
          </a:bodyPr>
          <a:lstStyle/>
          <a:p>
            <a:pPr lvl="0">
              <a:spcBef>
                <a:spcPct val="0"/>
              </a:spcBef>
              <a:defRPr/>
            </a:pPr>
            <a:r>
              <a:rPr lang="en-US" altLang="zh-CN" sz="34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5G-V2X </a:t>
            </a:r>
            <a:r>
              <a:rPr lang="zh-CN" altLang="en-US" sz="34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关键</a:t>
            </a:r>
            <a:r>
              <a:rPr lang="zh-CN" altLang="en-US" sz="34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技术</a:t>
            </a:r>
            <a:endParaRPr lang="en-US" altLang="zh-CN" sz="36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8" name="矩形 7"/>
          <p:cNvSpPr/>
          <p:nvPr/>
        </p:nvSpPr>
        <p:spPr>
          <a:xfrm>
            <a:off x="237391" y="1069052"/>
            <a:ext cx="6601948" cy="584775"/>
          </a:xfrm>
          <a:prstGeom prst="rect">
            <a:avLst/>
          </a:prstGeom>
        </p:spPr>
        <p:txBody>
          <a:bodyPr wrap="square">
            <a:spAutoFit/>
          </a:bodyPr>
          <a:lstStyle/>
          <a:p>
            <a:pPr lvl="0">
              <a:spcBef>
                <a:spcPct val="0"/>
              </a:spcBef>
              <a:defRPr/>
            </a:pPr>
            <a:r>
              <a:rPr lang="en-US" altLang="zh-CN" sz="32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5G-V2X </a:t>
            </a:r>
            <a:r>
              <a:rPr lang="zh-CN" altLang="en-US" sz="32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业务服务质量管理机制</a:t>
            </a:r>
            <a:endParaRPr lang="en-US" altLang="zh-CN" sz="32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5" name="矩形 4"/>
          <p:cNvSpPr/>
          <p:nvPr/>
        </p:nvSpPr>
        <p:spPr>
          <a:xfrm>
            <a:off x="237390" y="1667842"/>
            <a:ext cx="8710667" cy="4247317"/>
          </a:xfrm>
          <a:prstGeom prst="rect">
            <a:avLst/>
          </a:prstGeom>
        </p:spPr>
        <p:txBody>
          <a:bodyPr wrap="square">
            <a:spAutoFit/>
          </a:bodyPr>
          <a:lstStyle/>
          <a:p>
            <a:pPr marL="342900" indent="-342900" algn="just">
              <a:lnSpc>
                <a:spcPct val="150000"/>
              </a:lnSpc>
              <a:buFont typeface="Wingdings" panose="05000000000000000000" pitchFamily="2" charset="2"/>
              <a:buChar char="n"/>
            </a:pPr>
            <a:r>
              <a:rPr kumimoji="1" lang="zh-CN" altLang="en-US" sz="2000" dirty="0" smtClean="0">
                <a:latin typeface="Microsoft YaHei" panose="020B0503020204020204" pitchFamily="34" charset="-122"/>
                <a:ea typeface="Microsoft YaHei" panose="020B0503020204020204" pitchFamily="34" charset="-122"/>
                <a:cs typeface="微软雅黑" charset="0"/>
              </a:rPr>
              <a:t>每个</a:t>
            </a:r>
            <a:r>
              <a:rPr kumimoji="1" lang="en-US" altLang="zh-CN" sz="2000" dirty="0" smtClean="0">
                <a:latin typeface="Microsoft YaHei" panose="020B0503020204020204" pitchFamily="34" charset="-122"/>
                <a:ea typeface="Microsoft YaHei" panose="020B0503020204020204" pitchFamily="34" charset="-122"/>
                <a:cs typeface="微软雅黑" charset="0"/>
              </a:rPr>
              <a:t>V2X</a:t>
            </a:r>
            <a:r>
              <a:rPr kumimoji="1" lang="zh-CN" altLang="en-US" sz="2000" dirty="0" smtClean="0">
                <a:latin typeface="Microsoft YaHei" panose="020B0503020204020204" pitchFamily="34" charset="-122"/>
                <a:ea typeface="Microsoft YaHei" panose="020B0503020204020204" pitchFamily="34" charset="-122"/>
                <a:cs typeface="微软雅黑" charset="0"/>
              </a:rPr>
              <a:t>应用</a:t>
            </a:r>
            <a:r>
              <a:rPr kumimoji="1" lang="zh-CN" altLang="en-US" sz="2000" dirty="0">
                <a:latin typeface="Microsoft YaHei" panose="020B0503020204020204" pitchFamily="34" charset="-122"/>
                <a:ea typeface="Microsoft YaHei" panose="020B0503020204020204" pitchFamily="34" charset="-122"/>
                <a:cs typeface="微软雅黑" charset="0"/>
              </a:rPr>
              <a:t>都配置了一套默认的直通</a:t>
            </a:r>
            <a:r>
              <a:rPr kumimoji="1" lang="zh-CN" altLang="en-US" sz="2000" dirty="0" smtClean="0">
                <a:latin typeface="Microsoft YaHei" panose="020B0503020204020204" pitchFamily="34" charset="-122"/>
                <a:ea typeface="Microsoft YaHei" panose="020B0503020204020204" pitchFamily="34" charset="-122"/>
                <a:cs typeface="微软雅黑" charset="0"/>
              </a:rPr>
              <a:t>链路</a:t>
            </a:r>
            <a:r>
              <a:rPr kumimoji="1" lang="en-US" altLang="zh-CN" sz="2000" dirty="0" err="1" smtClean="0">
                <a:latin typeface="Microsoft YaHei" panose="020B0503020204020204" pitchFamily="34" charset="-122"/>
                <a:ea typeface="Microsoft YaHei" panose="020B0503020204020204" pitchFamily="34" charset="-122"/>
                <a:cs typeface="微软雅黑" charset="0"/>
              </a:rPr>
              <a:t>QoS</a:t>
            </a:r>
            <a:r>
              <a:rPr kumimoji="1" lang="zh-CN" altLang="en-US" sz="2000" dirty="0" smtClean="0">
                <a:latin typeface="Microsoft YaHei" panose="020B0503020204020204" pitchFamily="34" charset="-122"/>
                <a:ea typeface="Microsoft YaHei" panose="020B0503020204020204" pitchFamily="34" charset="-122"/>
                <a:cs typeface="微软雅黑" charset="0"/>
              </a:rPr>
              <a:t>参数</a:t>
            </a:r>
            <a:r>
              <a:rPr kumimoji="1" lang="zh-CN" altLang="en-US" sz="2000" dirty="0">
                <a:latin typeface="Microsoft YaHei" panose="020B0503020204020204" pitchFamily="34" charset="-122"/>
                <a:ea typeface="Microsoft YaHei" panose="020B0503020204020204" pitchFamily="34" charset="-122"/>
                <a:cs typeface="微软雅黑" charset="0"/>
              </a:rPr>
              <a:t>，每一</a:t>
            </a:r>
            <a:r>
              <a:rPr kumimoji="1" lang="zh-CN" altLang="en-US" sz="2000" dirty="0" smtClean="0">
                <a:latin typeface="Microsoft YaHei" panose="020B0503020204020204" pitchFamily="34" charset="-122"/>
                <a:ea typeface="Microsoft YaHei" panose="020B0503020204020204" pitchFamily="34" charset="-122"/>
                <a:cs typeface="微软雅黑" charset="0"/>
              </a:rPr>
              <a:t>套</a:t>
            </a:r>
            <a:r>
              <a:rPr kumimoji="1" lang="en-US" altLang="zh-CN" sz="2000" dirty="0" err="1" smtClean="0">
                <a:latin typeface="Microsoft YaHei" panose="020B0503020204020204" pitchFamily="34" charset="-122"/>
                <a:ea typeface="Microsoft YaHei" panose="020B0503020204020204" pitchFamily="34" charset="-122"/>
                <a:cs typeface="微软雅黑" charset="0"/>
              </a:rPr>
              <a:t>QoS</a:t>
            </a:r>
            <a:r>
              <a:rPr kumimoji="1" lang="zh-CN" altLang="en-US" sz="2000" dirty="0" smtClean="0">
                <a:latin typeface="Microsoft YaHei" panose="020B0503020204020204" pitchFamily="34" charset="-122"/>
                <a:ea typeface="Microsoft YaHei" panose="020B0503020204020204" pitchFamily="34" charset="-122"/>
                <a:cs typeface="微软雅黑" charset="0"/>
              </a:rPr>
              <a:t>参数通过</a:t>
            </a:r>
            <a:r>
              <a:rPr kumimoji="1" lang="en-US" altLang="zh-CN" sz="2000" dirty="0" err="1" smtClean="0">
                <a:latin typeface="Microsoft YaHei" panose="020B0503020204020204" pitchFamily="34" charset="-122"/>
                <a:ea typeface="Microsoft YaHei" panose="020B0503020204020204" pitchFamily="34" charset="-122"/>
                <a:cs typeface="微软雅黑" charset="0"/>
              </a:rPr>
              <a:t>QoS</a:t>
            </a:r>
            <a:r>
              <a:rPr kumimoji="1" lang="zh-CN" altLang="en-US" sz="2000" dirty="0" smtClean="0">
                <a:latin typeface="Microsoft YaHei" panose="020B0503020204020204" pitchFamily="34" charset="-122"/>
                <a:ea typeface="Microsoft YaHei" panose="020B0503020204020204" pitchFamily="34" charset="-122"/>
                <a:cs typeface="微软雅黑" charset="0"/>
              </a:rPr>
              <a:t>流</a:t>
            </a:r>
            <a:r>
              <a:rPr kumimoji="1" lang="zh-CN" altLang="en-US" sz="2000" dirty="0">
                <a:latin typeface="Microsoft YaHei" panose="020B0503020204020204" pitchFamily="34" charset="-122"/>
                <a:ea typeface="Microsoft YaHei" panose="020B0503020204020204" pitchFamily="34" charset="-122"/>
                <a:cs typeface="微软雅黑" charset="0"/>
              </a:rPr>
              <a:t>标识表征。</a:t>
            </a:r>
            <a:r>
              <a:rPr kumimoji="1" lang="zh-CN" altLang="en-US" sz="2000" dirty="0" smtClean="0">
                <a:latin typeface="Microsoft YaHei" panose="020B0503020204020204" pitchFamily="34" charset="-122"/>
                <a:ea typeface="Microsoft YaHei" panose="020B0503020204020204" pitchFamily="34" charset="-122"/>
                <a:cs typeface="微软雅黑" charset="0"/>
              </a:rPr>
              <a:t>相同</a:t>
            </a:r>
            <a:r>
              <a:rPr kumimoji="1" lang="en-US" altLang="zh-CN" sz="2000" dirty="0" err="1" smtClean="0">
                <a:latin typeface="Microsoft YaHei" panose="020B0503020204020204" pitchFamily="34" charset="-122"/>
                <a:ea typeface="Microsoft YaHei" panose="020B0503020204020204" pitchFamily="34" charset="-122"/>
                <a:cs typeface="微软雅黑" charset="0"/>
              </a:rPr>
              <a:t>QoS</a:t>
            </a:r>
            <a:r>
              <a:rPr kumimoji="1" lang="zh-CN" altLang="en-US" sz="2000" dirty="0" smtClean="0">
                <a:latin typeface="Microsoft YaHei" panose="020B0503020204020204" pitchFamily="34" charset="-122"/>
                <a:ea typeface="Microsoft YaHei" panose="020B0503020204020204" pitchFamily="34" charset="-122"/>
                <a:cs typeface="微软雅黑" charset="0"/>
              </a:rPr>
              <a:t>流</a:t>
            </a:r>
            <a:r>
              <a:rPr kumimoji="1" lang="zh-CN" altLang="en-US" sz="2000" dirty="0">
                <a:latin typeface="Microsoft YaHei" panose="020B0503020204020204" pitchFamily="34" charset="-122"/>
                <a:ea typeface="Microsoft YaHei" panose="020B0503020204020204" pitchFamily="34" charset="-122"/>
                <a:cs typeface="微软雅黑" charset="0"/>
              </a:rPr>
              <a:t>标识的数据分组采用相同的调度策略、队列管理策略以及 </a:t>
            </a:r>
            <a:r>
              <a:rPr kumimoji="1" lang="en-US" altLang="zh-CN" sz="2000" dirty="0">
                <a:latin typeface="Microsoft YaHei" panose="020B0503020204020204" pitchFamily="34" charset="-122"/>
                <a:ea typeface="Microsoft YaHei" panose="020B0503020204020204" pitchFamily="34" charset="-122"/>
                <a:cs typeface="微软雅黑" charset="0"/>
              </a:rPr>
              <a:t>SLRB </a:t>
            </a:r>
            <a:r>
              <a:rPr kumimoji="1" lang="zh-CN" altLang="en-US" sz="2000" dirty="0">
                <a:latin typeface="Microsoft YaHei" panose="020B0503020204020204" pitchFamily="34" charset="-122"/>
                <a:ea typeface="Microsoft YaHei" panose="020B0503020204020204" pitchFamily="34" charset="-122"/>
                <a:cs typeface="微软雅黑" charset="0"/>
              </a:rPr>
              <a:t>配置参数</a:t>
            </a:r>
            <a:r>
              <a:rPr kumimoji="1" lang="zh-CN" altLang="en-US" sz="2000" dirty="0" smtClean="0">
                <a:latin typeface="Microsoft YaHei" panose="020B0503020204020204" pitchFamily="34" charset="-122"/>
                <a:ea typeface="Microsoft YaHei" panose="020B0503020204020204" pitchFamily="34" charset="-122"/>
                <a:cs typeface="微软雅黑" charset="0"/>
              </a:rPr>
              <a:t>。</a:t>
            </a:r>
            <a:endParaRPr kumimoji="1" lang="en-US" altLang="zh-CN" sz="2000" dirty="0" smtClean="0">
              <a:latin typeface="Microsoft YaHei" panose="020B0503020204020204" pitchFamily="34" charset="-122"/>
              <a:ea typeface="Microsoft YaHei" panose="020B0503020204020204" pitchFamily="34" charset="-122"/>
              <a:cs typeface="微软雅黑" charset="0"/>
            </a:endParaRPr>
          </a:p>
          <a:p>
            <a:pPr marL="342900" indent="-342900" algn="just">
              <a:lnSpc>
                <a:spcPct val="150000"/>
              </a:lnSpc>
              <a:buFont typeface="Wingdings" panose="05000000000000000000" pitchFamily="2" charset="2"/>
              <a:buChar char="n"/>
            </a:pPr>
            <a:endParaRPr kumimoji="1" lang="zh-CN" altLang="en-US" sz="2000" dirty="0">
              <a:latin typeface="Microsoft YaHei" panose="020B0503020204020204" pitchFamily="34" charset="-122"/>
              <a:ea typeface="Microsoft YaHei" panose="020B0503020204020204" pitchFamily="34" charset="-122"/>
              <a:cs typeface="微软雅黑" charset="0"/>
            </a:endParaRPr>
          </a:p>
          <a:p>
            <a:pPr marL="342900" indent="-342900" algn="just">
              <a:lnSpc>
                <a:spcPct val="150000"/>
              </a:lnSpc>
              <a:buFont typeface="Wingdings" panose="05000000000000000000" pitchFamily="2" charset="2"/>
              <a:buChar char="n"/>
            </a:pPr>
            <a:r>
              <a:rPr kumimoji="1" lang="zh-CN" altLang="en-US" sz="2000" dirty="0">
                <a:latin typeface="Microsoft YaHei" panose="020B0503020204020204" pitchFamily="34" charset="-122"/>
                <a:ea typeface="Microsoft YaHei" panose="020B0503020204020204" pitchFamily="34" charset="-122"/>
                <a:cs typeface="微软雅黑" charset="0"/>
              </a:rPr>
              <a:t>用户发起 </a:t>
            </a:r>
            <a:r>
              <a:rPr kumimoji="1" lang="en-US" altLang="zh-CN" sz="2000" dirty="0">
                <a:latin typeface="Microsoft YaHei" panose="020B0503020204020204" pitchFamily="34" charset="-122"/>
                <a:ea typeface="Microsoft YaHei" panose="020B0503020204020204" pitchFamily="34" charset="-122"/>
                <a:cs typeface="微软雅黑" charset="0"/>
              </a:rPr>
              <a:t>V2X </a:t>
            </a:r>
            <a:r>
              <a:rPr kumimoji="1" lang="zh-CN" altLang="en-US" sz="2000" dirty="0">
                <a:latin typeface="Microsoft YaHei" panose="020B0503020204020204" pitchFamily="34" charset="-122"/>
                <a:ea typeface="Microsoft YaHei" panose="020B0503020204020204" pitchFamily="34" charset="-122"/>
                <a:cs typeface="微软雅黑" charset="0"/>
              </a:rPr>
              <a:t>应用的通信根据 </a:t>
            </a:r>
            <a:r>
              <a:rPr kumimoji="1" lang="en-US" altLang="zh-CN" sz="2000" dirty="0">
                <a:latin typeface="Microsoft YaHei" panose="020B0503020204020204" pitchFamily="34" charset="-122"/>
                <a:ea typeface="Microsoft YaHei" panose="020B0503020204020204" pitchFamily="34" charset="-122"/>
                <a:cs typeface="微软雅黑" charset="0"/>
              </a:rPr>
              <a:t>V2X </a:t>
            </a:r>
            <a:r>
              <a:rPr kumimoji="1" lang="zh-CN" altLang="en-US" sz="2000" dirty="0">
                <a:latin typeface="Microsoft YaHei" panose="020B0503020204020204" pitchFamily="34" charset="-122"/>
                <a:ea typeface="Microsoft YaHei" panose="020B0503020204020204" pitchFamily="34" charset="-122"/>
                <a:cs typeface="微软雅黑" charset="0"/>
              </a:rPr>
              <a:t>应用与直通链路 </a:t>
            </a:r>
            <a:r>
              <a:rPr kumimoji="1" lang="en-US" altLang="zh-CN" sz="2000" dirty="0" err="1">
                <a:latin typeface="Microsoft YaHei" panose="020B0503020204020204" pitchFamily="34" charset="-122"/>
                <a:ea typeface="Microsoft YaHei" panose="020B0503020204020204" pitchFamily="34" charset="-122"/>
                <a:cs typeface="微软雅黑" charset="0"/>
              </a:rPr>
              <a:t>QoS</a:t>
            </a:r>
            <a:r>
              <a:rPr kumimoji="1" lang="en-US" altLang="zh-CN" sz="2000" dirty="0">
                <a:latin typeface="Microsoft YaHei" panose="020B0503020204020204" pitchFamily="34" charset="-122"/>
                <a:ea typeface="Microsoft YaHei" panose="020B0503020204020204" pitchFamily="34" charset="-122"/>
                <a:cs typeface="微软雅黑" charset="0"/>
              </a:rPr>
              <a:t> </a:t>
            </a:r>
            <a:r>
              <a:rPr kumimoji="1" lang="zh-CN" altLang="en-US" sz="2000" dirty="0">
                <a:latin typeface="Microsoft YaHei" panose="020B0503020204020204" pitchFamily="34" charset="-122"/>
                <a:ea typeface="Microsoft YaHei" panose="020B0503020204020204" pitchFamily="34" charset="-122"/>
                <a:cs typeface="微软雅黑" charset="0"/>
              </a:rPr>
              <a:t>参数的映射关系，</a:t>
            </a:r>
            <a:r>
              <a:rPr kumimoji="1" lang="zh-CN" altLang="en-US" sz="2000" dirty="0" smtClean="0">
                <a:latin typeface="Microsoft YaHei" panose="020B0503020204020204" pitchFamily="34" charset="-122"/>
                <a:ea typeface="Microsoft YaHei" panose="020B0503020204020204" pitchFamily="34" charset="-122"/>
                <a:cs typeface="微软雅黑" charset="0"/>
              </a:rPr>
              <a:t>确定</a:t>
            </a:r>
            <a:r>
              <a:rPr kumimoji="1" lang="en-US" altLang="zh-CN" sz="2000" dirty="0" err="1" smtClean="0">
                <a:latin typeface="Microsoft YaHei" panose="020B0503020204020204" pitchFamily="34" charset="-122"/>
                <a:ea typeface="Microsoft YaHei" panose="020B0503020204020204" pitchFamily="34" charset="-122"/>
                <a:cs typeface="微软雅黑" charset="0"/>
              </a:rPr>
              <a:t>QoS</a:t>
            </a:r>
            <a:r>
              <a:rPr kumimoji="1" lang="en-US" altLang="zh-CN" sz="2000" dirty="0" smtClean="0">
                <a:latin typeface="Microsoft YaHei" panose="020B0503020204020204" pitchFamily="34" charset="-122"/>
                <a:ea typeface="Microsoft YaHei" panose="020B0503020204020204" pitchFamily="34" charset="-122"/>
                <a:cs typeface="微软雅黑" charset="0"/>
              </a:rPr>
              <a:t> </a:t>
            </a:r>
            <a:r>
              <a:rPr kumimoji="1" lang="zh-CN" altLang="en-US" sz="2000" dirty="0">
                <a:latin typeface="Microsoft YaHei" panose="020B0503020204020204" pitchFamily="34" charset="-122"/>
                <a:ea typeface="Microsoft YaHei" panose="020B0503020204020204" pitchFamily="34" charset="-122"/>
                <a:cs typeface="微软雅黑" charset="0"/>
              </a:rPr>
              <a:t>流</a:t>
            </a:r>
            <a:r>
              <a:rPr kumimoji="1" lang="zh-CN" altLang="en-US" sz="2000" dirty="0" smtClean="0">
                <a:latin typeface="Microsoft YaHei" panose="020B0503020204020204" pitchFamily="34" charset="-122"/>
                <a:ea typeface="Microsoft YaHei" panose="020B0503020204020204" pitchFamily="34" charset="-122"/>
                <a:cs typeface="微软雅黑" charset="0"/>
              </a:rPr>
              <a:t>标识、调度</a:t>
            </a:r>
            <a:r>
              <a:rPr kumimoji="1" lang="zh-CN" altLang="en-US" sz="2000" dirty="0">
                <a:latin typeface="Microsoft YaHei" panose="020B0503020204020204" pitchFamily="34" charset="-122"/>
                <a:ea typeface="Microsoft YaHei" panose="020B0503020204020204" pitchFamily="34" charset="-122"/>
                <a:cs typeface="微软雅黑" charset="0"/>
              </a:rPr>
              <a:t>策略与调度</a:t>
            </a:r>
            <a:r>
              <a:rPr kumimoji="1" lang="zh-CN" altLang="en-US" sz="2000" dirty="0" smtClean="0">
                <a:latin typeface="Microsoft YaHei" panose="020B0503020204020204" pitchFamily="34" charset="-122"/>
                <a:ea typeface="Microsoft YaHei" panose="020B0503020204020204" pitchFamily="34" charset="-122"/>
                <a:cs typeface="微软雅黑" charset="0"/>
              </a:rPr>
              <a:t>队列以及 </a:t>
            </a:r>
            <a:r>
              <a:rPr kumimoji="1" lang="en-US" altLang="zh-CN" sz="2000" dirty="0">
                <a:latin typeface="Microsoft YaHei" panose="020B0503020204020204" pitchFamily="34" charset="-122"/>
                <a:ea typeface="Microsoft YaHei" panose="020B0503020204020204" pitchFamily="34" charset="-122"/>
                <a:cs typeface="微软雅黑" charset="0"/>
              </a:rPr>
              <a:t>SLRB </a:t>
            </a:r>
            <a:r>
              <a:rPr kumimoji="1" lang="zh-CN" altLang="en-US" sz="2000" dirty="0">
                <a:latin typeface="Microsoft YaHei" panose="020B0503020204020204" pitchFamily="34" charset="-122"/>
                <a:ea typeface="Microsoft YaHei" panose="020B0503020204020204" pitchFamily="34" charset="-122"/>
                <a:cs typeface="微软雅黑" charset="0"/>
              </a:rPr>
              <a:t>配置参数</a:t>
            </a:r>
            <a:r>
              <a:rPr kumimoji="1" lang="zh-CN" altLang="en-US" sz="2000" dirty="0" smtClean="0">
                <a:latin typeface="Microsoft YaHei" panose="020B0503020204020204" pitchFamily="34" charset="-122"/>
                <a:ea typeface="Microsoft YaHei" panose="020B0503020204020204" pitchFamily="34" charset="-122"/>
                <a:cs typeface="微软雅黑" charset="0"/>
              </a:rPr>
              <a:t>。</a:t>
            </a:r>
            <a:endParaRPr kumimoji="1" lang="en-US" altLang="zh-CN" sz="2000" dirty="0" smtClean="0">
              <a:latin typeface="Microsoft YaHei" panose="020B0503020204020204" pitchFamily="34" charset="-122"/>
              <a:ea typeface="Microsoft YaHei" panose="020B0503020204020204" pitchFamily="34" charset="-122"/>
              <a:cs typeface="微软雅黑" charset="0"/>
            </a:endParaRPr>
          </a:p>
          <a:p>
            <a:pPr marL="342900" indent="-342900" algn="just">
              <a:lnSpc>
                <a:spcPct val="150000"/>
              </a:lnSpc>
              <a:buFont typeface="Wingdings" panose="05000000000000000000" pitchFamily="2" charset="2"/>
              <a:buChar char="n"/>
            </a:pPr>
            <a:endParaRPr kumimoji="1" lang="zh-CN" altLang="en-US" sz="2000" dirty="0">
              <a:latin typeface="Microsoft YaHei" panose="020B0503020204020204" pitchFamily="34" charset="-122"/>
              <a:ea typeface="Microsoft YaHei" panose="020B0503020204020204" pitchFamily="34" charset="-122"/>
              <a:cs typeface="微软雅黑" charset="0"/>
            </a:endParaRPr>
          </a:p>
          <a:p>
            <a:pPr marL="342900" indent="-342900" algn="just">
              <a:lnSpc>
                <a:spcPct val="150000"/>
              </a:lnSpc>
              <a:buFont typeface="Wingdings" panose="05000000000000000000" pitchFamily="2" charset="2"/>
              <a:buChar char="n"/>
            </a:pPr>
            <a:r>
              <a:rPr kumimoji="1" lang="zh-CN" altLang="en-US" sz="2000" dirty="0" smtClean="0">
                <a:latin typeface="Microsoft YaHei" panose="020B0503020204020204" pitchFamily="34" charset="-122"/>
                <a:ea typeface="Microsoft YaHei" panose="020B0503020204020204" pitchFamily="34" charset="-122"/>
                <a:cs typeface="微软雅黑" charset="0"/>
              </a:rPr>
              <a:t>新引入通信距离参数</a:t>
            </a:r>
            <a:r>
              <a:rPr kumimoji="1" lang="zh-CN" altLang="en-US" sz="2000" dirty="0">
                <a:latin typeface="Microsoft YaHei" panose="020B0503020204020204" pitchFamily="34" charset="-122"/>
                <a:ea typeface="Microsoft YaHei" panose="020B0503020204020204" pitchFamily="34" charset="-122"/>
                <a:cs typeface="微软雅黑" charset="0"/>
              </a:rPr>
              <a:t>，用于表示直通</a:t>
            </a:r>
            <a:r>
              <a:rPr kumimoji="1" lang="zh-CN" altLang="en-US" sz="2000" dirty="0" smtClean="0">
                <a:latin typeface="Microsoft YaHei" panose="020B0503020204020204" pitchFamily="34" charset="-122"/>
                <a:ea typeface="Microsoft YaHei" panose="020B0503020204020204" pitchFamily="34" charset="-122"/>
                <a:cs typeface="微软雅黑" charset="0"/>
              </a:rPr>
              <a:t>链路</a:t>
            </a:r>
            <a:r>
              <a:rPr kumimoji="1" lang="en-US" altLang="zh-CN" sz="2000" dirty="0" err="1" smtClean="0">
                <a:latin typeface="Microsoft YaHei" panose="020B0503020204020204" pitchFamily="34" charset="-122"/>
                <a:ea typeface="Microsoft YaHei" panose="020B0503020204020204" pitchFamily="34" charset="-122"/>
                <a:cs typeface="微软雅黑" charset="0"/>
              </a:rPr>
              <a:t>QoS</a:t>
            </a:r>
            <a:r>
              <a:rPr kumimoji="1" lang="zh-CN" altLang="en-US" sz="2000" dirty="0" smtClean="0">
                <a:latin typeface="Microsoft YaHei" panose="020B0503020204020204" pitchFamily="34" charset="-122"/>
                <a:ea typeface="Microsoft YaHei" panose="020B0503020204020204" pitchFamily="34" charset="-122"/>
                <a:cs typeface="微软雅黑" charset="0"/>
              </a:rPr>
              <a:t>参数</a:t>
            </a:r>
            <a:r>
              <a:rPr kumimoji="1" lang="zh-CN" altLang="en-US" sz="2000" dirty="0">
                <a:latin typeface="Microsoft YaHei" panose="020B0503020204020204" pitchFamily="34" charset="-122"/>
                <a:ea typeface="Microsoft YaHei" panose="020B0503020204020204" pitchFamily="34" charset="-122"/>
                <a:cs typeface="微软雅黑" charset="0"/>
              </a:rPr>
              <a:t>使用的通信</a:t>
            </a:r>
            <a:r>
              <a:rPr kumimoji="1" lang="zh-CN" altLang="en-US" sz="2000" dirty="0" smtClean="0">
                <a:latin typeface="Microsoft YaHei" panose="020B0503020204020204" pitchFamily="34" charset="-122"/>
                <a:ea typeface="Microsoft YaHei" panose="020B0503020204020204" pitchFamily="34" charset="-122"/>
                <a:cs typeface="微软雅黑" charset="0"/>
              </a:rPr>
              <a:t>范围。</a:t>
            </a:r>
            <a:r>
              <a:rPr kumimoji="1" lang="zh-CN" altLang="en-US" sz="2000" dirty="0">
                <a:latin typeface="Microsoft YaHei" panose="020B0503020204020204" pitchFamily="34" charset="-122"/>
                <a:ea typeface="Microsoft YaHei" panose="020B0503020204020204" pitchFamily="34" charset="-122"/>
                <a:cs typeface="微软雅黑" charset="0"/>
              </a:rPr>
              <a:t>通信距离参数仅适用于面向无连接的多播通信。</a:t>
            </a:r>
          </a:p>
        </p:txBody>
      </p:sp>
    </p:spTree>
    <p:extLst>
      <p:ext uri="{BB962C8B-B14F-4D97-AF65-F5344CB8AC3E}">
        <p14:creationId xmlns:p14="http://schemas.microsoft.com/office/powerpoint/2010/main" val="1737964636"/>
      </p:ext>
    </p:extLst>
  </p:cSld>
  <p:clrMapOvr>
    <a:masterClrMapping/>
  </p:clrMapOvr>
  <p:transition spd="slow" advClick="0"/>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11" descr="program-ciat2020"/>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sp>
        <p:nvSpPr>
          <p:cNvPr id="2" name="标题 1"/>
          <p:cNvSpPr txBox="1"/>
          <p:nvPr/>
        </p:nvSpPr>
        <p:spPr>
          <a:xfrm>
            <a:off x="237392" y="191297"/>
            <a:ext cx="9251576" cy="679847"/>
          </a:xfrm>
          <a:prstGeom prst="rect">
            <a:avLst/>
          </a:prstGeom>
        </p:spPr>
        <p:txBody>
          <a:bodyPr vert="horz" lIns="68580" tIns="34290" rIns="68580" bIns="34290" rtlCol="0" anchor="ctr">
            <a:normAutofit/>
          </a:bodyPr>
          <a:lstStyle/>
          <a:p>
            <a:pPr lvl="0">
              <a:spcBef>
                <a:spcPct val="0"/>
              </a:spcBef>
              <a:defRPr/>
            </a:pPr>
            <a:r>
              <a:rPr lang="en-US" altLang="zh-CN" sz="34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5G-V2X </a:t>
            </a:r>
            <a:r>
              <a:rPr lang="zh-CN" altLang="en-US" sz="34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关键</a:t>
            </a:r>
            <a:r>
              <a:rPr lang="zh-CN" altLang="en-US" sz="34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技术</a:t>
            </a:r>
            <a:endParaRPr lang="en-US" altLang="zh-CN" sz="36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8" name="矩形 7"/>
          <p:cNvSpPr/>
          <p:nvPr/>
        </p:nvSpPr>
        <p:spPr>
          <a:xfrm>
            <a:off x="237391" y="1069052"/>
            <a:ext cx="7600323" cy="584775"/>
          </a:xfrm>
          <a:prstGeom prst="rect">
            <a:avLst/>
          </a:prstGeom>
        </p:spPr>
        <p:txBody>
          <a:bodyPr wrap="square">
            <a:spAutoFit/>
          </a:bodyPr>
          <a:lstStyle/>
          <a:p>
            <a:pPr lvl="0">
              <a:spcBef>
                <a:spcPct val="0"/>
              </a:spcBef>
              <a:defRPr/>
            </a:pPr>
            <a:r>
              <a:rPr lang="en-US" altLang="zh-CN" sz="32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5G-V2X </a:t>
            </a:r>
            <a:r>
              <a:rPr lang="zh-CN" altLang="en-US" sz="32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直通链路的 </a:t>
            </a:r>
            <a:r>
              <a:rPr lang="en-US" altLang="zh-CN" sz="32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HARQ </a:t>
            </a:r>
            <a:r>
              <a:rPr lang="zh-CN" altLang="en-US" sz="32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反馈机制</a:t>
            </a:r>
            <a:endParaRPr lang="en-US" altLang="zh-CN" sz="32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5" name="矩形 4"/>
          <p:cNvSpPr/>
          <p:nvPr/>
        </p:nvSpPr>
        <p:spPr>
          <a:xfrm>
            <a:off x="237390" y="1667842"/>
            <a:ext cx="8710667" cy="4247317"/>
          </a:xfrm>
          <a:prstGeom prst="rect">
            <a:avLst/>
          </a:prstGeom>
        </p:spPr>
        <p:txBody>
          <a:bodyPr wrap="square">
            <a:spAutoFit/>
          </a:bodyPr>
          <a:lstStyle/>
          <a:p>
            <a:pPr algn="just">
              <a:lnSpc>
                <a:spcPct val="150000"/>
              </a:lnSpc>
            </a:pPr>
            <a:r>
              <a:rPr kumimoji="1" lang="en-US" altLang="zh-CN" sz="2000" dirty="0" smtClean="0">
                <a:latin typeface="Microsoft YaHei" panose="020B0503020204020204" pitchFamily="34" charset="-122"/>
                <a:ea typeface="Microsoft YaHei" panose="020B0503020204020204" pitchFamily="34" charset="-122"/>
                <a:cs typeface="微软雅黑" charset="0"/>
              </a:rPr>
              <a:t>5G-V2X</a:t>
            </a:r>
            <a:r>
              <a:rPr kumimoji="1" lang="zh-CN" altLang="en-US" sz="2000" dirty="0" smtClean="0">
                <a:latin typeface="Microsoft YaHei" panose="020B0503020204020204" pitchFamily="34" charset="-122"/>
                <a:ea typeface="Microsoft YaHei" panose="020B0503020204020204" pitchFamily="34" charset="-122"/>
                <a:cs typeface="微软雅黑" charset="0"/>
              </a:rPr>
              <a:t>直通</a:t>
            </a:r>
            <a:r>
              <a:rPr kumimoji="1" lang="zh-CN" altLang="en-US" sz="2000" dirty="0">
                <a:latin typeface="Microsoft YaHei" panose="020B0503020204020204" pitchFamily="34" charset="-122"/>
                <a:ea typeface="Microsoft YaHei" panose="020B0503020204020204" pitchFamily="34" charset="-122"/>
                <a:cs typeface="微软雅黑" charset="0"/>
              </a:rPr>
              <a:t>链路支持两种重传</a:t>
            </a:r>
            <a:r>
              <a:rPr kumimoji="1" lang="zh-CN" altLang="en-US" sz="2000" dirty="0" smtClean="0">
                <a:latin typeface="Microsoft YaHei" panose="020B0503020204020204" pitchFamily="34" charset="-122"/>
                <a:ea typeface="Microsoft YaHei" panose="020B0503020204020204" pitchFamily="34" charset="-122"/>
                <a:cs typeface="微软雅黑" charset="0"/>
              </a:rPr>
              <a:t>方式：</a:t>
            </a:r>
            <a:endParaRPr kumimoji="1" lang="en-US" altLang="zh-CN" sz="2000" dirty="0" smtClean="0">
              <a:latin typeface="Microsoft YaHei" panose="020B0503020204020204" pitchFamily="34" charset="-122"/>
              <a:ea typeface="Microsoft YaHei" panose="020B0503020204020204" pitchFamily="34" charset="-122"/>
              <a:cs typeface="微软雅黑" charset="0"/>
            </a:endParaRPr>
          </a:p>
          <a:p>
            <a:pPr marL="342900" indent="-342900" algn="just">
              <a:lnSpc>
                <a:spcPct val="150000"/>
              </a:lnSpc>
              <a:buFont typeface="Wingdings" panose="05000000000000000000" pitchFamily="2" charset="2"/>
              <a:buChar char="n"/>
            </a:pPr>
            <a:r>
              <a:rPr kumimoji="1" lang="zh-CN" altLang="en-US" sz="2000" b="1" dirty="0" smtClean="0">
                <a:latin typeface="Microsoft YaHei" panose="020B0503020204020204" pitchFamily="34" charset="-122"/>
                <a:ea typeface="Microsoft YaHei" panose="020B0503020204020204" pitchFamily="34" charset="-122"/>
                <a:cs typeface="微软雅黑" charset="0"/>
              </a:rPr>
              <a:t>盲</a:t>
            </a:r>
            <a:r>
              <a:rPr kumimoji="1" lang="zh-CN" altLang="en-US" sz="2000" b="1" dirty="0">
                <a:latin typeface="Microsoft YaHei" panose="020B0503020204020204" pitchFamily="34" charset="-122"/>
                <a:ea typeface="Microsoft YaHei" panose="020B0503020204020204" pitchFamily="34" charset="-122"/>
                <a:cs typeface="微软雅黑" charset="0"/>
              </a:rPr>
              <a:t>重传方式</a:t>
            </a:r>
            <a:r>
              <a:rPr kumimoji="1" lang="zh-CN" altLang="en-US" sz="2000" dirty="0">
                <a:latin typeface="Microsoft YaHei" panose="020B0503020204020204" pitchFamily="34" charset="-122"/>
                <a:ea typeface="Microsoft YaHei" panose="020B0503020204020204" pitchFamily="34" charset="-122"/>
                <a:cs typeface="微软雅黑" charset="0"/>
              </a:rPr>
              <a:t>：终端根据自己的业务需求或者配置，预先确定重传的次数和重传的资源，应用于广播、单播和多播模式</a:t>
            </a:r>
            <a:r>
              <a:rPr kumimoji="1" lang="zh-CN" altLang="en-US" sz="2000" dirty="0" smtClean="0">
                <a:latin typeface="Microsoft YaHei" panose="020B0503020204020204" pitchFamily="34" charset="-122"/>
                <a:ea typeface="Microsoft YaHei" panose="020B0503020204020204" pitchFamily="34" charset="-122"/>
                <a:cs typeface="微软雅黑" charset="0"/>
              </a:rPr>
              <a:t>。</a:t>
            </a:r>
            <a:endParaRPr kumimoji="1" lang="en-US" altLang="zh-CN" sz="2000" dirty="0" smtClean="0">
              <a:latin typeface="Microsoft YaHei" panose="020B0503020204020204" pitchFamily="34" charset="-122"/>
              <a:ea typeface="Microsoft YaHei" panose="020B0503020204020204" pitchFamily="34" charset="-122"/>
              <a:cs typeface="微软雅黑" charset="0"/>
            </a:endParaRPr>
          </a:p>
          <a:p>
            <a:pPr marL="342900" indent="-342900" algn="just">
              <a:lnSpc>
                <a:spcPct val="150000"/>
              </a:lnSpc>
              <a:buFont typeface="Wingdings" panose="05000000000000000000" pitchFamily="2" charset="2"/>
              <a:buChar char="n"/>
            </a:pPr>
            <a:endParaRPr kumimoji="1" lang="en-US" altLang="zh-CN" sz="2000" dirty="0" smtClean="0">
              <a:latin typeface="Microsoft YaHei" panose="020B0503020204020204" pitchFamily="34" charset="-122"/>
              <a:ea typeface="Microsoft YaHei" panose="020B0503020204020204" pitchFamily="34" charset="-122"/>
              <a:cs typeface="微软雅黑" charset="0"/>
            </a:endParaRPr>
          </a:p>
          <a:p>
            <a:pPr marL="800100" lvl="1" indent="-342900" algn="just">
              <a:lnSpc>
                <a:spcPct val="150000"/>
              </a:lnSpc>
              <a:buFont typeface="Wingdings" panose="05000000000000000000" pitchFamily="2" charset="2"/>
              <a:buChar char="Ø"/>
            </a:pPr>
            <a:r>
              <a:rPr kumimoji="1" lang="zh-CN" altLang="en-US" sz="2000" dirty="0" smtClean="0">
                <a:latin typeface="Microsoft YaHei" panose="020B0503020204020204" pitchFamily="34" charset="-122"/>
                <a:ea typeface="Microsoft YaHei" panose="020B0503020204020204" pitchFamily="34" charset="-122"/>
                <a:cs typeface="微软雅黑" charset="0"/>
              </a:rPr>
              <a:t>优点：不</a:t>
            </a:r>
            <a:r>
              <a:rPr kumimoji="1" lang="zh-CN" altLang="en-US" sz="2000" dirty="0">
                <a:latin typeface="Microsoft YaHei" panose="020B0503020204020204" pitchFamily="34" charset="-122"/>
                <a:ea typeface="Microsoft YaHei" panose="020B0503020204020204" pitchFamily="34" charset="-122"/>
                <a:cs typeface="微软雅黑" charset="0"/>
              </a:rPr>
              <a:t>需要</a:t>
            </a:r>
            <a:r>
              <a:rPr kumimoji="1" lang="zh-CN" altLang="en-US" sz="2000" dirty="0" smtClean="0">
                <a:latin typeface="Microsoft YaHei" panose="020B0503020204020204" pitchFamily="34" charset="-122"/>
                <a:ea typeface="Microsoft YaHei" panose="020B0503020204020204" pitchFamily="34" charset="-122"/>
                <a:cs typeface="微软雅黑" charset="0"/>
              </a:rPr>
              <a:t>考虑</a:t>
            </a:r>
            <a:r>
              <a:rPr kumimoji="1" lang="en-US" altLang="zh-CN" sz="2000" dirty="0" smtClean="0">
                <a:latin typeface="Microsoft YaHei" panose="020B0503020204020204" pitchFamily="34" charset="-122"/>
                <a:ea typeface="Microsoft YaHei" panose="020B0503020204020204" pitchFamily="34" charset="-122"/>
                <a:cs typeface="微软雅黑" charset="0"/>
              </a:rPr>
              <a:t>HARQ</a:t>
            </a:r>
            <a:r>
              <a:rPr kumimoji="1" lang="zh-CN" altLang="en-US" sz="2000" dirty="0" smtClean="0">
                <a:latin typeface="Microsoft YaHei" panose="020B0503020204020204" pitchFamily="34" charset="-122"/>
                <a:ea typeface="Microsoft YaHei" panose="020B0503020204020204" pitchFamily="34" charset="-122"/>
                <a:cs typeface="微软雅黑" charset="0"/>
              </a:rPr>
              <a:t>反馈</a:t>
            </a:r>
            <a:r>
              <a:rPr kumimoji="1" lang="zh-CN" altLang="en-US" sz="2000" dirty="0">
                <a:latin typeface="Microsoft YaHei" panose="020B0503020204020204" pitchFamily="34" charset="-122"/>
                <a:ea typeface="Microsoft YaHei" panose="020B0503020204020204" pitchFamily="34" charset="-122"/>
                <a:cs typeface="微软雅黑" charset="0"/>
              </a:rPr>
              <a:t>的时延</a:t>
            </a:r>
            <a:r>
              <a:rPr kumimoji="1" lang="zh-CN" altLang="en-US" sz="2000" dirty="0" smtClean="0">
                <a:latin typeface="Microsoft YaHei" panose="020B0503020204020204" pitchFamily="34" charset="-122"/>
                <a:ea typeface="Microsoft YaHei" panose="020B0503020204020204" pitchFamily="34" charset="-122"/>
                <a:cs typeface="微软雅黑" charset="0"/>
              </a:rPr>
              <a:t>，能</a:t>
            </a:r>
            <a:r>
              <a:rPr kumimoji="1" lang="zh-CN" altLang="en-US" sz="2000" dirty="0">
                <a:latin typeface="Microsoft YaHei" panose="020B0503020204020204" pitchFamily="34" charset="-122"/>
                <a:ea typeface="Microsoft YaHei" panose="020B0503020204020204" pitchFamily="34" charset="-122"/>
                <a:cs typeface="微软雅黑" charset="0"/>
              </a:rPr>
              <a:t>降低传输时延</a:t>
            </a:r>
            <a:r>
              <a:rPr kumimoji="1" lang="zh-CN" altLang="en-US" sz="2000" dirty="0" smtClean="0">
                <a:latin typeface="Microsoft YaHei" panose="020B0503020204020204" pitchFamily="34" charset="-122"/>
                <a:ea typeface="Microsoft YaHei" panose="020B0503020204020204" pitchFamily="34" charset="-122"/>
                <a:cs typeface="微软雅黑" charset="0"/>
              </a:rPr>
              <a:t>。</a:t>
            </a:r>
            <a:endParaRPr kumimoji="1" lang="en-US" altLang="zh-CN" sz="2000" dirty="0" smtClean="0">
              <a:latin typeface="Microsoft YaHei" panose="020B0503020204020204" pitchFamily="34" charset="-122"/>
              <a:ea typeface="Microsoft YaHei" panose="020B0503020204020204" pitchFamily="34" charset="-122"/>
              <a:cs typeface="微软雅黑" charset="0"/>
            </a:endParaRPr>
          </a:p>
          <a:p>
            <a:pPr marL="800100" lvl="1" indent="-342900" algn="just">
              <a:lnSpc>
                <a:spcPct val="150000"/>
              </a:lnSpc>
              <a:buFont typeface="Wingdings" panose="05000000000000000000" pitchFamily="2" charset="2"/>
              <a:buChar char="Ø"/>
            </a:pPr>
            <a:endParaRPr kumimoji="1" lang="en-US" altLang="zh-CN" sz="2000" dirty="0" smtClean="0">
              <a:latin typeface="Microsoft YaHei" panose="020B0503020204020204" pitchFamily="34" charset="-122"/>
              <a:ea typeface="Microsoft YaHei" panose="020B0503020204020204" pitchFamily="34" charset="-122"/>
              <a:cs typeface="微软雅黑" charset="0"/>
            </a:endParaRPr>
          </a:p>
          <a:p>
            <a:pPr marL="800100" lvl="1" indent="-342900" algn="just">
              <a:lnSpc>
                <a:spcPct val="150000"/>
              </a:lnSpc>
              <a:buFont typeface="Wingdings" panose="05000000000000000000" pitchFamily="2" charset="2"/>
              <a:buChar char="Ø"/>
            </a:pPr>
            <a:r>
              <a:rPr kumimoji="1" lang="zh-CN" altLang="en-US" sz="2000" dirty="0" smtClean="0">
                <a:latin typeface="Microsoft YaHei" panose="020B0503020204020204" pitchFamily="34" charset="-122"/>
                <a:ea typeface="Microsoft YaHei" panose="020B0503020204020204" pitchFamily="34" charset="-122"/>
                <a:cs typeface="微软雅黑" charset="0"/>
              </a:rPr>
              <a:t>缺点：由于</a:t>
            </a:r>
            <a:r>
              <a:rPr kumimoji="1" lang="zh-CN" altLang="en-US" sz="2000" dirty="0" smtClean="0">
                <a:latin typeface="Microsoft YaHei" panose="020B0503020204020204" pitchFamily="34" charset="-122"/>
                <a:ea typeface="Microsoft YaHei" panose="020B0503020204020204" pitchFamily="34" charset="-122"/>
                <a:cs typeface="微软雅黑" charset="0"/>
              </a:rPr>
              <a:t>重传次数</a:t>
            </a:r>
            <a:r>
              <a:rPr kumimoji="1" lang="zh-CN" altLang="en-US" sz="2000" dirty="0">
                <a:latin typeface="Microsoft YaHei" panose="020B0503020204020204" pitchFamily="34" charset="-122"/>
                <a:ea typeface="Microsoft YaHei" panose="020B0503020204020204" pitchFamily="34" charset="-122"/>
                <a:cs typeface="微软雅黑" charset="0"/>
              </a:rPr>
              <a:t>是预先确定的</a:t>
            </a:r>
            <a:r>
              <a:rPr kumimoji="1" lang="zh-CN" altLang="en-US" sz="2000" dirty="0" smtClean="0">
                <a:latin typeface="Microsoft YaHei" panose="020B0503020204020204" pitchFamily="34" charset="-122"/>
                <a:ea typeface="Microsoft YaHei" panose="020B0503020204020204" pitchFamily="34" charset="-122"/>
                <a:cs typeface="微软雅黑" charset="0"/>
              </a:rPr>
              <a:t>，对于</a:t>
            </a:r>
            <a:r>
              <a:rPr kumimoji="1" lang="zh-CN" altLang="en-US" sz="2000" dirty="0">
                <a:latin typeface="Microsoft YaHei" panose="020B0503020204020204" pitchFamily="34" charset="-122"/>
                <a:ea typeface="Microsoft YaHei" panose="020B0503020204020204" pitchFamily="34" charset="-122"/>
                <a:cs typeface="微软雅黑" charset="0"/>
              </a:rPr>
              <a:t>已经提前接收成功的数据分组，会导致资源浪费，对于没有接收成功的数据分组，则会导致可靠性降低</a:t>
            </a:r>
            <a:r>
              <a:rPr kumimoji="1" lang="zh-CN" altLang="en-US" sz="2000" dirty="0" smtClean="0">
                <a:latin typeface="Microsoft YaHei" panose="020B0503020204020204" pitchFamily="34" charset="-122"/>
                <a:ea typeface="Microsoft YaHei" panose="020B0503020204020204" pitchFamily="34" charset="-122"/>
                <a:cs typeface="微软雅黑" charset="0"/>
              </a:rPr>
              <a:t>。</a:t>
            </a:r>
            <a:endParaRPr kumimoji="1" lang="zh-CN" altLang="en-US" sz="2000" dirty="0">
              <a:latin typeface="Microsoft YaHei" panose="020B0503020204020204" pitchFamily="34" charset="-122"/>
              <a:ea typeface="Microsoft YaHei" panose="020B0503020204020204" pitchFamily="34" charset="-122"/>
              <a:cs typeface="微软雅黑" charset="0"/>
            </a:endParaRPr>
          </a:p>
        </p:txBody>
      </p:sp>
    </p:spTree>
    <p:extLst>
      <p:ext uri="{BB962C8B-B14F-4D97-AF65-F5344CB8AC3E}">
        <p14:creationId xmlns:p14="http://schemas.microsoft.com/office/powerpoint/2010/main" val="3322914709"/>
      </p:ext>
    </p:extLst>
  </p:cSld>
  <p:clrMapOvr>
    <a:masterClrMapping/>
  </p:clrMapOvr>
  <p:transition spd="slow" advClick="0"/>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11" descr="program-ciat2020"/>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sp>
        <p:nvSpPr>
          <p:cNvPr id="2" name="标题 1"/>
          <p:cNvSpPr txBox="1"/>
          <p:nvPr/>
        </p:nvSpPr>
        <p:spPr>
          <a:xfrm>
            <a:off x="237392" y="191297"/>
            <a:ext cx="9251576" cy="679847"/>
          </a:xfrm>
          <a:prstGeom prst="rect">
            <a:avLst/>
          </a:prstGeom>
        </p:spPr>
        <p:txBody>
          <a:bodyPr vert="horz" lIns="68580" tIns="34290" rIns="68580" bIns="34290" rtlCol="0" anchor="ctr">
            <a:normAutofit/>
          </a:bodyPr>
          <a:lstStyle/>
          <a:p>
            <a:pPr lvl="0">
              <a:spcBef>
                <a:spcPct val="0"/>
              </a:spcBef>
              <a:defRPr/>
            </a:pPr>
            <a:r>
              <a:rPr lang="en-US" altLang="zh-CN" sz="34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5G-V2X </a:t>
            </a:r>
            <a:r>
              <a:rPr lang="zh-CN" altLang="en-US" sz="34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关键</a:t>
            </a:r>
            <a:r>
              <a:rPr lang="zh-CN" altLang="en-US" sz="34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技术</a:t>
            </a:r>
            <a:endParaRPr lang="en-US" altLang="zh-CN" sz="36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8" name="矩形 7"/>
          <p:cNvSpPr/>
          <p:nvPr/>
        </p:nvSpPr>
        <p:spPr>
          <a:xfrm>
            <a:off x="237391" y="1069052"/>
            <a:ext cx="7600323" cy="584775"/>
          </a:xfrm>
          <a:prstGeom prst="rect">
            <a:avLst/>
          </a:prstGeom>
        </p:spPr>
        <p:txBody>
          <a:bodyPr wrap="square">
            <a:spAutoFit/>
          </a:bodyPr>
          <a:lstStyle/>
          <a:p>
            <a:pPr lvl="0">
              <a:spcBef>
                <a:spcPct val="0"/>
              </a:spcBef>
              <a:defRPr/>
            </a:pPr>
            <a:r>
              <a:rPr lang="en-US" altLang="zh-CN" sz="32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5G-V2X </a:t>
            </a:r>
            <a:r>
              <a:rPr lang="zh-CN" altLang="en-US" sz="32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直通链路的 </a:t>
            </a:r>
            <a:r>
              <a:rPr lang="en-US" altLang="zh-CN" sz="32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HARQ </a:t>
            </a:r>
            <a:r>
              <a:rPr lang="zh-CN" altLang="en-US" sz="32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反馈机制</a:t>
            </a:r>
            <a:endParaRPr lang="en-US" altLang="zh-CN" sz="32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5" name="矩形 4"/>
          <p:cNvSpPr/>
          <p:nvPr/>
        </p:nvSpPr>
        <p:spPr>
          <a:xfrm>
            <a:off x="237390" y="1667842"/>
            <a:ext cx="8710667" cy="3785652"/>
          </a:xfrm>
          <a:prstGeom prst="rect">
            <a:avLst/>
          </a:prstGeom>
        </p:spPr>
        <p:txBody>
          <a:bodyPr wrap="square">
            <a:spAutoFit/>
          </a:bodyPr>
          <a:lstStyle/>
          <a:p>
            <a:pPr marL="342900" indent="-342900" algn="just">
              <a:lnSpc>
                <a:spcPct val="150000"/>
              </a:lnSpc>
              <a:buFont typeface="Wingdings" panose="05000000000000000000" pitchFamily="2" charset="2"/>
              <a:buChar char="n"/>
            </a:pPr>
            <a:r>
              <a:rPr kumimoji="1" lang="zh-CN" altLang="en-US" sz="2000" b="1" dirty="0" smtClean="0">
                <a:latin typeface="Microsoft YaHei" panose="020B0503020204020204" pitchFamily="34" charset="-122"/>
                <a:ea typeface="Microsoft YaHei" panose="020B0503020204020204" pitchFamily="34" charset="-122"/>
                <a:cs typeface="微软雅黑" charset="0"/>
              </a:rPr>
              <a:t>基于</a:t>
            </a:r>
            <a:r>
              <a:rPr kumimoji="1" lang="en-US" altLang="zh-CN" sz="2000" b="1" dirty="0" smtClean="0">
                <a:latin typeface="Microsoft YaHei" panose="020B0503020204020204" pitchFamily="34" charset="-122"/>
                <a:ea typeface="Microsoft YaHei" panose="020B0503020204020204" pitchFamily="34" charset="-122"/>
                <a:cs typeface="微软雅黑" charset="0"/>
              </a:rPr>
              <a:t>HARQ</a:t>
            </a:r>
            <a:r>
              <a:rPr kumimoji="1" lang="zh-CN" altLang="en-US" sz="2000" b="1" dirty="0" smtClean="0">
                <a:latin typeface="Microsoft YaHei" panose="020B0503020204020204" pitchFamily="34" charset="-122"/>
                <a:ea typeface="Microsoft YaHei" panose="020B0503020204020204" pitchFamily="34" charset="-122"/>
                <a:cs typeface="微软雅黑" charset="0"/>
              </a:rPr>
              <a:t>反馈</a:t>
            </a:r>
            <a:r>
              <a:rPr kumimoji="1" lang="zh-CN" altLang="en-US" sz="2000" b="1" dirty="0">
                <a:latin typeface="Microsoft YaHei" panose="020B0503020204020204" pitchFamily="34" charset="-122"/>
                <a:ea typeface="Microsoft YaHei" panose="020B0503020204020204" pitchFamily="34" charset="-122"/>
                <a:cs typeface="微软雅黑" charset="0"/>
              </a:rPr>
              <a:t>的自适应重传方式</a:t>
            </a:r>
            <a:r>
              <a:rPr kumimoji="1" lang="zh-CN" altLang="en-US" sz="2000" dirty="0">
                <a:latin typeface="Microsoft YaHei" panose="020B0503020204020204" pitchFamily="34" charset="-122"/>
                <a:ea typeface="Microsoft YaHei" panose="020B0503020204020204" pitchFamily="34" charset="-122"/>
                <a:cs typeface="微软雅黑" charset="0"/>
              </a:rPr>
              <a:t>：</a:t>
            </a:r>
            <a:r>
              <a:rPr kumimoji="1" lang="zh-CN" altLang="en-US" sz="2000" dirty="0" smtClean="0">
                <a:latin typeface="Microsoft YaHei" panose="020B0503020204020204" pitchFamily="34" charset="-122"/>
                <a:ea typeface="Microsoft YaHei" panose="020B0503020204020204" pitchFamily="34" charset="-122"/>
                <a:cs typeface="微软雅黑" charset="0"/>
              </a:rPr>
              <a:t>根据</a:t>
            </a:r>
            <a:r>
              <a:rPr kumimoji="1" lang="en-US" altLang="zh-CN" sz="2000" dirty="0" smtClean="0">
                <a:latin typeface="Microsoft YaHei" panose="020B0503020204020204" pitchFamily="34" charset="-122"/>
                <a:ea typeface="Microsoft YaHei" panose="020B0503020204020204" pitchFamily="34" charset="-122"/>
                <a:cs typeface="微软雅黑" charset="0"/>
              </a:rPr>
              <a:t>ACK/NACK</a:t>
            </a:r>
            <a:r>
              <a:rPr kumimoji="1" lang="zh-CN" altLang="en-US" sz="2000" dirty="0" smtClean="0">
                <a:latin typeface="Microsoft YaHei" panose="020B0503020204020204" pitchFamily="34" charset="-122"/>
                <a:ea typeface="Microsoft YaHei" panose="020B0503020204020204" pitchFamily="34" charset="-122"/>
                <a:cs typeface="微软雅黑" charset="0"/>
              </a:rPr>
              <a:t>反馈</a:t>
            </a:r>
            <a:r>
              <a:rPr kumimoji="1" lang="zh-CN" altLang="en-US" sz="2000" dirty="0">
                <a:latin typeface="Microsoft YaHei" panose="020B0503020204020204" pitchFamily="34" charset="-122"/>
                <a:ea typeface="Microsoft YaHei" panose="020B0503020204020204" pitchFamily="34" charset="-122"/>
                <a:cs typeface="微软雅黑" charset="0"/>
              </a:rPr>
              <a:t>的信息确定是否需要进行数据的重传，应用于单播和多播模式</a:t>
            </a:r>
            <a:r>
              <a:rPr kumimoji="1" lang="zh-CN" altLang="en-US" sz="2000" dirty="0" smtClean="0">
                <a:latin typeface="Microsoft YaHei" panose="020B0503020204020204" pitchFamily="34" charset="-122"/>
                <a:ea typeface="Microsoft YaHei" panose="020B0503020204020204" pitchFamily="34" charset="-122"/>
                <a:cs typeface="微软雅黑" charset="0"/>
              </a:rPr>
              <a:t>。</a:t>
            </a:r>
            <a:endParaRPr kumimoji="1" lang="en-US" altLang="zh-CN" sz="2000" dirty="0" smtClean="0">
              <a:latin typeface="Microsoft YaHei" panose="020B0503020204020204" pitchFamily="34" charset="-122"/>
              <a:ea typeface="Microsoft YaHei" panose="020B0503020204020204" pitchFamily="34" charset="-122"/>
              <a:cs typeface="微软雅黑" charset="0"/>
            </a:endParaRPr>
          </a:p>
          <a:p>
            <a:pPr marL="342900" indent="-342900" algn="just">
              <a:lnSpc>
                <a:spcPct val="150000"/>
              </a:lnSpc>
              <a:buFont typeface="Wingdings" panose="05000000000000000000" pitchFamily="2" charset="2"/>
              <a:buChar char="n"/>
            </a:pPr>
            <a:endParaRPr kumimoji="1" lang="en-US" altLang="zh-CN" sz="2000" dirty="0">
              <a:latin typeface="Microsoft YaHei" panose="020B0503020204020204" pitchFamily="34" charset="-122"/>
              <a:ea typeface="Microsoft YaHei" panose="020B0503020204020204" pitchFamily="34" charset="-122"/>
              <a:cs typeface="微软雅黑" charset="0"/>
            </a:endParaRPr>
          </a:p>
          <a:p>
            <a:pPr marL="800100" lvl="1" indent="-342900" algn="just">
              <a:lnSpc>
                <a:spcPct val="150000"/>
              </a:lnSpc>
              <a:buFont typeface="Wingdings" panose="05000000000000000000" pitchFamily="2" charset="2"/>
              <a:buChar char="Ø"/>
            </a:pPr>
            <a:r>
              <a:rPr kumimoji="1" lang="zh-CN" altLang="en-US" sz="2000" dirty="0" smtClean="0">
                <a:latin typeface="Microsoft YaHei" panose="020B0503020204020204" pitchFamily="34" charset="-122"/>
                <a:ea typeface="Microsoft YaHei" panose="020B0503020204020204" pitchFamily="34" charset="-122"/>
                <a:cs typeface="微软雅黑" charset="0"/>
              </a:rPr>
              <a:t>优点：能够</a:t>
            </a:r>
            <a:r>
              <a:rPr kumimoji="1" lang="zh-CN" altLang="en-US" sz="2000" dirty="0">
                <a:latin typeface="Microsoft YaHei" panose="020B0503020204020204" pitchFamily="34" charset="-122"/>
                <a:ea typeface="Microsoft YaHei" panose="020B0503020204020204" pitchFamily="34" charset="-122"/>
                <a:cs typeface="微软雅黑" charset="0"/>
              </a:rPr>
              <a:t>提供更高的可靠性</a:t>
            </a:r>
            <a:r>
              <a:rPr kumimoji="1" lang="zh-CN" altLang="en-US" sz="2000" dirty="0" smtClean="0">
                <a:latin typeface="Microsoft YaHei" panose="020B0503020204020204" pitchFamily="34" charset="-122"/>
                <a:ea typeface="Microsoft YaHei" panose="020B0503020204020204" pitchFamily="34" charset="-122"/>
                <a:cs typeface="微软雅黑" charset="0"/>
              </a:rPr>
              <a:t>，当</a:t>
            </a:r>
            <a:r>
              <a:rPr kumimoji="1" lang="zh-CN" altLang="en-US" sz="2000" dirty="0">
                <a:latin typeface="Microsoft YaHei" panose="020B0503020204020204" pitchFamily="34" charset="-122"/>
                <a:ea typeface="Microsoft YaHei" panose="020B0503020204020204" pitchFamily="34" charset="-122"/>
                <a:cs typeface="微软雅黑" charset="0"/>
              </a:rPr>
              <a:t>接收终端正确接收后，可以放弃后续的重传资源</a:t>
            </a:r>
            <a:r>
              <a:rPr kumimoji="1" lang="zh-CN" altLang="en-US" sz="2000" dirty="0" smtClean="0">
                <a:latin typeface="Microsoft YaHei" panose="020B0503020204020204" pitchFamily="34" charset="-122"/>
                <a:ea typeface="Microsoft YaHei" panose="020B0503020204020204" pitchFamily="34" charset="-122"/>
                <a:cs typeface="微软雅黑" charset="0"/>
              </a:rPr>
              <a:t>，降低</a:t>
            </a:r>
            <a:r>
              <a:rPr kumimoji="1" lang="zh-CN" altLang="en-US" sz="2000" dirty="0">
                <a:latin typeface="Microsoft YaHei" panose="020B0503020204020204" pitchFamily="34" charset="-122"/>
                <a:ea typeface="Microsoft YaHei" panose="020B0503020204020204" pitchFamily="34" charset="-122"/>
                <a:cs typeface="微软雅黑" charset="0"/>
              </a:rPr>
              <a:t>资源的浪费</a:t>
            </a:r>
            <a:r>
              <a:rPr kumimoji="1" lang="zh-CN" altLang="en-US" sz="2000" dirty="0" smtClean="0">
                <a:latin typeface="Microsoft YaHei" panose="020B0503020204020204" pitchFamily="34" charset="-122"/>
                <a:ea typeface="Microsoft YaHei" panose="020B0503020204020204" pitchFamily="34" charset="-122"/>
                <a:cs typeface="微软雅黑" charset="0"/>
              </a:rPr>
              <a:t>。</a:t>
            </a:r>
            <a:endParaRPr kumimoji="1" lang="en-US" altLang="zh-CN" sz="2000" dirty="0" smtClean="0">
              <a:latin typeface="Microsoft YaHei" panose="020B0503020204020204" pitchFamily="34" charset="-122"/>
              <a:ea typeface="Microsoft YaHei" panose="020B0503020204020204" pitchFamily="34" charset="-122"/>
              <a:cs typeface="微软雅黑" charset="0"/>
            </a:endParaRPr>
          </a:p>
          <a:p>
            <a:pPr marL="800100" lvl="1" indent="-342900" algn="just">
              <a:lnSpc>
                <a:spcPct val="150000"/>
              </a:lnSpc>
              <a:buFont typeface="Wingdings" panose="05000000000000000000" pitchFamily="2" charset="2"/>
              <a:buChar char="Ø"/>
            </a:pPr>
            <a:endParaRPr kumimoji="1" lang="en-US" altLang="zh-CN" sz="2000" dirty="0">
              <a:latin typeface="Microsoft YaHei" panose="020B0503020204020204" pitchFamily="34" charset="-122"/>
              <a:ea typeface="Microsoft YaHei" panose="020B0503020204020204" pitchFamily="34" charset="-122"/>
              <a:cs typeface="微软雅黑" charset="0"/>
            </a:endParaRPr>
          </a:p>
          <a:p>
            <a:pPr marL="800100" lvl="1" indent="-342900" algn="just">
              <a:lnSpc>
                <a:spcPct val="150000"/>
              </a:lnSpc>
              <a:buFont typeface="Wingdings" panose="05000000000000000000" pitchFamily="2" charset="2"/>
              <a:buChar char="Ø"/>
            </a:pPr>
            <a:r>
              <a:rPr kumimoji="1" lang="zh-CN" altLang="en-US" sz="2000" dirty="0" smtClean="0">
                <a:latin typeface="Microsoft YaHei" panose="020B0503020204020204" pitchFamily="34" charset="-122"/>
                <a:ea typeface="Microsoft YaHei" panose="020B0503020204020204" pitchFamily="34" charset="-122"/>
                <a:cs typeface="微软雅黑" charset="0"/>
              </a:rPr>
              <a:t>缺点：会</a:t>
            </a:r>
            <a:r>
              <a:rPr kumimoji="1" lang="zh-CN" altLang="en-US" sz="2000" dirty="0" smtClean="0">
                <a:latin typeface="Microsoft YaHei" panose="020B0503020204020204" pitchFamily="34" charset="-122"/>
                <a:ea typeface="Microsoft YaHei" panose="020B0503020204020204" pitchFamily="34" charset="-122"/>
                <a:cs typeface="微软雅黑" charset="0"/>
              </a:rPr>
              <a:t>引入</a:t>
            </a:r>
            <a:r>
              <a:rPr kumimoji="1" lang="en-US" altLang="zh-CN" sz="2000" dirty="0" smtClean="0">
                <a:latin typeface="Microsoft YaHei" panose="020B0503020204020204" pitchFamily="34" charset="-122"/>
                <a:ea typeface="Microsoft YaHei" panose="020B0503020204020204" pitchFamily="34" charset="-122"/>
                <a:cs typeface="微软雅黑" charset="0"/>
              </a:rPr>
              <a:t>HARQ </a:t>
            </a:r>
            <a:r>
              <a:rPr kumimoji="1" lang="zh-CN" altLang="en-US" sz="2000" dirty="0">
                <a:latin typeface="Microsoft YaHei" panose="020B0503020204020204" pitchFamily="34" charset="-122"/>
                <a:ea typeface="Microsoft YaHei" panose="020B0503020204020204" pitchFamily="34" charset="-122"/>
                <a:cs typeface="微软雅黑" charset="0"/>
              </a:rPr>
              <a:t>反馈的时延，与盲重传相比，会有更大的传输时延</a:t>
            </a:r>
            <a:r>
              <a:rPr kumimoji="1" lang="zh-CN" altLang="en-US" sz="2000" dirty="0" smtClean="0">
                <a:latin typeface="Microsoft YaHei" panose="020B0503020204020204" pitchFamily="34" charset="-122"/>
                <a:ea typeface="Microsoft YaHei" panose="020B0503020204020204" pitchFamily="34" charset="-122"/>
                <a:cs typeface="微软雅黑" charset="0"/>
              </a:rPr>
              <a:t>。</a:t>
            </a:r>
            <a:endParaRPr kumimoji="1" lang="zh-CN" altLang="en-US" sz="2000" dirty="0">
              <a:latin typeface="Microsoft YaHei" panose="020B0503020204020204" pitchFamily="34" charset="-122"/>
              <a:ea typeface="Microsoft YaHei" panose="020B0503020204020204" pitchFamily="34" charset="-122"/>
              <a:cs typeface="微软雅黑" charset="0"/>
            </a:endParaRPr>
          </a:p>
        </p:txBody>
      </p:sp>
    </p:spTree>
    <p:extLst>
      <p:ext uri="{BB962C8B-B14F-4D97-AF65-F5344CB8AC3E}">
        <p14:creationId xmlns:p14="http://schemas.microsoft.com/office/powerpoint/2010/main" val="1405584256"/>
      </p:ext>
    </p:extLst>
  </p:cSld>
  <p:clrMapOvr>
    <a:masterClrMapping/>
  </p:clrMapOvr>
  <p:transition spd="slow" advClick="0"/>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11" descr="program-ciat2020"/>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sp>
        <p:nvSpPr>
          <p:cNvPr id="2" name="标题 1"/>
          <p:cNvSpPr txBox="1"/>
          <p:nvPr/>
        </p:nvSpPr>
        <p:spPr>
          <a:xfrm>
            <a:off x="237392" y="191297"/>
            <a:ext cx="9251576" cy="679847"/>
          </a:xfrm>
          <a:prstGeom prst="rect">
            <a:avLst/>
          </a:prstGeom>
        </p:spPr>
        <p:txBody>
          <a:bodyPr vert="horz" lIns="68580" tIns="34290" rIns="68580" bIns="34290" rtlCol="0" anchor="ctr">
            <a:normAutofit/>
          </a:bodyPr>
          <a:lstStyle/>
          <a:p>
            <a:pPr lvl="0">
              <a:spcBef>
                <a:spcPct val="0"/>
              </a:spcBef>
              <a:defRPr/>
            </a:pPr>
            <a:r>
              <a:rPr lang="en-US" altLang="zh-CN" sz="34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5G-V2X </a:t>
            </a:r>
            <a:r>
              <a:rPr lang="zh-CN" altLang="en-US" sz="34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关键</a:t>
            </a:r>
            <a:r>
              <a:rPr lang="zh-CN" altLang="en-US" sz="34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技术</a:t>
            </a:r>
            <a:endParaRPr lang="en-US" altLang="zh-CN" sz="36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8" name="矩形 7"/>
          <p:cNvSpPr/>
          <p:nvPr/>
        </p:nvSpPr>
        <p:spPr>
          <a:xfrm>
            <a:off x="237391" y="1069052"/>
            <a:ext cx="7628315" cy="584775"/>
          </a:xfrm>
          <a:prstGeom prst="rect">
            <a:avLst/>
          </a:prstGeom>
        </p:spPr>
        <p:txBody>
          <a:bodyPr wrap="square">
            <a:spAutoFit/>
          </a:bodyPr>
          <a:lstStyle/>
          <a:p>
            <a:pPr lvl="0">
              <a:spcBef>
                <a:spcPct val="0"/>
              </a:spcBef>
              <a:defRPr/>
            </a:pPr>
            <a:r>
              <a:rPr lang="en-US" altLang="zh-CN" sz="32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5G-V2X </a:t>
            </a:r>
            <a:r>
              <a:rPr lang="zh-CN" altLang="en-US" sz="32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直通链路的资源分配方法</a:t>
            </a:r>
            <a:endParaRPr lang="en-US" altLang="zh-CN" sz="32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5" name="矩形 4"/>
          <p:cNvSpPr/>
          <p:nvPr/>
        </p:nvSpPr>
        <p:spPr>
          <a:xfrm>
            <a:off x="237390" y="1667842"/>
            <a:ext cx="8710667" cy="4708981"/>
          </a:xfrm>
          <a:prstGeom prst="rect">
            <a:avLst/>
          </a:prstGeom>
        </p:spPr>
        <p:txBody>
          <a:bodyPr wrap="square">
            <a:spAutoFit/>
          </a:bodyPr>
          <a:lstStyle/>
          <a:p>
            <a:pPr algn="just">
              <a:lnSpc>
                <a:spcPct val="150000"/>
              </a:lnSpc>
            </a:pPr>
            <a:r>
              <a:rPr kumimoji="1" lang="en-US" altLang="zh-CN" sz="2000" dirty="0" smtClean="0">
                <a:latin typeface="Microsoft YaHei" panose="020B0503020204020204" pitchFamily="34" charset="-122"/>
                <a:ea typeface="Microsoft YaHei" panose="020B0503020204020204" pitchFamily="34" charset="-122"/>
                <a:cs typeface="微软雅黑" charset="0"/>
              </a:rPr>
              <a:t>5G-V2X</a:t>
            </a:r>
            <a:r>
              <a:rPr kumimoji="1" lang="zh-CN" altLang="en-US" sz="2000" dirty="0" smtClean="0">
                <a:latin typeface="Microsoft YaHei" panose="020B0503020204020204" pitchFamily="34" charset="-122"/>
                <a:ea typeface="Microsoft YaHei" panose="020B0503020204020204" pitchFamily="34" charset="-122"/>
                <a:cs typeface="微软雅黑" charset="0"/>
              </a:rPr>
              <a:t>直通</a:t>
            </a:r>
            <a:r>
              <a:rPr kumimoji="1" lang="zh-CN" altLang="en-US" sz="2000" dirty="0">
                <a:latin typeface="Microsoft YaHei" panose="020B0503020204020204" pitchFamily="34" charset="-122"/>
                <a:ea typeface="Microsoft YaHei" panose="020B0503020204020204" pitchFamily="34" charset="-122"/>
                <a:cs typeface="微软雅黑" charset="0"/>
              </a:rPr>
              <a:t>链路的资源分配</a:t>
            </a:r>
            <a:r>
              <a:rPr kumimoji="1" lang="zh-CN" altLang="en-US" sz="2000" dirty="0" smtClean="0">
                <a:latin typeface="Microsoft YaHei" panose="020B0503020204020204" pitchFamily="34" charset="-122"/>
                <a:ea typeface="Microsoft YaHei" panose="020B0503020204020204" pitchFamily="34" charset="-122"/>
                <a:cs typeface="微软雅黑" charset="0"/>
              </a:rPr>
              <a:t>方法引入</a:t>
            </a:r>
            <a:r>
              <a:rPr kumimoji="1" lang="zh-CN" altLang="en-US" sz="2000" dirty="0">
                <a:latin typeface="Microsoft YaHei" panose="020B0503020204020204" pitchFamily="34" charset="-122"/>
                <a:ea typeface="Microsoft YaHei" panose="020B0503020204020204" pitchFamily="34" charset="-122"/>
                <a:cs typeface="微软雅黑" charset="0"/>
              </a:rPr>
              <a:t>了</a:t>
            </a:r>
            <a:r>
              <a:rPr kumimoji="1" lang="zh-CN" altLang="en-US" sz="2000" dirty="0" smtClean="0">
                <a:latin typeface="Microsoft YaHei" panose="020B0503020204020204" pitchFamily="34" charset="-122"/>
                <a:ea typeface="Microsoft YaHei" panose="020B0503020204020204" pitchFamily="34" charset="-122"/>
                <a:cs typeface="微软雅黑" charset="0"/>
              </a:rPr>
              <a:t>两种资源分配</a:t>
            </a:r>
            <a:r>
              <a:rPr kumimoji="1" lang="zh-CN" altLang="en-US" sz="2000" dirty="0">
                <a:latin typeface="Microsoft YaHei" panose="020B0503020204020204" pitchFamily="34" charset="-122"/>
                <a:ea typeface="Microsoft YaHei" panose="020B0503020204020204" pitchFamily="34" charset="-122"/>
                <a:cs typeface="微软雅黑" charset="0"/>
              </a:rPr>
              <a:t>模式</a:t>
            </a:r>
            <a:r>
              <a:rPr kumimoji="1" lang="zh-CN" altLang="en-US" sz="2000" dirty="0" smtClean="0">
                <a:latin typeface="Microsoft YaHei" panose="020B0503020204020204" pitchFamily="34" charset="-122"/>
                <a:ea typeface="Microsoft YaHei" panose="020B0503020204020204" pitchFamily="34" charset="-122"/>
                <a:cs typeface="微软雅黑" charset="0"/>
              </a:rPr>
              <a:t>：</a:t>
            </a:r>
            <a:endParaRPr kumimoji="1" lang="en-US" altLang="zh-CN" sz="2000" dirty="0" smtClean="0">
              <a:latin typeface="Microsoft YaHei" panose="020B0503020204020204" pitchFamily="34" charset="-122"/>
              <a:ea typeface="Microsoft YaHei" panose="020B0503020204020204" pitchFamily="34" charset="-122"/>
              <a:cs typeface="微软雅黑" charset="0"/>
            </a:endParaRPr>
          </a:p>
          <a:p>
            <a:pPr algn="just">
              <a:lnSpc>
                <a:spcPct val="150000"/>
              </a:lnSpc>
            </a:pPr>
            <a:endParaRPr kumimoji="1" lang="en-US" altLang="zh-CN" sz="2000" dirty="0" smtClean="0">
              <a:latin typeface="Microsoft YaHei" panose="020B0503020204020204" pitchFamily="34" charset="-122"/>
              <a:ea typeface="Microsoft YaHei" panose="020B0503020204020204" pitchFamily="34" charset="-122"/>
              <a:cs typeface="微软雅黑" charset="0"/>
            </a:endParaRPr>
          </a:p>
          <a:p>
            <a:pPr marL="342900" indent="-342900" algn="just">
              <a:lnSpc>
                <a:spcPct val="150000"/>
              </a:lnSpc>
              <a:buFont typeface="Wingdings" panose="05000000000000000000" pitchFamily="2" charset="2"/>
              <a:buChar char="n"/>
            </a:pPr>
            <a:r>
              <a:rPr kumimoji="1" lang="zh-CN" altLang="en-US" sz="2000" b="1" dirty="0" smtClean="0">
                <a:latin typeface="Microsoft YaHei" panose="020B0503020204020204" pitchFamily="34" charset="-122"/>
                <a:ea typeface="Microsoft YaHei" panose="020B0503020204020204" pitchFamily="34" charset="-122"/>
                <a:cs typeface="微软雅黑" charset="0"/>
              </a:rPr>
              <a:t>基于</a:t>
            </a:r>
            <a:r>
              <a:rPr kumimoji="1" lang="zh-CN" altLang="en-US" sz="2000" b="1" dirty="0">
                <a:latin typeface="Microsoft YaHei" panose="020B0503020204020204" pitchFamily="34" charset="-122"/>
                <a:ea typeface="Microsoft YaHei" panose="020B0503020204020204" pitchFamily="34" charset="-122"/>
                <a:cs typeface="微软雅黑" charset="0"/>
              </a:rPr>
              <a:t>基站控制的资源分配模式</a:t>
            </a:r>
            <a:r>
              <a:rPr kumimoji="1" lang="zh-CN" altLang="en-US" sz="2000" dirty="0" smtClean="0">
                <a:latin typeface="Microsoft YaHei" panose="020B0503020204020204" pitchFamily="34" charset="-122"/>
                <a:ea typeface="Microsoft YaHei" panose="020B0503020204020204" pitchFamily="34" charset="-122"/>
                <a:cs typeface="微软雅黑" charset="0"/>
              </a:rPr>
              <a:t>，称为模式</a:t>
            </a:r>
            <a:r>
              <a:rPr kumimoji="1" lang="en-US" altLang="zh-CN" sz="2000" dirty="0" smtClean="0">
                <a:latin typeface="Microsoft YaHei" panose="020B0503020204020204" pitchFamily="34" charset="-122"/>
                <a:ea typeface="Microsoft YaHei" panose="020B0503020204020204" pitchFamily="34" charset="-122"/>
                <a:cs typeface="微软雅黑" charset="0"/>
              </a:rPr>
              <a:t>1</a:t>
            </a:r>
            <a:r>
              <a:rPr kumimoji="1" lang="en-US" altLang="zh-CN" sz="2000" dirty="0">
                <a:latin typeface="Microsoft YaHei" panose="020B0503020204020204" pitchFamily="34" charset="-122"/>
                <a:ea typeface="Microsoft YaHei" panose="020B0503020204020204" pitchFamily="34" charset="-122"/>
                <a:cs typeface="微软雅黑" charset="0"/>
              </a:rPr>
              <a:t>(</a:t>
            </a:r>
            <a:r>
              <a:rPr kumimoji="1" lang="zh-CN" altLang="en-US" sz="2000" dirty="0" smtClean="0">
                <a:latin typeface="Microsoft YaHei" panose="020B0503020204020204" pitchFamily="34" charset="-122"/>
                <a:ea typeface="Microsoft YaHei" panose="020B0503020204020204" pitchFamily="34" charset="-122"/>
                <a:cs typeface="微软雅黑" charset="0"/>
              </a:rPr>
              <a:t>类似于</a:t>
            </a:r>
            <a:r>
              <a:rPr kumimoji="1" lang="en-US" altLang="zh-CN" sz="2000" dirty="0" smtClean="0">
                <a:latin typeface="Microsoft YaHei" panose="020B0503020204020204" pitchFamily="34" charset="-122"/>
                <a:ea typeface="Microsoft YaHei" panose="020B0503020204020204" pitchFamily="34" charset="-122"/>
                <a:cs typeface="微软雅黑" charset="0"/>
              </a:rPr>
              <a:t>LTE-V2X</a:t>
            </a:r>
            <a:r>
              <a:rPr kumimoji="1" lang="zh-CN" altLang="en-US" sz="2000" dirty="0" smtClean="0">
                <a:latin typeface="Microsoft YaHei" panose="020B0503020204020204" pitchFamily="34" charset="-122"/>
                <a:ea typeface="Microsoft YaHei" panose="020B0503020204020204" pitchFamily="34" charset="-122"/>
                <a:cs typeface="微软雅黑" charset="0"/>
              </a:rPr>
              <a:t>的模式</a:t>
            </a:r>
            <a:r>
              <a:rPr kumimoji="1" lang="en-US" altLang="zh-CN" sz="2000" dirty="0" smtClean="0">
                <a:latin typeface="Microsoft YaHei" panose="020B0503020204020204" pitchFamily="34" charset="-122"/>
                <a:ea typeface="Microsoft YaHei" panose="020B0503020204020204" pitchFamily="34" charset="-122"/>
                <a:cs typeface="微软雅黑" charset="0"/>
              </a:rPr>
              <a:t>3</a:t>
            </a:r>
            <a:r>
              <a:rPr kumimoji="1" lang="en-US" altLang="zh-CN" sz="2000" dirty="0">
                <a:latin typeface="Microsoft YaHei" panose="020B0503020204020204" pitchFamily="34" charset="-122"/>
                <a:ea typeface="Microsoft YaHei" panose="020B0503020204020204" pitchFamily="34" charset="-122"/>
                <a:cs typeface="微软雅黑" charset="0"/>
              </a:rPr>
              <a:t>)</a:t>
            </a:r>
            <a:r>
              <a:rPr kumimoji="1" lang="zh-CN" altLang="en-US" sz="2000" dirty="0">
                <a:latin typeface="Microsoft YaHei" panose="020B0503020204020204" pitchFamily="34" charset="-122"/>
                <a:ea typeface="Microsoft YaHei" panose="020B0503020204020204" pitchFamily="34" charset="-122"/>
                <a:cs typeface="微软雅黑" charset="0"/>
              </a:rPr>
              <a:t>，主要应用场景是</a:t>
            </a:r>
            <a:r>
              <a:rPr kumimoji="1" lang="zh-CN" altLang="en-US" sz="2000" dirty="0" smtClean="0">
                <a:latin typeface="Microsoft YaHei" panose="020B0503020204020204" pitchFamily="34" charset="-122"/>
                <a:ea typeface="Microsoft YaHei" panose="020B0503020204020204" pitchFamily="34" charset="-122"/>
                <a:cs typeface="微软雅黑" charset="0"/>
              </a:rPr>
              <a:t>当</a:t>
            </a:r>
            <a:r>
              <a:rPr kumimoji="1" lang="en-US" altLang="zh-CN" sz="2000" dirty="0" smtClean="0">
                <a:latin typeface="Microsoft YaHei" panose="020B0503020204020204" pitchFamily="34" charset="-122"/>
                <a:ea typeface="Microsoft YaHei" panose="020B0503020204020204" pitchFamily="34" charset="-122"/>
                <a:cs typeface="微软雅黑" charset="0"/>
              </a:rPr>
              <a:t>V2X</a:t>
            </a:r>
            <a:r>
              <a:rPr kumimoji="1" lang="zh-CN" altLang="en-US" sz="2000" dirty="0" smtClean="0">
                <a:latin typeface="Microsoft YaHei" panose="020B0503020204020204" pitchFamily="34" charset="-122"/>
                <a:ea typeface="Microsoft YaHei" panose="020B0503020204020204" pitchFamily="34" charset="-122"/>
                <a:cs typeface="微软雅黑" charset="0"/>
              </a:rPr>
              <a:t>终端</a:t>
            </a:r>
            <a:r>
              <a:rPr kumimoji="1" lang="zh-CN" altLang="en-US" sz="2000" dirty="0">
                <a:latin typeface="Microsoft YaHei" panose="020B0503020204020204" pitchFamily="34" charset="-122"/>
                <a:ea typeface="Microsoft YaHei" panose="020B0503020204020204" pitchFamily="34" charset="-122"/>
                <a:cs typeface="微软雅黑" charset="0"/>
              </a:rPr>
              <a:t>位于蜂窝网络覆盖内，通过基站</a:t>
            </a:r>
            <a:r>
              <a:rPr kumimoji="1" lang="zh-CN" altLang="en-US" sz="2000" dirty="0" smtClean="0">
                <a:latin typeface="Microsoft YaHei" panose="020B0503020204020204" pitchFamily="34" charset="-122"/>
                <a:ea typeface="Microsoft YaHei" panose="020B0503020204020204" pitchFamily="34" charset="-122"/>
                <a:cs typeface="微软雅黑" charset="0"/>
              </a:rPr>
              <a:t>调度</a:t>
            </a:r>
            <a:r>
              <a:rPr kumimoji="1" lang="en-US" altLang="zh-CN" sz="2000" dirty="0" smtClean="0">
                <a:latin typeface="Microsoft YaHei" panose="020B0503020204020204" pitchFamily="34" charset="-122"/>
                <a:ea typeface="Microsoft YaHei" panose="020B0503020204020204" pitchFamily="34" charset="-122"/>
                <a:cs typeface="微软雅黑" charset="0"/>
              </a:rPr>
              <a:t>V2X</a:t>
            </a:r>
            <a:r>
              <a:rPr kumimoji="1" lang="zh-CN" altLang="en-US" sz="2000" dirty="0" smtClean="0">
                <a:latin typeface="Microsoft YaHei" panose="020B0503020204020204" pitchFamily="34" charset="-122"/>
                <a:ea typeface="Microsoft YaHei" panose="020B0503020204020204" pitchFamily="34" charset="-122"/>
                <a:cs typeface="微软雅黑" charset="0"/>
              </a:rPr>
              <a:t>终端</a:t>
            </a:r>
            <a:r>
              <a:rPr kumimoji="1" lang="zh-CN" altLang="en-US" sz="2000" dirty="0">
                <a:latin typeface="Microsoft YaHei" panose="020B0503020204020204" pitchFamily="34" charset="-122"/>
                <a:ea typeface="Microsoft YaHei" panose="020B0503020204020204" pitchFamily="34" charset="-122"/>
                <a:cs typeface="微软雅黑" charset="0"/>
              </a:rPr>
              <a:t>在直通链路的传输</a:t>
            </a:r>
            <a:r>
              <a:rPr kumimoji="1" lang="zh-CN" altLang="en-US" sz="2000" dirty="0" smtClean="0">
                <a:latin typeface="Microsoft YaHei" panose="020B0503020204020204" pitchFamily="34" charset="-122"/>
                <a:ea typeface="Microsoft YaHei" panose="020B0503020204020204" pitchFamily="34" charset="-122"/>
                <a:cs typeface="微软雅黑" charset="0"/>
              </a:rPr>
              <a:t>资源；</a:t>
            </a:r>
            <a:endParaRPr kumimoji="1" lang="en-US" altLang="zh-CN" sz="2000" dirty="0" smtClean="0">
              <a:latin typeface="Microsoft YaHei" panose="020B0503020204020204" pitchFamily="34" charset="-122"/>
              <a:ea typeface="Microsoft YaHei" panose="020B0503020204020204" pitchFamily="34" charset="-122"/>
              <a:cs typeface="微软雅黑" charset="0"/>
            </a:endParaRPr>
          </a:p>
          <a:p>
            <a:pPr marL="342900" indent="-342900" algn="just">
              <a:lnSpc>
                <a:spcPct val="150000"/>
              </a:lnSpc>
              <a:buFont typeface="Wingdings" panose="05000000000000000000" pitchFamily="2" charset="2"/>
              <a:buChar char="n"/>
            </a:pPr>
            <a:endParaRPr kumimoji="1" lang="en-US" altLang="zh-CN" sz="2000" dirty="0" smtClean="0">
              <a:latin typeface="Microsoft YaHei" panose="020B0503020204020204" pitchFamily="34" charset="-122"/>
              <a:ea typeface="Microsoft YaHei" panose="020B0503020204020204" pitchFamily="34" charset="-122"/>
              <a:cs typeface="微软雅黑" charset="0"/>
            </a:endParaRPr>
          </a:p>
          <a:p>
            <a:pPr marL="342900" indent="-342900" algn="just">
              <a:lnSpc>
                <a:spcPct val="150000"/>
              </a:lnSpc>
              <a:buFont typeface="Wingdings" panose="05000000000000000000" pitchFamily="2" charset="2"/>
              <a:buChar char="n"/>
            </a:pPr>
            <a:r>
              <a:rPr kumimoji="1" lang="zh-CN" altLang="en-US" sz="2000" b="1" dirty="0" smtClean="0">
                <a:latin typeface="Microsoft YaHei" panose="020B0503020204020204" pitchFamily="34" charset="-122"/>
                <a:ea typeface="Microsoft YaHei" panose="020B0503020204020204" pitchFamily="34" charset="-122"/>
                <a:cs typeface="微软雅黑" charset="0"/>
              </a:rPr>
              <a:t>基于</a:t>
            </a:r>
            <a:r>
              <a:rPr kumimoji="1" lang="zh-CN" altLang="en-US" sz="2000" b="1" dirty="0">
                <a:latin typeface="Microsoft YaHei" panose="020B0503020204020204" pitchFamily="34" charset="-122"/>
                <a:ea typeface="Microsoft YaHei" panose="020B0503020204020204" pitchFamily="34" charset="-122"/>
                <a:cs typeface="微软雅黑" charset="0"/>
              </a:rPr>
              <a:t>感知的终端自主资源选择方式</a:t>
            </a:r>
            <a:r>
              <a:rPr kumimoji="1" lang="zh-CN" altLang="en-US" sz="2000" dirty="0">
                <a:latin typeface="Microsoft YaHei" panose="020B0503020204020204" pitchFamily="34" charset="-122"/>
                <a:ea typeface="Microsoft YaHei" panose="020B0503020204020204" pitchFamily="34" charset="-122"/>
                <a:cs typeface="微软雅黑" charset="0"/>
              </a:rPr>
              <a:t>，</a:t>
            </a:r>
            <a:r>
              <a:rPr kumimoji="1" lang="zh-CN" altLang="en-US" sz="2000" dirty="0" smtClean="0">
                <a:latin typeface="Microsoft YaHei" panose="020B0503020204020204" pitchFamily="34" charset="-122"/>
                <a:ea typeface="Microsoft YaHei" panose="020B0503020204020204" pitchFamily="34" charset="-122"/>
                <a:cs typeface="微软雅黑" charset="0"/>
              </a:rPr>
              <a:t>称为模式</a:t>
            </a:r>
            <a:r>
              <a:rPr kumimoji="1" lang="en-US" altLang="zh-CN" sz="2000" dirty="0" smtClean="0">
                <a:latin typeface="Microsoft YaHei" panose="020B0503020204020204" pitchFamily="34" charset="-122"/>
                <a:ea typeface="Microsoft YaHei" panose="020B0503020204020204" pitchFamily="34" charset="-122"/>
                <a:cs typeface="微软雅黑" charset="0"/>
              </a:rPr>
              <a:t>2</a:t>
            </a:r>
            <a:r>
              <a:rPr kumimoji="1" lang="en-US" altLang="zh-CN" sz="2000" dirty="0">
                <a:latin typeface="Microsoft YaHei" panose="020B0503020204020204" pitchFamily="34" charset="-122"/>
                <a:ea typeface="Microsoft YaHei" panose="020B0503020204020204" pitchFamily="34" charset="-122"/>
                <a:cs typeface="微软雅黑" charset="0"/>
              </a:rPr>
              <a:t>(</a:t>
            </a:r>
            <a:r>
              <a:rPr kumimoji="1" lang="zh-CN" altLang="en-US" sz="2000" dirty="0" smtClean="0">
                <a:latin typeface="Microsoft YaHei" panose="020B0503020204020204" pitchFamily="34" charset="-122"/>
                <a:ea typeface="Microsoft YaHei" panose="020B0503020204020204" pitchFamily="34" charset="-122"/>
                <a:cs typeface="微软雅黑" charset="0"/>
              </a:rPr>
              <a:t>类似于</a:t>
            </a:r>
            <a:r>
              <a:rPr kumimoji="1" lang="en-US" altLang="zh-CN" sz="2000" dirty="0" smtClean="0">
                <a:latin typeface="Microsoft YaHei" panose="020B0503020204020204" pitchFamily="34" charset="-122"/>
                <a:ea typeface="Microsoft YaHei" panose="020B0503020204020204" pitchFamily="34" charset="-122"/>
                <a:cs typeface="微软雅黑" charset="0"/>
              </a:rPr>
              <a:t>LTE-V2X</a:t>
            </a:r>
            <a:r>
              <a:rPr kumimoji="1" lang="zh-CN" altLang="en-US" sz="2000" dirty="0" smtClean="0">
                <a:latin typeface="Microsoft YaHei" panose="020B0503020204020204" pitchFamily="34" charset="-122"/>
                <a:ea typeface="Microsoft YaHei" panose="020B0503020204020204" pitchFamily="34" charset="-122"/>
                <a:cs typeface="微软雅黑" charset="0"/>
              </a:rPr>
              <a:t>的模式</a:t>
            </a:r>
            <a:r>
              <a:rPr kumimoji="1" lang="en-US" altLang="zh-CN" sz="2000" dirty="0" smtClean="0">
                <a:latin typeface="Microsoft YaHei" panose="020B0503020204020204" pitchFamily="34" charset="-122"/>
                <a:ea typeface="Microsoft YaHei" panose="020B0503020204020204" pitchFamily="34" charset="-122"/>
                <a:cs typeface="微软雅黑" charset="0"/>
              </a:rPr>
              <a:t>4</a:t>
            </a:r>
            <a:r>
              <a:rPr kumimoji="1" lang="en-US" altLang="zh-CN" sz="2000" dirty="0">
                <a:latin typeface="Microsoft YaHei" panose="020B0503020204020204" pitchFamily="34" charset="-122"/>
                <a:ea typeface="Microsoft YaHei" panose="020B0503020204020204" pitchFamily="34" charset="-122"/>
                <a:cs typeface="微软雅黑" charset="0"/>
              </a:rPr>
              <a:t>)</a:t>
            </a:r>
            <a:r>
              <a:rPr kumimoji="1" lang="zh-CN" altLang="en-US" sz="2000" dirty="0">
                <a:latin typeface="Microsoft YaHei" panose="020B0503020204020204" pitchFamily="34" charset="-122"/>
                <a:ea typeface="Microsoft YaHei" panose="020B0503020204020204" pitchFamily="34" charset="-122"/>
                <a:cs typeface="微软雅黑" charset="0"/>
              </a:rPr>
              <a:t>，主要应用场景是</a:t>
            </a:r>
            <a:r>
              <a:rPr kumimoji="1" lang="zh-CN" altLang="en-US" sz="2000" dirty="0" smtClean="0">
                <a:latin typeface="Microsoft YaHei" panose="020B0503020204020204" pitchFamily="34" charset="-122"/>
                <a:ea typeface="Microsoft YaHei" panose="020B0503020204020204" pitchFamily="34" charset="-122"/>
                <a:cs typeface="微软雅黑" charset="0"/>
              </a:rPr>
              <a:t>当</a:t>
            </a:r>
            <a:r>
              <a:rPr kumimoji="1" lang="en-US" altLang="zh-CN" sz="2000" dirty="0" smtClean="0">
                <a:latin typeface="Microsoft YaHei" panose="020B0503020204020204" pitchFamily="34" charset="-122"/>
                <a:ea typeface="Microsoft YaHei" panose="020B0503020204020204" pitchFamily="34" charset="-122"/>
                <a:cs typeface="微软雅黑" charset="0"/>
              </a:rPr>
              <a:t>V2X</a:t>
            </a:r>
            <a:r>
              <a:rPr kumimoji="1" lang="zh-CN" altLang="en-US" sz="2000" dirty="0" smtClean="0">
                <a:latin typeface="Microsoft YaHei" panose="020B0503020204020204" pitchFamily="34" charset="-122"/>
                <a:ea typeface="Microsoft YaHei" panose="020B0503020204020204" pitchFamily="34" charset="-122"/>
                <a:cs typeface="微软雅黑" charset="0"/>
              </a:rPr>
              <a:t>终端</a:t>
            </a:r>
            <a:r>
              <a:rPr kumimoji="1" lang="zh-CN" altLang="en-US" sz="2000" dirty="0">
                <a:latin typeface="Microsoft YaHei" panose="020B0503020204020204" pitchFamily="34" charset="-122"/>
                <a:ea typeface="Microsoft YaHei" panose="020B0503020204020204" pitchFamily="34" charset="-122"/>
                <a:cs typeface="微软雅黑" charset="0"/>
              </a:rPr>
              <a:t>位于蜂窝网络覆盖外，或者</a:t>
            </a:r>
            <a:r>
              <a:rPr kumimoji="1" lang="zh-CN" altLang="en-US" sz="2000" dirty="0" smtClean="0">
                <a:latin typeface="Microsoft YaHei" panose="020B0503020204020204" pitchFamily="34" charset="-122"/>
                <a:ea typeface="Microsoft YaHei" panose="020B0503020204020204" pitchFamily="34" charset="-122"/>
                <a:cs typeface="微软雅黑" charset="0"/>
              </a:rPr>
              <a:t>当</a:t>
            </a:r>
            <a:r>
              <a:rPr kumimoji="1" lang="en-US" altLang="zh-CN" sz="2000" dirty="0" smtClean="0">
                <a:latin typeface="Microsoft YaHei" panose="020B0503020204020204" pitchFamily="34" charset="-122"/>
                <a:ea typeface="Microsoft YaHei" panose="020B0503020204020204" pitchFamily="34" charset="-122"/>
                <a:cs typeface="微软雅黑" charset="0"/>
              </a:rPr>
              <a:t>V2X</a:t>
            </a:r>
            <a:r>
              <a:rPr kumimoji="1" lang="zh-CN" altLang="en-US" sz="2000" dirty="0" smtClean="0">
                <a:latin typeface="Microsoft YaHei" panose="020B0503020204020204" pitchFamily="34" charset="-122"/>
                <a:ea typeface="Microsoft YaHei" panose="020B0503020204020204" pitchFamily="34" charset="-122"/>
                <a:cs typeface="微软雅黑" charset="0"/>
              </a:rPr>
              <a:t>终端</a:t>
            </a:r>
            <a:r>
              <a:rPr kumimoji="1" lang="zh-CN" altLang="en-US" sz="2000" dirty="0">
                <a:latin typeface="Microsoft YaHei" panose="020B0503020204020204" pitchFamily="34" charset="-122"/>
                <a:ea typeface="Microsoft YaHei" panose="020B0503020204020204" pitchFamily="34" charset="-122"/>
                <a:cs typeface="微软雅黑" charset="0"/>
              </a:rPr>
              <a:t>位于蜂窝网络覆盖内，在预配置或者蜂窝网配置的</a:t>
            </a:r>
            <a:r>
              <a:rPr kumimoji="1" lang="zh-CN" altLang="en-US" sz="2000" dirty="0" smtClean="0">
                <a:latin typeface="Microsoft YaHei" panose="020B0503020204020204" pitchFamily="34" charset="-122"/>
                <a:ea typeface="Microsoft YaHei" panose="020B0503020204020204" pitchFamily="34" charset="-122"/>
                <a:cs typeface="微软雅黑" charset="0"/>
              </a:rPr>
              <a:t>模式</a:t>
            </a:r>
            <a:r>
              <a:rPr kumimoji="1" lang="en-US" altLang="zh-CN" sz="2000" dirty="0" smtClean="0">
                <a:latin typeface="Microsoft YaHei" panose="020B0503020204020204" pitchFamily="34" charset="-122"/>
                <a:ea typeface="Microsoft YaHei" panose="020B0503020204020204" pitchFamily="34" charset="-122"/>
                <a:cs typeface="微软雅黑" charset="0"/>
              </a:rPr>
              <a:t>2</a:t>
            </a:r>
            <a:r>
              <a:rPr kumimoji="1" lang="zh-CN" altLang="en-US" sz="2000" dirty="0" smtClean="0">
                <a:latin typeface="Microsoft YaHei" panose="020B0503020204020204" pitchFamily="34" charset="-122"/>
                <a:ea typeface="Microsoft YaHei" panose="020B0503020204020204" pitchFamily="34" charset="-122"/>
                <a:cs typeface="微软雅黑" charset="0"/>
              </a:rPr>
              <a:t>资源池</a:t>
            </a:r>
            <a:r>
              <a:rPr kumimoji="1" lang="zh-CN" altLang="en-US" sz="2000" dirty="0">
                <a:latin typeface="Microsoft YaHei" panose="020B0503020204020204" pitchFamily="34" charset="-122"/>
                <a:ea typeface="Microsoft YaHei" panose="020B0503020204020204" pitchFamily="34" charset="-122"/>
                <a:cs typeface="微软雅黑" charset="0"/>
              </a:rPr>
              <a:t>中进行自主的资源选择。</a:t>
            </a:r>
          </a:p>
        </p:txBody>
      </p:sp>
    </p:spTree>
    <p:extLst>
      <p:ext uri="{BB962C8B-B14F-4D97-AF65-F5344CB8AC3E}">
        <p14:creationId xmlns:p14="http://schemas.microsoft.com/office/powerpoint/2010/main" val="2817545341"/>
      </p:ext>
    </p:extLst>
  </p:cSld>
  <p:clrMapOvr>
    <a:masterClrMapping/>
  </p:clrMapOvr>
  <p:transition spd="slow" advClick="0"/>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11" descr="program-ciat2020"/>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sp>
        <p:nvSpPr>
          <p:cNvPr id="2" name="标题 1"/>
          <p:cNvSpPr txBox="1"/>
          <p:nvPr/>
        </p:nvSpPr>
        <p:spPr>
          <a:xfrm>
            <a:off x="237392" y="191297"/>
            <a:ext cx="9251576" cy="679847"/>
          </a:xfrm>
          <a:prstGeom prst="rect">
            <a:avLst/>
          </a:prstGeom>
        </p:spPr>
        <p:txBody>
          <a:bodyPr vert="horz" lIns="68580" tIns="34290" rIns="68580" bIns="34290" rtlCol="0" anchor="ctr">
            <a:normAutofit/>
          </a:bodyPr>
          <a:lstStyle/>
          <a:p>
            <a:pPr lvl="0">
              <a:spcBef>
                <a:spcPct val="0"/>
              </a:spcBef>
              <a:defRPr/>
            </a:pPr>
            <a:r>
              <a:rPr lang="en-US" altLang="zh-CN" sz="34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5G-V2X </a:t>
            </a:r>
            <a:r>
              <a:rPr lang="zh-CN" altLang="en-US" sz="34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关键</a:t>
            </a:r>
            <a:r>
              <a:rPr lang="zh-CN" altLang="en-US" sz="34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技术</a:t>
            </a:r>
            <a:endParaRPr lang="en-US" altLang="zh-CN" sz="36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8" name="矩形 7"/>
          <p:cNvSpPr/>
          <p:nvPr/>
        </p:nvSpPr>
        <p:spPr>
          <a:xfrm>
            <a:off x="237391" y="1069052"/>
            <a:ext cx="7628315" cy="584775"/>
          </a:xfrm>
          <a:prstGeom prst="rect">
            <a:avLst/>
          </a:prstGeom>
        </p:spPr>
        <p:txBody>
          <a:bodyPr wrap="square">
            <a:spAutoFit/>
          </a:bodyPr>
          <a:lstStyle/>
          <a:p>
            <a:pPr lvl="0">
              <a:spcBef>
                <a:spcPct val="0"/>
              </a:spcBef>
              <a:defRPr/>
            </a:pPr>
            <a:r>
              <a:rPr lang="en-US" altLang="zh-CN" sz="32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5G-V2X </a:t>
            </a:r>
            <a:r>
              <a:rPr lang="zh-CN" altLang="en-US" sz="32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直通链路</a:t>
            </a:r>
            <a:r>
              <a:rPr lang="zh-CN" altLang="en-US" sz="32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的同步机制</a:t>
            </a:r>
            <a:endParaRPr lang="en-US" altLang="zh-CN" sz="32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5" name="矩形 4"/>
          <p:cNvSpPr/>
          <p:nvPr/>
        </p:nvSpPr>
        <p:spPr>
          <a:xfrm>
            <a:off x="237390" y="1667842"/>
            <a:ext cx="8710667" cy="3323987"/>
          </a:xfrm>
          <a:prstGeom prst="rect">
            <a:avLst/>
          </a:prstGeom>
        </p:spPr>
        <p:txBody>
          <a:bodyPr wrap="square">
            <a:spAutoFit/>
          </a:bodyPr>
          <a:lstStyle/>
          <a:p>
            <a:pPr marL="342900" indent="-342900" algn="just">
              <a:lnSpc>
                <a:spcPct val="150000"/>
              </a:lnSpc>
              <a:buFont typeface="Wingdings" panose="05000000000000000000" pitchFamily="2" charset="2"/>
              <a:buChar char="n"/>
            </a:pPr>
            <a:r>
              <a:rPr kumimoji="1" lang="zh-CN" altLang="en-US" sz="2000" dirty="0" smtClean="0">
                <a:latin typeface="Microsoft YaHei" panose="020B0503020204020204" pitchFamily="34" charset="-122"/>
                <a:ea typeface="Microsoft YaHei" panose="020B0503020204020204" pitchFamily="34" charset="-122"/>
                <a:cs typeface="微软雅黑" charset="0"/>
              </a:rPr>
              <a:t>与</a:t>
            </a:r>
            <a:r>
              <a:rPr kumimoji="1" lang="en-US" altLang="zh-CN" sz="2000" dirty="0" smtClean="0">
                <a:latin typeface="Microsoft YaHei" panose="020B0503020204020204" pitchFamily="34" charset="-122"/>
                <a:ea typeface="Microsoft YaHei" panose="020B0503020204020204" pitchFamily="34" charset="-122"/>
                <a:cs typeface="微软雅黑" charset="0"/>
              </a:rPr>
              <a:t>LTE-V2X</a:t>
            </a:r>
            <a:r>
              <a:rPr kumimoji="1" lang="zh-CN" altLang="en-US" sz="2000" dirty="0" smtClean="0">
                <a:latin typeface="Microsoft YaHei" panose="020B0503020204020204" pitchFamily="34" charset="-122"/>
                <a:ea typeface="Microsoft YaHei" panose="020B0503020204020204" pitchFamily="34" charset="-122"/>
                <a:cs typeface="微软雅黑" charset="0"/>
              </a:rPr>
              <a:t>相同</a:t>
            </a:r>
            <a:r>
              <a:rPr kumimoji="1" lang="zh-CN" altLang="en-US" sz="2000" dirty="0">
                <a:latin typeface="Microsoft YaHei" panose="020B0503020204020204" pitchFamily="34" charset="-122"/>
                <a:ea typeface="Microsoft YaHei" panose="020B0503020204020204" pitchFamily="34" charset="-122"/>
                <a:cs typeface="微软雅黑" charset="0"/>
              </a:rPr>
              <a:t>，</a:t>
            </a:r>
            <a:r>
              <a:rPr kumimoji="1" lang="en-US" altLang="zh-CN" sz="2000" dirty="0" smtClean="0">
                <a:latin typeface="Microsoft YaHei" panose="020B0503020204020204" pitchFamily="34" charset="-122"/>
                <a:ea typeface="Microsoft YaHei" panose="020B0503020204020204" pitchFamily="34" charset="-122"/>
                <a:cs typeface="微软雅黑" charset="0"/>
              </a:rPr>
              <a:t>5G-V2X</a:t>
            </a:r>
            <a:r>
              <a:rPr kumimoji="1" lang="zh-CN" altLang="en-US" sz="2000" dirty="0" smtClean="0">
                <a:latin typeface="Microsoft YaHei" panose="020B0503020204020204" pitchFamily="34" charset="-122"/>
                <a:ea typeface="Microsoft YaHei" panose="020B0503020204020204" pitchFamily="34" charset="-122"/>
                <a:cs typeface="微软雅黑" charset="0"/>
              </a:rPr>
              <a:t>在</a:t>
            </a:r>
            <a:r>
              <a:rPr kumimoji="1" lang="zh-CN" altLang="en-US" sz="2000" dirty="0">
                <a:latin typeface="Microsoft YaHei" panose="020B0503020204020204" pitchFamily="34" charset="-122"/>
                <a:ea typeface="Microsoft YaHei" panose="020B0503020204020204" pitchFamily="34" charset="-122"/>
                <a:cs typeface="微软雅黑" charset="0"/>
              </a:rPr>
              <a:t>直通链路上也引入了完整的同步机制，支持不同的车联网部署场景，包括蜂窝网络覆盖内、蜂网络覆盖外、</a:t>
            </a:r>
            <a:r>
              <a:rPr kumimoji="1" lang="zh-CN" altLang="en-US" sz="2000" dirty="0" smtClean="0">
                <a:latin typeface="Microsoft YaHei" panose="020B0503020204020204" pitchFamily="34" charset="-122"/>
                <a:ea typeface="Microsoft YaHei" panose="020B0503020204020204" pitchFamily="34" charset="-122"/>
                <a:cs typeface="微软雅黑" charset="0"/>
              </a:rPr>
              <a:t>有</a:t>
            </a:r>
            <a:r>
              <a:rPr kumimoji="1" lang="en-US" altLang="zh-CN" sz="2000" dirty="0" smtClean="0">
                <a:latin typeface="Microsoft YaHei" panose="020B0503020204020204" pitchFamily="34" charset="-122"/>
                <a:ea typeface="Microsoft YaHei" panose="020B0503020204020204" pitchFamily="34" charset="-122"/>
                <a:cs typeface="微软雅黑" charset="0"/>
              </a:rPr>
              <a:t>GNSS</a:t>
            </a:r>
            <a:r>
              <a:rPr kumimoji="1" lang="zh-CN" altLang="en-US" sz="2000" dirty="0" smtClean="0">
                <a:latin typeface="Microsoft YaHei" panose="020B0503020204020204" pitchFamily="34" charset="-122"/>
                <a:ea typeface="Microsoft YaHei" panose="020B0503020204020204" pitchFamily="34" charset="-122"/>
                <a:cs typeface="微软雅黑" charset="0"/>
              </a:rPr>
              <a:t>信号</a:t>
            </a:r>
            <a:r>
              <a:rPr kumimoji="1" lang="zh-CN" altLang="en-US" sz="2000" dirty="0">
                <a:latin typeface="Microsoft YaHei" panose="020B0503020204020204" pitchFamily="34" charset="-122"/>
                <a:ea typeface="Microsoft YaHei" panose="020B0503020204020204" pitchFamily="34" charset="-122"/>
                <a:cs typeface="微软雅黑" charset="0"/>
              </a:rPr>
              <a:t>或者</a:t>
            </a:r>
            <a:r>
              <a:rPr kumimoji="1" lang="zh-CN" altLang="en-US" sz="2000" dirty="0" smtClean="0">
                <a:latin typeface="Microsoft YaHei" panose="020B0503020204020204" pitchFamily="34" charset="-122"/>
                <a:ea typeface="Microsoft YaHei" panose="020B0503020204020204" pitchFamily="34" charset="-122"/>
                <a:cs typeface="微软雅黑" charset="0"/>
              </a:rPr>
              <a:t>无</a:t>
            </a:r>
            <a:r>
              <a:rPr kumimoji="1" lang="en-US" altLang="zh-CN" sz="2000" dirty="0" smtClean="0">
                <a:latin typeface="Microsoft YaHei" panose="020B0503020204020204" pitchFamily="34" charset="-122"/>
                <a:ea typeface="Microsoft YaHei" panose="020B0503020204020204" pitchFamily="34" charset="-122"/>
                <a:cs typeface="微软雅黑" charset="0"/>
              </a:rPr>
              <a:t>GNSS</a:t>
            </a:r>
            <a:r>
              <a:rPr kumimoji="1" lang="zh-CN" altLang="en-US" sz="2000" dirty="0" smtClean="0">
                <a:latin typeface="Microsoft YaHei" panose="020B0503020204020204" pitchFamily="34" charset="-122"/>
                <a:ea typeface="Microsoft YaHei" panose="020B0503020204020204" pitchFamily="34" charset="-122"/>
                <a:cs typeface="微软雅黑" charset="0"/>
              </a:rPr>
              <a:t>信号</a:t>
            </a:r>
            <a:r>
              <a:rPr kumimoji="1" lang="zh-CN" altLang="en-US" sz="2000" dirty="0">
                <a:latin typeface="Microsoft YaHei" panose="020B0503020204020204" pitchFamily="34" charset="-122"/>
                <a:ea typeface="Microsoft YaHei" panose="020B0503020204020204" pitchFamily="34" charset="-122"/>
                <a:cs typeface="微软雅黑" charset="0"/>
              </a:rPr>
              <a:t>的区域</a:t>
            </a:r>
            <a:r>
              <a:rPr kumimoji="1" lang="zh-CN" altLang="en-US" sz="2000" dirty="0" smtClean="0">
                <a:latin typeface="Microsoft YaHei" panose="020B0503020204020204" pitchFamily="34" charset="-122"/>
                <a:ea typeface="Microsoft YaHei" panose="020B0503020204020204" pitchFamily="34" charset="-122"/>
                <a:cs typeface="微软雅黑" charset="0"/>
              </a:rPr>
              <a:t>。</a:t>
            </a:r>
            <a:endParaRPr kumimoji="1" lang="en-US" altLang="zh-CN" sz="2000" dirty="0" smtClean="0">
              <a:latin typeface="Microsoft YaHei" panose="020B0503020204020204" pitchFamily="34" charset="-122"/>
              <a:ea typeface="Microsoft YaHei" panose="020B0503020204020204" pitchFamily="34" charset="-122"/>
              <a:cs typeface="微软雅黑" charset="0"/>
            </a:endParaRPr>
          </a:p>
          <a:p>
            <a:pPr algn="just">
              <a:lnSpc>
                <a:spcPct val="150000"/>
              </a:lnSpc>
            </a:pPr>
            <a:endParaRPr kumimoji="1" lang="en-US" altLang="zh-CN" sz="2000" dirty="0" smtClean="0">
              <a:latin typeface="Microsoft YaHei" panose="020B0503020204020204" pitchFamily="34" charset="-122"/>
              <a:ea typeface="Microsoft YaHei" panose="020B0503020204020204" pitchFamily="34" charset="-122"/>
              <a:cs typeface="微软雅黑" charset="0"/>
            </a:endParaRPr>
          </a:p>
          <a:p>
            <a:pPr marL="342900" indent="-342900" algn="just">
              <a:lnSpc>
                <a:spcPct val="150000"/>
              </a:lnSpc>
              <a:buFont typeface="Wingdings" panose="05000000000000000000" pitchFamily="2" charset="2"/>
              <a:buChar char="n"/>
            </a:pPr>
            <a:r>
              <a:rPr kumimoji="1" lang="zh-CN" altLang="en-US" sz="2000" dirty="0" smtClean="0">
                <a:latin typeface="Microsoft YaHei" panose="020B0503020204020204" pitchFamily="34" charset="-122"/>
                <a:ea typeface="Microsoft YaHei" panose="020B0503020204020204" pitchFamily="34" charset="-122"/>
                <a:cs typeface="微软雅黑" charset="0"/>
              </a:rPr>
              <a:t>通过</a:t>
            </a:r>
            <a:r>
              <a:rPr kumimoji="1" lang="zh-CN" altLang="en-US" sz="2000" dirty="0">
                <a:latin typeface="Microsoft YaHei" panose="020B0503020204020204" pitchFamily="34" charset="-122"/>
                <a:ea typeface="Microsoft YaHei" panose="020B0503020204020204" pitchFamily="34" charset="-122"/>
                <a:cs typeface="微软雅黑" charset="0"/>
              </a:rPr>
              <a:t>一些能够可靠获得蜂窝网络同步</a:t>
            </a:r>
            <a:r>
              <a:rPr kumimoji="1" lang="zh-CN" altLang="en-US" sz="2000" dirty="0" smtClean="0">
                <a:latin typeface="Microsoft YaHei" panose="020B0503020204020204" pitchFamily="34" charset="-122"/>
                <a:ea typeface="Microsoft YaHei" panose="020B0503020204020204" pitchFamily="34" charset="-122"/>
                <a:cs typeface="微软雅黑" charset="0"/>
              </a:rPr>
              <a:t>或者</a:t>
            </a:r>
            <a:r>
              <a:rPr kumimoji="1" lang="en-US" altLang="zh-CN" sz="2000" dirty="0" smtClean="0">
                <a:latin typeface="Microsoft YaHei" panose="020B0503020204020204" pitchFamily="34" charset="-122"/>
                <a:ea typeface="Microsoft YaHei" panose="020B0503020204020204" pitchFamily="34" charset="-122"/>
                <a:cs typeface="微软雅黑" charset="0"/>
              </a:rPr>
              <a:t>GNSS</a:t>
            </a:r>
            <a:r>
              <a:rPr kumimoji="1" lang="zh-CN" altLang="en-US" sz="2000" dirty="0" smtClean="0">
                <a:latin typeface="Microsoft YaHei" panose="020B0503020204020204" pitchFamily="34" charset="-122"/>
                <a:ea typeface="Microsoft YaHei" panose="020B0503020204020204" pitchFamily="34" charset="-122"/>
                <a:cs typeface="微软雅黑" charset="0"/>
              </a:rPr>
              <a:t>同步</a:t>
            </a:r>
            <a:r>
              <a:rPr kumimoji="1" lang="zh-CN" altLang="en-US" sz="2000" dirty="0">
                <a:latin typeface="Microsoft YaHei" panose="020B0503020204020204" pitchFamily="34" charset="-122"/>
                <a:ea typeface="Microsoft YaHei" panose="020B0503020204020204" pitchFamily="34" charset="-122"/>
                <a:cs typeface="微软雅黑" charset="0"/>
              </a:rPr>
              <a:t>的终端，在直通链路上</a:t>
            </a:r>
            <a:r>
              <a:rPr kumimoji="1" lang="zh-CN" altLang="en-US" sz="2000" dirty="0" smtClean="0">
                <a:latin typeface="Microsoft YaHei" panose="020B0503020204020204" pitchFamily="34" charset="-122"/>
                <a:ea typeface="Microsoft YaHei" panose="020B0503020204020204" pitchFamily="34" charset="-122"/>
                <a:cs typeface="微软雅黑" charset="0"/>
              </a:rPr>
              <a:t>传输</a:t>
            </a:r>
            <a:r>
              <a:rPr kumimoji="1" lang="en-US" altLang="zh-CN" sz="2000" dirty="0" smtClean="0">
                <a:latin typeface="Microsoft YaHei" panose="020B0503020204020204" pitchFamily="34" charset="-122"/>
                <a:ea typeface="Microsoft YaHei" panose="020B0503020204020204" pitchFamily="34" charset="-122"/>
                <a:cs typeface="微软雅黑" charset="0"/>
              </a:rPr>
              <a:t>S-SSB</a:t>
            </a:r>
            <a:r>
              <a:rPr kumimoji="1" lang="zh-CN" altLang="en-US" sz="2000" dirty="0" smtClean="0">
                <a:latin typeface="Microsoft YaHei" panose="020B0503020204020204" pitchFamily="34" charset="-122"/>
                <a:ea typeface="Microsoft YaHei" panose="020B0503020204020204" pitchFamily="34" charset="-122"/>
                <a:cs typeface="微软雅黑" charset="0"/>
              </a:rPr>
              <a:t>信号</a:t>
            </a:r>
            <a:r>
              <a:rPr kumimoji="1" lang="zh-CN" altLang="en-US" sz="2000" dirty="0">
                <a:latin typeface="Microsoft YaHei" panose="020B0503020204020204" pitchFamily="34" charset="-122"/>
                <a:ea typeface="Microsoft YaHei" panose="020B0503020204020204" pitchFamily="34" charset="-122"/>
                <a:cs typeface="微软雅黑" charset="0"/>
              </a:rPr>
              <a:t>，辅助位于蜂窝网络覆盖外或者无法可靠接收</a:t>
            </a:r>
            <a:r>
              <a:rPr kumimoji="1" lang="zh-CN" altLang="en-US" sz="2000" dirty="0" smtClean="0">
                <a:latin typeface="Microsoft YaHei" panose="020B0503020204020204" pitchFamily="34" charset="-122"/>
                <a:ea typeface="Microsoft YaHei" panose="020B0503020204020204" pitchFamily="34" charset="-122"/>
                <a:cs typeface="微软雅黑" charset="0"/>
              </a:rPr>
              <a:t>到</a:t>
            </a:r>
            <a:r>
              <a:rPr kumimoji="1" lang="en-US" altLang="zh-CN" sz="2000" dirty="0" smtClean="0">
                <a:latin typeface="Microsoft YaHei" panose="020B0503020204020204" pitchFamily="34" charset="-122"/>
                <a:ea typeface="Microsoft YaHei" panose="020B0503020204020204" pitchFamily="34" charset="-122"/>
                <a:cs typeface="微软雅黑" charset="0"/>
              </a:rPr>
              <a:t>GNSS</a:t>
            </a:r>
            <a:r>
              <a:rPr kumimoji="1" lang="zh-CN" altLang="en-US" sz="2000" dirty="0" smtClean="0">
                <a:latin typeface="Microsoft YaHei" panose="020B0503020204020204" pitchFamily="34" charset="-122"/>
                <a:ea typeface="Microsoft YaHei" panose="020B0503020204020204" pitchFamily="34" charset="-122"/>
                <a:cs typeface="微软雅黑" charset="0"/>
              </a:rPr>
              <a:t>信号</a:t>
            </a:r>
            <a:r>
              <a:rPr kumimoji="1" lang="zh-CN" altLang="en-US" sz="2000" dirty="0">
                <a:latin typeface="Microsoft YaHei" panose="020B0503020204020204" pitchFamily="34" charset="-122"/>
                <a:ea typeface="Microsoft YaHei" panose="020B0503020204020204" pitchFamily="34" charset="-122"/>
                <a:cs typeface="微软雅黑" charset="0"/>
              </a:rPr>
              <a:t>的终端实现同步。</a:t>
            </a:r>
          </a:p>
        </p:txBody>
      </p:sp>
    </p:spTree>
    <p:extLst>
      <p:ext uri="{BB962C8B-B14F-4D97-AF65-F5344CB8AC3E}">
        <p14:creationId xmlns:p14="http://schemas.microsoft.com/office/powerpoint/2010/main" val="3392895350"/>
      </p:ext>
    </p:extLst>
  </p:cSld>
  <p:clrMapOvr>
    <a:masterClrMapping/>
  </p:clrMapOvr>
  <p:transition spd="slow" advClick="0"/>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11" descr="program-ciat2020"/>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sp>
        <p:nvSpPr>
          <p:cNvPr id="2" name="标题 1"/>
          <p:cNvSpPr txBox="1"/>
          <p:nvPr/>
        </p:nvSpPr>
        <p:spPr>
          <a:xfrm>
            <a:off x="237392" y="191297"/>
            <a:ext cx="9251576" cy="679847"/>
          </a:xfrm>
          <a:prstGeom prst="rect">
            <a:avLst/>
          </a:prstGeom>
        </p:spPr>
        <p:txBody>
          <a:bodyPr vert="horz" lIns="68580" tIns="34290" rIns="68580" bIns="34290" rtlCol="0" anchor="ctr">
            <a:normAutofit/>
          </a:bodyPr>
          <a:lstStyle/>
          <a:p>
            <a:pPr lvl="0">
              <a:spcBef>
                <a:spcPct val="0"/>
              </a:spcBef>
              <a:defRPr/>
            </a:pPr>
            <a:r>
              <a:rPr lang="en-US" altLang="zh-CN" sz="34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5G-V2X </a:t>
            </a:r>
            <a:r>
              <a:rPr lang="zh-CN" altLang="en-US" sz="34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关键</a:t>
            </a:r>
            <a:r>
              <a:rPr lang="zh-CN" altLang="en-US" sz="34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技术</a:t>
            </a:r>
            <a:endParaRPr lang="en-US" altLang="zh-CN" sz="36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8" name="矩形 7"/>
          <p:cNvSpPr/>
          <p:nvPr/>
        </p:nvSpPr>
        <p:spPr>
          <a:xfrm>
            <a:off x="237391" y="1069052"/>
            <a:ext cx="7628315" cy="584775"/>
          </a:xfrm>
          <a:prstGeom prst="rect">
            <a:avLst/>
          </a:prstGeom>
        </p:spPr>
        <p:txBody>
          <a:bodyPr wrap="square">
            <a:spAutoFit/>
          </a:bodyPr>
          <a:lstStyle/>
          <a:p>
            <a:pPr lvl="0">
              <a:spcBef>
                <a:spcPct val="0"/>
              </a:spcBef>
              <a:defRPr/>
            </a:pPr>
            <a:r>
              <a:rPr lang="en-US" altLang="zh-CN" sz="32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5G-V2X </a:t>
            </a:r>
            <a:r>
              <a:rPr lang="zh-CN" altLang="en-US" sz="32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直通链路</a:t>
            </a:r>
            <a:r>
              <a:rPr lang="zh-CN" altLang="en-US" sz="32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的功率控制技术</a:t>
            </a:r>
            <a:endParaRPr lang="en-US" altLang="zh-CN" sz="32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5" name="矩形 4"/>
          <p:cNvSpPr/>
          <p:nvPr/>
        </p:nvSpPr>
        <p:spPr>
          <a:xfrm>
            <a:off x="237390" y="1667842"/>
            <a:ext cx="8710667" cy="4247317"/>
          </a:xfrm>
          <a:prstGeom prst="rect">
            <a:avLst/>
          </a:prstGeom>
        </p:spPr>
        <p:txBody>
          <a:bodyPr wrap="square">
            <a:spAutoFit/>
          </a:bodyPr>
          <a:lstStyle/>
          <a:p>
            <a:pPr algn="just">
              <a:lnSpc>
                <a:spcPct val="150000"/>
              </a:lnSpc>
            </a:pPr>
            <a:r>
              <a:rPr kumimoji="1" lang="zh-CN" altLang="en-US" sz="2000" dirty="0" smtClean="0">
                <a:latin typeface="Microsoft YaHei" panose="020B0503020204020204" pitchFamily="34" charset="-122"/>
                <a:ea typeface="Microsoft YaHei" panose="020B0503020204020204" pitchFamily="34" charset="-122"/>
                <a:cs typeface="微软雅黑" charset="0"/>
              </a:rPr>
              <a:t>功率控制目的是</a:t>
            </a:r>
            <a:r>
              <a:rPr kumimoji="1" lang="zh-CN" altLang="en-US" sz="2000" dirty="0">
                <a:latin typeface="Microsoft YaHei" panose="020B0503020204020204" pitchFamily="34" charset="-122"/>
                <a:ea typeface="Microsoft YaHei" panose="020B0503020204020204" pitchFamily="34" charset="-122"/>
                <a:cs typeface="微软雅黑" charset="0"/>
              </a:rPr>
              <a:t>为了控制和降低干扰</a:t>
            </a:r>
            <a:r>
              <a:rPr kumimoji="1" lang="zh-CN" altLang="en-US" sz="2000" dirty="0" smtClean="0">
                <a:latin typeface="Microsoft YaHei" panose="020B0503020204020204" pitchFamily="34" charset="-122"/>
                <a:ea typeface="Microsoft YaHei" panose="020B0503020204020204" pitchFamily="34" charset="-122"/>
                <a:cs typeface="微软雅黑" charset="0"/>
              </a:rPr>
              <a:t>。</a:t>
            </a:r>
            <a:endParaRPr kumimoji="1" lang="en-US" altLang="zh-CN" sz="2000" dirty="0" smtClean="0">
              <a:latin typeface="Microsoft YaHei" panose="020B0503020204020204" pitchFamily="34" charset="-122"/>
              <a:ea typeface="Microsoft YaHei" panose="020B0503020204020204" pitchFamily="34" charset="-122"/>
              <a:cs typeface="微软雅黑" charset="0"/>
            </a:endParaRPr>
          </a:p>
          <a:p>
            <a:pPr algn="just">
              <a:lnSpc>
                <a:spcPct val="150000"/>
              </a:lnSpc>
            </a:pPr>
            <a:r>
              <a:rPr kumimoji="1" lang="zh-CN" altLang="en-US" sz="2000" dirty="0" smtClean="0">
                <a:latin typeface="Microsoft YaHei" panose="020B0503020204020204" pitchFamily="34" charset="-122"/>
                <a:ea typeface="Microsoft YaHei" panose="020B0503020204020204" pitchFamily="34" charset="-122"/>
                <a:cs typeface="微软雅黑" charset="0"/>
              </a:rPr>
              <a:t>在</a:t>
            </a:r>
            <a:r>
              <a:rPr kumimoji="1" lang="zh-CN" altLang="en-US" sz="2000" dirty="0">
                <a:latin typeface="Microsoft YaHei" panose="020B0503020204020204" pitchFamily="34" charset="-122"/>
                <a:ea typeface="Microsoft YaHei" panose="020B0503020204020204" pitchFamily="34" charset="-122"/>
                <a:cs typeface="微软雅黑" charset="0"/>
              </a:rPr>
              <a:t>直通链路中考虑覆盖内和覆盖外的场景，主要</a:t>
            </a:r>
            <a:r>
              <a:rPr kumimoji="1" lang="zh-CN" altLang="en-US" sz="2000" dirty="0" smtClean="0">
                <a:latin typeface="Microsoft YaHei" panose="020B0503020204020204" pitchFamily="34" charset="-122"/>
                <a:ea typeface="Microsoft YaHei" panose="020B0503020204020204" pitchFamily="34" charset="-122"/>
                <a:cs typeface="微软雅黑" charset="0"/>
              </a:rPr>
              <a:t>包含两种</a:t>
            </a:r>
            <a:r>
              <a:rPr kumimoji="1" lang="zh-CN" altLang="en-US" sz="2000" dirty="0">
                <a:latin typeface="Microsoft YaHei" panose="020B0503020204020204" pitchFamily="34" charset="-122"/>
                <a:ea typeface="Microsoft YaHei" panose="020B0503020204020204" pitchFamily="34" charset="-122"/>
                <a:cs typeface="微软雅黑" charset="0"/>
              </a:rPr>
              <a:t>功率控制</a:t>
            </a:r>
            <a:r>
              <a:rPr kumimoji="1" lang="zh-CN" altLang="en-US" sz="2000" dirty="0" smtClean="0">
                <a:latin typeface="Microsoft YaHei" panose="020B0503020204020204" pitchFamily="34" charset="-122"/>
                <a:ea typeface="Microsoft YaHei" panose="020B0503020204020204" pitchFamily="34" charset="-122"/>
                <a:cs typeface="微软雅黑" charset="0"/>
              </a:rPr>
              <a:t>机制</a:t>
            </a:r>
            <a:r>
              <a:rPr kumimoji="1" lang="zh-CN" altLang="en-US" sz="2000" dirty="0" smtClean="0">
                <a:latin typeface="Microsoft YaHei" panose="020B0503020204020204" pitchFamily="34" charset="-122"/>
                <a:ea typeface="Microsoft YaHei" panose="020B0503020204020204" pitchFamily="34" charset="-122"/>
                <a:cs typeface="微软雅黑" charset="0"/>
              </a:rPr>
              <a:t>：</a:t>
            </a:r>
            <a:endParaRPr kumimoji="1" lang="en-US" altLang="zh-CN" sz="2000" dirty="0" smtClean="0">
              <a:latin typeface="Microsoft YaHei" panose="020B0503020204020204" pitchFamily="34" charset="-122"/>
              <a:ea typeface="Microsoft YaHei" panose="020B0503020204020204" pitchFamily="34" charset="-122"/>
              <a:cs typeface="微软雅黑" charset="0"/>
            </a:endParaRPr>
          </a:p>
          <a:p>
            <a:pPr algn="just">
              <a:lnSpc>
                <a:spcPct val="150000"/>
              </a:lnSpc>
            </a:pPr>
            <a:endParaRPr kumimoji="1" lang="en-US" altLang="zh-CN" sz="2000" dirty="0" smtClean="0">
              <a:latin typeface="Microsoft YaHei" panose="020B0503020204020204" pitchFamily="34" charset="-122"/>
              <a:ea typeface="Microsoft YaHei" panose="020B0503020204020204" pitchFamily="34" charset="-122"/>
              <a:cs typeface="微软雅黑" charset="0"/>
            </a:endParaRPr>
          </a:p>
          <a:p>
            <a:pPr marL="342900" indent="-342900" algn="just">
              <a:lnSpc>
                <a:spcPct val="150000"/>
              </a:lnSpc>
              <a:buFont typeface="Wingdings" panose="05000000000000000000" pitchFamily="2" charset="2"/>
              <a:buChar char="n"/>
            </a:pPr>
            <a:r>
              <a:rPr kumimoji="1" lang="zh-CN" altLang="en-US" sz="2000" b="1" dirty="0" smtClean="0">
                <a:latin typeface="Microsoft YaHei" panose="020B0503020204020204" pitchFamily="34" charset="-122"/>
                <a:ea typeface="Microsoft YaHei" panose="020B0503020204020204" pitchFamily="34" charset="-122"/>
                <a:cs typeface="微软雅黑" charset="0"/>
              </a:rPr>
              <a:t>基于</a:t>
            </a:r>
            <a:r>
              <a:rPr kumimoji="1" lang="zh-CN" altLang="en-US" sz="2000" b="1" dirty="0">
                <a:latin typeface="Microsoft YaHei" panose="020B0503020204020204" pitchFamily="34" charset="-122"/>
                <a:ea typeface="Microsoft YaHei" panose="020B0503020204020204" pitchFamily="34" charset="-122"/>
                <a:cs typeface="微软雅黑" charset="0"/>
              </a:rPr>
              <a:t>下行路径损耗的开环功率控制</a:t>
            </a:r>
            <a:r>
              <a:rPr kumimoji="1" lang="zh-CN" altLang="en-US" sz="2000" dirty="0">
                <a:latin typeface="Microsoft YaHei" panose="020B0503020204020204" pitchFamily="34" charset="-122"/>
                <a:ea typeface="Microsoft YaHei" panose="020B0503020204020204" pitchFamily="34" charset="-122"/>
                <a:cs typeface="微软雅黑" charset="0"/>
              </a:rPr>
              <a:t>。该控制机制可以用于广播、多播和单播的通信模式，发送终端必须位于蜂窝网络覆盖内，此时上行传输和直通链路传输共享同一个载波</a:t>
            </a:r>
            <a:r>
              <a:rPr kumimoji="1" lang="zh-CN" altLang="en-US" sz="2000" dirty="0" smtClean="0">
                <a:latin typeface="Microsoft YaHei" panose="020B0503020204020204" pitchFamily="34" charset="-122"/>
                <a:ea typeface="Microsoft YaHei" panose="020B0503020204020204" pitchFamily="34" charset="-122"/>
                <a:cs typeface="微软雅黑" charset="0"/>
              </a:rPr>
              <a:t>。</a:t>
            </a:r>
            <a:endParaRPr kumimoji="1" lang="en-US" altLang="zh-CN" sz="2000" dirty="0" smtClean="0">
              <a:latin typeface="Microsoft YaHei" panose="020B0503020204020204" pitchFamily="34" charset="-122"/>
              <a:ea typeface="Microsoft YaHei" panose="020B0503020204020204" pitchFamily="34" charset="-122"/>
              <a:cs typeface="微软雅黑" charset="0"/>
            </a:endParaRPr>
          </a:p>
          <a:p>
            <a:pPr marL="342900" indent="-342900" algn="just">
              <a:lnSpc>
                <a:spcPct val="150000"/>
              </a:lnSpc>
              <a:buFont typeface="Wingdings" panose="05000000000000000000" pitchFamily="2" charset="2"/>
              <a:buChar char="n"/>
            </a:pPr>
            <a:endParaRPr kumimoji="1" lang="zh-CN" altLang="en-US" sz="2000" dirty="0">
              <a:latin typeface="Microsoft YaHei" panose="020B0503020204020204" pitchFamily="34" charset="-122"/>
              <a:ea typeface="Microsoft YaHei" panose="020B0503020204020204" pitchFamily="34" charset="-122"/>
              <a:cs typeface="微软雅黑" charset="0"/>
            </a:endParaRPr>
          </a:p>
          <a:p>
            <a:pPr marL="342900" indent="-342900" algn="just">
              <a:lnSpc>
                <a:spcPct val="150000"/>
              </a:lnSpc>
              <a:buFont typeface="Wingdings" panose="05000000000000000000" pitchFamily="2" charset="2"/>
              <a:buChar char="n"/>
            </a:pPr>
            <a:r>
              <a:rPr kumimoji="1" lang="zh-CN" altLang="en-US" sz="2000" b="1" dirty="0" smtClean="0">
                <a:latin typeface="Microsoft YaHei" panose="020B0503020204020204" pitchFamily="34" charset="-122"/>
                <a:ea typeface="Microsoft YaHei" panose="020B0503020204020204" pitchFamily="34" charset="-122"/>
                <a:cs typeface="微软雅黑" charset="0"/>
              </a:rPr>
              <a:t>基于</a:t>
            </a:r>
            <a:r>
              <a:rPr kumimoji="1" lang="zh-CN" altLang="en-US" sz="2000" b="1" dirty="0">
                <a:latin typeface="Microsoft YaHei" panose="020B0503020204020204" pitchFamily="34" charset="-122"/>
                <a:ea typeface="Microsoft YaHei" panose="020B0503020204020204" pitchFamily="34" charset="-122"/>
                <a:cs typeface="微软雅黑" charset="0"/>
              </a:rPr>
              <a:t>直通链路路径损耗的开环功率控制</a:t>
            </a:r>
            <a:r>
              <a:rPr kumimoji="1" lang="zh-CN" altLang="en-US" sz="2000" dirty="0">
                <a:latin typeface="Microsoft YaHei" panose="020B0503020204020204" pitchFamily="34" charset="-122"/>
                <a:ea typeface="Microsoft YaHei" panose="020B0503020204020204" pitchFamily="34" charset="-122"/>
                <a:cs typeface="微软雅黑" charset="0"/>
              </a:rPr>
              <a:t>。这种方式仅用于直通链路单播的通信模式，可以用于蜂窝网络覆盖内、蜂窝网络覆盖外所有场景</a:t>
            </a:r>
            <a:r>
              <a:rPr kumimoji="1" lang="zh-CN" altLang="en-US" sz="2000" dirty="0" smtClean="0">
                <a:latin typeface="Microsoft YaHei" panose="020B0503020204020204" pitchFamily="34" charset="-122"/>
                <a:ea typeface="Microsoft YaHei" panose="020B0503020204020204" pitchFamily="34" charset="-122"/>
                <a:cs typeface="微软雅黑" charset="0"/>
              </a:rPr>
              <a:t>。</a:t>
            </a:r>
            <a:endParaRPr kumimoji="1" lang="zh-CN" altLang="en-US" sz="2000" dirty="0">
              <a:latin typeface="Microsoft YaHei" panose="020B0503020204020204" pitchFamily="34" charset="-122"/>
              <a:ea typeface="Microsoft YaHei" panose="020B0503020204020204" pitchFamily="34" charset="-122"/>
              <a:cs typeface="微软雅黑" charset="0"/>
            </a:endParaRPr>
          </a:p>
        </p:txBody>
      </p:sp>
    </p:spTree>
    <p:extLst>
      <p:ext uri="{BB962C8B-B14F-4D97-AF65-F5344CB8AC3E}">
        <p14:creationId xmlns:p14="http://schemas.microsoft.com/office/powerpoint/2010/main" val="3226114826"/>
      </p:ext>
    </p:extLst>
  </p:cSld>
  <p:clrMapOvr>
    <a:masterClrMapping/>
  </p:clrMapOvr>
  <p:transition spd="slow" advClick="0"/>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11" descr="program-ciat2020"/>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sp>
        <p:nvSpPr>
          <p:cNvPr id="2" name="标题 1"/>
          <p:cNvSpPr txBox="1"/>
          <p:nvPr/>
        </p:nvSpPr>
        <p:spPr>
          <a:xfrm>
            <a:off x="237392" y="191297"/>
            <a:ext cx="9251576" cy="679847"/>
          </a:xfrm>
          <a:prstGeom prst="rect">
            <a:avLst/>
          </a:prstGeom>
        </p:spPr>
        <p:txBody>
          <a:bodyPr vert="horz" lIns="68580" tIns="34290" rIns="68580" bIns="34290" rtlCol="0" anchor="ctr">
            <a:normAutofit/>
          </a:bodyPr>
          <a:lstStyle/>
          <a:p>
            <a:pPr lvl="0">
              <a:spcBef>
                <a:spcPct val="0"/>
              </a:spcBef>
              <a:defRPr/>
            </a:pPr>
            <a:r>
              <a:rPr lang="en-US" altLang="zh-CN" sz="34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5G-V2X </a:t>
            </a:r>
            <a:r>
              <a:rPr lang="zh-CN" altLang="en-US" sz="34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关键</a:t>
            </a:r>
            <a:r>
              <a:rPr lang="zh-CN" altLang="en-US" sz="34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技术</a:t>
            </a:r>
            <a:endParaRPr lang="en-US" altLang="zh-CN" sz="36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8" name="矩形 7"/>
          <p:cNvSpPr/>
          <p:nvPr/>
        </p:nvSpPr>
        <p:spPr>
          <a:xfrm>
            <a:off x="237391" y="1069052"/>
            <a:ext cx="7628315" cy="584775"/>
          </a:xfrm>
          <a:prstGeom prst="rect">
            <a:avLst/>
          </a:prstGeom>
        </p:spPr>
        <p:txBody>
          <a:bodyPr wrap="square">
            <a:spAutoFit/>
          </a:bodyPr>
          <a:lstStyle/>
          <a:p>
            <a:pPr lvl="0">
              <a:spcBef>
                <a:spcPct val="0"/>
              </a:spcBef>
              <a:defRPr/>
            </a:pPr>
            <a:r>
              <a:rPr lang="en-US" altLang="zh-CN" sz="32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5G-V2X </a:t>
            </a:r>
            <a:r>
              <a:rPr lang="zh-CN" altLang="en-US" sz="32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直通链路</a:t>
            </a:r>
            <a:r>
              <a:rPr lang="zh-CN" altLang="en-US" sz="32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的功率控制技术</a:t>
            </a:r>
            <a:endParaRPr lang="en-US" altLang="zh-CN" sz="32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5" name="矩形 4"/>
          <p:cNvSpPr/>
          <p:nvPr/>
        </p:nvSpPr>
        <p:spPr>
          <a:xfrm>
            <a:off x="237390" y="1667842"/>
            <a:ext cx="8710667" cy="4247317"/>
          </a:xfrm>
          <a:prstGeom prst="rect">
            <a:avLst/>
          </a:prstGeom>
        </p:spPr>
        <p:txBody>
          <a:bodyPr wrap="square">
            <a:spAutoFit/>
          </a:bodyPr>
          <a:lstStyle/>
          <a:p>
            <a:pPr algn="just">
              <a:lnSpc>
                <a:spcPct val="150000"/>
              </a:lnSpc>
            </a:pPr>
            <a:r>
              <a:rPr kumimoji="1" lang="zh-CN" altLang="en-US" sz="2000" dirty="0" smtClean="0">
                <a:latin typeface="Microsoft YaHei" panose="020B0503020204020204" pitchFamily="34" charset="-122"/>
                <a:ea typeface="Microsoft YaHei" panose="020B0503020204020204" pitchFamily="34" charset="-122"/>
                <a:cs typeface="微软雅黑" charset="0"/>
              </a:rPr>
              <a:t>结合两种</a:t>
            </a:r>
            <a:r>
              <a:rPr kumimoji="1" lang="zh-CN" altLang="en-US" sz="2000" dirty="0">
                <a:latin typeface="Microsoft YaHei" panose="020B0503020204020204" pitchFamily="34" charset="-122"/>
                <a:ea typeface="Microsoft YaHei" panose="020B0503020204020204" pitchFamily="34" charset="-122"/>
                <a:cs typeface="微软雅黑" charset="0"/>
              </a:rPr>
              <a:t>功率控制方式，</a:t>
            </a:r>
            <a:r>
              <a:rPr kumimoji="1" lang="en-US" altLang="zh-CN" sz="2000" dirty="0">
                <a:latin typeface="Microsoft YaHei" panose="020B0503020204020204" pitchFamily="34" charset="-122"/>
                <a:ea typeface="Microsoft YaHei" panose="020B0503020204020204" pitchFamily="34" charset="-122"/>
                <a:cs typeface="微软雅黑" charset="0"/>
              </a:rPr>
              <a:t>V2X </a:t>
            </a:r>
            <a:r>
              <a:rPr kumimoji="1" lang="zh-CN" altLang="en-US" sz="2000" dirty="0">
                <a:latin typeface="Microsoft YaHei" panose="020B0503020204020204" pitchFamily="34" charset="-122"/>
                <a:ea typeface="Microsoft YaHei" panose="020B0503020204020204" pitchFamily="34" charset="-122"/>
                <a:cs typeface="微软雅黑" charset="0"/>
              </a:rPr>
              <a:t>终端可以配置为以下 </a:t>
            </a:r>
            <a:r>
              <a:rPr kumimoji="1" lang="en-US" altLang="zh-CN" sz="2000" dirty="0">
                <a:latin typeface="Microsoft YaHei" panose="020B0503020204020204" pitchFamily="34" charset="-122"/>
                <a:ea typeface="Microsoft YaHei" panose="020B0503020204020204" pitchFamily="34" charset="-122"/>
                <a:cs typeface="微软雅黑" charset="0"/>
              </a:rPr>
              <a:t>3 </a:t>
            </a:r>
            <a:r>
              <a:rPr kumimoji="1" lang="zh-CN" altLang="en-US" sz="2000" dirty="0">
                <a:latin typeface="Microsoft YaHei" panose="020B0503020204020204" pitchFamily="34" charset="-122"/>
                <a:ea typeface="Microsoft YaHei" panose="020B0503020204020204" pitchFamily="34" charset="-122"/>
                <a:cs typeface="微软雅黑" charset="0"/>
              </a:rPr>
              <a:t>种功率控制模式</a:t>
            </a:r>
            <a:r>
              <a:rPr kumimoji="1" lang="zh-CN" altLang="en-US" sz="2000" dirty="0" smtClean="0">
                <a:latin typeface="Microsoft YaHei" panose="020B0503020204020204" pitchFamily="34" charset="-122"/>
                <a:ea typeface="Microsoft YaHei" panose="020B0503020204020204" pitchFamily="34" charset="-122"/>
                <a:cs typeface="微软雅黑" charset="0"/>
              </a:rPr>
              <a:t>：</a:t>
            </a:r>
            <a:endParaRPr kumimoji="1" lang="en-US" altLang="zh-CN" sz="2000" dirty="0" smtClean="0">
              <a:latin typeface="Microsoft YaHei" panose="020B0503020204020204" pitchFamily="34" charset="-122"/>
              <a:ea typeface="Microsoft YaHei" panose="020B0503020204020204" pitchFamily="34" charset="-122"/>
              <a:cs typeface="微软雅黑" charset="0"/>
            </a:endParaRPr>
          </a:p>
          <a:p>
            <a:pPr algn="just">
              <a:lnSpc>
                <a:spcPct val="150000"/>
              </a:lnSpc>
            </a:pPr>
            <a:endParaRPr kumimoji="1" lang="en-US" altLang="zh-CN" sz="2000" dirty="0" smtClean="0">
              <a:latin typeface="Microsoft YaHei" panose="020B0503020204020204" pitchFamily="34" charset="-122"/>
              <a:ea typeface="Microsoft YaHei" panose="020B0503020204020204" pitchFamily="34" charset="-122"/>
              <a:cs typeface="微软雅黑" charset="0"/>
            </a:endParaRPr>
          </a:p>
          <a:p>
            <a:pPr marL="342900" indent="-342900" algn="just">
              <a:lnSpc>
                <a:spcPct val="150000"/>
              </a:lnSpc>
              <a:buFont typeface="Wingdings" panose="05000000000000000000" pitchFamily="2" charset="2"/>
              <a:buChar char="n"/>
            </a:pPr>
            <a:r>
              <a:rPr kumimoji="1" lang="zh-CN" altLang="en-US" sz="2000" b="1" dirty="0" smtClean="0">
                <a:latin typeface="Microsoft YaHei" panose="020B0503020204020204" pitchFamily="34" charset="-122"/>
                <a:ea typeface="Microsoft YaHei" panose="020B0503020204020204" pitchFamily="34" charset="-122"/>
                <a:cs typeface="微软雅黑" charset="0"/>
              </a:rPr>
              <a:t>仅</a:t>
            </a:r>
            <a:r>
              <a:rPr kumimoji="1" lang="zh-CN" altLang="en-US" sz="2000" b="1" dirty="0">
                <a:latin typeface="Microsoft YaHei" panose="020B0503020204020204" pitchFamily="34" charset="-122"/>
                <a:ea typeface="Microsoft YaHei" panose="020B0503020204020204" pitchFamily="34" charset="-122"/>
                <a:cs typeface="微软雅黑" charset="0"/>
              </a:rPr>
              <a:t>支持基于下行路径损耗的开环功率控制模式</a:t>
            </a:r>
            <a:r>
              <a:rPr kumimoji="1" lang="zh-CN" altLang="en-US" sz="2000" dirty="0" smtClean="0">
                <a:latin typeface="Microsoft YaHei" panose="020B0503020204020204" pitchFamily="34" charset="-122"/>
                <a:ea typeface="Microsoft YaHei" panose="020B0503020204020204" pitchFamily="34" charset="-122"/>
                <a:cs typeface="微软雅黑" charset="0"/>
              </a:rPr>
              <a:t>；</a:t>
            </a:r>
            <a:endParaRPr kumimoji="1" lang="en-US" altLang="zh-CN" sz="2000" dirty="0" smtClean="0">
              <a:latin typeface="Microsoft YaHei" panose="020B0503020204020204" pitchFamily="34" charset="-122"/>
              <a:ea typeface="Microsoft YaHei" panose="020B0503020204020204" pitchFamily="34" charset="-122"/>
              <a:cs typeface="微软雅黑" charset="0"/>
            </a:endParaRPr>
          </a:p>
          <a:p>
            <a:pPr marL="342900" indent="-342900" algn="just">
              <a:lnSpc>
                <a:spcPct val="150000"/>
              </a:lnSpc>
              <a:buFont typeface="Wingdings" panose="05000000000000000000" pitchFamily="2" charset="2"/>
              <a:buChar char="n"/>
            </a:pPr>
            <a:endParaRPr kumimoji="1" lang="en-US" altLang="zh-CN" sz="2000" dirty="0" smtClean="0">
              <a:latin typeface="Microsoft YaHei" panose="020B0503020204020204" pitchFamily="34" charset="-122"/>
              <a:ea typeface="Microsoft YaHei" panose="020B0503020204020204" pitchFamily="34" charset="-122"/>
              <a:cs typeface="微软雅黑" charset="0"/>
            </a:endParaRPr>
          </a:p>
          <a:p>
            <a:pPr marL="342900" indent="-342900" algn="just">
              <a:lnSpc>
                <a:spcPct val="150000"/>
              </a:lnSpc>
              <a:buFont typeface="Wingdings" panose="05000000000000000000" pitchFamily="2" charset="2"/>
              <a:buChar char="n"/>
            </a:pPr>
            <a:r>
              <a:rPr kumimoji="1" lang="zh-CN" altLang="en-US" sz="2000" b="1" dirty="0" smtClean="0">
                <a:latin typeface="Microsoft YaHei" panose="020B0503020204020204" pitchFamily="34" charset="-122"/>
                <a:ea typeface="Microsoft YaHei" panose="020B0503020204020204" pitchFamily="34" charset="-122"/>
                <a:cs typeface="微软雅黑" charset="0"/>
              </a:rPr>
              <a:t>仅</a:t>
            </a:r>
            <a:r>
              <a:rPr kumimoji="1" lang="zh-CN" altLang="en-US" sz="2000" b="1" dirty="0">
                <a:latin typeface="Microsoft YaHei" panose="020B0503020204020204" pitchFamily="34" charset="-122"/>
                <a:ea typeface="Microsoft YaHei" panose="020B0503020204020204" pitchFamily="34" charset="-122"/>
                <a:cs typeface="微软雅黑" charset="0"/>
              </a:rPr>
              <a:t>支持基于直通链路路径损耗的开环功率控制模式</a:t>
            </a:r>
            <a:r>
              <a:rPr kumimoji="1" lang="zh-CN" altLang="en-US" sz="2000" dirty="0" smtClean="0">
                <a:latin typeface="Microsoft YaHei" panose="020B0503020204020204" pitchFamily="34" charset="-122"/>
                <a:ea typeface="Microsoft YaHei" panose="020B0503020204020204" pitchFamily="34" charset="-122"/>
                <a:cs typeface="微软雅黑" charset="0"/>
              </a:rPr>
              <a:t>；</a:t>
            </a:r>
            <a:endParaRPr kumimoji="1" lang="en-US" altLang="zh-CN" sz="2000" dirty="0" smtClean="0">
              <a:latin typeface="Microsoft YaHei" panose="020B0503020204020204" pitchFamily="34" charset="-122"/>
              <a:ea typeface="Microsoft YaHei" panose="020B0503020204020204" pitchFamily="34" charset="-122"/>
              <a:cs typeface="微软雅黑" charset="0"/>
            </a:endParaRPr>
          </a:p>
          <a:p>
            <a:pPr marL="342900" indent="-342900" algn="just">
              <a:lnSpc>
                <a:spcPct val="150000"/>
              </a:lnSpc>
              <a:buFont typeface="Wingdings" panose="05000000000000000000" pitchFamily="2" charset="2"/>
              <a:buChar char="n"/>
            </a:pPr>
            <a:endParaRPr kumimoji="1" lang="en-US" altLang="zh-CN" sz="2000" dirty="0" smtClean="0">
              <a:latin typeface="Microsoft YaHei" panose="020B0503020204020204" pitchFamily="34" charset="-122"/>
              <a:ea typeface="Microsoft YaHei" panose="020B0503020204020204" pitchFamily="34" charset="-122"/>
              <a:cs typeface="微软雅黑" charset="0"/>
            </a:endParaRPr>
          </a:p>
          <a:p>
            <a:pPr marL="342900" indent="-342900" algn="just">
              <a:lnSpc>
                <a:spcPct val="150000"/>
              </a:lnSpc>
              <a:buFont typeface="Wingdings" panose="05000000000000000000" pitchFamily="2" charset="2"/>
              <a:buChar char="n"/>
            </a:pPr>
            <a:r>
              <a:rPr kumimoji="1" lang="zh-CN" altLang="en-US" sz="2000" b="1" dirty="0" smtClean="0">
                <a:latin typeface="Microsoft YaHei" panose="020B0503020204020204" pitchFamily="34" charset="-122"/>
                <a:ea typeface="Microsoft YaHei" panose="020B0503020204020204" pitchFamily="34" charset="-122"/>
                <a:cs typeface="微软雅黑" charset="0"/>
              </a:rPr>
              <a:t>同时</a:t>
            </a:r>
            <a:r>
              <a:rPr kumimoji="1" lang="zh-CN" altLang="en-US" sz="2000" b="1" dirty="0">
                <a:latin typeface="Microsoft YaHei" panose="020B0503020204020204" pitchFamily="34" charset="-122"/>
                <a:ea typeface="Microsoft YaHei" panose="020B0503020204020204" pitchFamily="34" charset="-122"/>
                <a:cs typeface="微软雅黑" charset="0"/>
              </a:rPr>
              <a:t>支持基于下行路径损耗和基于直通链路路径损耗的开环功率控制模式</a:t>
            </a:r>
            <a:r>
              <a:rPr kumimoji="1" lang="zh-CN" altLang="en-US" sz="2000" dirty="0">
                <a:latin typeface="Microsoft YaHei" panose="020B0503020204020204" pitchFamily="34" charset="-122"/>
                <a:ea typeface="Microsoft YaHei" panose="020B0503020204020204" pitchFamily="34" charset="-122"/>
                <a:cs typeface="微软雅黑" charset="0"/>
              </a:rPr>
              <a:t>，在这种模式下，</a:t>
            </a:r>
            <a:r>
              <a:rPr kumimoji="1" lang="en-US" altLang="zh-CN" sz="2000" dirty="0">
                <a:latin typeface="Microsoft YaHei" panose="020B0503020204020204" pitchFamily="34" charset="-122"/>
                <a:ea typeface="Microsoft YaHei" panose="020B0503020204020204" pitchFamily="34" charset="-122"/>
                <a:cs typeface="微软雅黑" charset="0"/>
              </a:rPr>
              <a:t>V2X </a:t>
            </a:r>
            <a:r>
              <a:rPr kumimoji="1" lang="zh-CN" altLang="en-US" sz="2000" dirty="0">
                <a:latin typeface="Microsoft YaHei" panose="020B0503020204020204" pitchFamily="34" charset="-122"/>
                <a:ea typeface="Microsoft YaHei" panose="020B0503020204020204" pitchFamily="34" charset="-122"/>
                <a:cs typeface="微软雅黑" charset="0"/>
              </a:rPr>
              <a:t>终端在直通链路的发送功率是这两种功率控制计算结果的最小值。</a:t>
            </a:r>
          </a:p>
        </p:txBody>
      </p:sp>
    </p:spTree>
    <p:extLst>
      <p:ext uri="{BB962C8B-B14F-4D97-AF65-F5344CB8AC3E}">
        <p14:creationId xmlns:p14="http://schemas.microsoft.com/office/powerpoint/2010/main" val="3224332289"/>
      </p:ext>
    </p:extLst>
  </p:cSld>
  <p:clrMapOvr>
    <a:masterClrMapping/>
  </p:clrMapOvr>
  <p:transition spd="slow" advClick="0"/>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11" descr="program-ciat2020"/>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sp>
        <p:nvSpPr>
          <p:cNvPr id="2" name="标题 1"/>
          <p:cNvSpPr txBox="1"/>
          <p:nvPr/>
        </p:nvSpPr>
        <p:spPr>
          <a:xfrm>
            <a:off x="237392" y="191297"/>
            <a:ext cx="9251576" cy="679847"/>
          </a:xfrm>
          <a:prstGeom prst="rect">
            <a:avLst/>
          </a:prstGeom>
        </p:spPr>
        <p:txBody>
          <a:bodyPr vert="horz" lIns="68580" tIns="34290" rIns="68580" bIns="34290" rtlCol="0" anchor="ctr">
            <a:normAutofit/>
          </a:bodyPr>
          <a:lstStyle/>
          <a:p>
            <a:pPr lvl="0">
              <a:spcBef>
                <a:spcPct val="0"/>
              </a:spcBef>
              <a:defRPr/>
            </a:pPr>
            <a:r>
              <a:rPr lang="en-US" altLang="zh-CN" sz="34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5G-V2X </a:t>
            </a:r>
            <a:r>
              <a:rPr lang="zh-CN" altLang="en-US" sz="34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关键</a:t>
            </a:r>
            <a:r>
              <a:rPr lang="zh-CN" altLang="en-US" sz="34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技术</a:t>
            </a:r>
            <a:endParaRPr lang="en-US" altLang="zh-CN" sz="36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8" name="矩形 7"/>
          <p:cNvSpPr/>
          <p:nvPr/>
        </p:nvSpPr>
        <p:spPr>
          <a:xfrm>
            <a:off x="237391" y="1069052"/>
            <a:ext cx="7628315" cy="584775"/>
          </a:xfrm>
          <a:prstGeom prst="rect">
            <a:avLst/>
          </a:prstGeom>
        </p:spPr>
        <p:txBody>
          <a:bodyPr wrap="square">
            <a:spAutoFit/>
          </a:bodyPr>
          <a:lstStyle/>
          <a:p>
            <a:pPr lvl="0">
              <a:spcBef>
                <a:spcPct val="0"/>
              </a:spcBef>
              <a:defRPr/>
            </a:pPr>
            <a:r>
              <a:rPr lang="en-US" altLang="zh-CN" sz="32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5G-V2X </a:t>
            </a:r>
            <a:r>
              <a:rPr lang="zh-CN" altLang="en-US" sz="32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拥塞控制机制</a:t>
            </a:r>
            <a:endParaRPr lang="en-US" altLang="zh-CN" sz="32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5" name="矩形 4"/>
          <p:cNvSpPr/>
          <p:nvPr/>
        </p:nvSpPr>
        <p:spPr>
          <a:xfrm>
            <a:off x="237390" y="1667842"/>
            <a:ext cx="8710667" cy="4708981"/>
          </a:xfrm>
          <a:prstGeom prst="rect">
            <a:avLst/>
          </a:prstGeom>
        </p:spPr>
        <p:txBody>
          <a:bodyPr wrap="square">
            <a:spAutoFit/>
          </a:bodyPr>
          <a:lstStyle/>
          <a:p>
            <a:pPr algn="just">
              <a:lnSpc>
                <a:spcPct val="150000"/>
              </a:lnSpc>
            </a:pPr>
            <a:r>
              <a:rPr kumimoji="1" lang="zh-CN" altLang="en-US" sz="2000" b="1" dirty="0" smtClean="0">
                <a:latin typeface="Microsoft YaHei" panose="020B0503020204020204" pitchFamily="34" charset="-122"/>
                <a:ea typeface="Microsoft YaHei" panose="020B0503020204020204" pitchFamily="34" charset="-122"/>
                <a:cs typeface="微软雅黑" charset="0"/>
              </a:rPr>
              <a:t>目的：</a:t>
            </a:r>
            <a:r>
              <a:rPr kumimoji="1" lang="zh-CN" altLang="en-US" sz="2000" dirty="0" smtClean="0">
                <a:latin typeface="Microsoft YaHei" panose="020B0503020204020204" pitchFamily="34" charset="-122"/>
                <a:ea typeface="Microsoft YaHei" panose="020B0503020204020204" pitchFamily="34" charset="-122"/>
                <a:cs typeface="微软雅黑" charset="0"/>
              </a:rPr>
              <a:t>提高</a:t>
            </a:r>
            <a:r>
              <a:rPr kumimoji="1" lang="zh-CN" altLang="en-US" sz="2000" dirty="0">
                <a:latin typeface="Microsoft YaHei" panose="020B0503020204020204" pitchFamily="34" charset="-122"/>
                <a:ea typeface="Microsoft YaHei" panose="020B0503020204020204" pitchFamily="34" charset="-122"/>
                <a:cs typeface="微软雅黑" charset="0"/>
              </a:rPr>
              <a:t>资源池的利用率，并在系统发生拥塞时，合理调整用户不同优先级业务的发送参数以及资源占用的比例，从而减轻拥塞对系统的影响</a:t>
            </a:r>
            <a:r>
              <a:rPr kumimoji="1" lang="zh-CN" altLang="en-US" sz="2000" dirty="0" smtClean="0">
                <a:latin typeface="Microsoft YaHei" panose="020B0503020204020204" pitchFamily="34" charset="-122"/>
                <a:ea typeface="Microsoft YaHei" panose="020B0503020204020204" pitchFamily="34" charset="-122"/>
                <a:cs typeface="微软雅黑" charset="0"/>
              </a:rPr>
              <a:t>。</a:t>
            </a:r>
            <a:endParaRPr kumimoji="1" lang="en-US" altLang="zh-CN" sz="2000" dirty="0" smtClean="0">
              <a:latin typeface="Microsoft YaHei" panose="020B0503020204020204" pitchFamily="34" charset="-122"/>
              <a:ea typeface="Microsoft YaHei" panose="020B0503020204020204" pitchFamily="34" charset="-122"/>
              <a:cs typeface="微软雅黑" charset="0"/>
            </a:endParaRPr>
          </a:p>
          <a:p>
            <a:pPr algn="just">
              <a:lnSpc>
                <a:spcPct val="150000"/>
              </a:lnSpc>
            </a:pPr>
            <a:endParaRPr kumimoji="1" lang="en-US" altLang="zh-CN" sz="2000" dirty="0" smtClean="0">
              <a:latin typeface="Microsoft YaHei" panose="020B0503020204020204" pitchFamily="34" charset="-122"/>
              <a:ea typeface="Microsoft YaHei" panose="020B0503020204020204" pitchFamily="34" charset="-122"/>
              <a:cs typeface="微软雅黑" charset="0"/>
            </a:endParaRPr>
          </a:p>
          <a:p>
            <a:pPr algn="just">
              <a:lnSpc>
                <a:spcPct val="150000"/>
              </a:lnSpc>
            </a:pPr>
            <a:r>
              <a:rPr kumimoji="1" lang="zh-CN" altLang="en-US" sz="2000" b="1" dirty="0" smtClean="0">
                <a:latin typeface="Microsoft YaHei" panose="020B0503020204020204" pitchFamily="34" charset="-122"/>
                <a:ea typeface="Microsoft YaHei" panose="020B0503020204020204" pitchFamily="34" charset="-122"/>
                <a:cs typeface="微软雅黑" charset="0"/>
              </a:rPr>
              <a:t>作用：</a:t>
            </a:r>
            <a:endParaRPr kumimoji="1" lang="en-US" altLang="zh-CN" sz="2000" b="1" dirty="0" smtClean="0">
              <a:latin typeface="Microsoft YaHei" panose="020B0503020204020204" pitchFamily="34" charset="-122"/>
              <a:ea typeface="Microsoft YaHei" panose="020B0503020204020204" pitchFamily="34" charset="-122"/>
              <a:cs typeface="微软雅黑" charset="0"/>
            </a:endParaRPr>
          </a:p>
          <a:p>
            <a:pPr marL="342900" indent="-342900" algn="just">
              <a:lnSpc>
                <a:spcPct val="150000"/>
              </a:lnSpc>
              <a:buFont typeface="Wingdings" panose="05000000000000000000" pitchFamily="2" charset="2"/>
              <a:buChar char="Ø"/>
            </a:pPr>
            <a:r>
              <a:rPr kumimoji="1" lang="zh-CN" altLang="en-US" sz="2000" dirty="0" smtClean="0">
                <a:latin typeface="Microsoft YaHei" panose="020B0503020204020204" pitchFamily="34" charset="-122"/>
                <a:ea typeface="Microsoft YaHei" panose="020B0503020204020204" pitchFamily="34" charset="-122"/>
                <a:cs typeface="微软雅黑" charset="0"/>
              </a:rPr>
              <a:t>保证</a:t>
            </a:r>
            <a:r>
              <a:rPr kumimoji="1" lang="zh-CN" altLang="en-US" sz="2000" dirty="0">
                <a:latin typeface="Microsoft YaHei" panose="020B0503020204020204" pitchFamily="34" charset="-122"/>
                <a:ea typeface="Microsoft YaHei" panose="020B0503020204020204" pitchFamily="34" charset="-122"/>
                <a:cs typeface="微软雅黑" charset="0"/>
              </a:rPr>
              <a:t>优先级比较高的用户能够得到可靠发送</a:t>
            </a:r>
            <a:r>
              <a:rPr kumimoji="1" lang="zh-CN" altLang="en-US" sz="2000" dirty="0" smtClean="0">
                <a:latin typeface="Microsoft YaHei" panose="020B0503020204020204" pitchFamily="34" charset="-122"/>
                <a:ea typeface="Microsoft YaHei" panose="020B0503020204020204" pitchFamily="34" charset="-122"/>
                <a:cs typeface="微软雅黑" charset="0"/>
              </a:rPr>
              <a:t>；</a:t>
            </a:r>
            <a:endParaRPr kumimoji="1" lang="en-US" altLang="zh-CN" sz="2000" dirty="0" smtClean="0">
              <a:latin typeface="Microsoft YaHei" panose="020B0503020204020204" pitchFamily="34" charset="-122"/>
              <a:ea typeface="Microsoft YaHei" panose="020B0503020204020204" pitchFamily="34" charset="-122"/>
              <a:cs typeface="微软雅黑" charset="0"/>
            </a:endParaRPr>
          </a:p>
          <a:p>
            <a:pPr marL="342900" indent="-342900" algn="just">
              <a:lnSpc>
                <a:spcPct val="150000"/>
              </a:lnSpc>
              <a:buFont typeface="Wingdings" panose="05000000000000000000" pitchFamily="2" charset="2"/>
              <a:buChar char="Ø"/>
            </a:pPr>
            <a:r>
              <a:rPr kumimoji="1" lang="zh-CN" altLang="en-US" sz="2000" dirty="0" smtClean="0">
                <a:latin typeface="Microsoft YaHei" panose="020B0503020204020204" pitchFamily="34" charset="-122"/>
                <a:ea typeface="Microsoft YaHei" panose="020B0503020204020204" pitchFamily="34" charset="-122"/>
                <a:cs typeface="微软雅黑" charset="0"/>
              </a:rPr>
              <a:t>通过调整</a:t>
            </a:r>
            <a:r>
              <a:rPr kumimoji="1" lang="en-US" altLang="zh-CN" sz="2000" dirty="0" smtClean="0">
                <a:latin typeface="Microsoft YaHei" panose="020B0503020204020204" pitchFamily="34" charset="-122"/>
                <a:ea typeface="Microsoft YaHei" panose="020B0503020204020204" pitchFamily="34" charset="-122"/>
                <a:cs typeface="微软雅黑" charset="0"/>
              </a:rPr>
              <a:t>UE</a:t>
            </a:r>
            <a:r>
              <a:rPr kumimoji="1" lang="zh-CN" altLang="en-US" sz="2000" dirty="0" smtClean="0">
                <a:latin typeface="Microsoft YaHei" panose="020B0503020204020204" pitchFamily="34" charset="-122"/>
                <a:ea typeface="Microsoft YaHei" panose="020B0503020204020204" pitchFamily="34" charset="-122"/>
                <a:cs typeface="微软雅黑" charset="0"/>
              </a:rPr>
              <a:t>的</a:t>
            </a:r>
            <a:r>
              <a:rPr kumimoji="1" lang="zh-CN" altLang="en-US" sz="2000" dirty="0">
                <a:latin typeface="Microsoft YaHei" panose="020B0503020204020204" pitchFamily="34" charset="-122"/>
                <a:ea typeface="Microsoft YaHei" panose="020B0503020204020204" pitchFamily="34" charset="-122"/>
                <a:cs typeface="微软雅黑" charset="0"/>
              </a:rPr>
              <a:t>发送参数和</a:t>
            </a:r>
            <a:r>
              <a:rPr kumimoji="1" lang="zh-CN" altLang="en-US" sz="2000" dirty="0" smtClean="0">
                <a:latin typeface="Microsoft YaHei" panose="020B0503020204020204" pitchFamily="34" charset="-122"/>
                <a:ea typeface="Microsoft YaHei" panose="020B0503020204020204" pitchFamily="34" charset="-122"/>
                <a:cs typeface="微软雅黑" charset="0"/>
              </a:rPr>
              <a:t>资源</a:t>
            </a:r>
            <a:r>
              <a:rPr kumimoji="1" lang="zh-CN" altLang="en-US" sz="2000" dirty="0">
                <a:latin typeface="Microsoft YaHei" panose="020B0503020204020204" pitchFamily="34" charset="-122"/>
                <a:ea typeface="Microsoft YaHei" panose="020B0503020204020204" pitchFamily="34" charset="-122"/>
                <a:cs typeface="微软雅黑" charset="0"/>
              </a:rPr>
              <a:t>占用比例，减少系统内干扰，将拥塞控制在系统可以正常工作的范围内</a:t>
            </a:r>
            <a:r>
              <a:rPr kumimoji="1" lang="zh-CN" altLang="en-US" sz="2000" dirty="0" smtClean="0">
                <a:latin typeface="Microsoft YaHei" panose="020B0503020204020204" pitchFamily="34" charset="-122"/>
                <a:ea typeface="Microsoft YaHei" panose="020B0503020204020204" pitchFamily="34" charset="-122"/>
                <a:cs typeface="微软雅黑" charset="0"/>
              </a:rPr>
              <a:t>。</a:t>
            </a:r>
            <a:endParaRPr kumimoji="1" lang="en-US" altLang="zh-CN" sz="2000" dirty="0" smtClean="0">
              <a:latin typeface="Microsoft YaHei" panose="020B0503020204020204" pitchFamily="34" charset="-122"/>
              <a:ea typeface="Microsoft YaHei" panose="020B0503020204020204" pitchFamily="34" charset="-122"/>
              <a:cs typeface="微软雅黑" charset="0"/>
            </a:endParaRPr>
          </a:p>
          <a:p>
            <a:pPr algn="just">
              <a:lnSpc>
                <a:spcPct val="150000"/>
              </a:lnSpc>
            </a:pPr>
            <a:endParaRPr kumimoji="1" lang="zh-CN" altLang="en-US" sz="2000" dirty="0">
              <a:latin typeface="Microsoft YaHei" panose="020B0503020204020204" pitchFamily="34" charset="-122"/>
              <a:ea typeface="Microsoft YaHei" panose="020B0503020204020204" pitchFamily="34" charset="-122"/>
              <a:cs typeface="微软雅黑" charset="0"/>
            </a:endParaRPr>
          </a:p>
          <a:p>
            <a:pPr algn="just">
              <a:lnSpc>
                <a:spcPct val="150000"/>
              </a:lnSpc>
            </a:pPr>
            <a:r>
              <a:rPr kumimoji="1" lang="zh-CN" altLang="en-US" sz="2000" b="1" dirty="0" smtClean="0">
                <a:latin typeface="Microsoft YaHei" panose="020B0503020204020204" pitchFamily="34" charset="-122"/>
                <a:ea typeface="Microsoft YaHei" panose="020B0503020204020204" pitchFamily="34" charset="-122"/>
                <a:cs typeface="微软雅黑" charset="0"/>
              </a:rPr>
              <a:t>机制：</a:t>
            </a:r>
            <a:r>
              <a:rPr kumimoji="1" lang="en-US" altLang="zh-CN" sz="2000" dirty="0" smtClean="0">
                <a:latin typeface="Microsoft YaHei" panose="020B0503020204020204" pitchFamily="34" charset="-122"/>
                <a:ea typeface="Microsoft YaHei" panose="020B0503020204020204" pitchFamily="34" charset="-122"/>
                <a:cs typeface="微软雅黑" charset="0"/>
              </a:rPr>
              <a:t>5G-V2X</a:t>
            </a:r>
            <a:r>
              <a:rPr kumimoji="1" lang="zh-CN" altLang="en-US" sz="2000" dirty="0" smtClean="0">
                <a:latin typeface="Microsoft YaHei" panose="020B0503020204020204" pitchFamily="34" charset="-122"/>
                <a:ea typeface="Microsoft YaHei" panose="020B0503020204020204" pitchFamily="34" charset="-122"/>
                <a:cs typeface="微软雅黑" charset="0"/>
              </a:rPr>
              <a:t>重用了</a:t>
            </a:r>
            <a:r>
              <a:rPr kumimoji="1" lang="en-US" altLang="zh-CN" sz="2000" dirty="0" smtClean="0">
                <a:latin typeface="Microsoft YaHei" panose="020B0503020204020204" pitchFamily="34" charset="-122"/>
                <a:ea typeface="Microsoft YaHei" panose="020B0503020204020204" pitchFamily="34" charset="-122"/>
                <a:cs typeface="微软雅黑" charset="0"/>
              </a:rPr>
              <a:t>LTE-V2X</a:t>
            </a:r>
            <a:r>
              <a:rPr kumimoji="1" lang="zh-CN" altLang="en-US" sz="2000" dirty="0" smtClean="0">
                <a:latin typeface="Microsoft YaHei" panose="020B0503020204020204" pitchFamily="34" charset="-122"/>
                <a:ea typeface="Microsoft YaHei" panose="020B0503020204020204" pitchFamily="34" charset="-122"/>
                <a:cs typeface="微软雅黑" charset="0"/>
              </a:rPr>
              <a:t>拥塞控制</a:t>
            </a:r>
            <a:r>
              <a:rPr kumimoji="1" lang="zh-CN" altLang="en-US" sz="2000" dirty="0">
                <a:latin typeface="Microsoft YaHei" panose="020B0503020204020204" pitchFamily="34" charset="-122"/>
                <a:ea typeface="Microsoft YaHei" panose="020B0503020204020204" pitchFamily="34" charset="-122"/>
                <a:cs typeface="微软雅黑" charset="0"/>
              </a:rPr>
              <a:t>机制的基本原理</a:t>
            </a:r>
            <a:r>
              <a:rPr kumimoji="1" lang="zh-CN" altLang="en-US" sz="2000" dirty="0" smtClean="0">
                <a:latin typeface="Microsoft YaHei" panose="020B0503020204020204" pitchFamily="34" charset="-122"/>
                <a:ea typeface="Microsoft YaHei" panose="020B0503020204020204" pitchFamily="34" charset="-122"/>
                <a:cs typeface="微软雅黑" charset="0"/>
              </a:rPr>
              <a:t>，并更</a:t>
            </a:r>
            <a:r>
              <a:rPr kumimoji="1" lang="zh-CN" altLang="en-US" sz="2000" dirty="0">
                <a:latin typeface="Microsoft YaHei" panose="020B0503020204020204" pitchFamily="34" charset="-122"/>
                <a:ea typeface="Microsoft YaHei" panose="020B0503020204020204" pitchFamily="34" charset="-122"/>
                <a:cs typeface="微软雅黑" charset="0"/>
              </a:rPr>
              <a:t>关注如何应对非周期业务导致系统拥塞情况快速变化的</a:t>
            </a:r>
            <a:r>
              <a:rPr kumimoji="1" lang="zh-CN" altLang="en-US" sz="2000" dirty="0" smtClean="0">
                <a:latin typeface="Microsoft YaHei" panose="020B0503020204020204" pitchFamily="34" charset="-122"/>
                <a:ea typeface="Microsoft YaHei" panose="020B0503020204020204" pitchFamily="34" charset="-122"/>
                <a:cs typeface="微软雅黑" charset="0"/>
              </a:rPr>
              <a:t>问题。</a:t>
            </a:r>
            <a:endParaRPr kumimoji="1" lang="zh-CN" altLang="en-US" sz="2000" dirty="0">
              <a:latin typeface="Microsoft YaHei" panose="020B0503020204020204" pitchFamily="34" charset="-122"/>
              <a:ea typeface="Microsoft YaHei" panose="020B0503020204020204" pitchFamily="34" charset="-122"/>
              <a:cs typeface="微软雅黑" charset="0"/>
            </a:endParaRPr>
          </a:p>
        </p:txBody>
      </p:sp>
    </p:spTree>
    <p:extLst>
      <p:ext uri="{BB962C8B-B14F-4D97-AF65-F5344CB8AC3E}">
        <p14:creationId xmlns:p14="http://schemas.microsoft.com/office/powerpoint/2010/main" val="110018601"/>
      </p:ext>
    </p:extLst>
  </p:cSld>
  <p:clrMapOvr>
    <a:masterClrMapping/>
  </p:clrMapOvr>
  <p:transition spd="slow" advClick="0"/>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11" descr="program-ciat2020"/>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sp>
        <p:nvSpPr>
          <p:cNvPr id="2" name="标题 1"/>
          <p:cNvSpPr txBox="1"/>
          <p:nvPr/>
        </p:nvSpPr>
        <p:spPr>
          <a:xfrm>
            <a:off x="237392" y="191297"/>
            <a:ext cx="9251576" cy="679847"/>
          </a:xfrm>
          <a:prstGeom prst="rect">
            <a:avLst/>
          </a:prstGeom>
        </p:spPr>
        <p:txBody>
          <a:bodyPr vert="horz" lIns="68580" tIns="34290" rIns="68580" bIns="34290" rtlCol="0" anchor="ctr">
            <a:normAutofit/>
          </a:bodyPr>
          <a:lstStyle/>
          <a:p>
            <a:pPr lvl="0">
              <a:spcBef>
                <a:spcPct val="0"/>
              </a:spcBef>
              <a:defRPr/>
            </a:pPr>
            <a:r>
              <a:rPr lang="en-US" altLang="zh-CN" sz="34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5G-V2X </a:t>
            </a:r>
            <a:r>
              <a:rPr lang="zh-CN" altLang="en-US" sz="34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关键</a:t>
            </a:r>
            <a:r>
              <a:rPr lang="zh-CN" altLang="en-US" sz="34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技术</a:t>
            </a:r>
            <a:endParaRPr lang="en-US" altLang="zh-CN" sz="36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8" name="矩形 7"/>
          <p:cNvSpPr/>
          <p:nvPr/>
        </p:nvSpPr>
        <p:spPr>
          <a:xfrm>
            <a:off x="237391" y="1069052"/>
            <a:ext cx="7628315" cy="584775"/>
          </a:xfrm>
          <a:prstGeom prst="rect">
            <a:avLst/>
          </a:prstGeom>
        </p:spPr>
        <p:txBody>
          <a:bodyPr wrap="square">
            <a:spAutoFit/>
          </a:bodyPr>
          <a:lstStyle/>
          <a:p>
            <a:pPr lvl="0">
              <a:spcBef>
                <a:spcPct val="0"/>
              </a:spcBef>
              <a:defRPr/>
            </a:pPr>
            <a:r>
              <a:rPr lang="en-US" altLang="zh-CN" sz="32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5G-V2X</a:t>
            </a:r>
            <a:r>
              <a:rPr lang="zh-CN" altLang="en-US" sz="32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跨无线接入技术调度机制</a:t>
            </a:r>
            <a:endParaRPr lang="en-US" altLang="zh-CN" sz="32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5" name="矩形 4"/>
          <p:cNvSpPr/>
          <p:nvPr/>
        </p:nvSpPr>
        <p:spPr>
          <a:xfrm>
            <a:off x="237390" y="1667842"/>
            <a:ext cx="8710667" cy="2862322"/>
          </a:xfrm>
          <a:prstGeom prst="rect">
            <a:avLst/>
          </a:prstGeom>
        </p:spPr>
        <p:txBody>
          <a:bodyPr wrap="square">
            <a:spAutoFit/>
          </a:bodyPr>
          <a:lstStyle/>
          <a:p>
            <a:pPr algn="just">
              <a:lnSpc>
                <a:spcPct val="150000"/>
              </a:lnSpc>
            </a:pPr>
            <a:r>
              <a:rPr kumimoji="1" lang="zh-CN" altLang="en-US" sz="2000" b="1" dirty="0" smtClean="0">
                <a:latin typeface="Microsoft YaHei" panose="020B0503020204020204" pitchFamily="34" charset="-122"/>
                <a:ea typeface="Microsoft YaHei" panose="020B0503020204020204" pitchFamily="34" charset="-122"/>
                <a:cs typeface="微软雅黑" charset="0"/>
              </a:rPr>
              <a:t>背景：</a:t>
            </a:r>
            <a:r>
              <a:rPr kumimoji="1" lang="zh-CN" altLang="en-US" sz="2000" dirty="0">
                <a:latin typeface="Microsoft YaHei" panose="020B0503020204020204" pitchFamily="34" charset="-122"/>
                <a:ea typeface="Microsoft YaHei" panose="020B0503020204020204" pitchFamily="34" charset="-122"/>
                <a:cs typeface="微软雅黑" charset="0"/>
              </a:rPr>
              <a:t>在直通链路的部署和演进过程中</a:t>
            </a:r>
            <a:r>
              <a:rPr kumimoji="1" lang="zh-CN" altLang="en-US" sz="2000" dirty="0" smtClean="0">
                <a:latin typeface="Microsoft YaHei" panose="020B0503020204020204" pitchFamily="34" charset="-122"/>
                <a:ea typeface="Microsoft YaHei" panose="020B0503020204020204" pitchFamily="34" charset="-122"/>
                <a:cs typeface="微软雅黑" charset="0"/>
              </a:rPr>
              <a:t>，会出现</a:t>
            </a:r>
            <a:r>
              <a:rPr kumimoji="1" lang="en-US" altLang="zh-CN" sz="2000" dirty="0" smtClean="0">
                <a:latin typeface="Microsoft YaHei" panose="020B0503020204020204" pitchFamily="34" charset="-122"/>
                <a:ea typeface="Microsoft YaHei" panose="020B0503020204020204" pitchFamily="34" charset="-122"/>
                <a:cs typeface="微软雅黑" charset="0"/>
              </a:rPr>
              <a:t>LTE-V2X</a:t>
            </a:r>
            <a:r>
              <a:rPr kumimoji="1" lang="zh-CN" altLang="en-US" sz="2000" dirty="0" smtClean="0">
                <a:latin typeface="Microsoft YaHei" panose="020B0503020204020204" pitchFamily="34" charset="-122"/>
                <a:ea typeface="Microsoft YaHei" panose="020B0503020204020204" pitchFamily="34" charset="-122"/>
                <a:cs typeface="微软雅黑" charset="0"/>
              </a:rPr>
              <a:t>和</a:t>
            </a:r>
            <a:r>
              <a:rPr kumimoji="1" lang="en-US" altLang="zh-CN" sz="2000" dirty="0" smtClean="0">
                <a:latin typeface="Microsoft YaHei" panose="020B0503020204020204" pitchFamily="34" charset="-122"/>
                <a:ea typeface="Microsoft YaHei" panose="020B0503020204020204" pitchFamily="34" charset="-122"/>
                <a:cs typeface="微软雅黑" charset="0"/>
              </a:rPr>
              <a:t>5G-V2X</a:t>
            </a:r>
            <a:r>
              <a:rPr kumimoji="1" lang="zh-CN" altLang="en-US" sz="2000" dirty="0" smtClean="0">
                <a:latin typeface="Microsoft YaHei" panose="020B0503020204020204" pitchFamily="34" charset="-122"/>
                <a:ea typeface="Microsoft YaHei" panose="020B0503020204020204" pitchFamily="34" charset="-122"/>
                <a:cs typeface="微软雅黑" charset="0"/>
              </a:rPr>
              <a:t>共存</a:t>
            </a:r>
            <a:r>
              <a:rPr kumimoji="1" lang="zh-CN" altLang="en-US" sz="2000" dirty="0">
                <a:latin typeface="Microsoft YaHei" panose="020B0503020204020204" pitchFamily="34" charset="-122"/>
                <a:ea typeface="Microsoft YaHei" panose="020B0503020204020204" pitchFamily="34" charset="-122"/>
                <a:cs typeface="微软雅黑" charset="0"/>
              </a:rPr>
              <a:t>的情况。</a:t>
            </a:r>
            <a:endParaRPr kumimoji="1" lang="en-US" altLang="zh-CN" sz="2000" dirty="0" smtClean="0">
              <a:latin typeface="Microsoft YaHei" panose="020B0503020204020204" pitchFamily="34" charset="-122"/>
              <a:ea typeface="Microsoft YaHei" panose="020B0503020204020204" pitchFamily="34" charset="-122"/>
              <a:cs typeface="微软雅黑" charset="0"/>
            </a:endParaRPr>
          </a:p>
          <a:p>
            <a:pPr algn="just">
              <a:lnSpc>
                <a:spcPct val="150000"/>
              </a:lnSpc>
            </a:pPr>
            <a:endParaRPr kumimoji="1" lang="en-US" altLang="zh-CN" sz="2000" dirty="0" smtClean="0">
              <a:latin typeface="Microsoft YaHei" panose="020B0503020204020204" pitchFamily="34" charset="-122"/>
              <a:ea typeface="Microsoft YaHei" panose="020B0503020204020204" pitchFamily="34" charset="-122"/>
              <a:cs typeface="微软雅黑" charset="0"/>
            </a:endParaRPr>
          </a:p>
          <a:p>
            <a:pPr algn="just">
              <a:lnSpc>
                <a:spcPct val="150000"/>
              </a:lnSpc>
            </a:pPr>
            <a:r>
              <a:rPr kumimoji="1" lang="zh-CN" altLang="en-US" sz="2000" b="1" dirty="0" smtClean="0">
                <a:latin typeface="Microsoft YaHei" panose="020B0503020204020204" pitchFamily="34" charset="-122"/>
                <a:ea typeface="Microsoft YaHei" panose="020B0503020204020204" pitchFamily="34" charset="-122"/>
                <a:cs typeface="微软雅黑" charset="0"/>
              </a:rPr>
              <a:t>机制：</a:t>
            </a:r>
            <a:endParaRPr kumimoji="1" lang="en-US" altLang="zh-CN" sz="2000" b="1" dirty="0" smtClean="0">
              <a:latin typeface="Microsoft YaHei" panose="020B0503020204020204" pitchFamily="34" charset="-122"/>
              <a:ea typeface="Microsoft YaHei" panose="020B0503020204020204" pitchFamily="34" charset="-122"/>
              <a:cs typeface="微软雅黑" charset="0"/>
            </a:endParaRPr>
          </a:p>
          <a:p>
            <a:pPr algn="just">
              <a:lnSpc>
                <a:spcPct val="150000"/>
              </a:lnSpc>
            </a:pPr>
            <a:r>
              <a:rPr kumimoji="1" lang="zh-CN" altLang="en-US" sz="2000" dirty="0" smtClean="0">
                <a:latin typeface="Microsoft YaHei" panose="020B0503020204020204" pitchFamily="34" charset="-122"/>
                <a:ea typeface="Microsoft YaHei" panose="020B0503020204020204" pitchFamily="34" charset="-122"/>
                <a:cs typeface="微软雅黑" charset="0"/>
              </a:rPr>
              <a:t>在</a:t>
            </a:r>
            <a:r>
              <a:rPr kumimoji="1" lang="en-US" altLang="zh-CN" sz="2000" dirty="0" smtClean="0">
                <a:latin typeface="Microsoft YaHei" panose="020B0503020204020204" pitchFamily="34" charset="-122"/>
                <a:ea typeface="Microsoft YaHei" panose="020B0503020204020204" pitchFamily="34" charset="-122"/>
                <a:cs typeface="微软雅黑" charset="0"/>
              </a:rPr>
              <a:t>LTE </a:t>
            </a:r>
            <a:r>
              <a:rPr kumimoji="1" lang="en-US" altLang="zh-CN" sz="2000" dirty="0" err="1" smtClean="0">
                <a:latin typeface="Microsoft YaHei" panose="020B0503020204020204" pitchFamily="34" charset="-122"/>
                <a:ea typeface="Microsoft YaHei" panose="020B0503020204020204" pitchFamily="34" charset="-122"/>
                <a:cs typeface="微软雅黑" charset="0"/>
              </a:rPr>
              <a:t>Uu</a:t>
            </a:r>
            <a:r>
              <a:rPr kumimoji="1" lang="zh-CN" altLang="en-US" sz="2000" dirty="0" smtClean="0">
                <a:latin typeface="Microsoft YaHei" panose="020B0503020204020204" pitchFamily="34" charset="-122"/>
                <a:ea typeface="Microsoft YaHei" panose="020B0503020204020204" pitchFamily="34" charset="-122"/>
                <a:cs typeface="微软雅黑" charset="0"/>
              </a:rPr>
              <a:t>控制</a:t>
            </a:r>
            <a:r>
              <a:rPr kumimoji="1" lang="en-US" altLang="zh-CN" sz="2000" dirty="0" smtClean="0">
                <a:latin typeface="Microsoft YaHei" panose="020B0503020204020204" pitchFamily="34" charset="-122"/>
                <a:ea typeface="Microsoft YaHei" panose="020B0503020204020204" pitchFamily="34" charset="-122"/>
                <a:cs typeface="微软雅黑" charset="0"/>
              </a:rPr>
              <a:t>LTE</a:t>
            </a:r>
            <a:r>
              <a:rPr kumimoji="1" lang="zh-CN" altLang="en-US" sz="2000" dirty="0" smtClean="0">
                <a:latin typeface="Microsoft YaHei" panose="020B0503020204020204" pitchFamily="34" charset="-122"/>
                <a:ea typeface="Microsoft YaHei" panose="020B0503020204020204" pitchFamily="34" charset="-122"/>
                <a:cs typeface="微软雅黑" charset="0"/>
              </a:rPr>
              <a:t>直通链路</a:t>
            </a:r>
            <a:r>
              <a:rPr kumimoji="1" lang="zh-CN" altLang="en-US" sz="2000" dirty="0">
                <a:latin typeface="Microsoft YaHei" panose="020B0503020204020204" pitchFamily="34" charset="-122"/>
                <a:ea typeface="Microsoft YaHei" panose="020B0503020204020204" pitchFamily="34" charset="-122"/>
                <a:cs typeface="微软雅黑" charset="0"/>
              </a:rPr>
              <a:t>、</a:t>
            </a:r>
            <a:r>
              <a:rPr kumimoji="1" lang="en-US" altLang="zh-CN" sz="2000" dirty="0">
                <a:latin typeface="Microsoft YaHei" panose="020B0503020204020204" pitchFamily="34" charset="-122"/>
                <a:ea typeface="Microsoft YaHei" panose="020B0503020204020204" pitchFamily="34" charset="-122"/>
                <a:cs typeface="微软雅黑" charset="0"/>
              </a:rPr>
              <a:t>NR </a:t>
            </a:r>
            <a:r>
              <a:rPr kumimoji="1" lang="en-US" altLang="zh-CN" sz="2000" dirty="0" err="1" smtClean="0">
                <a:latin typeface="Microsoft YaHei" panose="020B0503020204020204" pitchFamily="34" charset="-122"/>
                <a:ea typeface="Microsoft YaHei" panose="020B0503020204020204" pitchFamily="34" charset="-122"/>
                <a:cs typeface="微软雅黑" charset="0"/>
              </a:rPr>
              <a:t>Uu</a:t>
            </a:r>
            <a:r>
              <a:rPr kumimoji="1" lang="zh-CN" altLang="en-US" sz="2000" dirty="0" smtClean="0">
                <a:latin typeface="Microsoft YaHei" panose="020B0503020204020204" pitchFamily="34" charset="-122"/>
                <a:ea typeface="Microsoft YaHei" panose="020B0503020204020204" pitchFamily="34" charset="-122"/>
                <a:cs typeface="微软雅黑" charset="0"/>
              </a:rPr>
              <a:t>控制</a:t>
            </a:r>
            <a:r>
              <a:rPr kumimoji="1" lang="en-US" altLang="zh-CN" sz="2000" dirty="0" smtClean="0">
                <a:latin typeface="Microsoft YaHei" panose="020B0503020204020204" pitchFamily="34" charset="-122"/>
                <a:ea typeface="Microsoft YaHei" panose="020B0503020204020204" pitchFamily="34" charset="-122"/>
                <a:cs typeface="微软雅黑" charset="0"/>
              </a:rPr>
              <a:t>NR</a:t>
            </a:r>
            <a:r>
              <a:rPr kumimoji="1" lang="zh-CN" altLang="en-US" sz="2000" dirty="0" smtClean="0">
                <a:latin typeface="Microsoft YaHei" panose="020B0503020204020204" pitchFamily="34" charset="-122"/>
                <a:ea typeface="Microsoft YaHei" panose="020B0503020204020204" pitchFamily="34" charset="-122"/>
                <a:cs typeface="微软雅黑" charset="0"/>
              </a:rPr>
              <a:t>直通</a:t>
            </a:r>
            <a:r>
              <a:rPr kumimoji="1" lang="zh-CN" altLang="en-US" sz="2000" dirty="0">
                <a:latin typeface="Microsoft YaHei" panose="020B0503020204020204" pitchFamily="34" charset="-122"/>
                <a:ea typeface="Microsoft YaHei" panose="020B0503020204020204" pitchFamily="34" charset="-122"/>
                <a:cs typeface="微软雅黑" charset="0"/>
              </a:rPr>
              <a:t>链路之外，</a:t>
            </a:r>
            <a:r>
              <a:rPr kumimoji="1" lang="en-US" altLang="zh-CN" sz="2000" dirty="0" smtClean="0">
                <a:latin typeface="Microsoft YaHei" panose="020B0503020204020204" pitchFamily="34" charset="-122"/>
                <a:ea typeface="Microsoft YaHei" panose="020B0503020204020204" pitchFamily="34" charset="-122"/>
                <a:cs typeface="微软雅黑" charset="0"/>
              </a:rPr>
              <a:t>5G-V2X</a:t>
            </a:r>
            <a:r>
              <a:rPr kumimoji="1" lang="zh-CN" altLang="en-US" sz="2000" dirty="0" smtClean="0">
                <a:latin typeface="Microsoft YaHei" panose="020B0503020204020204" pitchFamily="34" charset="-122"/>
                <a:ea typeface="Microsoft YaHei" panose="020B0503020204020204" pitchFamily="34" charset="-122"/>
                <a:cs typeface="微软雅黑" charset="0"/>
              </a:rPr>
              <a:t>还</a:t>
            </a:r>
            <a:r>
              <a:rPr kumimoji="1" lang="zh-CN" altLang="en-US" sz="2000" dirty="0">
                <a:latin typeface="Microsoft YaHei" panose="020B0503020204020204" pitchFamily="34" charset="-122"/>
                <a:ea typeface="Microsoft YaHei" panose="020B0503020204020204" pitchFamily="34" charset="-122"/>
                <a:cs typeface="微软雅黑" charset="0"/>
              </a:rPr>
              <a:t>研究</a:t>
            </a:r>
            <a:r>
              <a:rPr kumimoji="1" lang="zh-CN" altLang="en-US" sz="2000" dirty="0" smtClean="0">
                <a:latin typeface="Microsoft YaHei" panose="020B0503020204020204" pitchFamily="34" charset="-122"/>
                <a:ea typeface="Microsoft YaHei" panose="020B0503020204020204" pitchFamily="34" charset="-122"/>
                <a:cs typeface="微软雅黑" charset="0"/>
              </a:rPr>
              <a:t>了</a:t>
            </a:r>
            <a:r>
              <a:rPr kumimoji="1" lang="en-US" altLang="zh-CN" sz="2000" dirty="0" smtClean="0">
                <a:latin typeface="Microsoft YaHei" panose="020B0503020204020204" pitchFamily="34" charset="-122"/>
                <a:ea typeface="Microsoft YaHei" panose="020B0503020204020204" pitchFamily="34" charset="-122"/>
                <a:cs typeface="微软雅黑" charset="0"/>
              </a:rPr>
              <a:t>LTE </a:t>
            </a:r>
            <a:r>
              <a:rPr kumimoji="1" lang="en-US" altLang="zh-CN" sz="2000" dirty="0" err="1" smtClean="0">
                <a:latin typeface="Microsoft YaHei" panose="020B0503020204020204" pitchFamily="34" charset="-122"/>
                <a:ea typeface="Microsoft YaHei" panose="020B0503020204020204" pitchFamily="34" charset="-122"/>
                <a:cs typeface="微软雅黑" charset="0"/>
              </a:rPr>
              <a:t>Uu</a:t>
            </a:r>
            <a:r>
              <a:rPr kumimoji="1" lang="zh-CN" altLang="en-US" sz="2000" dirty="0" smtClean="0">
                <a:latin typeface="Microsoft YaHei" panose="020B0503020204020204" pitchFamily="34" charset="-122"/>
                <a:ea typeface="Microsoft YaHei" panose="020B0503020204020204" pitchFamily="34" charset="-122"/>
                <a:cs typeface="微软雅黑" charset="0"/>
              </a:rPr>
              <a:t>控制</a:t>
            </a:r>
            <a:r>
              <a:rPr kumimoji="1" lang="en-US" altLang="zh-CN" sz="2000" dirty="0" smtClean="0">
                <a:latin typeface="Microsoft YaHei" panose="020B0503020204020204" pitchFamily="34" charset="-122"/>
                <a:ea typeface="Microsoft YaHei" panose="020B0503020204020204" pitchFamily="34" charset="-122"/>
                <a:cs typeface="微软雅黑" charset="0"/>
              </a:rPr>
              <a:t>NR</a:t>
            </a:r>
            <a:r>
              <a:rPr kumimoji="1" lang="zh-CN" altLang="en-US" sz="2000" dirty="0" smtClean="0">
                <a:latin typeface="Microsoft YaHei" panose="020B0503020204020204" pitchFamily="34" charset="-122"/>
                <a:ea typeface="Microsoft YaHei" panose="020B0503020204020204" pitchFamily="34" charset="-122"/>
                <a:cs typeface="微软雅黑" charset="0"/>
              </a:rPr>
              <a:t>直通</a:t>
            </a:r>
            <a:r>
              <a:rPr kumimoji="1" lang="zh-CN" altLang="en-US" sz="2000" dirty="0">
                <a:latin typeface="Microsoft YaHei" panose="020B0503020204020204" pitchFamily="34" charset="-122"/>
                <a:ea typeface="Microsoft YaHei" panose="020B0503020204020204" pitchFamily="34" charset="-122"/>
                <a:cs typeface="微软雅黑" charset="0"/>
              </a:rPr>
              <a:t>链路的技术，</a:t>
            </a:r>
            <a:r>
              <a:rPr kumimoji="1" lang="zh-CN" altLang="en-US" sz="2000" dirty="0" smtClean="0">
                <a:latin typeface="Microsoft YaHei" panose="020B0503020204020204" pitchFamily="34" charset="-122"/>
                <a:ea typeface="Microsoft YaHei" panose="020B0503020204020204" pitchFamily="34" charset="-122"/>
                <a:cs typeface="微软雅黑" charset="0"/>
              </a:rPr>
              <a:t>以及</a:t>
            </a:r>
            <a:r>
              <a:rPr kumimoji="1" lang="en-US" altLang="zh-CN" sz="2000" dirty="0" smtClean="0">
                <a:latin typeface="Microsoft YaHei" panose="020B0503020204020204" pitchFamily="34" charset="-122"/>
                <a:ea typeface="Microsoft YaHei" panose="020B0503020204020204" pitchFamily="34" charset="-122"/>
                <a:cs typeface="微软雅黑" charset="0"/>
              </a:rPr>
              <a:t>NR </a:t>
            </a:r>
            <a:r>
              <a:rPr kumimoji="1" lang="en-US" altLang="zh-CN" sz="2000" dirty="0" err="1" smtClean="0">
                <a:latin typeface="Microsoft YaHei" panose="020B0503020204020204" pitchFamily="34" charset="-122"/>
                <a:ea typeface="Microsoft YaHei" panose="020B0503020204020204" pitchFamily="34" charset="-122"/>
                <a:cs typeface="微软雅黑" charset="0"/>
              </a:rPr>
              <a:t>Uu</a:t>
            </a:r>
            <a:r>
              <a:rPr kumimoji="1" lang="zh-CN" altLang="en-US" sz="2000" dirty="0" smtClean="0">
                <a:latin typeface="Microsoft YaHei" panose="020B0503020204020204" pitchFamily="34" charset="-122"/>
                <a:ea typeface="Microsoft YaHei" panose="020B0503020204020204" pitchFamily="34" charset="-122"/>
                <a:cs typeface="微软雅黑" charset="0"/>
              </a:rPr>
              <a:t>控制</a:t>
            </a:r>
            <a:r>
              <a:rPr kumimoji="1" lang="en-US" altLang="zh-CN" sz="2000" dirty="0" smtClean="0">
                <a:latin typeface="Microsoft YaHei" panose="020B0503020204020204" pitchFamily="34" charset="-122"/>
                <a:ea typeface="Microsoft YaHei" panose="020B0503020204020204" pitchFamily="34" charset="-122"/>
                <a:cs typeface="微软雅黑" charset="0"/>
              </a:rPr>
              <a:t>LTE</a:t>
            </a:r>
            <a:r>
              <a:rPr kumimoji="1" lang="zh-CN" altLang="en-US" sz="2000" dirty="0" smtClean="0">
                <a:latin typeface="Microsoft YaHei" panose="020B0503020204020204" pitchFamily="34" charset="-122"/>
                <a:ea typeface="Microsoft YaHei" panose="020B0503020204020204" pitchFamily="34" charset="-122"/>
                <a:cs typeface="微软雅黑" charset="0"/>
              </a:rPr>
              <a:t>直通</a:t>
            </a:r>
            <a:r>
              <a:rPr kumimoji="1" lang="zh-CN" altLang="en-US" sz="2000" dirty="0">
                <a:latin typeface="Microsoft YaHei" panose="020B0503020204020204" pitchFamily="34" charset="-122"/>
                <a:ea typeface="Microsoft YaHei" panose="020B0503020204020204" pitchFamily="34" charset="-122"/>
                <a:cs typeface="微软雅黑" charset="0"/>
              </a:rPr>
              <a:t>链路的技术</a:t>
            </a:r>
            <a:r>
              <a:rPr kumimoji="1" lang="zh-CN" altLang="en-US" sz="2000" dirty="0" smtClean="0">
                <a:latin typeface="Microsoft YaHei" panose="020B0503020204020204" pitchFamily="34" charset="-122"/>
                <a:ea typeface="Microsoft YaHei" panose="020B0503020204020204" pitchFamily="34" charset="-122"/>
                <a:cs typeface="微软雅黑" charset="0"/>
              </a:rPr>
              <a:t>。</a:t>
            </a:r>
            <a:endParaRPr kumimoji="1" lang="zh-CN" altLang="en-US" sz="2000" dirty="0">
              <a:latin typeface="Microsoft YaHei" panose="020B0503020204020204" pitchFamily="34" charset="-122"/>
              <a:ea typeface="Microsoft YaHei" panose="020B0503020204020204" pitchFamily="34" charset="-122"/>
              <a:cs typeface="微软雅黑" charset="0"/>
            </a:endParaRPr>
          </a:p>
        </p:txBody>
      </p:sp>
    </p:spTree>
    <p:extLst>
      <p:ext uri="{BB962C8B-B14F-4D97-AF65-F5344CB8AC3E}">
        <p14:creationId xmlns:p14="http://schemas.microsoft.com/office/powerpoint/2010/main" val="3681987837"/>
      </p:ext>
    </p:extLst>
  </p:cSld>
  <p:clrMapOvr>
    <a:masterClrMapping/>
  </p:clrMapOvr>
  <p:transition spd="slow" advClick="0"/>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11" descr="program-ciat2020"/>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sp>
        <p:nvSpPr>
          <p:cNvPr id="2" name="标题 1"/>
          <p:cNvSpPr txBox="1"/>
          <p:nvPr/>
        </p:nvSpPr>
        <p:spPr>
          <a:xfrm>
            <a:off x="237392" y="191297"/>
            <a:ext cx="9251576" cy="679847"/>
          </a:xfrm>
          <a:prstGeom prst="rect">
            <a:avLst/>
          </a:prstGeom>
        </p:spPr>
        <p:txBody>
          <a:bodyPr vert="horz" lIns="68580" tIns="34290" rIns="68580" bIns="34290" rtlCol="0" anchor="ctr">
            <a:normAutofit/>
          </a:bodyPr>
          <a:lstStyle/>
          <a:p>
            <a:pPr lvl="0">
              <a:spcBef>
                <a:spcPct val="0"/>
              </a:spcBef>
              <a:defRPr/>
            </a:pPr>
            <a:r>
              <a:rPr lang="en-US" altLang="zh-CN" sz="34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5G-V2X </a:t>
            </a:r>
            <a:r>
              <a:rPr lang="zh-CN" altLang="en-US" sz="34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关键</a:t>
            </a:r>
            <a:r>
              <a:rPr lang="zh-CN" altLang="en-US" sz="34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技术</a:t>
            </a:r>
            <a:endParaRPr lang="en-US" altLang="zh-CN" sz="36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8" name="矩形 7"/>
          <p:cNvSpPr/>
          <p:nvPr/>
        </p:nvSpPr>
        <p:spPr>
          <a:xfrm>
            <a:off x="237391" y="1069052"/>
            <a:ext cx="7628315" cy="584775"/>
          </a:xfrm>
          <a:prstGeom prst="rect">
            <a:avLst/>
          </a:prstGeom>
        </p:spPr>
        <p:txBody>
          <a:bodyPr wrap="square">
            <a:spAutoFit/>
          </a:bodyPr>
          <a:lstStyle/>
          <a:p>
            <a:pPr lvl="0">
              <a:spcBef>
                <a:spcPct val="0"/>
              </a:spcBef>
              <a:defRPr/>
            </a:pPr>
            <a:r>
              <a:rPr lang="en-US" altLang="zh-CN" sz="32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5G-V2X</a:t>
            </a:r>
            <a:r>
              <a:rPr lang="zh-CN" altLang="en-US" sz="32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与 </a:t>
            </a:r>
            <a:r>
              <a:rPr lang="en-US" altLang="zh-CN" sz="32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LTE-V2X </a:t>
            </a:r>
            <a:r>
              <a:rPr lang="zh-CN" altLang="en-US" sz="32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设备内共存</a:t>
            </a:r>
            <a:endParaRPr lang="en-US" altLang="zh-CN" sz="32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5" name="矩形 4"/>
          <p:cNvSpPr/>
          <p:nvPr/>
        </p:nvSpPr>
        <p:spPr>
          <a:xfrm>
            <a:off x="237390" y="1667842"/>
            <a:ext cx="8710667" cy="3785652"/>
          </a:xfrm>
          <a:prstGeom prst="rect">
            <a:avLst/>
          </a:prstGeom>
        </p:spPr>
        <p:txBody>
          <a:bodyPr wrap="square">
            <a:spAutoFit/>
          </a:bodyPr>
          <a:lstStyle/>
          <a:p>
            <a:pPr algn="just">
              <a:lnSpc>
                <a:spcPct val="150000"/>
              </a:lnSpc>
            </a:pPr>
            <a:r>
              <a:rPr kumimoji="1" lang="zh-CN" altLang="en-US" sz="2000" b="1" dirty="0" smtClean="0">
                <a:latin typeface="Microsoft YaHei" panose="020B0503020204020204" pitchFamily="34" charset="-122"/>
                <a:ea typeface="Microsoft YaHei" panose="020B0503020204020204" pitchFamily="34" charset="-122"/>
                <a:cs typeface="微软雅黑" charset="0"/>
              </a:rPr>
              <a:t>目的：</a:t>
            </a:r>
            <a:r>
              <a:rPr kumimoji="1" lang="zh-CN" altLang="en-US" sz="2000" dirty="0" smtClean="0">
                <a:latin typeface="Microsoft YaHei" panose="020B0503020204020204" pitchFamily="34" charset="-122"/>
                <a:ea typeface="Microsoft YaHei" panose="020B0503020204020204" pitchFamily="34" charset="-122"/>
                <a:cs typeface="微软雅黑" charset="0"/>
              </a:rPr>
              <a:t>具备</a:t>
            </a:r>
            <a:r>
              <a:rPr kumimoji="1" lang="en-US" altLang="zh-CN" sz="2000" dirty="0" smtClean="0">
                <a:latin typeface="Microsoft YaHei" panose="020B0503020204020204" pitchFamily="34" charset="-122"/>
                <a:ea typeface="Microsoft YaHei" panose="020B0503020204020204" pitchFamily="34" charset="-122"/>
                <a:cs typeface="微软雅黑" charset="0"/>
              </a:rPr>
              <a:t>5G-V2X</a:t>
            </a:r>
            <a:r>
              <a:rPr kumimoji="1" lang="zh-CN" altLang="en-US" sz="2000" dirty="0" smtClean="0">
                <a:latin typeface="Microsoft YaHei" panose="020B0503020204020204" pitchFamily="34" charset="-122"/>
                <a:ea typeface="Microsoft YaHei" panose="020B0503020204020204" pitchFamily="34" charset="-122"/>
                <a:cs typeface="微软雅黑" charset="0"/>
              </a:rPr>
              <a:t>的</a:t>
            </a:r>
            <a:r>
              <a:rPr kumimoji="1" lang="zh-CN" altLang="en-US" sz="2000" dirty="0">
                <a:latin typeface="Microsoft YaHei" panose="020B0503020204020204" pitchFamily="34" charset="-122"/>
                <a:ea typeface="Microsoft YaHei" panose="020B0503020204020204" pitchFamily="34" charset="-122"/>
                <a:cs typeface="微软雅黑" charset="0"/>
              </a:rPr>
              <a:t>设备作为后来者，为了实现</a:t>
            </a:r>
            <a:r>
              <a:rPr kumimoji="1" lang="zh-CN" altLang="en-US" sz="2000" dirty="0" smtClean="0">
                <a:latin typeface="Microsoft YaHei" panose="020B0503020204020204" pitchFamily="34" charset="-122"/>
                <a:ea typeface="Microsoft YaHei" panose="020B0503020204020204" pitchFamily="34" charset="-122"/>
                <a:cs typeface="微软雅黑" charset="0"/>
              </a:rPr>
              <a:t>与</a:t>
            </a:r>
            <a:r>
              <a:rPr kumimoji="1" lang="en-US" altLang="zh-CN" sz="2000" dirty="0" smtClean="0">
                <a:latin typeface="Microsoft YaHei" panose="020B0503020204020204" pitchFamily="34" charset="-122"/>
                <a:ea typeface="Microsoft YaHei" panose="020B0503020204020204" pitchFamily="34" charset="-122"/>
                <a:cs typeface="微软雅黑" charset="0"/>
              </a:rPr>
              <a:t>LTE-V2X</a:t>
            </a:r>
            <a:r>
              <a:rPr kumimoji="1" lang="zh-CN" altLang="en-US" sz="2000" dirty="0" smtClean="0">
                <a:latin typeface="Microsoft YaHei" panose="020B0503020204020204" pitchFamily="34" charset="-122"/>
                <a:ea typeface="Microsoft YaHei" panose="020B0503020204020204" pitchFamily="34" charset="-122"/>
                <a:cs typeface="微软雅黑" charset="0"/>
              </a:rPr>
              <a:t>技术</a:t>
            </a:r>
            <a:r>
              <a:rPr kumimoji="1" lang="zh-CN" altLang="en-US" sz="2000" dirty="0">
                <a:latin typeface="Microsoft YaHei" panose="020B0503020204020204" pitchFamily="34" charset="-122"/>
                <a:ea typeface="Microsoft YaHei" panose="020B0503020204020204" pitchFamily="34" charset="-122"/>
                <a:cs typeface="微软雅黑" charset="0"/>
              </a:rPr>
              <a:t>直通链路的互联互通，需要设备内同时支持</a:t>
            </a:r>
            <a:r>
              <a:rPr kumimoji="1" lang="en-US" altLang="zh-CN" sz="2000" dirty="0" smtClean="0">
                <a:latin typeface="Microsoft YaHei" panose="020B0503020204020204" pitchFamily="34" charset="-122"/>
                <a:ea typeface="Microsoft YaHei" panose="020B0503020204020204" pitchFamily="34" charset="-122"/>
                <a:cs typeface="微软雅黑" charset="0"/>
              </a:rPr>
              <a:t>LTE-V2X</a:t>
            </a:r>
            <a:r>
              <a:rPr kumimoji="1" lang="zh-CN" altLang="en-US" sz="2000" dirty="0" smtClean="0">
                <a:latin typeface="Microsoft YaHei" panose="020B0503020204020204" pitchFamily="34" charset="-122"/>
                <a:ea typeface="Microsoft YaHei" panose="020B0503020204020204" pitchFamily="34" charset="-122"/>
                <a:cs typeface="微软雅黑" charset="0"/>
              </a:rPr>
              <a:t>和</a:t>
            </a:r>
            <a:r>
              <a:rPr kumimoji="1" lang="en-US" altLang="zh-CN" sz="2000" dirty="0" smtClean="0">
                <a:latin typeface="Microsoft YaHei" panose="020B0503020204020204" pitchFamily="34" charset="-122"/>
                <a:ea typeface="Microsoft YaHei" panose="020B0503020204020204" pitchFamily="34" charset="-122"/>
                <a:cs typeface="微软雅黑" charset="0"/>
              </a:rPr>
              <a:t>5G-V2X</a:t>
            </a:r>
            <a:r>
              <a:rPr kumimoji="1" lang="zh-CN" altLang="en-US" sz="2000" dirty="0" smtClean="0">
                <a:latin typeface="Microsoft YaHei" panose="020B0503020204020204" pitchFamily="34" charset="-122"/>
                <a:ea typeface="Microsoft YaHei" panose="020B0503020204020204" pitchFamily="34" charset="-122"/>
                <a:cs typeface="微软雅黑" charset="0"/>
              </a:rPr>
              <a:t>两种</a:t>
            </a:r>
            <a:r>
              <a:rPr kumimoji="1" lang="zh-CN" altLang="en-US" sz="2000" dirty="0">
                <a:latin typeface="Microsoft YaHei" panose="020B0503020204020204" pitchFamily="34" charset="-122"/>
                <a:ea typeface="Microsoft YaHei" panose="020B0503020204020204" pitchFamily="34" charset="-122"/>
                <a:cs typeface="微软雅黑" charset="0"/>
              </a:rPr>
              <a:t>直通链路的</a:t>
            </a:r>
            <a:r>
              <a:rPr kumimoji="1" lang="zh-CN" altLang="en-US" sz="2000" dirty="0" smtClean="0">
                <a:latin typeface="Microsoft YaHei" panose="020B0503020204020204" pitchFamily="34" charset="-122"/>
                <a:ea typeface="Microsoft YaHei" panose="020B0503020204020204" pitchFamily="34" charset="-122"/>
                <a:cs typeface="微软雅黑" charset="0"/>
              </a:rPr>
              <a:t>技术。</a:t>
            </a:r>
            <a:endParaRPr kumimoji="1" lang="en-US" altLang="zh-CN" sz="2000" dirty="0" smtClean="0">
              <a:latin typeface="Microsoft YaHei" panose="020B0503020204020204" pitchFamily="34" charset="-122"/>
              <a:ea typeface="Microsoft YaHei" panose="020B0503020204020204" pitchFamily="34" charset="-122"/>
              <a:cs typeface="微软雅黑" charset="0"/>
            </a:endParaRPr>
          </a:p>
          <a:p>
            <a:pPr algn="just">
              <a:lnSpc>
                <a:spcPct val="150000"/>
              </a:lnSpc>
            </a:pPr>
            <a:endParaRPr kumimoji="1" lang="en-US" altLang="zh-CN" sz="2000" dirty="0" smtClean="0">
              <a:latin typeface="Microsoft YaHei" panose="020B0503020204020204" pitchFamily="34" charset="-122"/>
              <a:ea typeface="Microsoft YaHei" panose="020B0503020204020204" pitchFamily="34" charset="-122"/>
              <a:cs typeface="微软雅黑" charset="0"/>
            </a:endParaRPr>
          </a:p>
          <a:p>
            <a:pPr algn="just">
              <a:lnSpc>
                <a:spcPct val="150000"/>
              </a:lnSpc>
            </a:pPr>
            <a:r>
              <a:rPr kumimoji="1" lang="zh-CN" altLang="en-US" sz="2000" b="1" dirty="0" smtClean="0">
                <a:latin typeface="Microsoft YaHei" panose="020B0503020204020204" pitchFamily="34" charset="-122"/>
                <a:ea typeface="Microsoft YaHei" panose="020B0503020204020204" pitchFamily="34" charset="-122"/>
                <a:cs typeface="微软雅黑" charset="0"/>
              </a:rPr>
              <a:t>原理</a:t>
            </a:r>
            <a:r>
              <a:rPr kumimoji="1" lang="zh-CN" altLang="en-US" sz="2000" b="1" dirty="0" smtClean="0">
                <a:latin typeface="Microsoft YaHei" panose="020B0503020204020204" pitchFamily="34" charset="-122"/>
                <a:ea typeface="Microsoft YaHei" panose="020B0503020204020204" pitchFamily="34" charset="-122"/>
                <a:cs typeface="微软雅黑" charset="0"/>
              </a:rPr>
              <a:t>：</a:t>
            </a:r>
            <a:r>
              <a:rPr kumimoji="1" lang="zh-CN" altLang="en-US" sz="2000" dirty="0" smtClean="0">
                <a:latin typeface="Microsoft YaHei" panose="020B0503020204020204" pitchFamily="34" charset="-122"/>
                <a:ea typeface="Microsoft YaHei" panose="020B0503020204020204" pitchFamily="34" charset="-122"/>
                <a:cs typeface="微软雅黑" charset="0"/>
              </a:rPr>
              <a:t>设备</a:t>
            </a:r>
            <a:r>
              <a:rPr kumimoji="1" lang="zh-CN" altLang="en-US" sz="2000" dirty="0">
                <a:latin typeface="Microsoft YaHei" panose="020B0503020204020204" pitchFamily="34" charset="-122"/>
                <a:ea typeface="Microsoft YaHei" panose="020B0503020204020204" pitchFamily="34" charset="-122"/>
                <a:cs typeface="微软雅黑" charset="0"/>
              </a:rPr>
              <a:t>内共存依赖于两种直通链路部署的无线频段和带宽。当两种直通链路部署在频域间隔足够远的两个载波上时</a:t>
            </a:r>
            <a:r>
              <a:rPr kumimoji="1" lang="zh-CN" altLang="en-US" sz="2000" dirty="0" smtClean="0">
                <a:latin typeface="Microsoft YaHei" panose="020B0503020204020204" pitchFamily="34" charset="-122"/>
                <a:ea typeface="Microsoft YaHei" panose="020B0503020204020204" pitchFamily="34" charset="-122"/>
                <a:cs typeface="微软雅黑" charset="0"/>
              </a:rPr>
              <a:t>，可以</a:t>
            </a:r>
            <a:r>
              <a:rPr kumimoji="1" lang="zh-CN" altLang="en-US" sz="2000" dirty="0">
                <a:latin typeface="Microsoft YaHei" panose="020B0503020204020204" pitchFamily="34" charset="-122"/>
                <a:ea typeface="Microsoft YaHei" panose="020B0503020204020204" pitchFamily="34" charset="-122"/>
                <a:cs typeface="微软雅黑" charset="0"/>
              </a:rPr>
              <a:t>各自独立工作。</a:t>
            </a:r>
            <a:r>
              <a:rPr kumimoji="1" lang="zh-CN" altLang="en-US" sz="2000" dirty="0" smtClean="0">
                <a:latin typeface="Microsoft YaHei" panose="020B0503020204020204" pitchFamily="34" charset="-122"/>
                <a:ea typeface="Microsoft YaHei" panose="020B0503020204020204" pitchFamily="34" charset="-122"/>
                <a:cs typeface="微软雅黑" charset="0"/>
              </a:rPr>
              <a:t>当</a:t>
            </a:r>
            <a:r>
              <a:rPr kumimoji="1" lang="zh-CN" altLang="en-US" sz="2000" dirty="0">
                <a:latin typeface="Microsoft YaHei" panose="020B0503020204020204" pitchFamily="34" charset="-122"/>
                <a:ea typeface="Microsoft YaHei" panose="020B0503020204020204" pitchFamily="34" charset="-122"/>
                <a:cs typeface="微软雅黑" charset="0"/>
              </a:rPr>
              <a:t>两个</a:t>
            </a:r>
            <a:r>
              <a:rPr kumimoji="1" lang="zh-CN" altLang="en-US" sz="2000" dirty="0" smtClean="0">
                <a:latin typeface="Microsoft YaHei" panose="020B0503020204020204" pitchFamily="34" charset="-122"/>
                <a:ea typeface="Microsoft YaHei" panose="020B0503020204020204" pitchFamily="34" charset="-122"/>
                <a:cs typeface="微软雅黑" charset="0"/>
              </a:rPr>
              <a:t>载波的频域</a:t>
            </a:r>
            <a:r>
              <a:rPr kumimoji="1" lang="zh-CN" altLang="en-US" sz="2000" dirty="0">
                <a:latin typeface="Microsoft YaHei" panose="020B0503020204020204" pitchFamily="34" charset="-122"/>
                <a:ea typeface="Microsoft YaHei" panose="020B0503020204020204" pitchFamily="34" charset="-122"/>
                <a:cs typeface="微软雅黑" charset="0"/>
              </a:rPr>
              <a:t>间隔比较</a:t>
            </a:r>
            <a:r>
              <a:rPr kumimoji="1" lang="zh-CN" altLang="en-US" sz="2000" dirty="0" smtClean="0">
                <a:latin typeface="Microsoft YaHei" panose="020B0503020204020204" pitchFamily="34" charset="-122"/>
                <a:ea typeface="Microsoft YaHei" panose="020B0503020204020204" pitchFamily="34" charset="-122"/>
                <a:cs typeface="微软雅黑" charset="0"/>
              </a:rPr>
              <a:t>近时，两</a:t>
            </a:r>
            <a:r>
              <a:rPr kumimoji="1" lang="zh-CN" altLang="en-US" sz="2000" dirty="0">
                <a:latin typeface="Microsoft YaHei" panose="020B0503020204020204" pitchFamily="34" charset="-122"/>
                <a:ea typeface="Microsoft YaHei" panose="020B0503020204020204" pitchFamily="34" charset="-122"/>
                <a:cs typeface="微软雅黑" charset="0"/>
              </a:rPr>
              <a:t>个直通链路共享同一套射频链路</a:t>
            </a:r>
            <a:r>
              <a:rPr kumimoji="1" lang="zh-CN" altLang="en-US" sz="2000" dirty="0" smtClean="0">
                <a:latin typeface="Microsoft YaHei" panose="020B0503020204020204" pitchFamily="34" charset="-122"/>
                <a:ea typeface="Microsoft YaHei" panose="020B0503020204020204" pitchFamily="34" charset="-122"/>
                <a:cs typeface="微软雅黑" charset="0"/>
              </a:rPr>
              <a:t>，有</a:t>
            </a:r>
            <a:r>
              <a:rPr kumimoji="1" lang="zh-CN" altLang="en-US" sz="2000" dirty="0">
                <a:latin typeface="Microsoft YaHei" panose="020B0503020204020204" pitchFamily="34" charset="-122"/>
                <a:ea typeface="Microsoft YaHei" panose="020B0503020204020204" pitchFamily="34" charset="-122"/>
                <a:cs typeface="微软雅黑" charset="0"/>
              </a:rPr>
              <a:t>如下约束</a:t>
            </a:r>
            <a:r>
              <a:rPr kumimoji="1" lang="zh-CN" altLang="en-US" sz="2000" dirty="0" smtClean="0">
                <a:latin typeface="Microsoft YaHei" panose="020B0503020204020204" pitchFamily="34" charset="-122"/>
                <a:ea typeface="Microsoft YaHei" panose="020B0503020204020204" pitchFamily="34" charset="-122"/>
                <a:cs typeface="微软雅黑" charset="0"/>
              </a:rPr>
              <a:t>：</a:t>
            </a:r>
            <a:endParaRPr kumimoji="1" lang="en-US" altLang="zh-CN" sz="2000" dirty="0" smtClean="0">
              <a:latin typeface="Microsoft YaHei" panose="020B0503020204020204" pitchFamily="34" charset="-122"/>
              <a:ea typeface="Microsoft YaHei" panose="020B0503020204020204" pitchFamily="34" charset="-122"/>
              <a:cs typeface="微软雅黑" charset="0"/>
            </a:endParaRPr>
          </a:p>
          <a:p>
            <a:pPr marL="800100" lvl="1" indent="-342900" algn="just">
              <a:lnSpc>
                <a:spcPct val="150000"/>
              </a:lnSpc>
              <a:buFont typeface="Wingdings" panose="05000000000000000000" pitchFamily="2" charset="2"/>
              <a:buChar char="Ø"/>
            </a:pPr>
            <a:r>
              <a:rPr kumimoji="1" lang="zh-CN" altLang="en-US" sz="2000" dirty="0" smtClean="0">
                <a:latin typeface="Microsoft YaHei" panose="020B0503020204020204" pitchFamily="34" charset="-122"/>
                <a:ea typeface="Microsoft YaHei" panose="020B0503020204020204" pitchFamily="34" charset="-122"/>
                <a:cs typeface="微软雅黑" charset="0"/>
              </a:rPr>
              <a:t>半双工</a:t>
            </a:r>
            <a:r>
              <a:rPr kumimoji="1" lang="zh-CN" altLang="en-US" sz="2000" dirty="0">
                <a:latin typeface="Microsoft YaHei" panose="020B0503020204020204" pitchFamily="34" charset="-122"/>
                <a:ea typeface="Microsoft YaHei" panose="020B0503020204020204" pitchFamily="34" charset="-122"/>
                <a:cs typeface="微软雅黑" charset="0"/>
              </a:rPr>
              <a:t>的</a:t>
            </a:r>
            <a:r>
              <a:rPr kumimoji="1" lang="zh-CN" altLang="en-US" sz="2000" dirty="0" smtClean="0">
                <a:latin typeface="Microsoft YaHei" panose="020B0503020204020204" pitchFamily="34" charset="-122"/>
                <a:ea typeface="Microsoft YaHei" panose="020B0503020204020204" pitchFamily="34" charset="-122"/>
                <a:cs typeface="微软雅黑" charset="0"/>
              </a:rPr>
              <a:t>约束</a:t>
            </a:r>
            <a:r>
              <a:rPr kumimoji="1" lang="zh-CN" altLang="en-US" sz="2000" dirty="0" smtClean="0">
                <a:latin typeface="Microsoft YaHei" panose="020B0503020204020204" pitchFamily="34" charset="-122"/>
                <a:ea typeface="Microsoft YaHei" panose="020B0503020204020204" pitchFamily="34" charset="-122"/>
                <a:cs typeface="微软雅黑" charset="0"/>
              </a:rPr>
              <a:t>；</a:t>
            </a:r>
            <a:endParaRPr kumimoji="1" lang="en-US" altLang="zh-CN" sz="2000" dirty="0" smtClean="0">
              <a:latin typeface="Microsoft YaHei" panose="020B0503020204020204" pitchFamily="34" charset="-122"/>
              <a:ea typeface="Microsoft YaHei" panose="020B0503020204020204" pitchFamily="34" charset="-122"/>
              <a:cs typeface="微软雅黑" charset="0"/>
            </a:endParaRPr>
          </a:p>
          <a:p>
            <a:pPr marL="800100" lvl="1" indent="-342900" algn="just">
              <a:lnSpc>
                <a:spcPct val="150000"/>
              </a:lnSpc>
              <a:buFont typeface="Wingdings" panose="05000000000000000000" pitchFamily="2" charset="2"/>
              <a:buChar char="Ø"/>
            </a:pPr>
            <a:r>
              <a:rPr kumimoji="1" lang="zh-CN" altLang="en-US" sz="2000" dirty="0" smtClean="0">
                <a:latin typeface="Microsoft YaHei" panose="020B0503020204020204" pitchFamily="34" charset="-122"/>
                <a:ea typeface="Microsoft YaHei" panose="020B0503020204020204" pitchFamily="34" charset="-122"/>
                <a:cs typeface="微软雅黑" charset="0"/>
              </a:rPr>
              <a:t>最大</a:t>
            </a:r>
            <a:r>
              <a:rPr kumimoji="1" lang="zh-CN" altLang="en-US" sz="2000" dirty="0">
                <a:latin typeface="Microsoft YaHei" panose="020B0503020204020204" pitchFamily="34" charset="-122"/>
                <a:ea typeface="Microsoft YaHei" panose="020B0503020204020204" pitchFamily="34" charset="-122"/>
                <a:cs typeface="微软雅黑" charset="0"/>
              </a:rPr>
              <a:t>发送功率受</a:t>
            </a:r>
            <a:r>
              <a:rPr kumimoji="1" lang="zh-CN" altLang="en-US" sz="2000" dirty="0" smtClean="0">
                <a:latin typeface="Microsoft YaHei" panose="020B0503020204020204" pitchFamily="34" charset="-122"/>
                <a:ea typeface="Microsoft YaHei" panose="020B0503020204020204" pitchFamily="34" charset="-122"/>
                <a:cs typeface="微软雅黑" charset="0"/>
              </a:rPr>
              <a:t>限</a:t>
            </a:r>
            <a:r>
              <a:rPr kumimoji="1" lang="zh-CN" altLang="en-US" sz="2000" dirty="0" smtClean="0">
                <a:latin typeface="Microsoft YaHei" panose="020B0503020204020204" pitchFamily="34" charset="-122"/>
                <a:ea typeface="Microsoft YaHei" panose="020B0503020204020204" pitchFamily="34" charset="-122"/>
                <a:cs typeface="微软雅黑" charset="0"/>
              </a:rPr>
              <a:t>。</a:t>
            </a:r>
            <a:endParaRPr kumimoji="1" lang="zh-CN" altLang="en-US" sz="2000" dirty="0">
              <a:latin typeface="Microsoft YaHei" panose="020B0503020204020204" pitchFamily="34" charset="-122"/>
              <a:ea typeface="Microsoft YaHei" panose="020B0503020204020204" pitchFamily="34" charset="-122"/>
              <a:cs typeface="微软雅黑" charset="0"/>
            </a:endParaRPr>
          </a:p>
        </p:txBody>
      </p:sp>
    </p:spTree>
    <p:extLst>
      <p:ext uri="{BB962C8B-B14F-4D97-AF65-F5344CB8AC3E}">
        <p14:creationId xmlns:p14="http://schemas.microsoft.com/office/powerpoint/2010/main" val="1489785198"/>
      </p:ext>
    </p:extLst>
  </p:cSld>
  <p:clrMapOvr>
    <a:masterClrMapping/>
  </p:clrMapOvr>
  <p:transition spd="slow" advClick="0"/>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11" descr="program-ciat2020"/>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sp>
        <p:nvSpPr>
          <p:cNvPr id="2" name="标题 1"/>
          <p:cNvSpPr txBox="1"/>
          <p:nvPr/>
        </p:nvSpPr>
        <p:spPr>
          <a:xfrm>
            <a:off x="237392" y="191297"/>
            <a:ext cx="9251576" cy="679847"/>
          </a:xfrm>
          <a:prstGeom prst="rect">
            <a:avLst/>
          </a:prstGeom>
        </p:spPr>
        <p:txBody>
          <a:bodyPr vert="horz" lIns="68580" tIns="34290" rIns="68580" bIns="34290" rtlCol="0" anchor="ctr">
            <a:normAutofit/>
          </a:bodyPr>
          <a:lstStyle/>
          <a:p>
            <a:pPr lvl="0">
              <a:spcBef>
                <a:spcPct val="0"/>
              </a:spcBef>
              <a:defRPr/>
            </a:pPr>
            <a:r>
              <a:rPr lang="en-US" altLang="zh-CN" sz="34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5G-V2X</a:t>
            </a:r>
            <a:r>
              <a:rPr lang="zh-CN" altLang="en-US" sz="34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与</a:t>
            </a:r>
            <a:r>
              <a:rPr lang="en-US" altLang="zh-CN" sz="34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LTE-V2X</a:t>
            </a:r>
            <a:r>
              <a:rPr lang="zh-CN" altLang="en-US" sz="34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对比</a:t>
            </a:r>
            <a:endParaRPr lang="en-US" altLang="zh-CN" sz="36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graphicFrame>
        <p:nvGraphicFramePr>
          <p:cNvPr id="3" name="表格 2"/>
          <p:cNvGraphicFramePr>
            <a:graphicFrameLocks noGrp="1"/>
          </p:cNvGraphicFramePr>
          <p:nvPr>
            <p:extLst>
              <p:ext uri="{D42A27DB-BD31-4B8C-83A1-F6EECF244321}">
                <p14:modId xmlns:p14="http://schemas.microsoft.com/office/powerpoint/2010/main" val="1800680415"/>
              </p:ext>
            </p:extLst>
          </p:nvPr>
        </p:nvGraphicFramePr>
        <p:xfrm>
          <a:off x="972714" y="2085584"/>
          <a:ext cx="7000102" cy="2987458"/>
        </p:xfrm>
        <a:graphic>
          <a:graphicData uri="http://schemas.openxmlformats.org/drawingml/2006/table">
            <a:tbl>
              <a:tblPr firstRow="1" firstCol="1" lastRow="1" lastCol="1" bandRow="1" bandCol="1">
                <a:tableStyleId>{5C22544A-7EE6-4342-B048-85BDC9FD1C3A}</a:tableStyleId>
              </a:tblPr>
              <a:tblGrid>
                <a:gridCol w="2332868">
                  <a:extLst>
                    <a:ext uri="{9D8B030D-6E8A-4147-A177-3AD203B41FA5}">
                      <a16:colId xmlns:a16="http://schemas.microsoft.com/office/drawing/2014/main" val="561527462"/>
                    </a:ext>
                  </a:extLst>
                </a:gridCol>
                <a:gridCol w="2333617">
                  <a:extLst>
                    <a:ext uri="{9D8B030D-6E8A-4147-A177-3AD203B41FA5}">
                      <a16:colId xmlns:a16="http://schemas.microsoft.com/office/drawing/2014/main" val="1471942115"/>
                    </a:ext>
                  </a:extLst>
                </a:gridCol>
                <a:gridCol w="2333617">
                  <a:extLst>
                    <a:ext uri="{9D8B030D-6E8A-4147-A177-3AD203B41FA5}">
                      <a16:colId xmlns:a16="http://schemas.microsoft.com/office/drawing/2014/main" val="3357832713"/>
                    </a:ext>
                  </a:extLst>
                </a:gridCol>
              </a:tblGrid>
              <a:tr h="541228">
                <a:tc>
                  <a:txBody>
                    <a:bodyPr/>
                    <a:lstStyle/>
                    <a:p>
                      <a:pPr>
                        <a:spcAft>
                          <a:spcPts val="0"/>
                        </a:spcAft>
                      </a:pPr>
                      <a:r>
                        <a:rPr lang="en-US" sz="1800" dirty="0">
                          <a:effectLst/>
                        </a:rPr>
                        <a:t> </a:t>
                      </a:r>
                      <a:endParaRPr lang="zh-CN" sz="1600" dirty="0">
                        <a:effectLst/>
                        <a:latin typeface="宋体" panose="02010600030101010101" pitchFamily="2" charset="-122"/>
                        <a:ea typeface="宋体" panose="02010600030101010101" pitchFamily="2" charset="-122"/>
                        <a:cs typeface="宋体" panose="02010600030101010101" pitchFamily="2" charset="-122"/>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6350" algn="ctr">
                        <a:spcBef>
                          <a:spcPts val="435"/>
                        </a:spcBef>
                        <a:spcAft>
                          <a:spcPts val="0"/>
                        </a:spcAft>
                      </a:pPr>
                      <a:r>
                        <a:rPr lang="en-US" sz="1800" dirty="0">
                          <a:solidFill>
                            <a:schemeClr val="tx1"/>
                          </a:solidFill>
                          <a:effectLst/>
                        </a:rPr>
                        <a:t>LTE-V2X</a:t>
                      </a:r>
                      <a:endParaRPr lang="zh-CN" sz="1600" dirty="0">
                        <a:solidFill>
                          <a:schemeClr val="tx1"/>
                        </a:solidFill>
                        <a:effectLst/>
                        <a:latin typeface="宋体" panose="02010600030101010101" pitchFamily="2" charset="-122"/>
                        <a:ea typeface="宋体" panose="02010600030101010101" pitchFamily="2" charset="-122"/>
                        <a:cs typeface="宋体" panose="02010600030101010101" pitchFamily="2" charset="-122"/>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6350" algn="ctr">
                        <a:spcBef>
                          <a:spcPts val="435"/>
                        </a:spcBef>
                        <a:spcAft>
                          <a:spcPts val="0"/>
                        </a:spcAft>
                      </a:pPr>
                      <a:r>
                        <a:rPr lang="en-US" sz="1800" dirty="0">
                          <a:solidFill>
                            <a:schemeClr val="tx1"/>
                          </a:solidFill>
                          <a:effectLst/>
                        </a:rPr>
                        <a:t>NR-V2X</a:t>
                      </a:r>
                      <a:endParaRPr lang="zh-CN" sz="1600" dirty="0">
                        <a:solidFill>
                          <a:schemeClr val="tx1"/>
                        </a:solidFill>
                        <a:effectLst/>
                        <a:latin typeface="宋体" panose="02010600030101010101" pitchFamily="2" charset="-122"/>
                        <a:ea typeface="宋体" panose="02010600030101010101" pitchFamily="2" charset="-122"/>
                        <a:cs typeface="宋体" panose="02010600030101010101" pitchFamily="2" charset="-122"/>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28334384"/>
                  </a:ext>
                </a:extLst>
              </a:tr>
              <a:tr h="489491">
                <a:tc>
                  <a:txBody>
                    <a:bodyPr/>
                    <a:lstStyle/>
                    <a:p>
                      <a:pPr marL="594360" marR="589280" algn="ctr">
                        <a:spcBef>
                          <a:spcPts val="350"/>
                        </a:spcBef>
                        <a:spcAft>
                          <a:spcPts val="0"/>
                        </a:spcAft>
                      </a:pPr>
                      <a:r>
                        <a:rPr lang="zh-CN" sz="1800" b="0" dirty="0">
                          <a:solidFill>
                            <a:schemeClr val="tx1"/>
                          </a:solidFill>
                          <a:effectLst/>
                          <a:latin typeface="微软雅黑" panose="020B0503020204020204" pitchFamily="34" charset="-122"/>
                          <a:ea typeface="微软雅黑" panose="020B0503020204020204" pitchFamily="34" charset="-122"/>
                        </a:rPr>
                        <a:t>传输可靠性</a:t>
                      </a:r>
                      <a:endParaRPr lang="zh-CN" sz="1600" b="0" dirty="0">
                        <a:solidFill>
                          <a:schemeClr val="tx1"/>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5080" algn="ctr">
                        <a:spcBef>
                          <a:spcPts val="350"/>
                        </a:spcBef>
                        <a:spcAft>
                          <a:spcPts val="0"/>
                        </a:spcAft>
                      </a:pPr>
                      <a:r>
                        <a:rPr lang="en-US" sz="1800" b="0" dirty="0">
                          <a:solidFill>
                            <a:schemeClr val="tx1"/>
                          </a:solidFill>
                          <a:effectLst/>
                          <a:latin typeface="微软雅黑" panose="020B0503020204020204" pitchFamily="34" charset="-122"/>
                          <a:ea typeface="微软雅黑" panose="020B0503020204020204" pitchFamily="34" charset="-122"/>
                        </a:rPr>
                        <a:t>90%</a:t>
                      </a:r>
                      <a:r>
                        <a:rPr lang="zh-CN" sz="1800" b="0" dirty="0">
                          <a:solidFill>
                            <a:schemeClr val="tx1"/>
                          </a:solidFill>
                          <a:effectLst/>
                          <a:latin typeface="微软雅黑" panose="020B0503020204020204" pitchFamily="34" charset="-122"/>
                          <a:ea typeface="微软雅黑" panose="020B0503020204020204" pitchFamily="34" charset="-122"/>
                        </a:rPr>
                        <a:t>以上</a:t>
                      </a:r>
                      <a:endParaRPr lang="zh-CN" sz="1600" b="0" dirty="0">
                        <a:solidFill>
                          <a:schemeClr val="tx1"/>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5715" algn="ctr">
                        <a:spcBef>
                          <a:spcPts val="350"/>
                        </a:spcBef>
                        <a:spcAft>
                          <a:spcPts val="0"/>
                        </a:spcAft>
                      </a:pPr>
                      <a:r>
                        <a:rPr lang="en-US" sz="1800" b="0">
                          <a:solidFill>
                            <a:schemeClr val="tx1"/>
                          </a:solidFill>
                          <a:effectLst/>
                          <a:latin typeface="微软雅黑" panose="020B0503020204020204" pitchFamily="34" charset="-122"/>
                          <a:ea typeface="微软雅黑" panose="020B0503020204020204" pitchFamily="34" charset="-122"/>
                        </a:rPr>
                        <a:t>99.99%</a:t>
                      </a:r>
                      <a:r>
                        <a:rPr lang="zh-CN" sz="1800" b="0">
                          <a:solidFill>
                            <a:schemeClr val="tx1"/>
                          </a:solidFill>
                          <a:effectLst/>
                          <a:latin typeface="微软雅黑" panose="020B0503020204020204" pitchFamily="34" charset="-122"/>
                          <a:ea typeface="微软雅黑" panose="020B0503020204020204" pitchFamily="34" charset="-122"/>
                        </a:rPr>
                        <a:t>以上</a:t>
                      </a:r>
                      <a:endParaRPr lang="zh-CN" sz="1600" b="0">
                        <a:solidFill>
                          <a:schemeClr val="tx1"/>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val="4178229949"/>
                  </a:ext>
                </a:extLst>
              </a:tr>
              <a:tr h="488266">
                <a:tc>
                  <a:txBody>
                    <a:bodyPr/>
                    <a:lstStyle/>
                    <a:p>
                      <a:pPr marL="594360" marR="589280" algn="ctr">
                        <a:spcBef>
                          <a:spcPts val="350"/>
                        </a:spcBef>
                        <a:spcAft>
                          <a:spcPts val="0"/>
                        </a:spcAft>
                      </a:pPr>
                      <a:r>
                        <a:rPr lang="zh-CN" sz="1800" b="0">
                          <a:solidFill>
                            <a:schemeClr val="tx1"/>
                          </a:solidFill>
                          <a:effectLst/>
                          <a:latin typeface="微软雅黑" panose="020B0503020204020204" pitchFamily="34" charset="-122"/>
                          <a:ea typeface="微软雅黑" panose="020B0503020204020204" pitchFamily="34" charset="-122"/>
                        </a:rPr>
                        <a:t>传输速率</a:t>
                      </a:r>
                      <a:endParaRPr lang="zh-CN" sz="1600" b="0">
                        <a:solidFill>
                          <a:schemeClr val="tx1"/>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5715" algn="ctr">
                        <a:spcBef>
                          <a:spcPts val="350"/>
                        </a:spcBef>
                        <a:spcAft>
                          <a:spcPts val="0"/>
                        </a:spcAft>
                      </a:pPr>
                      <a:r>
                        <a:rPr lang="en-US" sz="1800" b="0" dirty="0">
                          <a:solidFill>
                            <a:schemeClr val="tx1"/>
                          </a:solidFill>
                          <a:effectLst/>
                          <a:latin typeface="微软雅黑" panose="020B0503020204020204" pitchFamily="34" charset="-122"/>
                          <a:ea typeface="微软雅黑" panose="020B0503020204020204" pitchFamily="34" charset="-122"/>
                        </a:rPr>
                        <a:t>10M </a:t>
                      </a:r>
                      <a:r>
                        <a:rPr lang="zh-CN" sz="1800" b="0" dirty="0">
                          <a:solidFill>
                            <a:schemeClr val="tx1"/>
                          </a:solidFill>
                          <a:effectLst/>
                          <a:latin typeface="微软雅黑" panose="020B0503020204020204" pitchFamily="34" charset="-122"/>
                          <a:ea typeface="微软雅黑" panose="020B0503020204020204" pitchFamily="34" charset="-122"/>
                        </a:rPr>
                        <a:t>级</a:t>
                      </a:r>
                      <a:endParaRPr lang="zh-CN" sz="1600" b="0" dirty="0">
                        <a:solidFill>
                          <a:schemeClr val="tx1"/>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6350" algn="ctr">
                        <a:spcBef>
                          <a:spcPts val="350"/>
                        </a:spcBef>
                        <a:spcAft>
                          <a:spcPts val="0"/>
                        </a:spcAft>
                      </a:pPr>
                      <a:r>
                        <a:rPr lang="en-US" sz="1800" b="0" dirty="0">
                          <a:solidFill>
                            <a:schemeClr val="tx1"/>
                          </a:solidFill>
                          <a:effectLst/>
                          <a:latin typeface="微软雅黑" panose="020B0503020204020204" pitchFamily="34" charset="-122"/>
                          <a:ea typeface="微软雅黑" panose="020B0503020204020204" pitchFamily="34" charset="-122"/>
                        </a:rPr>
                        <a:t>100M </a:t>
                      </a:r>
                      <a:r>
                        <a:rPr lang="zh-CN" sz="1800" b="0" dirty="0">
                          <a:solidFill>
                            <a:schemeClr val="tx1"/>
                          </a:solidFill>
                          <a:effectLst/>
                          <a:latin typeface="微软雅黑" panose="020B0503020204020204" pitchFamily="34" charset="-122"/>
                          <a:ea typeface="微软雅黑" panose="020B0503020204020204" pitchFamily="34" charset="-122"/>
                        </a:rPr>
                        <a:t>级</a:t>
                      </a:r>
                      <a:endParaRPr lang="zh-CN" sz="1600" b="0" dirty="0">
                        <a:solidFill>
                          <a:schemeClr val="tx1"/>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val="1139654582"/>
                  </a:ext>
                </a:extLst>
              </a:tr>
              <a:tr h="489491">
                <a:tc>
                  <a:txBody>
                    <a:bodyPr/>
                    <a:lstStyle/>
                    <a:p>
                      <a:pPr marL="594360" marR="589280" algn="ctr">
                        <a:spcBef>
                          <a:spcPts val="355"/>
                        </a:spcBef>
                        <a:spcAft>
                          <a:spcPts val="0"/>
                        </a:spcAft>
                      </a:pPr>
                      <a:r>
                        <a:rPr lang="zh-CN" sz="1800" b="0">
                          <a:solidFill>
                            <a:schemeClr val="tx1"/>
                          </a:solidFill>
                          <a:effectLst/>
                          <a:latin typeface="微软雅黑" panose="020B0503020204020204" pitchFamily="34" charset="-122"/>
                          <a:ea typeface="微软雅黑" panose="020B0503020204020204" pitchFamily="34" charset="-122"/>
                        </a:rPr>
                        <a:t>时延</a:t>
                      </a:r>
                      <a:endParaRPr lang="zh-CN" sz="1600" b="0">
                        <a:solidFill>
                          <a:schemeClr val="tx1"/>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5080" algn="ctr">
                        <a:spcBef>
                          <a:spcPts val="435"/>
                        </a:spcBef>
                        <a:spcAft>
                          <a:spcPts val="0"/>
                        </a:spcAft>
                      </a:pPr>
                      <a:r>
                        <a:rPr lang="en-US" sz="1800" b="0">
                          <a:solidFill>
                            <a:schemeClr val="tx1"/>
                          </a:solidFill>
                          <a:effectLst/>
                          <a:latin typeface="微软雅黑" panose="020B0503020204020204" pitchFamily="34" charset="-122"/>
                          <a:ea typeface="微软雅黑" panose="020B0503020204020204" pitchFamily="34" charset="-122"/>
                        </a:rPr>
                        <a:t>10-20ms</a:t>
                      </a:r>
                      <a:endParaRPr lang="zh-CN" sz="1600" b="0">
                        <a:solidFill>
                          <a:schemeClr val="tx1"/>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4445" algn="ctr">
                        <a:spcBef>
                          <a:spcPts val="435"/>
                        </a:spcBef>
                        <a:spcAft>
                          <a:spcPts val="0"/>
                        </a:spcAft>
                      </a:pPr>
                      <a:r>
                        <a:rPr lang="en-US" sz="1800" b="0" dirty="0">
                          <a:solidFill>
                            <a:schemeClr val="tx1"/>
                          </a:solidFill>
                          <a:effectLst/>
                          <a:latin typeface="微软雅黑" panose="020B0503020204020204" pitchFamily="34" charset="-122"/>
                          <a:ea typeface="微软雅黑" panose="020B0503020204020204" pitchFamily="34" charset="-122"/>
                        </a:rPr>
                        <a:t>1-3ms</a:t>
                      </a:r>
                      <a:endParaRPr lang="zh-CN" sz="1600" b="0" dirty="0">
                        <a:solidFill>
                          <a:schemeClr val="tx1"/>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val="4040342428"/>
                  </a:ext>
                </a:extLst>
              </a:tr>
              <a:tr h="489491">
                <a:tc>
                  <a:txBody>
                    <a:bodyPr/>
                    <a:lstStyle/>
                    <a:p>
                      <a:pPr marL="594360" marR="589280" algn="ctr">
                        <a:spcBef>
                          <a:spcPts val="350"/>
                        </a:spcBef>
                        <a:spcAft>
                          <a:spcPts val="0"/>
                        </a:spcAft>
                      </a:pPr>
                      <a:r>
                        <a:rPr lang="zh-CN" sz="1800" b="0">
                          <a:solidFill>
                            <a:schemeClr val="tx1"/>
                          </a:solidFill>
                          <a:effectLst/>
                          <a:latin typeface="微软雅黑" panose="020B0503020204020204" pitchFamily="34" charset="-122"/>
                          <a:ea typeface="微软雅黑" panose="020B0503020204020204" pitchFamily="34" charset="-122"/>
                        </a:rPr>
                        <a:t>通信带宽</a:t>
                      </a:r>
                      <a:endParaRPr lang="zh-CN" sz="1600" b="0">
                        <a:solidFill>
                          <a:schemeClr val="tx1"/>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6350" algn="ctr">
                        <a:spcBef>
                          <a:spcPts val="430"/>
                        </a:spcBef>
                        <a:spcAft>
                          <a:spcPts val="0"/>
                        </a:spcAft>
                      </a:pPr>
                      <a:r>
                        <a:rPr lang="en-US" sz="1800" b="0">
                          <a:solidFill>
                            <a:schemeClr val="tx1"/>
                          </a:solidFill>
                          <a:effectLst/>
                          <a:latin typeface="微软雅黑" panose="020B0503020204020204" pitchFamily="34" charset="-122"/>
                          <a:ea typeface="微软雅黑" panose="020B0503020204020204" pitchFamily="34" charset="-122"/>
                        </a:rPr>
                        <a:t>20-30Mbps</a:t>
                      </a:r>
                      <a:endParaRPr lang="zh-CN" sz="1600" b="0">
                        <a:solidFill>
                          <a:schemeClr val="tx1"/>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6350" algn="ctr">
                        <a:spcBef>
                          <a:spcPts val="430"/>
                        </a:spcBef>
                        <a:spcAft>
                          <a:spcPts val="0"/>
                        </a:spcAft>
                      </a:pPr>
                      <a:r>
                        <a:rPr lang="en-US" sz="1800" b="0" dirty="0">
                          <a:solidFill>
                            <a:schemeClr val="tx1"/>
                          </a:solidFill>
                          <a:effectLst/>
                          <a:latin typeface="微软雅黑" panose="020B0503020204020204" pitchFamily="34" charset="-122"/>
                          <a:ea typeface="微软雅黑" panose="020B0503020204020204" pitchFamily="34" charset="-122"/>
                        </a:rPr>
                        <a:t>40Mbps</a:t>
                      </a:r>
                      <a:endParaRPr lang="zh-CN" sz="1600" b="0" dirty="0">
                        <a:solidFill>
                          <a:schemeClr val="tx1"/>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val="2758085349"/>
                  </a:ext>
                </a:extLst>
              </a:tr>
              <a:tr h="489491">
                <a:tc>
                  <a:txBody>
                    <a:bodyPr/>
                    <a:lstStyle/>
                    <a:p>
                      <a:pPr marL="594360" marR="589280" algn="ctr">
                        <a:spcBef>
                          <a:spcPts val="350"/>
                        </a:spcBef>
                        <a:spcAft>
                          <a:spcPts val="0"/>
                        </a:spcAft>
                      </a:pPr>
                      <a:r>
                        <a:rPr lang="zh-CN" sz="1800" b="0">
                          <a:solidFill>
                            <a:schemeClr val="tx1"/>
                          </a:solidFill>
                          <a:effectLst/>
                          <a:latin typeface="微软雅黑" panose="020B0503020204020204" pitchFamily="34" charset="-122"/>
                          <a:ea typeface="微软雅黑" panose="020B0503020204020204" pitchFamily="34" charset="-122"/>
                        </a:rPr>
                        <a:t>收发能力</a:t>
                      </a:r>
                      <a:endParaRPr lang="zh-CN" sz="1600" b="0">
                        <a:solidFill>
                          <a:schemeClr val="tx1"/>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5715" algn="ctr">
                        <a:spcBef>
                          <a:spcPts val="350"/>
                        </a:spcBef>
                        <a:spcAft>
                          <a:spcPts val="0"/>
                        </a:spcAft>
                      </a:pPr>
                      <a:r>
                        <a:rPr lang="zh-CN" sz="1800" b="0" dirty="0">
                          <a:solidFill>
                            <a:schemeClr val="tx1"/>
                          </a:solidFill>
                          <a:effectLst/>
                          <a:latin typeface="微软雅黑" panose="020B0503020204020204" pitchFamily="34" charset="-122"/>
                          <a:ea typeface="微软雅黑" panose="020B0503020204020204" pitchFamily="34" charset="-122"/>
                        </a:rPr>
                        <a:t>广播</a:t>
                      </a:r>
                      <a:endParaRPr lang="zh-CN" sz="1600" b="0" dirty="0">
                        <a:solidFill>
                          <a:schemeClr val="tx1"/>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6350" algn="ctr">
                        <a:spcBef>
                          <a:spcPts val="350"/>
                        </a:spcBef>
                        <a:spcAft>
                          <a:spcPts val="0"/>
                        </a:spcAft>
                        <a:tabLst>
                          <a:tab pos="844550" algn="l"/>
                        </a:tabLst>
                      </a:pPr>
                      <a:r>
                        <a:rPr lang="zh-CN" sz="1800" b="0" dirty="0">
                          <a:solidFill>
                            <a:schemeClr val="tx1"/>
                          </a:solidFill>
                          <a:effectLst/>
                          <a:latin typeface="微软雅黑" panose="020B0503020204020204" pitchFamily="34" charset="-122"/>
                          <a:ea typeface="微软雅黑" panose="020B0503020204020204" pitchFamily="34" charset="-122"/>
                        </a:rPr>
                        <a:t>广播 单</a:t>
                      </a:r>
                      <a:r>
                        <a:rPr lang="zh-CN" sz="1800" b="0" dirty="0" smtClean="0">
                          <a:solidFill>
                            <a:schemeClr val="tx1"/>
                          </a:solidFill>
                          <a:effectLst/>
                          <a:latin typeface="微软雅黑" panose="020B0503020204020204" pitchFamily="34" charset="-122"/>
                          <a:ea typeface="微软雅黑" panose="020B0503020204020204" pitchFamily="34" charset="-122"/>
                        </a:rPr>
                        <a:t>播</a:t>
                      </a:r>
                      <a:r>
                        <a:rPr lang="en-US" altLang="zh-CN" sz="1800" b="0" baseline="0" dirty="0" smtClean="0">
                          <a:solidFill>
                            <a:schemeClr val="tx1"/>
                          </a:solidFill>
                          <a:effectLst/>
                          <a:latin typeface="微软雅黑" panose="020B0503020204020204" pitchFamily="34" charset="-122"/>
                          <a:ea typeface="微软雅黑" panose="020B0503020204020204" pitchFamily="34" charset="-122"/>
                        </a:rPr>
                        <a:t> </a:t>
                      </a:r>
                      <a:r>
                        <a:rPr lang="zh-CN" sz="1800" b="0" dirty="0" smtClean="0">
                          <a:solidFill>
                            <a:schemeClr val="tx1"/>
                          </a:solidFill>
                          <a:effectLst/>
                          <a:latin typeface="微软雅黑" panose="020B0503020204020204" pitchFamily="34" charset="-122"/>
                          <a:ea typeface="微软雅黑" panose="020B0503020204020204" pitchFamily="34" charset="-122"/>
                        </a:rPr>
                        <a:t>组播</a:t>
                      </a:r>
                      <a:endParaRPr lang="zh-CN" sz="1600" b="0" dirty="0">
                        <a:solidFill>
                          <a:schemeClr val="tx1"/>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val="234183680"/>
                  </a:ext>
                </a:extLst>
              </a:tr>
            </a:tbl>
          </a:graphicData>
        </a:graphic>
      </p:graphicFrame>
      <p:sp>
        <p:nvSpPr>
          <p:cNvPr id="7" name="矩形 6"/>
          <p:cNvSpPr/>
          <p:nvPr/>
        </p:nvSpPr>
        <p:spPr>
          <a:xfrm>
            <a:off x="2836541" y="1441450"/>
            <a:ext cx="3714571" cy="400110"/>
          </a:xfrm>
          <a:prstGeom prst="rect">
            <a:avLst/>
          </a:prstGeom>
        </p:spPr>
        <p:txBody>
          <a:bodyPr wrap="square">
            <a:spAutoFit/>
          </a:bodyPr>
          <a:lstStyle/>
          <a:p>
            <a:pPr lvl="0">
              <a:spcBef>
                <a:spcPct val="0"/>
              </a:spcBef>
              <a:defRPr/>
            </a:pPr>
            <a:r>
              <a:rPr lang="en-US" altLang="zh-CN" sz="2000" b="1" dirty="0">
                <a:latin typeface="Microsoft YaHei" panose="020B0503020204020204" pitchFamily="34" charset="-122"/>
                <a:ea typeface="Microsoft YaHei" panose="020B0503020204020204" pitchFamily="34" charset="-122"/>
                <a:cs typeface="Times New Roman" panose="02020603050405020304" pitchFamily="18" charset="0"/>
              </a:rPr>
              <a:t>5G-V2X</a:t>
            </a:r>
            <a:r>
              <a:rPr lang="zh-CN" altLang="en-US" sz="2000" b="1" dirty="0">
                <a:latin typeface="Microsoft YaHei" panose="020B0503020204020204" pitchFamily="34" charset="-122"/>
                <a:ea typeface="Microsoft YaHei" panose="020B0503020204020204" pitchFamily="34" charset="-122"/>
                <a:cs typeface="Times New Roman" panose="02020603050405020304" pitchFamily="18" charset="0"/>
              </a:rPr>
              <a:t>与</a:t>
            </a:r>
            <a:r>
              <a:rPr lang="en-US" altLang="zh-CN" sz="2000" b="1" dirty="0">
                <a:latin typeface="Microsoft YaHei" panose="020B0503020204020204" pitchFamily="34" charset="-122"/>
                <a:ea typeface="Microsoft YaHei" panose="020B0503020204020204" pitchFamily="34" charset="-122"/>
                <a:cs typeface="Times New Roman" panose="02020603050405020304" pitchFamily="18" charset="0"/>
              </a:rPr>
              <a:t>LTE-V2X</a:t>
            </a:r>
            <a:r>
              <a:rPr lang="zh-CN" altLang="en-US" sz="2000" b="1" dirty="0" smtClean="0">
                <a:latin typeface="Microsoft YaHei" panose="020B0503020204020204" pitchFamily="34" charset="-122"/>
                <a:ea typeface="Microsoft YaHei" panose="020B0503020204020204" pitchFamily="34" charset="-122"/>
                <a:cs typeface="Times New Roman" panose="02020603050405020304" pitchFamily="18" charset="0"/>
              </a:rPr>
              <a:t>性能对比</a:t>
            </a:r>
            <a:endParaRPr lang="en-US" altLang="zh-CN" sz="2000"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1674411587"/>
      </p:ext>
    </p:extLst>
  </p:cSld>
  <p:clrMapOvr>
    <a:masterClrMapping/>
  </p:clrMapOvr>
  <p:transition spd="slow" advClick="0"/>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11" descr="program-ciat2020"/>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sp>
        <p:nvSpPr>
          <p:cNvPr id="2" name="标题 1"/>
          <p:cNvSpPr txBox="1"/>
          <p:nvPr/>
        </p:nvSpPr>
        <p:spPr>
          <a:xfrm>
            <a:off x="237392" y="191297"/>
            <a:ext cx="9251576" cy="679847"/>
          </a:xfrm>
          <a:prstGeom prst="rect">
            <a:avLst/>
          </a:prstGeom>
        </p:spPr>
        <p:txBody>
          <a:bodyPr vert="horz" lIns="68580" tIns="34290" rIns="68580" bIns="34290" rtlCol="0" anchor="ctr">
            <a:normAutofit/>
          </a:bodyPr>
          <a:lstStyle/>
          <a:p>
            <a:pPr lvl="0">
              <a:spcBef>
                <a:spcPct val="0"/>
              </a:spcBef>
              <a:defRPr/>
            </a:pPr>
            <a:r>
              <a:rPr lang="en-US" altLang="zh-CN" sz="34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5G-V2X</a:t>
            </a:r>
            <a:r>
              <a:rPr lang="zh-CN" altLang="en-US" sz="34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与</a:t>
            </a:r>
            <a:r>
              <a:rPr lang="en-US" altLang="zh-CN" sz="34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LTE-V2X</a:t>
            </a:r>
            <a:r>
              <a:rPr lang="zh-CN" altLang="en-US" sz="34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对比</a:t>
            </a:r>
            <a:endParaRPr lang="en-US" altLang="zh-CN" sz="36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6" name="矩形 5"/>
          <p:cNvSpPr/>
          <p:nvPr/>
        </p:nvSpPr>
        <p:spPr>
          <a:xfrm>
            <a:off x="237392" y="1116651"/>
            <a:ext cx="8710667" cy="2807948"/>
          </a:xfrm>
          <a:prstGeom prst="rect">
            <a:avLst/>
          </a:prstGeom>
        </p:spPr>
        <p:txBody>
          <a:bodyPr wrap="square">
            <a:spAutoFit/>
          </a:bodyPr>
          <a:lstStyle/>
          <a:p>
            <a:pPr algn="just">
              <a:lnSpc>
                <a:spcPct val="150000"/>
              </a:lnSpc>
            </a:pPr>
            <a:r>
              <a:rPr kumimoji="1" lang="zh-CN" altLang="en-US" sz="2000" b="1" dirty="0" smtClean="0">
                <a:latin typeface="Microsoft YaHei" panose="020B0503020204020204" pitchFamily="34" charset="-122"/>
                <a:ea typeface="Microsoft YaHei" panose="020B0503020204020204" pitchFamily="34" charset="-122"/>
                <a:cs typeface="微软雅黑" charset="0"/>
              </a:rPr>
              <a:t>场景对比：</a:t>
            </a:r>
            <a:r>
              <a:rPr kumimoji="1" lang="zh-CN" altLang="en-US" sz="2000" dirty="0" smtClean="0">
                <a:latin typeface="Microsoft YaHei" panose="020B0503020204020204" pitchFamily="34" charset="-122"/>
                <a:ea typeface="Microsoft YaHei" panose="020B0503020204020204" pitchFamily="34" charset="-122"/>
                <a:cs typeface="微软雅黑" charset="0"/>
              </a:rPr>
              <a:t>二者能满足不同的业务场景需求。</a:t>
            </a:r>
            <a:r>
              <a:rPr kumimoji="1" lang="en-US" altLang="zh-CN" sz="2000" dirty="0" smtClean="0">
                <a:latin typeface="Microsoft YaHei" panose="020B0503020204020204" pitchFamily="34" charset="-122"/>
                <a:ea typeface="Microsoft YaHei" panose="020B0503020204020204" pitchFamily="34" charset="-122"/>
                <a:cs typeface="微软雅黑" charset="0"/>
              </a:rPr>
              <a:t>LTE-V2X</a:t>
            </a:r>
            <a:r>
              <a:rPr kumimoji="1" lang="zh-CN" altLang="en-US" sz="2000" dirty="0" smtClean="0">
                <a:latin typeface="Microsoft YaHei" panose="020B0503020204020204" pitchFamily="34" charset="-122"/>
                <a:ea typeface="Microsoft YaHei" panose="020B0503020204020204" pitchFamily="34" charset="-122"/>
                <a:cs typeface="微软雅黑" charset="0"/>
              </a:rPr>
              <a:t>能够解决大部分基础安全预警和效率提升类应用需求，主要用于辅助驾驶；</a:t>
            </a:r>
            <a:r>
              <a:rPr kumimoji="1" lang="en-US" altLang="zh-CN" sz="2000" dirty="0" smtClean="0">
                <a:latin typeface="Microsoft YaHei" panose="020B0503020204020204" pitchFamily="34" charset="-122"/>
                <a:ea typeface="Microsoft YaHei" panose="020B0503020204020204" pitchFamily="34" charset="-122"/>
                <a:cs typeface="微软雅黑" charset="0"/>
              </a:rPr>
              <a:t>5G-V2X</a:t>
            </a:r>
            <a:r>
              <a:rPr kumimoji="1" lang="zh-CN" altLang="en-US" sz="2000" dirty="0" smtClean="0">
                <a:latin typeface="Microsoft YaHei" panose="020B0503020204020204" pitchFamily="34" charset="-122"/>
                <a:ea typeface="Microsoft YaHei" panose="020B0503020204020204" pitchFamily="34" charset="-122"/>
                <a:cs typeface="微软雅黑" charset="0"/>
              </a:rPr>
              <a:t>主要是为了满足未来高等级自动驾驶应用场景需求。</a:t>
            </a:r>
            <a:endParaRPr kumimoji="1" lang="en-US" altLang="zh-CN" sz="2000" dirty="0" smtClean="0">
              <a:latin typeface="Microsoft YaHei" panose="020B0503020204020204" pitchFamily="34" charset="-122"/>
              <a:ea typeface="Microsoft YaHei" panose="020B0503020204020204" pitchFamily="34" charset="-122"/>
              <a:cs typeface="微软雅黑" charset="0"/>
            </a:endParaRPr>
          </a:p>
          <a:p>
            <a:pPr algn="just">
              <a:lnSpc>
                <a:spcPct val="150000"/>
              </a:lnSpc>
            </a:pPr>
            <a:r>
              <a:rPr kumimoji="1" lang="en-US" altLang="zh-CN" sz="2000" dirty="0" smtClean="0">
                <a:latin typeface="Microsoft YaHei" panose="020B0503020204020204" pitchFamily="34" charset="-122"/>
                <a:ea typeface="Microsoft YaHei" panose="020B0503020204020204" pitchFamily="34" charset="-122"/>
                <a:cs typeface="微软雅黑" charset="0"/>
              </a:rPr>
              <a:t>5G-V2X</a:t>
            </a:r>
            <a:r>
              <a:rPr kumimoji="1" lang="zh-CN" altLang="en-US" sz="2000" dirty="0" smtClean="0">
                <a:latin typeface="Microsoft YaHei" panose="020B0503020204020204" pitchFamily="34" charset="-122"/>
                <a:ea typeface="Microsoft YaHei" panose="020B0503020204020204" pitchFamily="34" charset="-122"/>
                <a:cs typeface="微软雅黑" charset="0"/>
              </a:rPr>
              <a:t>是</a:t>
            </a:r>
            <a:r>
              <a:rPr kumimoji="1" lang="en-US" altLang="zh-CN" sz="2000" dirty="0" smtClean="0">
                <a:latin typeface="Microsoft YaHei" panose="020B0503020204020204" pitchFamily="34" charset="-122"/>
                <a:ea typeface="Microsoft YaHei" panose="020B0503020204020204" pitchFamily="34" charset="-122"/>
                <a:cs typeface="微软雅黑" charset="0"/>
              </a:rPr>
              <a:t>LTE-V2X</a:t>
            </a:r>
            <a:r>
              <a:rPr kumimoji="1" lang="zh-CN" altLang="en-US" sz="2000" dirty="0" smtClean="0">
                <a:latin typeface="Microsoft YaHei" panose="020B0503020204020204" pitchFamily="34" charset="-122"/>
                <a:ea typeface="Microsoft YaHei" panose="020B0503020204020204" pitchFamily="34" charset="-122"/>
                <a:cs typeface="微软雅黑" charset="0"/>
              </a:rPr>
              <a:t>技术</a:t>
            </a:r>
            <a:r>
              <a:rPr kumimoji="1" lang="zh-CN" altLang="en-US" sz="2000" dirty="0">
                <a:latin typeface="Microsoft YaHei" panose="020B0503020204020204" pitchFamily="34" charset="-122"/>
                <a:ea typeface="Microsoft YaHei" panose="020B0503020204020204" pitchFamily="34" charset="-122"/>
                <a:cs typeface="微软雅黑" charset="0"/>
              </a:rPr>
              <a:t>增强和补充，两者将在未来长期协同共存，共同支撑车联网不同类型应用服务。</a:t>
            </a:r>
          </a:p>
          <a:p>
            <a:pPr algn="just">
              <a:lnSpc>
                <a:spcPct val="150000"/>
              </a:lnSpc>
            </a:pPr>
            <a:endParaRPr kumimoji="1" lang="en-US" altLang="zh-CN" sz="2000" dirty="0" smtClean="0">
              <a:latin typeface="Microsoft YaHei" panose="020B0503020204020204" pitchFamily="34" charset="-122"/>
              <a:ea typeface="Microsoft YaHei" panose="020B0503020204020204" pitchFamily="34" charset="-122"/>
              <a:cs typeface="微软雅黑" charset="0"/>
            </a:endParaRPr>
          </a:p>
        </p:txBody>
      </p:sp>
      <p:pic>
        <p:nvPicPr>
          <p:cNvPr id="8" name="image56.png"/>
          <p:cNvPicPr/>
          <p:nvPr/>
        </p:nvPicPr>
        <p:blipFill>
          <a:blip r:embed="rId3" cstate="print"/>
          <a:stretch>
            <a:fillRect/>
          </a:stretch>
        </p:blipFill>
        <p:spPr>
          <a:xfrm>
            <a:off x="1359074" y="3576179"/>
            <a:ext cx="6471627" cy="2574099"/>
          </a:xfrm>
          <a:prstGeom prst="rect">
            <a:avLst/>
          </a:prstGeom>
        </p:spPr>
      </p:pic>
      <p:sp>
        <p:nvSpPr>
          <p:cNvPr id="5" name="矩形 4"/>
          <p:cNvSpPr/>
          <p:nvPr/>
        </p:nvSpPr>
        <p:spPr>
          <a:xfrm>
            <a:off x="2863468" y="6200384"/>
            <a:ext cx="3458511" cy="338554"/>
          </a:xfrm>
          <a:prstGeom prst="rect">
            <a:avLst/>
          </a:prstGeom>
        </p:spPr>
        <p:txBody>
          <a:bodyPr wrap="none">
            <a:spAutoFit/>
          </a:bodyPr>
          <a:lstStyle/>
          <a:p>
            <a:r>
              <a:rPr lang="en-US" altLang="zh-CN" sz="1600" b="1" dirty="0">
                <a:latin typeface="Times New Roman" panose="02020603050405020304" pitchFamily="18" charset="0"/>
                <a:ea typeface="Times New Roman" panose="02020603050405020304" pitchFamily="18" charset="0"/>
                <a:cs typeface="宋体" panose="02010600030101010101" pitchFamily="2" charset="-122"/>
              </a:rPr>
              <a:t>3GPP</a:t>
            </a:r>
            <a:r>
              <a:rPr lang="en-US" altLang="zh-CN" sz="1600" b="1" spc="255" dirty="0">
                <a:latin typeface="Times New Roman" panose="02020603050405020304" pitchFamily="18" charset="0"/>
                <a:ea typeface="Times New Roman" panose="02020603050405020304" pitchFamily="18" charset="0"/>
                <a:cs typeface="宋体" panose="02010600030101010101" pitchFamily="2" charset="-122"/>
              </a:rPr>
              <a:t> </a:t>
            </a:r>
            <a:r>
              <a:rPr lang="zh-CN" altLang="zh-CN" sz="1600" b="1" dirty="0">
                <a:ea typeface="宋体" panose="02010600030101010101" pitchFamily="2" charset="-122"/>
                <a:cs typeface="宋体" panose="02010600030101010101" pitchFamily="2" charset="-122"/>
              </a:rPr>
              <a:t>定义的典型车路协同应用场景</a:t>
            </a:r>
            <a:endParaRPr lang="zh-CN" altLang="en-US" sz="1600" b="1" dirty="0"/>
          </a:p>
        </p:txBody>
      </p:sp>
    </p:spTree>
    <p:extLst>
      <p:ext uri="{BB962C8B-B14F-4D97-AF65-F5344CB8AC3E}">
        <p14:creationId xmlns:p14="http://schemas.microsoft.com/office/powerpoint/2010/main" val="4279639909"/>
      </p:ext>
    </p:extLst>
  </p:cSld>
  <p:clrMapOvr>
    <a:masterClrMapping/>
  </p:clrMapOvr>
  <p:transition spd="slow" advClick="0"/>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4427792-D495-BB48-B44E-1BC70B08C09A}"/>
              </a:ext>
            </a:extLst>
          </p:cNvPr>
          <p:cNvSpPr txBox="1"/>
          <p:nvPr/>
        </p:nvSpPr>
        <p:spPr>
          <a:xfrm>
            <a:off x="237392" y="191297"/>
            <a:ext cx="9251576" cy="679847"/>
          </a:xfrm>
          <a:prstGeom prst="rect">
            <a:avLst/>
          </a:prstGeom>
        </p:spPr>
        <p:txBody>
          <a:bodyPr vert="horz" lIns="68580" tIns="34290" rIns="68580" bIns="34290" rtlCol="0" anchor="ctr">
            <a:normAutofit/>
          </a:bodyPr>
          <a:lstStyle/>
          <a:p>
            <a:pPr lvl="0">
              <a:spcBef>
                <a:spcPct val="0"/>
              </a:spcBef>
              <a:defRPr/>
            </a:pPr>
            <a:r>
              <a:rPr lang="zh-CN" altLang="en-US" sz="34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智能网</a:t>
            </a:r>
            <a:r>
              <a:rPr lang="zh-CN" altLang="en-US" sz="34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联驾驶无线通信设备</a:t>
            </a:r>
            <a:endParaRPr lang="en-US" altLang="zh-CN" sz="34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pic>
        <p:nvPicPr>
          <p:cNvPr id="3" name="Picture 11" descr="program-ciat2020">
            <a:extLst>
              <a:ext uri="{FF2B5EF4-FFF2-40B4-BE49-F238E27FC236}">
                <a16:creationId xmlns:a16="http://schemas.microsoft.com/office/drawing/2014/main" id="{CE91290F-9220-C540-A79E-740F2A1FED7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sp>
        <p:nvSpPr>
          <p:cNvPr id="6" name="文本框 5">
            <a:extLst>
              <a:ext uri="{FF2B5EF4-FFF2-40B4-BE49-F238E27FC236}">
                <a16:creationId xmlns:a16="http://schemas.microsoft.com/office/drawing/2014/main" id="{029AC98F-17F0-6A4A-9280-286D1179B421}"/>
              </a:ext>
            </a:extLst>
          </p:cNvPr>
          <p:cNvSpPr txBox="1"/>
          <p:nvPr/>
        </p:nvSpPr>
        <p:spPr>
          <a:xfrm>
            <a:off x="357968" y="1062441"/>
            <a:ext cx="184731" cy="369332"/>
          </a:xfrm>
          <a:prstGeom prst="rect">
            <a:avLst/>
          </a:prstGeom>
          <a:noFill/>
        </p:spPr>
        <p:txBody>
          <a:bodyPr wrap="none" rtlCol="0">
            <a:spAutoFit/>
          </a:bodyPr>
          <a:lstStyle/>
          <a:p>
            <a:endParaRPr kumimoji="1" lang="zh-CN" altLang="en-US" dirty="0"/>
          </a:p>
        </p:txBody>
      </p:sp>
      <p:sp>
        <p:nvSpPr>
          <p:cNvPr id="7" name="文本框 6">
            <a:extLst>
              <a:ext uri="{FF2B5EF4-FFF2-40B4-BE49-F238E27FC236}">
                <a16:creationId xmlns:a16="http://schemas.microsoft.com/office/drawing/2014/main" id="{C77BDC1C-E6E0-0445-90C2-50D33D5AC450}"/>
              </a:ext>
            </a:extLst>
          </p:cNvPr>
          <p:cNvSpPr txBox="1"/>
          <p:nvPr/>
        </p:nvSpPr>
        <p:spPr>
          <a:xfrm>
            <a:off x="273562" y="1062441"/>
            <a:ext cx="8512470" cy="3785652"/>
          </a:xfrm>
          <a:prstGeom prst="rect">
            <a:avLst/>
          </a:prstGeom>
          <a:noFill/>
        </p:spPr>
        <p:txBody>
          <a:bodyPr wrap="square" rtlCol="0">
            <a:spAutoFit/>
          </a:bodyPr>
          <a:lstStyle/>
          <a:p>
            <a:pPr>
              <a:lnSpc>
                <a:spcPct val="150000"/>
              </a:lnSpc>
            </a:pPr>
            <a:r>
              <a:rPr kumimoji="1" lang="zh-CN" altLang="en-US" sz="2000" dirty="0" smtClean="0">
                <a:latin typeface="Microsoft YaHei" panose="020B0503020204020204" pitchFamily="34" charset="-122"/>
                <a:ea typeface="Microsoft YaHei" panose="020B0503020204020204" pitchFamily="34" charset="-122"/>
                <a:cs typeface="微软雅黑" charset="0"/>
              </a:rPr>
              <a:t>基于</a:t>
            </a:r>
            <a:r>
              <a:rPr kumimoji="1" lang="en-US" altLang="zh-CN" sz="2000" dirty="0">
                <a:latin typeface="Microsoft YaHei" panose="020B0503020204020204" pitchFamily="34" charset="-122"/>
                <a:ea typeface="Microsoft YaHei" panose="020B0503020204020204" pitchFamily="34" charset="-122"/>
                <a:cs typeface="微软雅黑" charset="0"/>
              </a:rPr>
              <a:t>C-V2X </a:t>
            </a:r>
            <a:r>
              <a:rPr kumimoji="1" lang="zh-CN" altLang="en-US" sz="2000" dirty="0">
                <a:latin typeface="Microsoft YaHei" panose="020B0503020204020204" pitchFamily="34" charset="-122"/>
                <a:ea typeface="Microsoft YaHei" panose="020B0503020204020204" pitchFamily="34" charset="-122"/>
                <a:cs typeface="微软雅黑" charset="0"/>
              </a:rPr>
              <a:t>无线通信技术的网联</a:t>
            </a:r>
            <a:r>
              <a:rPr kumimoji="1" lang="zh-CN" altLang="en-US" sz="2000" dirty="0" smtClean="0">
                <a:latin typeface="Microsoft YaHei" panose="020B0503020204020204" pitchFamily="34" charset="-122"/>
                <a:ea typeface="Microsoft YaHei" panose="020B0503020204020204" pitchFamily="34" charset="-122"/>
                <a:cs typeface="微软雅黑" charset="0"/>
              </a:rPr>
              <a:t>终端主要有两种：</a:t>
            </a:r>
            <a:endParaRPr kumimoji="1" lang="en-US" altLang="zh-CN" sz="2000" dirty="0" smtClean="0">
              <a:latin typeface="Microsoft YaHei" panose="020B0503020204020204" pitchFamily="34" charset="-122"/>
              <a:ea typeface="Microsoft YaHei" panose="020B0503020204020204" pitchFamily="34" charset="-122"/>
              <a:cs typeface="微软雅黑" charset="0"/>
            </a:endParaRPr>
          </a:p>
          <a:p>
            <a:pPr>
              <a:lnSpc>
                <a:spcPct val="150000"/>
              </a:lnSpc>
            </a:pPr>
            <a:endParaRPr kumimoji="1" lang="en-US" altLang="zh-CN" sz="2000" dirty="0" smtClean="0">
              <a:latin typeface="Microsoft YaHei" panose="020B0503020204020204" pitchFamily="34" charset="-122"/>
              <a:ea typeface="Microsoft YaHei" panose="020B0503020204020204" pitchFamily="34" charset="-122"/>
              <a:cs typeface="微软雅黑" charset="0"/>
            </a:endParaRPr>
          </a:p>
          <a:p>
            <a:pPr marL="342900" indent="-342900">
              <a:lnSpc>
                <a:spcPct val="150000"/>
              </a:lnSpc>
              <a:buFont typeface="Wingdings" panose="05000000000000000000" pitchFamily="2" charset="2"/>
              <a:buChar char="Ø"/>
            </a:pPr>
            <a:r>
              <a:rPr lang="zh-CN" altLang="en-US" sz="2000" b="1" dirty="0">
                <a:latin typeface="Microsoft YaHei" panose="020B0503020204020204" pitchFamily="34" charset="-122"/>
                <a:ea typeface="Microsoft YaHei" panose="020B0503020204020204" pitchFamily="34" charset="-122"/>
              </a:rPr>
              <a:t>车载通信单元</a:t>
            </a:r>
            <a:r>
              <a:rPr lang="zh-CN" altLang="en-US" sz="2000" dirty="0">
                <a:latin typeface="Microsoft YaHei" panose="020B0503020204020204" pitchFamily="34" charset="-122"/>
                <a:ea typeface="Microsoft YaHei" panose="020B0503020204020204" pitchFamily="34" charset="-122"/>
              </a:rPr>
              <a:t>（</a:t>
            </a:r>
            <a:r>
              <a:rPr lang="en-US" altLang="zh-CN" sz="2000" dirty="0">
                <a:latin typeface="Microsoft YaHei" panose="020B0503020204020204" pitchFamily="34" charset="-122"/>
                <a:ea typeface="Microsoft YaHei" panose="020B0503020204020204" pitchFamily="34" charset="-122"/>
              </a:rPr>
              <a:t>On board Unit</a:t>
            </a:r>
            <a:r>
              <a:rPr lang="zh-CN" altLang="en-US" sz="2000" dirty="0">
                <a:latin typeface="Microsoft YaHei" panose="020B0503020204020204" pitchFamily="34" charset="-122"/>
                <a:ea typeface="Microsoft YaHei" panose="020B0503020204020204" pitchFamily="34" charset="-122"/>
              </a:rPr>
              <a:t>，</a:t>
            </a:r>
            <a:r>
              <a:rPr lang="en-US" altLang="zh-CN" sz="2000" dirty="0">
                <a:latin typeface="Microsoft YaHei" panose="020B0503020204020204" pitchFamily="34" charset="-122"/>
                <a:ea typeface="Microsoft YaHei" panose="020B0503020204020204" pitchFamily="34" charset="-122"/>
              </a:rPr>
              <a:t>OBU</a:t>
            </a:r>
            <a:r>
              <a:rPr lang="zh-CN" altLang="en-US" sz="2000" dirty="0">
                <a:latin typeface="Microsoft YaHei" panose="020B0503020204020204" pitchFamily="34" charset="-122"/>
                <a:ea typeface="Microsoft YaHei" panose="020B0503020204020204" pitchFamily="34" charset="-122"/>
              </a:rPr>
              <a:t>）：一种车载终端设备，用于车路</a:t>
            </a:r>
            <a:r>
              <a:rPr lang="zh-CN" altLang="en-US" sz="2000" dirty="0" smtClean="0">
                <a:latin typeface="Microsoft YaHei" panose="020B0503020204020204" pitchFamily="34" charset="-122"/>
                <a:ea typeface="Microsoft YaHei" panose="020B0503020204020204" pitchFamily="34" charset="-122"/>
              </a:rPr>
              <a:t>协同通信系统</a:t>
            </a:r>
            <a:r>
              <a:rPr lang="zh-CN" altLang="en-US" sz="2000" dirty="0">
                <a:latin typeface="Microsoft YaHei" panose="020B0503020204020204" pitchFamily="34" charset="-122"/>
                <a:ea typeface="Microsoft YaHei" panose="020B0503020204020204" pitchFamily="34" charset="-122"/>
              </a:rPr>
              <a:t>中，使车辆能够与周围的交通基础设施、其他车辆和行人进行实时的双向通信和数据交换。</a:t>
            </a:r>
          </a:p>
          <a:p>
            <a:pPr marL="342900" indent="-342900">
              <a:lnSpc>
                <a:spcPct val="150000"/>
              </a:lnSpc>
              <a:buFont typeface="Wingdings" panose="05000000000000000000" pitchFamily="2" charset="2"/>
              <a:buChar char="Ø"/>
            </a:pPr>
            <a:endParaRPr lang="en-US" altLang="zh-CN" sz="2000" dirty="0" smtClean="0">
              <a:latin typeface="Microsoft YaHei" panose="020B0503020204020204" pitchFamily="34" charset="-122"/>
              <a:ea typeface="Microsoft YaHei" panose="020B0503020204020204" pitchFamily="34" charset="-122"/>
            </a:endParaRPr>
          </a:p>
          <a:p>
            <a:pPr marL="342900" indent="-342900">
              <a:lnSpc>
                <a:spcPct val="150000"/>
              </a:lnSpc>
              <a:buFont typeface="Wingdings" panose="05000000000000000000" pitchFamily="2" charset="2"/>
              <a:buChar char="Ø"/>
            </a:pPr>
            <a:r>
              <a:rPr lang="zh-CN" altLang="en-US" sz="2000" b="1" dirty="0">
                <a:latin typeface="Microsoft YaHei" panose="020B0503020204020204" pitchFamily="34" charset="-122"/>
                <a:ea typeface="Microsoft YaHei" panose="020B0503020204020204" pitchFamily="34" charset="-122"/>
              </a:rPr>
              <a:t>路侧通信单元</a:t>
            </a:r>
            <a:r>
              <a:rPr lang="zh-CN" altLang="en-US" sz="2000" dirty="0">
                <a:latin typeface="Microsoft YaHei" panose="020B0503020204020204" pitchFamily="34" charset="-122"/>
                <a:ea typeface="Microsoft YaHei" panose="020B0503020204020204" pitchFamily="34" charset="-122"/>
              </a:rPr>
              <a:t>（</a:t>
            </a:r>
            <a:r>
              <a:rPr lang="en-US" altLang="zh-CN" sz="2000" dirty="0">
                <a:latin typeface="Microsoft YaHei" panose="020B0503020204020204" pitchFamily="34" charset="-122"/>
                <a:ea typeface="Microsoft YaHei" panose="020B0503020204020204" pitchFamily="34" charset="-122"/>
              </a:rPr>
              <a:t>Road Side Unit</a:t>
            </a:r>
            <a:r>
              <a:rPr lang="zh-CN" altLang="en-US" sz="2000" dirty="0">
                <a:latin typeface="Microsoft YaHei" panose="020B0503020204020204" pitchFamily="34" charset="-122"/>
                <a:ea typeface="Microsoft YaHei" panose="020B0503020204020204" pitchFamily="34" charset="-122"/>
              </a:rPr>
              <a:t>，</a:t>
            </a:r>
            <a:r>
              <a:rPr lang="en-US" altLang="zh-CN" sz="2000" dirty="0">
                <a:latin typeface="Microsoft YaHei" panose="020B0503020204020204" pitchFamily="34" charset="-122"/>
                <a:ea typeface="Microsoft YaHei" panose="020B0503020204020204" pitchFamily="34" charset="-122"/>
              </a:rPr>
              <a:t>RSU</a:t>
            </a:r>
            <a:r>
              <a:rPr lang="zh-CN" altLang="en-US" sz="2000" dirty="0">
                <a:latin typeface="Microsoft YaHei" panose="020B0503020204020204" pitchFamily="34" charset="-122"/>
                <a:ea typeface="Microsoft YaHei" panose="020B0503020204020204" pitchFamily="34" charset="-122"/>
              </a:rPr>
              <a:t>）：实现智能网联的路侧单元，可</a:t>
            </a:r>
            <a:r>
              <a:rPr lang="zh-CN" altLang="en-US" sz="2000" dirty="0" smtClean="0">
                <a:latin typeface="Microsoft YaHei" panose="020B0503020204020204" pitchFamily="34" charset="-122"/>
                <a:ea typeface="Microsoft YaHei" panose="020B0503020204020204" pitchFamily="34" charset="-122"/>
              </a:rPr>
              <a:t>通过</a:t>
            </a:r>
            <a:r>
              <a:rPr lang="en-US" altLang="zh-CN" sz="2000" dirty="0" smtClean="0">
                <a:latin typeface="Microsoft YaHei" panose="020B0503020204020204" pitchFamily="34" charset="-122"/>
                <a:ea typeface="Microsoft YaHei" panose="020B0503020204020204" pitchFamily="34" charset="-122"/>
              </a:rPr>
              <a:t>LTE- V2X</a:t>
            </a:r>
            <a:r>
              <a:rPr lang="zh-CN" altLang="en-US" sz="2000" dirty="0" smtClean="0">
                <a:latin typeface="Microsoft YaHei" panose="020B0503020204020204" pitchFamily="34" charset="-122"/>
                <a:ea typeface="Microsoft YaHei" panose="020B0503020204020204" pitchFamily="34" charset="-122"/>
              </a:rPr>
              <a:t>技术</a:t>
            </a:r>
            <a:r>
              <a:rPr lang="zh-CN" altLang="en-US" sz="2000" dirty="0">
                <a:latin typeface="Microsoft YaHei" panose="020B0503020204020204" pitchFamily="34" charset="-122"/>
                <a:ea typeface="Microsoft YaHei" panose="020B0503020204020204" pitchFamily="34" charset="-122"/>
              </a:rPr>
              <a:t>与附近</a:t>
            </a:r>
            <a:r>
              <a:rPr lang="zh-CN" altLang="en-US" sz="2000" dirty="0" smtClean="0">
                <a:latin typeface="Microsoft YaHei" panose="020B0503020204020204" pitchFamily="34" charset="-122"/>
                <a:ea typeface="Microsoft YaHei" panose="020B0503020204020204" pitchFamily="34" charset="-122"/>
              </a:rPr>
              <a:t>的</a:t>
            </a:r>
            <a:r>
              <a:rPr lang="en-US" altLang="zh-CN" sz="2000" dirty="0" smtClean="0">
                <a:latin typeface="Microsoft YaHei" panose="020B0503020204020204" pitchFamily="34" charset="-122"/>
                <a:ea typeface="Microsoft YaHei" panose="020B0503020204020204" pitchFamily="34" charset="-122"/>
              </a:rPr>
              <a:t>OBU</a:t>
            </a:r>
            <a:r>
              <a:rPr lang="zh-CN" altLang="en-US" sz="2000" dirty="0" smtClean="0">
                <a:latin typeface="Microsoft YaHei" panose="020B0503020204020204" pitchFamily="34" charset="-122"/>
                <a:ea typeface="Microsoft YaHei" panose="020B0503020204020204" pitchFamily="34" charset="-122"/>
              </a:rPr>
              <a:t>设备</a:t>
            </a:r>
            <a:r>
              <a:rPr lang="zh-CN" altLang="en-US" sz="2000" dirty="0">
                <a:latin typeface="Microsoft YaHei" panose="020B0503020204020204" pitchFamily="34" charset="-122"/>
                <a:ea typeface="Microsoft YaHei" panose="020B0503020204020204" pitchFamily="34" charset="-122"/>
              </a:rPr>
              <a:t>通信。</a:t>
            </a:r>
            <a:r>
              <a:rPr lang="en-US" altLang="zh-CN" sz="2000" dirty="0">
                <a:latin typeface="Microsoft YaHei" panose="020B0503020204020204" pitchFamily="34" charset="-122"/>
                <a:ea typeface="Microsoft YaHei" panose="020B0503020204020204" pitchFamily="34" charset="-122"/>
              </a:rPr>
              <a:t>	</a:t>
            </a:r>
          </a:p>
        </p:txBody>
      </p:sp>
    </p:spTree>
    <p:extLst>
      <p:ext uri="{BB962C8B-B14F-4D97-AF65-F5344CB8AC3E}">
        <p14:creationId xmlns:p14="http://schemas.microsoft.com/office/powerpoint/2010/main" val="1407151624"/>
      </p:ext>
    </p:extLst>
  </p:cSld>
  <p:clrMapOvr>
    <a:masterClrMapping/>
  </p:clrMapOvr>
  <p:transition spd="slow" advClick="0"/>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4427792-D495-BB48-B44E-1BC70B08C09A}"/>
              </a:ext>
            </a:extLst>
          </p:cNvPr>
          <p:cNvSpPr txBox="1"/>
          <p:nvPr/>
        </p:nvSpPr>
        <p:spPr>
          <a:xfrm>
            <a:off x="237392" y="191297"/>
            <a:ext cx="9251576" cy="679847"/>
          </a:xfrm>
          <a:prstGeom prst="rect">
            <a:avLst/>
          </a:prstGeom>
        </p:spPr>
        <p:txBody>
          <a:bodyPr vert="horz" lIns="68580" tIns="34290" rIns="68580" bIns="34290" rtlCol="0" anchor="ctr">
            <a:normAutofit/>
          </a:bodyPr>
          <a:lstStyle/>
          <a:p>
            <a:pPr lvl="0">
              <a:spcBef>
                <a:spcPct val="0"/>
              </a:spcBef>
              <a:defRPr/>
            </a:pPr>
            <a:r>
              <a:rPr lang="en-US" altLang="zh-CN" sz="34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OBU</a:t>
            </a:r>
            <a:r>
              <a:rPr lang="zh-CN" altLang="en-US" sz="34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技术需求</a:t>
            </a:r>
            <a:endParaRPr lang="en-US" altLang="zh-CN" sz="34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pic>
        <p:nvPicPr>
          <p:cNvPr id="3" name="Picture 11" descr="program-ciat2020">
            <a:extLst>
              <a:ext uri="{FF2B5EF4-FFF2-40B4-BE49-F238E27FC236}">
                <a16:creationId xmlns:a16="http://schemas.microsoft.com/office/drawing/2014/main" id="{CE91290F-9220-C540-A79E-740F2A1FED7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sp>
        <p:nvSpPr>
          <p:cNvPr id="6" name="文本框 5">
            <a:extLst>
              <a:ext uri="{FF2B5EF4-FFF2-40B4-BE49-F238E27FC236}">
                <a16:creationId xmlns:a16="http://schemas.microsoft.com/office/drawing/2014/main" id="{029AC98F-17F0-6A4A-9280-286D1179B421}"/>
              </a:ext>
            </a:extLst>
          </p:cNvPr>
          <p:cNvSpPr txBox="1"/>
          <p:nvPr/>
        </p:nvSpPr>
        <p:spPr>
          <a:xfrm>
            <a:off x="357968" y="1062441"/>
            <a:ext cx="184731" cy="369332"/>
          </a:xfrm>
          <a:prstGeom prst="rect">
            <a:avLst/>
          </a:prstGeom>
          <a:noFill/>
        </p:spPr>
        <p:txBody>
          <a:bodyPr wrap="none" rtlCol="0">
            <a:spAutoFit/>
          </a:bodyPr>
          <a:lstStyle/>
          <a:p>
            <a:endParaRPr kumimoji="1" lang="zh-CN" altLang="en-US" dirty="0"/>
          </a:p>
        </p:txBody>
      </p:sp>
      <p:sp>
        <p:nvSpPr>
          <p:cNvPr id="5" name="矩形 4"/>
          <p:cNvSpPr/>
          <p:nvPr/>
        </p:nvSpPr>
        <p:spPr>
          <a:xfrm>
            <a:off x="237391" y="1247107"/>
            <a:ext cx="8585165" cy="4923912"/>
          </a:xfrm>
          <a:prstGeom prst="rect">
            <a:avLst/>
          </a:prstGeom>
        </p:spPr>
        <p:txBody>
          <a:bodyPr wrap="square">
            <a:spAutoFit/>
          </a:bodyPr>
          <a:lstStyle/>
          <a:p>
            <a:pPr>
              <a:lnSpc>
                <a:spcPct val="200000"/>
              </a:lnSpc>
            </a:pPr>
            <a:r>
              <a:rPr kumimoji="1" lang="en-US" altLang="zh-CN" sz="2000" dirty="0" smtClean="0">
                <a:latin typeface="Microsoft YaHei" panose="020B0503020204020204" pitchFamily="34" charset="-122"/>
                <a:ea typeface="Microsoft YaHei" panose="020B0503020204020204" pitchFamily="34" charset="-122"/>
                <a:cs typeface="微软雅黑" charset="0"/>
              </a:rPr>
              <a:t>1.	</a:t>
            </a:r>
            <a:r>
              <a:rPr kumimoji="1" lang="zh-CN" altLang="en-US" sz="2000" dirty="0" smtClean="0">
                <a:latin typeface="Microsoft YaHei" panose="020B0503020204020204" pitchFamily="34" charset="-122"/>
                <a:ea typeface="Microsoft YaHei" panose="020B0503020204020204" pitchFamily="34" charset="-122"/>
                <a:cs typeface="微软雅黑" charset="0"/>
              </a:rPr>
              <a:t>运行</a:t>
            </a:r>
            <a:r>
              <a:rPr kumimoji="1" lang="zh-CN" altLang="en-US" sz="2000" dirty="0">
                <a:latin typeface="Microsoft YaHei" panose="020B0503020204020204" pitchFamily="34" charset="-122"/>
                <a:ea typeface="Microsoft YaHei" panose="020B0503020204020204" pitchFamily="34" charset="-122"/>
                <a:cs typeface="微软雅黑" charset="0"/>
              </a:rPr>
              <a:t>基于 </a:t>
            </a:r>
            <a:r>
              <a:rPr kumimoji="1" lang="en-US" altLang="zh-CN" sz="2000" dirty="0">
                <a:latin typeface="Microsoft YaHei" panose="020B0503020204020204" pitchFamily="34" charset="-122"/>
                <a:ea typeface="Microsoft YaHei" panose="020B0503020204020204" pitchFamily="34" charset="-122"/>
                <a:cs typeface="微软雅黑" charset="0"/>
              </a:rPr>
              <a:t>C-V2X </a:t>
            </a:r>
            <a:r>
              <a:rPr kumimoji="1" lang="zh-CN" altLang="en-US" sz="2000" dirty="0">
                <a:latin typeface="Microsoft YaHei" panose="020B0503020204020204" pitchFamily="34" charset="-122"/>
                <a:ea typeface="Microsoft YaHei" panose="020B0503020204020204" pitchFamily="34" charset="-122"/>
                <a:cs typeface="微软雅黑" charset="0"/>
              </a:rPr>
              <a:t>协议栈应用，提供高级辅助驾驶、车路协同服务；</a:t>
            </a:r>
          </a:p>
          <a:p>
            <a:pPr>
              <a:lnSpc>
                <a:spcPct val="200000"/>
              </a:lnSpc>
            </a:pPr>
            <a:r>
              <a:rPr kumimoji="1" lang="en-US" altLang="zh-CN" sz="2000" dirty="0">
                <a:latin typeface="Microsoft YaHei" panose="020B0503020204020204" pitchFamily="34" charset="-122"/>
                <a:ea typeface="Microsoft YaHei" panose="020B0503020204020204" pitchFamily="34" charset="-122"/>
                <a:cs typeface="微软雅黑" charset="0"/>
              </a:rPr>
              <a:t>2.	</a:t>
            </a:r>
            <a:r>
              <a:rPr kumimoji="1" lang="zh-CN" altLang="en-US" sz="2000" dirty="0">
                <a:latin typeface="Microsoft YaHei" panose="020B0503020204020204" pitchFamily="34" charset="-122"/>
                <a:ea typeface="Microsoft YaHei" panose="020B0503020204020204" pitchFamily="34" charset="-122"/>
                <a:cs typeface="微软雅黑" charset="0"/>
              </a:rPr>
              <a:t>多星座高精度</a:t>
            </a:r>
            <a:r>
              <a:rPr kumimoji="1" lang="zh-CN" altLang="en-US" sz="2000" dirty="0" smtClean="0">
                <a:latin typeface="Microsoft YaHei" panose="020B0503020204020204" pitchFamily="34" charset="-122"/>
                <a:ea typeface="Microsoft YaHei" panose="020B0503020204020204" pitchFamily="34" charset="-122"/>
                <a:cs typeface="微软雅黑" charset="0"/>
              </a:rPr>
              <a:t>卫星定位；</a:t>
            </a:r>
            <a:endParaRPr kumimoji="1" lang="zh-CN" altLang="en-US" sz="2000" dirty="0">
              <a:latin typeface="Microsoft YaHei" panose="020B0503020204020204" pitchFamily="34" charset="-122"/>
              <a:ea typeface="Microsoft YaHei" panose="020B0503020204020204" pitchFamily="34" charset="-122"/>
              <a:cs typeface="微软雅黑" charset="0"/>
            </a:endParaRPr>
          </a:p>
          <a:p>
            <a:pPr>
              <a:lnSpc>
                <a:spcPct val="200000"/>
              </a:lnSpc>
            </a:pPr>
            <a:r>
              <a:rPr kumimoji="1" lang="en-US" altLang="zh-CN" sz="2000" dirty="0">
                <a:latin typeface="Microsoft YaHei" panose="020B0503020204020204" pitchFamily="34" charset="-122"/>
                <a:ea typeface="Microsoft YaHei" panose="020B0503020204020204" pitchFamily="34" charset="-122"/>
                <a:cs typeface="微软雅黑" charset="0"/>
              </a:rPr>
              <a:t>3.	</a:t>
            </a:r>
            <a:r>
              <a:rPr kumimoji="1" lang="zh-CN" altLang="en-US" sz="2000" dirty="0">
                <a:latin typeface="Microsoft YaHei" panose="020B0503020204020204" pitchFamily="34" charset="-122"/>
                <a:ea typeface="Microsoft YaHei" panose="020B0503020204020204" pitchFamily="34" charset="-122"/>
                <a:cs typeface="微软雅黑" charset="0"/>
              </a:rPr>
              <a:t>支持 </a:t>
            </a:r>
            <a:r>
              <a:rPr kumimoji="1" lang="en-US" altLang="zh-CN" sz="2000" dirty="0">
                <a:latin typeface="Microsoft YaHei" panose="020B0503020204020204" pitchFamily="34" charset="-122"/>
                <a:ea typeface="Microsoft YaHei" panose="020B0503020204020204" pitchFamily="34" charset="-122"/>
                <a:cs typeface="微软雅黑" charset="0"/>
              </a:rPr>
              <a:t>LTE-V2X 3GPP R14 </a:t>
            </a:r>
            <a:r>
              <a:rPr kumimoji="1" lang="zh-CN" altLang="en-US" sz="2000" dirty="0">
                <a:latin typeface="Microsoft YaHei" panose="020B0503020204020204" pitchFamily="34" charset="-122"/>
                <a:ea typeface="Microsoft YaHei" panose="020B0503020204020204" pitchFamily="34" charset="-122"/>
                <a:cs typeface="微软雅黑" charset="0"/>
              </a:rPr>
              <a:t>或更</a:t>
            </a:r>
            <a:r>
              <a:rPr kumimoji="1" lang="zh-CN" altLang="en-US" sz="2000" dirty="0" smtClean="0">
                <a:latin typeface="Microsoft YaHei" panose="020B0503020204020204" pitchFamily="34" charset="-122"/>
                <a:ea typeface="Microsoft YaHei" panose="020B0503020204020204" pitchFamily="34" charset="-122"/>
                <a:cs typeface="微软雅黑" charset="0"/>
              </a:rPr>
              <a:t>高标准；</a:t>
            </a:r>
            <a:endParaRPr kumimoji="1" lang="zh-CN" altLang="en-US" sz="2000" dirty="0">
              <a:latin typeface="Microsoft YaHei" panose="020B0503020204020204" pitchFamily="34" charset="-122"/>
              <a:ea typeface="Microsoft YaHei" panose="020B0503020204020204" pitchFamily="34" charset="-122"/>
              <a:cs typeface="微软雅黑" charset="0"/>
            </a:endParaRPr>
          </a:p>
          <a:p>
            <a:pPr>
              <a:lnSpc>
                <a:spcPct val="200000"/>
              </a:lnSpc>
            </a:pPr>
            <a:r>
              <a:rPr kumimoji="1" lang="en-US" altLang="zh-CN" sz="2000" dirty="0">
                <a:latin typeface="Microsoft YaHei" panose="020B0503020204020204" pitchFamily="34" charset="-122"/>
                <a:ea typeface="Microsoft YaHei" panose="020B0503020204020204" pitchFamily="34" charset="-122"/>
                <a:cs typeface="微软雅黑" charset="0"/>
              </a:rPr>
              <a:t>4.	</a:t>
            </a:r>
            <a:r>
              <a:rPr kumimoji="1" lang="zh-CN" altLang="en-US" sz="2000" dirty="0">
                <a:latin typeface="Microsoft YaHei" panose="020B0503020204020204" pitchFamily="34" charset="-122"/>
                <a:ea typeface="Microsoft YaHei" panose="020B0503020204020204" pitchFamily="34" charset="-122"/>
                <a:cs typeface="微软雅黑" charset="0"/>
              </a:rPr>
              <a:t>内置 </a:t>
            </a:r>
            <a:r>
              <a:rPr kumimoji="1" lang="en-US" altLang="zh-CN" sz="2000" dirty="0">
                <a:latin typeface="Microsoft YaHei" panose="020B0503020204020204" pitchFamily="34" charset="-122"/>
                <a:ea typeface="Microsoft YaHei" panose="020B0503020204020204" pitchFamily="34" charset="-122"/>
                <a:cs typeface="微软雅黑" charset="0"/>
              </a:rPr>
              <a:t>HSM </a:t>
            </a:r>
            <a:r>
              <a:rPr kumimoji="1" lang="zh-CN" altLang="en-US" sz="2000" dirty="0">
                <a:latin typeface="Microsoft YaHei" panose="020B0503020204020204" pitchFamily="34" charset="-122"/>
                <a:ea typeface="Microsoft YaHei" panose="020B0503020204020204" pitchFamily="34" charset="-122"/>
                <a:cs typeface="微软雅黑" charset="0"/>
              </a:rPr>
              <a:t>模块，支持国密算法加密、验签、签名；</a:t>
            </a:r>
          </a:p>
          <a:p>
            <a:pPr>
              <a:lnSpc>
                <a:spcPct val="200000"/>
              </a:lnSpc>
            </a:pPr>
            <a:r>
              <a:rPr kumimoji="1" lang="en-US" altLang="zh-CN" sz="2000" dirty="0">
                <a:latin typeface="Microsoft YaHei" panose="020B0503020204020204" pitchFamily="34" charset="-122"/>
                <a:ea typeface="Microsoft YaHei" panose="020B0503020204020204" pitchFamily="34" charset="-122"/>
                <a:cs typeface="微软雅黑" charset="0"/>
              </a:rPr>
              <a:t>5.	</a:t>
            </a:r>
            <a:r>
              <a:rPr kumimoji="1" lang="zh-CN" altLang="en-US" sz="2000" dirty="0">
                <a:latin typeface="Microsoft YaHei" panose="020B0503020204020204" pitchFamily="34" charset="-122"/>
                <a:ea typeface="Microsoft YaHei" panose="020B0503020204020204" pitchFamily="34" charset="-122"/>
                <a:cs typeface="微软雅黑" charset="0"/>
              </a:rPr>
              <a:t>支持链接车内 </a:t>
            </a:r>
            <a:r>
              <a:rPr kumimoji="1" lang="en-US" altLang="zh-CN" sz="2000" dirty="0">
                <a:latin typeface="Microsoft YaHei" panose="020B0503020204020204" pitchFamily="34" charset="-122"/>
                <a:ea typeface="Microsoft YaHei" panose="020B0503020204020204" pitchFamily="34" charset="-122"/>
                <a:cs typeface="微软雅黑" charset="0"/>
              </a:rPr>
              <a:t>CAN </a:t>
            </a:r>
            <a:r>
              <a:rPr kumimoji="1" lang="zh-CN" altLang="en-US" sz="2000" dirty="0">
                <a:latin typeface="Microsoft YaHei" panose="020B0503020204020204" pitchFamily="34" charset="-122"/>
                <a:ea typeface="Microsoft YaHei" panose="020B0503020204020204" pitchFamily="34" charset="-122"/>
                <a:cs typeface="微软雅黑" charset="0"/>
              </a:rPr>
              <a:t>总线；</a:t>
            </a:r>
          </a:p>
          <a:p>
            <a:pPr>
              <a:lnSpc>
                <a:spcPct val="200000"/>
              </a:lnSpc>
            </a:pPr>
            <a:r>
              <a:rPr kumimoji="1" lang="en-US" altLang="zh-CN" sz="2000" dirty="0">
                <a:latin typeface="Microsoft YaHei" panose="020B0503020204020204" pitchFamily="34" charset="-122"/>
                <a:ea typeface="Microsoft YaHei" panose="020B0503020204020204" pitchFamily="34" charset="-122"/>
                <a:cs typeface="微软雅黑" charset="0"/>
              </a:rPr>
              <a:t>6.	</a:t>
            </a:r>
            <a:r>
              <a:rPr kumimoji="1" lang="zh-CN" altLang="en-US" sz="2000" dirty="0">
                <a:latin typeface="Microsoft YaHei" panose="020B0503020204020204" pitchFamily="34" charset="-122"/>
                <a:ea typeface="Microsoft YaHei" panose="020B0503020204020204" pitchFamily="34" charset="-122"/>
                <a:cs typeface="微软雅黑" charset="0"/>
              </a:rPr>
              <a:t>支持 </a:t>
            </a:r>
            <a:r>
              <a:rPr kumimoji="1" lang="en-US" altLang="zh-CN" sz="2000" dirty="0">
                <a:latin typeface="Microsoft YaHei" panose="020B0503020204020204" pitchFamily="34" charset="-122"/>
                <a:ea typeface="Microsoft YaHei" panose="020B0503020204020204" pitchFamily="34" charset="-122"/>
                <a:cs typeface="微软雅黑" charset="0"/>
              </a:rPr>
              <a:t>2G/3G/4G/5G</a:t>
            </a:r>
            <a:r>
              <a:rPr kumimoji="1" lang="zh-CN" altLang="en-US" sz="2000" dirty="0">
                <a:latin typeface="Microsoft YaHei" panose="020B0503020204020204" pitchFamily="34" charset="-122"/>
                <a:ea typeface="Microsoft YaHei" panose="020B0503020204020204" pitchFamily="34" charset="-122"/>
                <a:cs typeface="微软雅黑" charset="0"/>
              </a:rPr>
              <a:t>，以及后续各代移动通信服务，</a:t>
            </a:r>
            <a:r>
              <a:rPr kumimoji="1" lang="zh-CN" altLang="en-US" sz="2000" dirty="0" smtClean="0">
                <a:latin typeface="Microsoft YaHei" panose="020B0503020204020204" pitchFamily="34" charset="-122"/>
                <a:ea typeface="Microsoft YaHei" panose="020B0503020204020204" pitchFamily="34" charset="-122"/>
                <a:cs typeface="微软雅黑" charset="0"/>
              </a:rPr>
              <a:t>实现</a:t>
            </a:r>
            <a:r>
              <a:rPr kumimoji="1" lang="en-US" altLang="zh-CN" sz="2000" dirty="0" err="1" smtClean="0">
                <a:latin typeface="Microsoft YaHei" panose="020B0503020204020204" pitchFamily="34" charset="-122"/>
                <a:ea typeface="Microsoft YaHei" panose="020B0503020204020204" pitchFamily="34" charset="-122"/>
                <a:cs typeface="微软雅黑" charset="0"/>
              </a:rPr>
              <a:t>Uu</a:t>
            </a:r>
            <a:r>
              <a:rPr kumimoji="1" lang="zh-CN" altLang="en-US" sz="2000" dirty="0" smtClean="0">
                <a:latin typeface="Microsoft YaHei" panose="020B0503020204020204" pitchFamily="34" charset="-122"/>
                <a:ea typeface="Microsoft YaHei" panose="020B0503020204020204" pitchFamily="34" charset="-122"/>
                <a:cs typeface="微软雅黑" charset="0"/>
              </a:rPr>
              <a:t>通信</a:t>
            </a:r>
            <a:r>
              <a:rPr kumimoji="1" lang="zh-CN" altLang="en-US" sz="2000" dirty="0">
                <a:latin typeface="Microsoft YaHei" panose="020B0503020204020204" pitchFamily="34" charset="-122"/>
                <a:ea typeface="Microsoft YaHei" panose="020B0503020204020204" pitchFamily="34" charset="-122"/>
                <a:cs typeface="微软雅黑" charset="0"/>
              </a:rPr>
              <a:t>；</a:t>
            </a:r>
          </a:p>
          <a:p>
            <a:pPr>
              <a:lnSpc>
                <a:spcPct val="200000"/>
              </a:lnSpc>
            </a:pPr>
            <a:r>
              <a:rPr kumimoji="1" lang="en-US" altLang="zh-CN" sz="2000" dirty="0">
                <a:latin typeface="Microsoft YaHei" panose="020B0503020204020204" pitchFamily="34" charset="-122"/>
                <a:ea typeface="Microsoft YaHei" panose="020B0503020204020204" pitchFamily="34" charset="-122"/>
                <a:cs typeface="微软雅黑" charset="0"/>
              </a:rPr>
              <a:t>7.	</a:t>
            </a:r>
            <a:r>
              <a:rPr kumimoji="1" lang="zh-CN" altLang="en-US" sz="2000" dirty="0" smtClean="0">
                <a:latin typeface="Microsoft YaHei" panose="020B0503020204020204" pitchFamily="34" charset="-122"/>
                <a:ea typeface="Microsoft YaHei" panose="020B0503020204020204" pitchFamily="34" charset="-122"/>
                <a:cs typeface="微软雅黑" charset="0"/>
              </a:rPr>
              <a:t>支持</a:t>
            </a:r>
            <a:r>
              <a:rPr kumimoji="1" lang="en-US" altLang="zh-CN" sz="2000" dirty="0" err="1" smtClean="0">
                <a:latin typeface="Microsoft YaHei" panose="020B0503020204020204" pitchFamily="34" charset="-122"/>
                <a:ea typeface="Microsoft YaHei" panose="020B0503020204020204" pitchFamily="34" charset="-122"/>
                <a:cs typeface="微软雅黑" charset="0"/>
              </a:rPr>
              <a:t>WiFi</a:t>
            </a:r>
            <a:r>
              <a:rPr kumimoji="1" lang="zh-CN" altLang="en-US" sz="2000" dirty="0">
                <a:latin typeface="Microsoft YaHei" panose="020B0503020204020204" pitchFamily="34" charset="-122"/>
                <a:ea typeface="Microsoft YaHei" panose="020B0503020204020204" pitchFamily="34" charset="-122"/>
                <a:cs typeface="微软雅黑" charset="0"/>
              </a:rPr>
              <a:t>，</a:t>
            </a:r>
            <a:r>
              <a:rPr kumimoji="1" lang="zh-CN" altLang="en-US" sz="2000" dirty="0" smtClean="0">
                <a:latin typeface="Microsoft YaHei" panose="020B0503020204020204" pitchFamily="34" charset="-122"/>
                <a:ea typeface="Microsoft YaHei" panose="020B0503020204020204" pitchFamily="34" charset="-122"/>
                <a:cs typeface="微软雅黑" charset="0"/>
              </a:rPr>
              <a:t>通过</a:t>
            </a:r>
            <a:r>
              <a:rPr kumimoji="1" lang="en-US" altLang="zh-CN" sz="2000" dirty="0" err="1" smtClean="0">
                <a:latin typeface="Microsoft YaHei" panose="020B0503020204020204" pitchFamily="34" charset="-122"/>
                <a:ea typeface="Microsoft YaHei" panose="020B0503020204020204" pitchFamily="34" charset="-122"/>
                <a:cs typeface="微软雅黑" charset="0"/>
              </a:rPr>
              <a:t>WiFi</a:t>
            </a:r>
            <a:r>
              <a:rPr kumimoji="1" lang="zh-CN" altLang="en-US" sz="2000" dirty="0" smtClean="0">
                <a:latin typeface="Microsoft YaHei" panose="020B0503020204020204" pitchFamily="34" charset="-122"/>
                <a:ea typeface="Microsoft YaHei" panose="020B0503020204020204" pitchFamily="34" charset="-122"/>
                <a:cs typeface="微软雅黑" charset="0"/>
              </a:rPr>
              <a:t>实现</a:t>
            </a:r>
            <a:r>
              <a:rPr kumimoji="1" lang="zh-CN" altLang="en-US" sz="2000" dirty="0">
                <a:latin typeface="Microsoft YaHei" panose="020B0503020204020204" pitchFamily="34" charset="-122"/>
                <a:ea typeface="Microsoft YaHei" panose="020B0503020204020204" pitchFamily="34" charset="-122"/>
                <a:cs typeface="微软雅黑" charset="0"/>
              </a:rPr>
              <a:t>与车机、移动终端等设备交互；</a:t>
            </a:r>
          </a:p>
          <a:p>
            <a:pPr>
              <a:lnSpc>
                <a:spcPct val="200000"/>
              </a:lnSpc>
            </a:pPr>
            <a:r>
              <a:rPr kumimoji="1" lang="en-US" altLang="zh-CN" sz="2000" dirty="0">
                <a:latin typeface="Microsoft YaHei" panose="020B0503020204020204" pitchFamily="34" charset="-122"/>
                <a:ea typeface="Microsoft YaHei" panose="020B0503020204020204" pitchFamily="34" charset="-122"/>
                <a:cs typeface="微软雅黑" charset="0"/>
              </a:rPr>
              <a:t>8.	</a:t>
            </a:r>
            <a:r>
              <a:rPr kumimoji="1" lang="zh-CN" altLang="en-US" sz="2000" dirty="0">
                <a:latin typeface="Microsoft YaHei" panose="020B0503020204020204" pitchFamily="34" charset="-122"/>
                <a:ea typeface="Microsoft YaHei" panose="020B0503020204020204" pitchFamily="34" charset="-122"/>
                <a:cs typeface="微软雅黑" charset="0"/>
              </a:rPr>
              <a:t>网口、</a:t>
            </a:r>
            <a:r>
              <a:rPr kumimoji="1" lang="en-US" altLang="zh-CN" sz="2000" dirty="0">
                <a:latin typeface="Microsoft YaHei" panose="020B0503020204020204" pitchFamily="34" charset="-122"/>
                <a:ea typeface="Microsoft YaHei" panose="020B0503020204020204" pitchFamily="34" charset="-122"/>
                <a:cs typeface="微软雅黑" charset="0"/>
              </a:rPr>
              <a:t>USB </a:t>
            </a:r>
            <a:r>
              <a:rPr kumimoji="1" lang="zh-CN" altLang="en-US" sz="2000" dirty="0">
                <a:latin typeface="Microsoft YaHei" panose="020B0503020204020204" pitchFamily="34" charset="-122"/>
                <a:ea typeface="Microsoft YaHei" panose="020B0503020204020204" pitchFamily="34" charset="-122"/>
                <a:cs typeface="微软雅黑" charset="0"/>
              </a:rPr>
              <a:t>等数字通信接口。</a:t>
            </a:r>
          </a:p>
        </p:txBody>
      </p:sp>
    </p:spTree>
    <p:extLst>
      <p:ext uri="{BB962C8B-B14F-4D97-AF65-F5344CB8AC3E}">
        <p14:creationId xmlns:p14="http://schemas.microsoft.com/office/powerpoint/2010/main" val="1693017512"/>
      </p:ext>
    </p:extLst>
  </p:cSld>
  <p:clrMapOvr>
    <a:masterClrMapping/>
  </p:clrMapOvr>
  <p:transition spd="slow" advClick="0"/>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4427792-D495-BB48-B44E-1BC70B08C09A}"/>
              </a:ext>
            </a:extLst>
          </p:cNvPr>
          <p:cNvSpPr txBox="1"/>
          <p:nvPr/>
        </p:nvSpPr>
        <p:spPr>
          <a:xfrm>
            <a:off x="237392" y="191297"/>
            <a:ext cx="9251576" cy="679847"/>
          </a:xfrm>
          <a:prstGeom prst="rect">
            <a:avLst/>
          </a:prstGeom>
        </p:spPr>
        <p:txBody>
          <a:bodyPr vert="horz" lIns="68580" tIns="34290" rIns="68580" bIns="34290" rtlCol="0" anchor="ctr">
            <a:normAutofit/>
          </a:bodyPr>
          <a:lstStyle/>
          <a:p>
            <a:pPr lvl="0">
              <a:spcBef>
                <a:spcPct val="0"/>
              </a:spcBef>
              <a:defRPr/>
            </a:pPr>
            <a:r>
              <a:rPr lang="en-US" altLang="zh-CN" sz="34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OBU</a:t>
            </a:r>
            <a:r>
              <a:rPr lang="zh-CN" altLang="en-US" sz="34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产品架构</a:t>
            </a:r>
            <a:endParaRPr lang="en-US" altLang="zh-CN" sz="34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pic>
        <p:nvPicPr>
          <p:cNvPr id="3" name="Picture 11" descr="program-ciat2020">
            <a:extLst>
              <a:ext uri="{FF2B5EF4-FFF2-40B4-BE49-F238E27FC236}">
                <a16:creationId xmlns:a16="http://schemas.microsoft.com/office/drawing/2014/main" id="{CE91290F-9220-C540-A79E-740F2A1FED7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sp>
        <p:nvSpPr>
          <p:cNvPr id="6" name="文本框 5">
            <a:extLst>
              <a:ext uri="{FF2B5EF4-FFF2-40B4-BE49-F238E27FC236}">
                <a16:creationId xmlns:a16="http://schemas.microsoft.com/office/drawing/2014/main" id="{029AC98F-17F0-6A4A-9280-286D1179B421}"/>
              </a:ext>
            </a:extLst>
          </p:cNvPr>
          <p:cNvSpPr txBox="1"/>
          <p:nvPr/>
        </p:nvSpPr>
        <p:spPr>
          <a:xfrm>
            <a:off x="357968" y="1062441"/>
            <a:ext cx="184731" cy="369332"/>
          </a:xfrm>
          <a:prstGeom prst="rect">
            <a:avLst/>
          </a:prstGeom>
          <a:noFill/>
        </p:spPr>
        <p:txBody>
          <a:bodyPr wrap="none" rtlCol="0">
            <a:spAutoFit/>
          </a:bodyPr>
          <a:lstStyle/>
          <a:p>
            <a:endParaRPr kumimoji="1" lang="zh-CN" altLang="en-US" dirty="0"/>
          </a:p>
        </p:txBody>
      </p:sp>
      <p:pic>
        <p:nvPicPr>
          <p:cNvPr id="4" name="图片 3"/>
          <p:cNvPicPr>
            <a:picLocks noChangeAspect="1"/>
          </p:cNvPicPr>
          <p:nvPr/>
        </p:nvPicPr>
        <p:blipFill>
          <a:blip r:embed="rId3"/>
          <a:stretch>
            <a:fillRect/>
          </a:stretch>
        </p:blipFill>
        <p:spPr>
          <a:xfrm>
            <a:off x="1008345" y="1478839"/>
            <a:ext cx="7413379" cy="4280966"/>
          </a:xfrm>
          <a:prstGeom prst="rect">
            <a:avLst/>
          </a:prstGeom>
        </p:spPr>
      </p:pic>
    </p:spTree>
    <p:extLst>
      <p:ext uri="{BB962C8B-B14F-4D97-AF65-F5344CB8AC3E}">
        <p14:creationId xmlns:p14="http://schemas.microsoft.com/office/powerpoint/2010/main" val="2813535181"/>
      </p:ext>
    </p:extLst>
  </p:cSld>
  <p:clrMapOvr>
    <a:masterClrMapping/>
  </p:clrMapOvr>
  <p:transition spd="slow" advClick="0"/>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4427792-D495-BB48-B44E-1BC70B08C09A}"/>
              </a:ext>
            </a:extLst>
          </p:cNvPr>
          <p:cNvSpPr txBox="1"/>
          <p:nvPr/>
        </p:nvSpPr>
        <p:spPr>
          <a:xfrm>
            <a:off x="237392" y="191297"/>
            <a:ext cx="9251576" cy="679847"/>
          </a:xfrm>
          <a:prstGeom prst="rect">
            <a:avLst/>
          </a:prstGeom>
        </p:spPr>
        <p:txBody>
          <a:bodyPr vert="horz" lIns="68580" tIns="34290" rIns="68580" bIns="34290" rtlCol="0" anchor="ctr">
            <a:normAutofit/>
          </a:bodyPr>
          <a:lstStyle/>
          <a:p>
            <a:pPr lvl="0">
              <a:spcBef>
                <a:spcPct val="0"/>
              </a:spcBef>
              <a:defRPr/>
            </a:pPr>
            <a:r>
              <a:rPr lang="en-US" altLang="zh-CN" sz="34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RSU</a:t>
            </a:r>
            <a:r>
              <a:rPr lang="zh-CN" altLang="en-US" sz="34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技术需求</a:t>
            </a:r>
            <a:endParaRPr lang="en-US" altLang="zh-CN" sz="34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pic>
        <p:nvPicPr>
          <p:cNvPr id="3" name="Picture 11" descr="program-ciat2020">
            <a:extLst>
              <a:ext uri="{FF2B5EF4-FFF2-40B4-BE49-F238E27FC236}">
                <a16:creationId xmlns:a16="http://schemas.microsoft.com/office/drawing/2014/main" id="{CE91290F-9220-C540-A79E-740F2A1FED7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sp>
        <p:nvSpPr>
          <p:cNvPr id="6" name="文本框 5">
            <a:extLst>
              <a:ext uri="{FF2B5EF4-FFF2-40B4-BE49-F238E27FC236}">
                <a16:creationId xmlns:a16="http://schemas.microsoft.com/office/drawing/2014/main" id="{029AC98F-17F0-6A4A-9280-286D1179B421}"/>
              </a:ext>
            </a:extLst>
          </p:cNvPr>
          <p:cNvSpPr txBox="1"/>
          <p:nvPr/>
        </p:nvSpPr>
        <p:spPr>
          <a:xfrm>
            <a:off x="357968" y="1062441"/>
            <a:ext cx="184731" cy="369332"/>
          </a:xfrm>
          <a:prstGeom prst="rect">
            <a:avLst/>
          </a:prstGeom>
          <a:noFill/>
        </p:spPr>
        <p:txBody>
          <a:bodyPr wrap="none" rtlCol="0">
            <a:spAutoFit/>
          </a:bodyPr>
          <a:lstStyle/>
          <a:p>
            <a:endParaRPr kumimoji="1" lang="zh-CN" altLang="en-US" dirty="0"/>
          </a:p>
        </p:txBody>
      </p:sp>
      <p:sp>
        <p:nvSpPr>
          <p:cNvPr id="8" name="矩形 7"/>
          <p:cNvSpPr/>
          <p:nvPr/>
        </p:nvSpPr>
        <p:spPr>
          <a:xfrm>
            <a:off x="237391" y="1247107"/>
            <a:ext cx="8585165" cy="5016758"/>
          </a:xfrm>
          <a:prstGeom prst="rect">
            <a:avLst/>
          </a:prstGeom>
        </p:spPr>
        <p:txBody>
          <a:bodyPr wrap="square">
            <a:spAutoFit/>
          </a:bodyPr>
          <a:lstStyle/>
          <a:p>
            <a:pPr>
              <a:lnSpc>
                <a:spcPct val="200000"/>
              </a:lnSpc>
            </a:pPr>
            <a:r>
              <a:rPr kumimoji="1" lang="en-US" altLang="zh-CN" sz="2000" dirty="0">
                <a:latin typeface="Microsoft YaHei" panose="020B0503020204020204" pitchFamily="34" charset="-122"/>
                <a:ea typeface="Microsoft YaHei" panose="020B0503020204020204" pitchFamily="34" charset="-122"/>
                <a:cs typeface="微软雅黑" charset="0"/>
              </a:rPr>
              <a:t>1.	</a:t>
            </a:r>
            <a:r>
              <a:rPr kumimoji="1" lang="zh-CN" altLang="en-US" sz="2000" dirty="0" smtClean="0">
                <a:latin typeface="Microsoft YaHei" panose="020B0503020204020204" pitchFamily="34" charset="-122"/>
                <a:ea typeface="Microsoft YaHei" panose="020B0503020204020204" pitchFamily="34" charset="-122"/>
                <a:cs typeface="微软雅黑" charset="0"/>
              </a:rPr>
              <a:t>支持</a:t>
            </a:r>
            <a:r>
              <a:rPr kumimoji="1" lang="en-US" altLang="zh-CN" sz="2000" dirty="0" smtClean="0">
                <a:latin typeface="Microsoft YaHei" panose="020B0503020204020204" pitchFamily="34" charset="-122"/>
                <a:ea typeface="Microsoft YaHei" panose="020B0503020204020204" pitchFamily="34" charset="-122"/>
                <a:cs typeface="微软雅黑" charset="0"/>
              </a:rPr>
              <a:t>LTE-V2X </a:t>
            </a:r>
            <a:r>
              <a:rPr kumimoji="1" lang="en-US" altLang="zh-CN" sz="2000" dirty="0">
                <a:latin typeface="Microsoft YaHei" panose="020B0503020204020204" pitchFamily="34" charset="-122"/>
                <a:ea typeface="Microsoft YaHei" panose="020B0503020204020204" pitchFamily="34" charset="-122"/>
                <a:cs typeface="微软雅黑" charset="0"/>
              </a:rPr>
              <a:t>3GPP </a:t>
            </a:r>
            <a:r>
              <a:rPr kumimoji="1" lang="en-US" altLang="zh-CN" sz="2000" dirty="0" smtClean="0">
                <a:latin typeface="Microsoft YaHei" panose="020B0503020204020204" pitchFamily="34" charset="-122"/>
                <a:ea typeface="Microsoft YaHei" panose="020B0503020204020204" pitchFamily="34" charset="-122"/>
                <a:cs typeface="微软雅黑" charset="0"/>
              </a:rPr>
              <a:t>R14</a:t>
            </a:r>
            <a:r>
              <a:rPr kumimoji="1" lang="zh-CN" altLang="en-US" sz="2000" dirty="0" smtClean="0">
                <a:latin typeface="Microsoft YaHei" panose="020B0503020204020204" pitchFamily="34" charset="-122"/>
                <a:ea typeface="Microsoft YaHei" panose="020B0503020204020204" pitchFamily="34" charset="-122"/>
                <a:cs typeface="微软雅黑" charset="0"/>
              </a:rPr>
              <a:t>或</a:t>
            </a:r>
            <a:r>
              <a:rPr kumimoji="1" lang="zh-CN" altLang="en-US" sz="2000" dirty="0">
                <a:latin typeface="Microsoft YaHei" panose="020B0503020204020204" pitchFamily="34" charset="-122"/>
                <a:ea typeface="Microsoft YaHei" panose="020B0503020204020204" pitchFamily="34" charset="-122"/>
                <a:cs typeface="微软雅黑" charset="0"/>
              </a:rPr>
              <a:t>更</a:t>
            </a:r>
            <a:r>
              <a:rPr kumimoji="1" lang="zh-CN" altLang="en-US" sz="2000" dirty="0" smtClean="0">
                <a:latin typeface="Microsoft YaHei" panose="020B0503020204020204" pitchFamily="34" charset="-122"/>
                <a:ea typeface="Microsoft YaHei" panose="020B0503020204020204" pitchFamily="34" charset="-122"/>
                <a:cs typeface="微软雅黑" charset="0"/>
              </a:rPr>
              <a:t>高标准；</a:t>
            </a:r>
            <a:endParaRPr kumimoji="1" lang="zh-CN" altLang="en-US" sz="2000" dirty="0">
              <a:latin typeface="Microsoft YaHei" panose="020B0503020204020204" pitchFamily="34" charset="-122"/>
              <a:ea typeface="Microsoft YaHei" panose="020B0503020204020204" pitchFamily="34" charset="-122"/>
              <a:cs typeface="微软雅黑" charset="0"/>
            </a:endParaRPr>
          </a:p>
          <a:p>
            <a:pPr>
              <a:lnSpc>
                <a:spcPct val="200000"/>
              </a:lnSpc>
            </a:pPr>
            <a:r>
              <a:rPr kumimoji="1" lang="en-US" altLang="zh-CN" sz="2000" dirty="0">
                <a:latin typeface="Microsoft YaHei" panose="020B0503020204020204" pitchFamily="34" charset="-122"/>
                <a:ea typeface="Microsoft YaHei" panose="020B0503020204020204" pitchFamily="34" charset="-122"/>
                <a:cs typeface="微软雅黑" charset="0"/>
              </a:rPr>
              <a:t>2.	</a:t>
            </a:r>
            <a:r>
              <a:rPr kumimoji="1" lang="zh-CN" altLang="en-US" sz="2000" dirty="0">
                <a:latin typeface="Microsoft YaHei" panose="020B0503020204020204" pitchFamily="34" charset="-122"/>
                <a:ea typeface="Microsoft YaHei" panose="020B0503020204020204" pitchFamily="34" charset="-122"/>
                <a:cs typeface="微软雅黑" charset="0"/>
              </a:rPr>
              <a:t>支持高精度</a:t>
            </a:r>
            <a:r>
              <a:rPr kumimoji="1" lang="zh-CN" altLang="en-US" sz="2000" dirty="0" smtClean="0">
                <a:latin typeface="Microsoft YaHei" panose="020B0503020204020204" pitchFamily="34" charset="-122"/>
                <a:ea typeface="Microsoft YaHei" panose="020B0503020204020204" pitchFamily="34" charset="-122"/>
                <a:cs typeface="微软雅黑" charset="0"/>
              </a:rPr>
              <a:t>卫星定位；</a:t>
            </a:r>
            <a:r>
              <a:rPr kumimoji="1" lang="zh-CN" altLang="en-US" sz="2000" dirty="0">
                <a:latin typeface="Microsoft YaHei" panose="020B0503020204020204" pitchFamily="34" charset="-122"/>
                <a:ea typeface="Microsoft YaHei" panose="020B0503020204020204" pitchFamily="34" charset="-122"/>
                <a:cs typeface="微软雅黑" charset="0"/>
              </a:rPr>
              <a:t>支持</a:t>
            </a:r>
            <a:r>
              <a:rPr kumimoji="1" lang="zh-CN" altLang="en-US" sz="2000" dirty="0" smtClean="0">
                <a:latin typeface="Microsoft YaHei" panose="020B0503020204020204" pitchFamily="34" charset="-122"/>
                <a:ea typeface="Microsoft YaHei" panose="020B0503020204020204" pitchFamily="34" charset="-122"/>
                <a:cs typeface="微软雅黑" charset="0"/>
              </a:rPr>
              <a:t>无</a:t>
            </a:r>
            <a:r>
              <a:rPr kumimoji="1" lang="en-US" altLang="zh-CN" sz="2000" dirty="0" smtClean="0">
                <a:latin typeface="Microsoft YaHei" panose="020B0503020204020204" pitchFamily="34" charset="-122"/>
                <a:ea typeface="Microsoft YaHei" panose="020B0503020204020204" pitchFamily="34" charset="-122"/>
                <a:cs typeface="微软雅黑" charset="0"/>
              </a:rPr>
              <a:t>GNSS</a:t>
            </a:r>
            <a:r>
              <a:rPr kumimoji="1" lang="zh-CN" altLang="en-US" sz="2000" dirty="0" smtClean="0">
                <a:latin typeface="Microsoft YaHei" panose="020B0503020204020204" pitchFamily="34" charset="-122"/>
                <a:ea typeface="Microsoft YaHei" panose="020B0503020204020204" pitchFamily="34" charset="-122"/>
                <a:cs typeface="微软雅黑" charset="0"/>
              </a:rPr>
              <a:t>场景</a:t>
            </a:r>
            <a:r>
              <a:rPr kumimoji="1" lang="zh-CN" altLang="en-US" sz="2000" dirty="0">
                <a:latin typeface="Microsoft YaHei" panose="020B0503020204020204" pitchFamily="34" charset="-122"/>
                <a:ea typeface="Microsoft YaHei" panose="020B0503020204020204" pitchFamily="34" charset="-122"/>
                <a:cs typeface="微软雅黑" charset="0"/>
              </a:rPr>
              <a:t>下</a:t>
            </a:r>
            <a:r>
              <a:rPr kumimoji="1" lang="zh-CN" altLang="en-US" sz="2000" dirty="0" smtClean="0">
                <a:latin typeface="Microsoft YaHei" panose="020B0503020204020204" pitchFamily="34" charset="-122"/>
                <a:ea typeface="Microsoft YaHei" panose="020B0503020204020204" pitchFamily="34" charset="-122"/>
                <a:cs typeface="微软雅黑" charset="0"/>
              </a:rPr>
              <a:t>的</a:t>
            </a:r>
            <a:r>
              <a:rPr kumimoji="1" lang="en-US" altLang="zh-CN" sz="2000" dirty="0" smtClean="0">
                <a:latin typeface="Microsoft YaHei" panose="020B0503020204020204" pitchFamily="34" charset="-122"/>
                <a:ea typeface="Microsoft YaHei" panose="020B0503020204020204" pitchFamily="34" charset="-122"/>
                <a:cs typeface="微软雅黑" charset="0"/>
              </a:rPr>
              <a:t>V2X</a:t>
            </a:r>
            <a:r>
              <a:rPr kumimoji="1" lang="zh-CN" altLang="en-US" sz="2000" dirty="0" smtClean="0">
                <a:latin typeface="Microsoft YaHei" panose="020B0503020204020204" pitchFamily="34" charset="-122"/>
                <a:ea typeface="Microsoft YaHei" panose="020B0503020204020204" pitchFamily="34" charset="-122"/>
                <a:cs typeface="微软雅黑" charset="0"/>
              </a:rPr>
              <a:t>通信</a:t>
            </a:r>
            <a:r>
              <a:rPr kumimoji="1" lang="zh-CN" altLang="en-US" sz="2000" dirty="0">
                <a:latin typeface="Microsoft YaHei" panose="020B0503020204020204" pitchFamily="34" charset="-122"/>
                <a:ea typeface="Microsoft YaHei" panose="020B0503020204020204" pitchFamily="34" charset="-122"/>
                <a:cs typeface="微软雅黑" charset="0"/>
              </a:rPr>
              <a:t>；</a:t>
            </a:r>
          </a:p>
          <a:p>
            <a:pPr>
              <a:lnSpc>
                <a:spcPct val="200000"/>
              </a:lnSpc>
            </a:pPr>
            <a:r>
              <a:rPr kumimoji="1" lang="en-US" altLang="zh-CN" sz="2000" dirty="0">
                <a:latin typeface="Microsoft YaHei" panose="020B0503020204020204" pitchFamily="34" charset="-122"/>
                <a:ea typeface="Microsoft YaHei" panose="020B0503020204020204" pitchFamily="34" charset="-122"/>
                <a:cs typeface="微软雅黑" charset="0"/>
              </a:rPr>
              <a:t>3.	</a:t>
            </a:r>
            <a:r>
              <a:rPr kumimoji="1" lang="zh-CN" altLang="en-US" sz="2000" dirty="0" smtClean="0">
                <a:latin typeface="Microsoft YaHei" panose="020B0503020204020204" pitchFamily="34" charset="-122"/>
                <a:ea typeface="Microsoft YaHei" panose="020B0503020204020204" pitchFamily="34" charset="-122"/>
                <a:cs typeface="微软雅黑" charset="0"/>
              </a:rPr>
              <a:t>内置</a:t>
            </a:r>
            <a:r>
              <a:rPr kumimoji="1" lang="en-US" altLang="zh-CN" sz="2000" dirty="0" smtClean="0">
                <a:latin typeface="Microsoft YaHei" panose="020B0503020204020204" pitchFamily="34" charset="-122"/>
                <a:ea typeface="Microsoft YaHei" panose="020B0503020204020204" pitchFamily="34" charset="-122"/>
                <a:cs typeface="微软雅黑" charset="0"/>
              </a:rPr>
              <a:t>HSM</a:t>
            </a:r>
            <a:r>
              <a:rPr kumimoji="1" lang="zh-CN" altLang="en-US" sz="2000" dirty="0" smtClean="0">
                <a:latin typeface="Microsoft YaHei" panose="020B0503020204020204" pitchFamily="34" charset="-122"/>
                <a:ea typeface="Microsoft YaHei" panose="020B0503020204020204" pitchFamily="34" charset="-122"/>
                <a:cs typeface="微软雅黑" charset="0"/>
              </a:rPr>
              <a:t>模块</a:t>
            </a:r>
            <a:r>
              <a:rPr kumimoji="1" lang="zh-CN" altLang="en-US" sz="2000" dirty="0">
                <a:latin typeface="Microsoft YaHei" panose="020B0503020204020204" pitchFamily="34" charset="-122"/>
                <a:ea typeface="Microsoft YaHei" panose="020B0503020204020204" pitchFamily="34" charset="-122"/>
                <a:cs typeface="微软雅黑" charset="0"/>
              </a:rPr>
              <a:t>，支持国密算法加密、验签、签名</a:t>
            </a:r>
            <a:r>
              <a:rPr kumimoji="1" lang="zh-CN" altLang="en-US" sz="2000" dirty="0" smtClean="0">
                <a:latin typeface="Microsoft YaHei" panose="020B0503020204020204" pitchFamily="34" charset="-122"/>
                <a:ea typeface="Microsoft YaHei" panose="020B0503020204020204" pitchFamily="34" charset="-122"/>
                <a:cs typeface="微软雅黑" charset="0"/>
              </a:rPr>
              <a:t>；</a:t>
            </a:r>
            <a:endParaRPr kumimoji="1" lang="zh-CN" altLang="en-US" sz="2000" dirty="0">
              <a:latin typeface="Microsoft YaHei" panose="020B0503020204020204" pitchFamily="34" charset="-122"/>
              <a:ea typeface="Microsoft YaHei" panose="020B0503020204020204" pitchFamily="34" charset="-122"/>
              <a:cs typeface="微软雅黑" charset="0"/>
            </a:endParaRPr>
          </a:p>
          <a:p>
            <a:pPr>
              <a:lnSpc>
                <a:spcPct val="200000"/>
              </a:lnSpc>
            </a:pPr>
            <a:r>
              <a:rPr kumimoji="1" lang="en-US" altLang="zh-CN" sz="2000" dirty="0">
                <a:latin typeface="Microsoft YaHei" panose="020B0503020204020204" pitchFamily="34" charset="-122"/>
                <a:ea typeface="Microsoft YaHei" panose="020B0503020204020204" pitchFamily="34" charset="-122"/>
                <a:cs typeface="微软雅黑" charset="0"/>
              </a:rPr>
              <a:t>4.	</a:t>
            </a:r>
            <a:r>
              <a:rPr kumimoji="1" lang="zh-CN" altLang="en-US" sz="2000" dirty="0" smtClean="0">
                <a:latin typeface="Microsoft YaHei" panose="020B0503020204020204" pitchFamily="34" charset="-122"/>
                <a:ea typeface="Microsoft YaHei" panose="020B0503020204020204" pitchFamily="34" charset="-122"/>
                <a:cs typeface="微软雅黑" charset="0"/>
              </a:rPr>
              <a:t>支持</a:t>
            </a:r>
            <a:r>
              <a:rPr kumimoji="1" lang="en-US" altLang="zh-CN" sz="2000" dirty="0" smtClean="0">
                <a:latin typeface="Microsoft YaHei" panose="020B0503020204020204" pitchFamily="34" charset="-122"/>
                <a:ea typeface="Microsoft YaHei" panose="020B0503020204020204" pitchFamily="34" charset="-122"/>
                <a:cs typeface="微软雅黑" charset="0"/>
              </a:rPr>
              <a:t>2G/3G/4G/5G</a:t>
            </a:r>
            <a:r>
              <a:rPr kumimoji="1" lang="zh-CN" altLang="en-US" sz="2000" dirty="0">
                <a:latin typeface="Microsoft YaHei" panose="020B0503020204020204" pitchFamily="34" charset="-122"/>
                <a:ea typeface="Microsoft YaHei" panose="020B0503020204020204" pitchFamily="34" charset="-122"/>
                <a:cs typeface="微软雅黑" charset="0"/>
              </a:rPr>
              <a:t>，以及后续各代移动通信服务，</a:t>
            </a:r>
            <a:r>
              <a:rPr kumimoji="1" lang="zh-CN" altLang="en-US" sz="2000" dirty="0" smtClean="0">
                <a:latin typeface="Microsoft YaHei" panose="020B0503020204020204" pitchFamily="34" charset="-122"/>
                <a:ea typeface="Microsoft YaHei" panose="020B0503020204020204" pitchFamily="34" charset="-122"/>
                <a:cs typeface="微软雅黑" charset="0"/>
              </a:rPr>
              <a:t>实现</a:t>
            </a:r>
            <a:r>
              <a:rPr kumimoji="1" lang="en-US" altLang="zh-CN" sz="2000" dirty="0" err="1" smtClean="0">
                <a:latin typeface="Microsoft YaHei" panose="020B0503020204020204" pitchFamily="34" charset="-122"/>
                <a:ea typeface="Microsoft YaHei" panose="020B0503020204020204" pitchFamily="34" charset="-122"/>
                <a:cs typeface="微软雅黑" charset="0"/>
              </a:rPr>
              <a:t>Uu</a:t>
            </a:r>
            <a:r>
              <a:rPr kumimoji="1" lang="zh-CN" altLang="en-US" sz="2000" dirty="0" smtClean="0">
                <a:latin typeface="Microsoft YaHei" panose="020B0503020204020204" pitchFamily="34" charset="-122"/>
                <a:ea typeface="Microsoft YaHei" panose="020B0503020204020204" pitchFamily="34" charset="-122"/>
                <a:cs typeface="微软雅黑" charset="0"/>
              </a:rPr>
              <a:t>通信</a:t>
            </a:r>
            <a:r>
              <a:rPr kumimoji="1" lang="zh-CN" altLang="en-US" sz="2000" dirty="0">
                <a:latin typeface="Microsoft YaHei" panose="020B0503020204020204" pitchFamily="34" charset="-122"/>
                <a:ea typeface="Microsoft YaHei" panose="020B0503020204020204" pitchFamily="34" charset="-122"/>
                <a:cs typeface="微软雅黑" charset="0"/>
              </a:rPr>
              <a:t>；</a:t>
            </a:r>
          </a:p>
          <a:p>
            <a:pPr>
              <a:lnSpc>
                <a:spcPct val="200000"/>
              </a:lnSpc>
            </a:pPr>
            <a:r>
              <a:rPr kumimoji="1" lang="en-US" altLang="zh-CN" sz="2000" dirty="0">
                <a:latin typeface="Microsoft YaHei" panose="020B0503020204020204" pitchFamily="34" charset="-122"/>
                <a:ea typeface="Microsoft YaHei" panose="020B0503020204020204" pitchFamily="34" charset="-122"/>
                <a:cs typeface="微软雅黑" charset="0"/>
              </a:rPr>
              <a:t>5.	</a:t>
            </a:r>
            <a:r>
              <a:rPr kumimoji="1" lang="zh-CN" altLang="en-US" sz="2000" dirty="0">
                <a:latin typeface="Microsoft YaHei" panose="020B0503020204020204" pitchFamily="34" charset="-122"/>
                <a:ea typeface="Microsoft YaHei" panose="020B0503020204020204" pitchFamily="34" charset="-122"/>
                <a:cs typeface="微软雅黑" charset="0"/>
              </a:rPr>
              <a:t>支持与感知设备、交通信号灯其他交通设备的互联互通；</a:t>
            </a:r>
          </a:p>
          <a:p>
            <a:pPr>
              <a:lnSpc>
                <a:spcPct val="200000"/>
              </a:lnSpc>
            </a:pPr>
            <a:r>
              <a:rPr kumimoji="1" lang="en-US" altLang="zh-CN" sz="2000" dirty="0">
                <a:latin typeface="Microsoft YaHei" panose="020B0503020204020204" pitchFamily="34" charset="-122"/>
                <a:ea typeface="Microsoft YaHei" panose="020B0503020204020204" pitchFamily="34" charset="-122"/>
                <a:cs typeface="微软雅黑" charset="0"/>
              </a:rPr>
              <a:t>6.	</a:t>
            </a:r>
            <a:r>
              <a:rPr kumimoji="1" lang="zh-CN" altLang="en-US" sz="2000" dirty="0" smtClean="0">
                <a:latin typeface="Microsoft YaHei" panose="020B0503020204020204" pitchFamily="34" charset="-122"/>
                <a:ea typeface="Microsoft YaHei" panose="020B0503020204020204" pitchFamily="34" charset="-122"/>
                <a:cs typeface="微软雅黑" charset="0"/>
              </a:rPr>
              <a:t>支持</a:t>
            </a:r>
            <a:r>
              <a:rPr kumimoji="1" lang="en-US" altLang="zh-CN" sz="2000" dirty="0" smtClean="0">
                <a:latin typeface="Microsoft YaHei" panose="020B0503020204020204" pitchFamily="34" charset="-122"/>
                <a:ea typeface="Microsoft YaHei" panose="020B0503020204020204" pitchFamily="34" charset="-122"/>
                <a:cs typeface="微软雅黑" charset="0"/>
              </a:rPr>
              <a:t>POE</a:t>
            </a:r>
            <a:r>
              <a:rPr kumimoji="1" lang="zh-CN" altLang="en-US" sz="2000" dirty="0">
                <a:latin typeface="Microsoft YaHei" panose="020B0503020204020204" pitchFamily="34" charset="-122"/>
                <a:ea typeface="Microsoft YaHei" panose="020B0503020204020204" pitchFamily="34" charset="-122"/>
                <a:cs typeface="微软雅黑" charset="0"/>
              </a:rPr>
              <a:t>（</a:t>
            </a:r>
            <a:r>
              <a:rPr kumimoji="1" lang="en-US" altLang="zh-CN" sz="2000" dirty="0">
                <a:latin typeface="Microsoft YaHei" panose="020B0503020204020204" pitchFamily="34" charset="-122"/>
                <a:ea typeface="Microsoft YaHei" panose="020B0503020204020204" pitchFamily="34" charset="-122"/>
                <a:cs typeface="微软雅黑" charset="0"/>
              </a:rPr>
              <a:t>Power On Ethernet</a:t>
            </a:r>
            <a:r>
              <a:rPr kumimoji="1" lang="zh-CN" altLang="en-US" sz="2000" dirty="0">
                <a:latin typeface="Microsoft YaHei" panose="020B0503020204020204" pitchFamily="34" charset="-122"/>
                <a:ea typeface="Microsoft YaHei" panose="020B0503020204020204" pitchFamily="34" charset="-122"/>
                <a:cs typeface="微软雅黑" charset="0"/>
              </a:rPr>
              <a:t>）供电及网口通信；</a:t>
            </a:r>
          </a:p>
          <a:p>
            <a:pPr>
              <a:lnSpc>
                <a:spcPct val="200000"/>
              </a:lnSpc>
            </a:pPr>
            <a:r>
              <a:rPr kumimoji="1" lang="en-US" altLang="zh-CN" sz="2000" dirty="0">
                <a:latin typeface="Microsoft YaHei" panose="020B0503020204020204" pitchFamily="34" charset="-122"/>
                <a:ea typeface="Microsoft YaHei" panose="020B0503020204020204" pitchFamily="34" charset="-122"/>
                <a:cs typeface="微软雅黑" charset="0"/>
              </a:rPr>
              <a:t>7.	</a:t>
            </a:r>
            <a:r>
              <a:rPr kumimoji="1" lang="zh-CN" altLang="en-US" sz="2000" dirty="0" smtClean="0">
                <a:latin typeface="Microsoft YaHei" panose="020B0503020204020204" pitchFamily="34" charset="-122"/>
                <a:ea typeface="Microsoft YaHei" panose="020B0503020204020204" pitchFamily="34" charset="-122"/>
                <a:cs typeface="微软雅黑" charset="0"/>
              </a:rPr>
              <a:t>支持</a:t>
            </a:r>
            <a:r>
              <a:rPr kumimoji="1" lang="en-US" altLang="zh-CN" sz="2000" dirty="0" smtClean="0">
                <a:latin typeface="Microsoft YaHei" panose="020B0503020204020204" pitchFamily="34" charset="-122"/>
                <a:ea typeface="Microsoft YaHei" panose="020B0503020204020204" pitchFamily="34" charset="-122"/>
                <a:cs typeface="微软雅黑" charset="0"/>
              </a:rPr>
              <a:t>IP65</a:t>
            </a:r>
            <a:r>
              <a:rPr kumimoji="1" lang="zh-CN" altLang="en-US" sz="2000" dirty="0" smtClean="0">
                <a:latin typeface="Microsoft YaHei" panose="020B0503020204020204" pitchFamily="34" charset="-122"/>
                <a:ea typeface="Microsoft YaHei" panose="020B0503020204020204" pitchFamily="34" charset="-122"/>
                <a:cs typeface="微软雅黑" charset="0"/>
              </a:rPr>
              <a:t>或</a:t>
            </a:r>
            <a:r>
              <a:rPr kumimoji="1" lang="zh-CN" altLang="en-US" sz="2000" dirty="0">
                <a:latin typeface="Microsoft YaHei" panose="020B0503020204020204" pitchFamily="34" charset="-122"/>
                <a:ea typeface="Microsoft YaHei" panose="020B0503020204020204" pitchFamily="34" charset="-122"/>
                <a:cs typeface="微软雅黑" charset="0"/>
              </a:rPr>
              <a:t>以上防护等级；</a:t>
            </a:r>
          </a:p>
          <a:p>
            <a:pPr>
              <a:lnSpc>
                <a:spcPct val="200000"/>
              </a:lnSpc>
            </a:pPr>
            <a:r>
              <a:rPr kumimoji="1" lang="en-US" altLang="zh-CN" sz="2000" dirty="0">
                <a:latin typeface="Microsoft YaHei" panose="020B0503020204020204" pitchFamily="34" charset="-122"/>
                <a:ea typeface="Microsoft YaHei" panose="020B0503020204020204" pitchFamily="34" charset="-122"/>
                <a:cs typeface="微软雅黑" charset="0"/>
              </a:rPr>
              <a:t>8.	</a:t>
            </a:r>
            <a:r>
              <a:rPr kumimoji="1" lang="zh-CN" altLang="en-US" sz="2000" dirty="0">
                <a:latin typeface="Microsoft YaHei" panose="020B0503020204020204" pitchFamily="34" charset="-122"/>
                <a:ea typeface="Microsoft YaHei" panose="020B0503020204020204" pitchFamily="34" charset="-122"/>
                <a:cs typeface="微软雅黑" charset="0"/>
              </a:rPr>
              <a:t>具备防雷能力</a:t>
            </a:r>
            <a:r>
              <a:rPr kumimoji="1" lang="zh-CN" altLang="en-US" sz="2000" dirty="0" smtClean="0">
                <a:latin typeface="Microsoft YaHei" panose="020B0503020204020204" pitchFamily="34" charset="-122"/>
                <a:ea typeface="Microsoft YaHei" panose="020B0503020204020204" pitchFamily="34" charset="-122"/>
                <a:cs typeface="微软雅黑" charset="0"/>
              </a:rPr>
              <a:t>。</a:t>
            </a:r>
            <a:endParaRPr kumimoji="1" lang="zh-CN" altLang="en-US" sz="2000" dirty="0">
              <a:latin typeface="Microsoft YaHei" panose="020B0503020204020204" pitchFamily="34" charset="-122"/>
              <a:ea typeface="Microsoft YaHei" panose="020B0503020204020204" pitchFamily="34" charset="-122"/>
              <a:cs typeface="微软雅黑" charset="0"/>
            </a:endParaRPr>
          </a:p>
        </p:txBody>
      </p:sp>
    </p:spTree>
    <p:extLst>
      <p:ext uri="{BB962C8B-B14F-4D97-AF65-F5344CB8AC3E}">
        <p14:creationId xmlns:p14="http://schemas.microsoft.com/office/powerpoint/2010/main" val="3328405916"/>
      </p:ext>
    </p:extLst>
  </p:cSld>
  <p:clrMapOvr>
    <a:masterClrMapping/>
  </p:clrMapOvr>
  <p:transition spd="slow" advClick="0"/>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4427792-D495-BB48-B44E-1BC70B08C09A}"/>
              </a:ext>
            </a:extLst>
          </p:cNvPr>
          <p:cNvSpPr txBox="1"/>
          <p:nvPr/>
        </p:nvSpPr>
        <p:spPr>
          <a:xfrm>
            <a:off x="237392" y="191297"/>
            <a:ext cx="9251576" cy="679847"/>
          </a:xfrm>
          <a:prstGeom prst="rect">
            <a:avLst/>
          </a:prstGeom>
        </p:spPr>
        <p:txBody>
          <a:bodyPr vert="horz" lIns="68580" tIns="34290" rIns="68580" bIns="34290" rtlCol="0" anchor="ctr">
            <a:normAutofit/>
          </a:bodyPr>
          <a:lstStyle/>
          <a:p>
            <a:pPr lvl="0">
              <a:spcBef>
                <a:spcPct val="0"/>
              </a:spcBef>
              <a:defRPr/>
            </a:pPr>
            <a:r>
              <a:rPr lang="en-US" altLang="zh-CN" sz="34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RSU</a:t>
            </a:r>
            <a:r>
              <a:rPr lang="zh-CN" altLang="en-US" sz="34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产品架构</a:t>
            </a:r>
            <a:endParaRPr lang="en-US" altLang="zh-CN" sz="34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pic>
        <p:nvPicPr>
          <p:cNvPr id="3" name="Picture 11" descr="program-ciat2020">
            <a:extLst>
              <a:ext uri="{FF2B5EF4-FFF2-40B4-BE49-F238E27FC236}">
                <a16:creationId xmlns:a16="http://schemas.microsoft.com/office/drawing/2014/main" id="{CE91290F-9220-C540-A79E-740F2A1FED7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sp>
        <p:nvSpPr>
          <p:cNvPr id="6" name="文本框 5">
            <a:extLst>
              <a:ext uri="{FF2B5EF4-FFF2-40B4-BE49-F238E27FC236}">
                <a16:creationId xmlns:a16="http://schemas.microsoft.com/office/drawing/2014/main" id="{029AC98F-17F0-6A4A-9280-286D1179B421}"/>
              </a:ext>
            </a:extLst>
          </p:cNvPr>
          <p:cNvSpPr txBox="1"/>
          <p:nvPr/>
        </p:nvSpPr>
        <p:spPr>
          <a:xfrm>
            <a:off x="357968" y="1062441"/>
            <a:ext cx="184731" cy="369332"/>
          </a:xfrm>
          <a:prstGeom prst="rect">
            <a:avLst/>
          </a:prstGeom>
          <a:noFill/>
        </p:spPr>
        <p:txBody>
          <a:bodyPr wrap="none" rtlCol="0">
            <a:spAutoFit/>
          </a:bodyPr>
          <a:lstStyle/>
          <a:p>
            <a:endParaRPr kumimoji="1" lang="zh-CN" altLang="en-US" dirty="0"/>
          </a:p>
        </p:txBody>
      </p:sp>
      <p:pic>
        <p:nvPicPr>
          <p:cNvPr id="7" name="image58.png"/>
          <p:cNvPicPr/>
          <p:nvPr/>
        </p:nvPicPr>
        <p:blipFill>
          <a:blip r:embed="rId3" cstate="print"/>
          <a:stretch>
            <a:fillRect/>
          </a:stretch>
        </p:blipFill>
        <p:spPr>
          <a:xfrm>
            <a:off x="1321496" y="1960321"/>
            <a:ext cx="6538586" cy="3889333"/>
          </a:xfrm>
          <a:prstGeom prst="rect">
            <a:avLst/>
          </a:prstGeom>
        </p:spPr>
      </p:pic>
    </p:spTree>
    <p:extLst>
      <p:ext uri="{BB962C8B-B14F-4D97-AF65-F5344CB8AC3E}">
        <p14:creationId xmlns:p14="http://schemas.microsoft.com/office/powerpoint/2010/main" val="4051323287"/>
      </p:ext>
    </p:extLst>
  </p:cSld>
  <p:clrMapOvr>
    <a:masterClrMapping/>
  </p:clrMapOvr>
  <p:transition spd="slow" advClick="0"/>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11" descr="program-ciat2020">
            <a:extLst>
              <a:ext uri="{FF2B5EF4-FFF2-40B4-BE49-F238E27FC236}">
                <a16:creationId xmlns:a16="http://schemas.microsoft.com/office/drawing/2014/main" id="{CE91290F-9220-C540-A79E-740F2A1FED7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sp>
        <p:nvSpPr>
          <p:cNvPr id="2" name="标题 1">
            <a:extLst>
              <a:ext uri="{FF2B5EF4-FFF2-40B4-BE49-F238E27FC236}">
                <a16:creationId xmlns:a16="http://schemas.microsoft.com/office/drawing/2014/main" id="{24427792-D495-BB48-B44E-1BC70B08C09A}"/>
              </a:ext>
            </a:extLst>
          </p:cNvPr>
          <p:cNvSpPr txBox="1"/>
          <p:nvPr/>
        </p:nvSpPr>
        <p:spPr>
          <a:xfrm>
            <a:off x="237392" y="191297"/>
            <a:ext cx="9251576" cy="679847"/>
          </a:xfrm>
          <a:prstGeom prst="rect">
            <a:avLst/>
          </a:prstGeom>
        </p:spPr>
        <p:txBody>
          <a:bodyPr vert="horz" lIns="68580" tIns="34290" rIns="68580" bIns="34290" rtlCol="0" anchor="ctr">
            <a:normAutofit/>
          </a:bodyPr>
          <a:lstStyle/>
          <a:p>
            <a:pPr lvl="0">
              <a:spcBef>
                <a:spcPct val="0"/>
              </a:spcBef>
              <a:defRPr/>
            </a:pPr>
            <a:r>
              <a:rPr lang="zh-CN" altLang="en-US" sz="34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智能网</a:t>
            </a:r>
            <a:r>
              <a:rPr lang="zh-CN" altLang="en-US" sz="34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联驾驶无线通信台架实验</a:t>
            </a:r>
            <a:endParaRPr lang="en-US" altLang="zh-CN" sz="34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6" name="文本框 5">
            <a:extLst>
              <a:ext uri="{FF2B5EF4-FFF2-40B4-BE49-F238E27FC236}">
                <a16:creationId xmlns:a16="http://schemas.microsoft.com/office/drawing/2014/main" id="{029AC98F-17F0-6A4A-9280-286D1179B421}"/>
              </a:ext>
            </a:extLst>
          </p:cNvPr>
          <p:cNvSpPr txBox="1"/>
          <p:nvPr/>
        </p:nvSpPr>
        <p:spPr>
          <a:xfrm>
            <a:off x="357968" y="1062441"/>
            <a:ext cx="184731" cy="369332"/>
          </a:xfrm>
          <a:prstGeom prst="rect">
            <a:avLst/>
          </a:prstGeom>
          <a:noFill/>
        </p:spPr>
        <p:txBody>
          <a:bodyPr wrap="none" rtlCol="0">
            <a:spAutoFit/>
          </a:bodyPr>
          <a:lstStyle/>
          <a:p>
            <a:endParaRPr kumimoji="1" lang="zh-CN" altLang="en-US" dirty="0"/>
          </a:p>
        </p:txBody>
      </p:sp>
      <p:sp>
        <p:nvSpPr>
          <p:cNvPr id="8" name="矩形 7"/>
          <p:cNvSpPr/>
          <p:nvPr/>
        </p:nvSpPr>
        <p:spPr>
          <a:xfrm>
            <a:off x="148615" y="1127297"/>
            <a:ext cx="8737932" cy="2862322"/>
          </a:xfrm>
          <a:prstGeom prst="rect">
            <a:avLst/>
          </a:prstGeom>
        </p:spPr>
        <p:txBody>
          <a:bodyPr wrap="square">
            <a:spAutoFit/>
          </a:bodyPr>
          <a:lstStyle/>
          <a:p>
            <a:pPr marL="342900" indent="-342900">
              <a:lnSpc>
                <a:spcPct val="150000"/>
              </a:lnSpc>
              <a:buFont typeface="Wingdings" panose="05000000000000000000" pitchFamily="2" charset="2"/>
              <a:buChar char="n"/>
            </a:pPr>
            <a:r>
              <a:rPr lang="zh-CN" altLang="en-US" sz="2400" b="1" dirty="0" smtClean="0">
                <a:latin typeface="Microsoft YaHei" panose="020B0503020204020204" pitchFamily="34" charset="-122"/>
                <a:ea typeface="Microsoft YaHei" panose="020B0503020204020204" pitchFamily="34" charset="-122"/>
              </a:rPr>
              <a:t>实验目的：</a:t>
            </a:r>
            <a:endParaRPr lang="en-US" altLang="zh-CN" sz="2400" b="1" dirty="0" smtClean="0">
              <a:latin typeface="Microsoft YaHei" panose="020B0503020204020204" pitchFamily="34" charset="-122"/>
              <a:ea typeface="Microsoft YaHei" panose="020B0503020204020204" pitchFamily="34" charset="-122"/>
            </a:endParaRPr>
          </a:p>
          <a:p>
            <a:pPr marL="342900" indent="-342900">
              <a:lnSpc>
                <a:spcPct val="150000"/>
              </a:lnSpc>
              <a:buFont typeface="Wingdings" panose="05000000000000000000" pitchFamily="2" charset="2"/>
              <a:buChar char="n"/>
            </a:pPr>
            <a:endParaRPr lang="en-US" altLang="zh-CN" sz="2400" b="1" dirty="0" smtClean="0">
              <a:latin typeface="Microsoft YaHei" panose="020B0503020204020204" pitchFamily="34" charset="-122"/>
              <a:ea typeface="Microsoft YaHei" panose="020B0503020204020204" pitchFamily="34" charset="-122"/>
            </a:endParaRPr>
          </a:p>
          <a:p>
            <a:pPr marL="800100" lvl="1" indent="-342900">
              <a:lnSpc>
                <a:spcPct val="150000"/>
              </a:lnSpc>
              <a:buFont typeface="Wingdings" panose="05000000000000000000" pitchFamily="2" charset="2"/>
              <a:buChar char="Ø"/>
            </a:pPr>
            <a:r>
              <a:rPr lang="zh-CN" altLang="en-US" sz="2400" dirty="0">
                <a:latin typeface="Microsoft YaHei" panose="020B0503020204020204" pitchFamily="34" charset="-122"/>
                <a:ea typeface="Microsoft YaHei" panose="020B0503020204020204" pitchFamily="34" charset="-122"/>
              </a:rPr>
              <a:t>通过本实验，理解车路协同中的通信过程，掌握车路协同通信模块的测试方法，并对车联网通信的基本性能有所了解</a:t>
            </a:r>
            <a:r>
              <a:rPr lang="zh-CN" altLang="en-US" sz="2400" dirty="0" smtClean="0">
                <a:latin typeface="Microsoft YaHei" panose="020B0503020204020204" pitchFamily="34" charset="-122"/>
                <a:ea typeface="Microsoft YaHei" panose="020B0503020204020204" pitchFamily="34" charset="-122"/>
              </a:rPr>
              <a:t>。</a:t>
            </a:r>
            <a:endParaRPr lang="en-US" altLang="zh-CN" sz="2400" dirty="0" smtClean="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1676767979"/>
      </p:ext>
    </p:extLst>
  </p:cSld>
  <p:clrMapOvr>
    <a:masterClrMapping/>
  </p:clrMapOvr>
  <p:transition spd="slow" advClick="0"/>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11" descr="program-ciat2020">
            <a:extLst>
              <a:ext uri="{FF2B5EF4-FFF2-40B4-BE49-F238E27FC236}">
                <a16:creationId xmlns:a16="http://schemas.microsoft.com/office/drawing/2014/main" id="{CE91290F-9220-C540-A79E-740F2A1FED7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sp>
        <p:nvSpPr>
          <p:cNvPr id="2" name="标题 1">
            <a:extLst>
              <a:ext uri="{FF2B5EF4-FFF2-40B4-BE49-F238E27FC236}">
                <a16:creationId xmlns:a16="http://schemas.microsoft.com/office/drawing/2014/main" id="{24427792-D495-BB48-B44E-1BC70B08C09A}"/>
              </a:ext>
            </a:extLst>
          </p:cNvPr>
          <p:cNvSpPr txBox="1"/>
          <p:nvPr/>
        </p:nvSpPr>
        <p:spPr>
          <a:xfrm>
            <a:off x="237392" y="191297"/>
            <a:ext cx="9251576" cy="679847"/>
          </a:xfrm>
          <a:prstGeom prst="rect">
            <a:avLst/>
          </a:prstGeom>
        </p:spPr>
        <p:txBody>
          <a:bodyPr vert="horz" lIns="68580" tIns="34290" rIns="68580" bIns="34290" rtlCol="0" anchor="ctr">
            <a:normAutofit/>
          </a:bodyPr>
          <a:lstStyle/>
          <a:p>
            <a:pPr lvl="0">
              <a:spcBef>
                <a:spcPct val="0"/>
              </a:spcBef>
              <a:defRPr/>
            </a:pPr>
            <a:r>
              <a:rPr lang="zh-CN" altLang="en-US" sz="34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智能网</a:t>
            </a:r>
            <a:r>
              <a:rPr lang="zh-CN" altLang="en-US" sz="34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联驾驶无线通信台架实验</a:t>
            </a:r>
            <a:endParaRPr lang="en-US" altLang="zh-CN" sz="34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6" name="文本框 5">
            <a:extLst>
              <a:ext uri="{FF2B5EF4-FFF2-40B4-BE49-F238E27FC236}">
                <a16:creationId xmlns:a16="http://schemas.microsoft.com/office/drawing/2014/main" id="{029AC98F-17F0-6A4A-9280-286D1179B421}"/>
              </a:ext>
            </a:extLst>
          </p:cNvPr>
          <p:cNvSpPr txBox="1"/>
          <p:nvPr/>
        </p:nvSpPr>
        <p:spPr>
          <a:xfrm>
            <a:off x="357968" y="1062441"/>
            <a:ext cx="184731" cy="369332"/>
          </a:xfrm>
          <a:prstGeom prst="rect">
            <a:avLst/>
          </a:prstGeom>
          <a:noFill/>
        </p:spPr>
        <p:txBody>
          <a:bodyPr wrap="none" rtlCol="0">
            <a:spAutoFit/>
          </a:bodyPr>
          <a:lstStyle/>
          <a:p>
            <a:endParaRPr kumimoji="1" lang="zh-CN" altLang="en-US" dirty="0"/>
          </a:p>
        </p:txBody>
      </p:sp>
      <p:sp>
        <p:nvSpPr>
          <p:cNvPr id="8" name="矩形 7"/>
          <p:cNvSpPr/>
          <p:nvPr/>
        </p:nvSpPr>
        <p:spPr>
          <a:xfrm>
            <a:off x="148615" y="1127297"/>
            <a:ext cx="4661380" cy="2308324"/>
          </a:xfrm>
          <a:prstGeom prst="rect">
            <a:avLst/>
          </a:prstGeom>
        </p:spPr>
        <p:txBody>
          <a:bodyPr wrap="square">
            <a:spAutoFit/>
          </a:bodyPr>
          <a:lstStyle/>
          <a:p>
            <a:pPr marL="342900" indent="-342900">
              <a:lnSpc>
                <a:spcPct val="150000"/>
              </a:lnSpc>
              <a:buFont typeface="Wingdings" panose="05000000000000000000" pitchFamily="2" charset="2"/>
              <a:buChar char="n"/>
            </a:pPr>
            <a:r>
              <a:rPr lang="zh-CN" altLang="en-US" sz="2400" b="1" dirty="0" smtClean="0">
                <a:latin typeface="Microsoft YaHei" panose="020B0503020204020204" pitchFamily="34" charset="-122"/>
                <a:ea typeface="Microsoft YaHei" panose="020B0503020204020204" pitchFamily="34" charset="-122"/>
              </a:rPr>
              <a:t>实验原理：</a:t>
            </a:r>
            <a:endParaRPr lang="en-US" altLang="zh-CN" sz="2400" b="1" dirty="0" smtClean="0">
              <a:latin typeface="Microsoft YaHei" panose="020B0503020204020204" pitchFamily="34" charset="-122"/>
              <a:ea typeface="Microsoft YaHei" panose="020B0503020204020204" pitchFamily="34" charset="-122"/>
            </a:endParaRPr>
          </a:p>
          <a:p>
            <a:pPr marL="800100" lvl="1" indent="-342900">
              <a:lnSpc>
                <a:spcPct val="150000"/>
              </a:lnSpc>
              <a:buFont typeface="Wingdings" panose="05000000000000000000" pitchFamily="2" charset="2"/>
              <a:buChar char="Ø"/>
            </a:pPr>
            <a:r>
              <a:rPr lang="zh-CN" altLang="en-US" sz="2400" b="1" dirty="0">
                <a:latin typeface="Microsoft YaHei" panose="020B0503020204020204" pitchFamily="34" charset="-122"/>
                <a:ea typeface="Microsoft YaHei" panose="020B0503020204020204" pitchFamily="34" charset="-122"/>
              </a:rPr>
              <a:t>丢包</a:t>
            </a:r>
            <a:r>
              <a:rPr lang="zh-CN" altLang="en-US" sz="2400" b="1" dirty="0" smtClean="0">
                <a:latin typeface="Microsoft YaHei" panose="020B0503020204020204" pitchFamily="34" charset="-122"/>
                <a:ea typeface="Microsoft YaHei" panose="020B0503020204020204" pitchFamily="34" charset="-122"/>
              </a:rPr>
              <a:t>率：通信</a:t>
            </a:r>
            <a:r>
              <a:rPr lang="zh-CN" altLang="en-US" sz="2400" b="1" dirty="0">
                <a:latin typeface="Microsoft YaHei" panose="020B0503020204020204" pitchFamily="34" charset="-122"/>
                <a:ea typeface="Microsoft YaHei" panose="020B0503020204020204" pitchFamily="34" charset="-122"/>
              </a:rPr>
              <a:t>过程中丢失的数据包数量占发送数据包总量的</a:t>
            </a:r>
            <a:r>
              <a:rPr lang="zh-CN" altLang="en-US" sz="2400" b="1" dirty="0" smtClean="0">
                <a:latin typeface="Microsoft YaHei" panose="020B0503020204020204" pitchFamily="34" charset="-122"/>
                <a:ea typeface="Microsoft YaHei" panose="020B0503020204020204" pitchFamily="34" charset="-122"/>
              </a:rPr>
              <a:t>比率。</a:t>
            </a:r>
            <a:endParaRPr lang="zh-CN" altLang="en-US" sz="2400" b="1" dirty="0">
              <a:latin typeface="Microsoft YaHei" panose="020B0503020204020204" pitchFamily="34" charset="-122"/>
              <a:ea typeface="Microsoft YaHei" panose="020B0503020204020204" pitchFamily="34" charset="-122"/>
            </a:endParaRPr>
          </a:p>
        </p:txBody>
      </p:sp>
      <p:pic>
        <p:nvPicPr>
          <p:cNvPr id="9" name="图片 8"/>
          <p:cNvPicPr>
            <a:picLocks noChangeAspect="1"/>
          </p:cNvPicPr>
          <p:nvPr/>
        </p:nvPicPr>
        <p:blipFill>
          <a:blip r:embed="rId3"/>
          <a:stretch>
            <a:fillRect/>
          </a:stretch>
        </p:blipFill>
        <p:spPr>
          <a:xfrm>
            <a:off x="5179513" y="1180776"/>
            <a:ext cx="3352710" cy="2024832"/>
          </a:xfrm>
          <a:prstGeom prst="rect">
            <a:avLst/>
          </a:prstGeom>
        </p:spPr>
      </p:pic>
      <p:sp>
        <p:nvSpPr>
          <p:cNvPr id="11" name="矩形 10"/>
          <p:cNvSpPr/>
          <p:nvPr/>
        </p:nvSpPr>
        <p:spPr>
          <a:xfrm>
            <a:off x="193305" y="3484106"/>
            <a:ext cx="8255500" cy="1200329"/>
          </a:xfrm>
          <a:prstGeom prst="rect">
            <a:avLst/>
          </a:prstGeom>
        </p:spPr>
        <p:txBody>
          <a:bodyPr wrap="square">
            <a:spAutoFit/>
          </a:bodyPr>
          <a:lstStyle/>
          <a:p>
            <a:pPr marL="800100" lvl="1" indent="-342900">
              <a:lnSpc>
                <a:spcPct val="150000"/>
              </a:lnSpc>
              <a:buFont typeface="Wingdings" panose="05000000000000000000" pitchFamily="2" charset="2"/>
              <a:buChar char="Ø"/>
            </a:pPr>
            <a:r>
              <a:rPr lang="zh-CN" altLang="en-US" sz="2400" b="1" dirty="0">
                <a:latin typeface="Microsoft YaHei" panose="020B0503020204020204" pitchFamily="34" charset="-122"/>
                <a:ea typeface="Microsoft YaHei" panose="020B0503020204020204" pitchFamily="34" charset="-122"/>
              </a:rPr>
              <a:t>计算方法：假设发射端发送了 </a:t>
            </a:r>
            <a:r>
              <a:rPr lang="en-US" altLang="zh-CN" sz="2400" b="1" dirty="0">
                <a:latin typeface="Microsoft YaHei" panose="020B0503020204020204" pitchFamily="34" charset="-122"/>
                <a:ea typeface="Microsoft YaHei" panose="020B0503020204020204" pitchFamily="34" charset="-122"/>
              </a:rPr>
              <a:t>N </a:t>
            </a:r>
            <a:r>
              <a:rPr lang="zh-CN" altLang="en-US" sz="2400" b="1" dirty="0">
                <a:latin typeface="Microsoft YaHei" panose="020B0503020204020204" pitchFamily="34" charset="-122"/>
                <a:ea typeface="Microsoft YaHei" panose="020B0503020204020204" pitchFamily="34" charset="-122"/>
              </a:rPr>
              <a:t>个包，接收端收到 </a:t>
            </a:r>
            <a:r>
              <a:rPr lang="en-US" altLang="zh-CN" sz="2400" b="1" dirty="0">
                <a:latin typeface="Microsoft YaHei" panose="020B0503020204020204" pitchFamily="34" charset="-122"/>
                <a:ea typeface="Microsoft YaHei" panose="020B0503020204020204" pitchFamily="34" charset="-122"/>
              </a:rPr>
              <a:t>M </a:t>
            </a:r>
            <a:r>
              <a:rPr lang="zh-CN" altLang="en-US" sz="2400" b="1" dirty="0">
                <a:latin typeface="Microsoft YaHei" panose="020B0503020204020204" pitchFamily="34" charset="-122"/>
                <a:ea typeface="Microsoft YaHei" panose="020B0503020204020204" pitchFamily="34" charset="-122"/>
              </a:rPr>
              <a:t>个包，则对于一收一发链路：</a:t>
            </a:r>
            <a:endParaRPr lang="zh-CN" altLang="en-US" sz="2400" b="1" dirty="0">
              <a:latin typeface="Microsoft YaHei" panose="020B0503020204020204" pitchFamily="34" charset="-122"/>
              <a:ea typeface="Microsoft YaHei" panose="020B0503020204020204" pitchFamily="34" charset="-122"/>
            </a:endParaRPr>
          </a:p>
        </p:txBody>
      </p:sp>
      <p:pic>
        <p:nvPicPr>
          <p:cNvPr id="12" name="图片 11"/>
          <p:cNvPicPr>
            <a:picLocks noChangeAspect="1"/>
          </p:cNvPicPr>
          <p:nvPr/>
        </p:nvPicPr>
        <p:blipFill>
          <a:blip r:embed="rId4"/>
          <a:stretch>
            <a:fillRect/>
          </a:stretch>
        </p:blipFill>
        <p:spPr>
          <a:xfrm>
            <a:off x="2738925" y="4864063"/>
            <a:ext cx="3628571" cy="800000"/>
          </a:xfrm>
          <a:prstGeom prst="rect">
            <a:avLst/>
          </a:prstGeom>
        </p:spPr>
      </p:pic>
    </p:spTree>
    <p:extLst>
      <p:ext uri="{BB962C8B-B14F-4D97-AF65-F5344CB8AC3E}">
        <p14:creationId xmlns:p14="http://schemas.microsoft.com/office/powerpoint/2010/main" val="2974979311"/>
      </p:ext>
    </p:extLst>
  </p:cSld>
  <p:clrMapOvr>
    <a:masterClrMapping/>
  </p:clrMapOvr>
  <p:transition spd="slow" advClick="0"/>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11" descr="program-ciat2020">
            <a:extLst>
              <a:ext uri="{FF2B5EF4-FFF2-40B4-BE49-F238E27FC236}">
                <a16:creationId xmlns:a16="http://schemas.microsoft.com/office/drawing/2014/main" id="{CE91290F-9220-C540-A79E-740F2A1FED7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sp>
        <p:nvSpPr>
          <p:cNvPr id="2" name="标题 1">
            <a:extLst>
              <a:ext uri="{FF2B5EF4-FFF2-40B4-BE49-F238E27FC236}">
                <a16:creationId xmlns:a16="http://schemas.microsoft.com/office/drawing/2014/main" id="{24427792-D495-BB48-B44E-1BC70B08C09A}"/>
              </a:ext>
            </a:extLst>
          </p:cNvPr>
          <p:cNvSpPr txBox="1"/>
          <p:nvPr/>
        </p:nvSpPr>
        <p:spPr>
          <a:xfrm>
            <a:off x="237392" y="191297"/>
            <a:ext cx="9251576" cy="679847"/>
          </a:xfrm>
          <a:prstGeom prst="rect">
            <a:avLst/>
          </a:prstGeom>
        </p:spPr>
        <p:txBody>
          <a:bodyPr vert="horz" lIns="68580" tIns="34290" rIns="68580" bIns="34290" rtlCol="0" anchor="ctr">
            <a:normAutofit/>
          </a:bodyPr>
          <a:lstStyle/>
          <a:p>
            <a:pPr lvl="0">
              <a:spcBef>
                <a:spcPct val="0"/>
              </a:spcBef>
              <a:defRPr/>
            </a:pPr>
            <a:r>
              <a:rPr lang="zh-CN" altLang="en-US" sz="34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智能网</a:t>
            </a:r>
            <a:r>
              <a:rPr lang="zh-CN" altLang="en-US" sz="34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联驾驶无线通信台架实验</a:t>
            </a:r>
            <a:endParaRPr lang="en-US" altLang="zh-CN" sz="34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6" name="文本框 5">
            <a:extLst>
              <a:ext uri="{FF2B5EF4-FFF2-40B4-BE49-F238E27FC236}">
                <a16:creationId xmlns:a16="http://schemas.microsoft.com/office/drawing/2014/main" id="{029AC98F-17F0-6A4A-9280-286D1179B421}"/>
              </a:ext>
            </a:extLst>
          </p:cNvPr>
          <p:cNvSpPr txBox="1"/>
          <p:nvPr/>
        </p:nvSpPr>
        <p:spPr>
          <a:xfrm>
            <a:off x="357968" y="1062441"/>
            <a:ext cx="184731" cy="369332"/>
          </a:xfrm>
          <a:prstGeom prst="rect">
            <a:avLst/>
          </a:prstGeom>
          <a:noFill/>
        </p:spPr>
        <p:txBody>
          <a:bodyPr wrap="none" rtlCol="0">
            <a:spAutoFit/>
          </a:bodyPr>
          <a:lstStyle/>
          <a:p>
            <a:endParaRPr kumimoji="1" lang="zh-CN" altLang="en-US" dirty="0"/>
          </a:p>
        </p:txBody>
      </p:sp>
      <p:sp>
        <p:nvSpPr>
          <p:cNvPr id="8" name="矩形 7"/>
          <p:cNvSpPr/>
          <p:nvPr/>
        </p:nvSpPr>
        <p:spPr>
          <a:xfrm>
            <a:off x="148616" y="1127297"/>
            <a:ext cx="3602930" cy="3416320"/>
          </a:xfrm>
          <a:prstGeom prst="rect">
            <a:avLst/>
          </a:prstGeom>
        </p:spPr>
        <p:txBody>
          <a:bodyPr wrap="square">
            <a:spAutoFit/>
          </a:bodyPr>
          <a:lstStyle/>
          <a:p>
            <a:pPr marL="342900" indent="-342900">
              <a:lnSpc>
                <a:spcPct val="150000"/>
              </a:lnSpc>
              <a:buFont typeface="Wingdings" panose="05000000000000000000" pitchFamily="2" charset="2"/>
              <a:buChar char="n"/>
            </a:pPr>
            <a:r>
              <a:rPr lang="zh-CN" altLang="en-US" sz="2400" b="1" dirty="0" smtClean="0">
                <a:latin typeface="Microsoft YaHei" panose="020B0503020204020204" pitchFamily="34" charset="-122"/>
                <a:ea typeface="Microsoft YaHei" panose="020B0503020204020204" pitchFamily="34" charset="-122"/>
              </a:rPr>
              <a:t>实验原理：</a:t>
            </a:r>
            <a:endParaRPr lang="en-US" altLang="zh-CN" sz="2400" b="1" dirty="0" smtClean="0">
              <a:latin typeface="Microsoft YaHei" panose="020B0503020204020204" pitchFamily="34" charset="-122"/>
              <a:ea typeface="Microsoft YaHei" panose="020B0503020204020204" pitchFamily="34" charset="-122"/>
            </a:endParaRPr>
          </a:p>
          <a:p>
            <a:pPr marL="800100" lvl="1" indent="-342900">
              <a:lnSpc>
                <a:spcPct val="150000"/>
              </a:lnSpc>
              <a:buFont typeface="Wingdings" panose="05000000000000000000" pitchFamily="2" charset="2"/>
              <a:buChar char="Ø"/>
            </a:pPr>
            <a:r>
              <a:rPr lang="zh-CN" altLang="en-US" sz="2400" b="1" dirty="0" smtClean="0">
                <a:latin typeface="Microsoft YaHei" panose="020B0503020204020204" pitchFamily="34" charset="-122"/>
                <a:ea typeface="Microsoft YaHei" panose="020B0503020204020204" pitchFamily="34" charset="-122"/>
              </a:rPr>
              <a:t>端</a:t>
            </a:r>
            <a:r>
              <a:rPr lang="zh-CN" altLang="en-US" sz="2400" b="1" dirty="0">
                <a:latin typeface="Microsoft YaHei" panose="020B0503020204020204" pitchFamily="34" charset="-122"/>
                <a:ea typeface="Microsoft YaHei" panose="020B0503020204020204" pitchFamily="34" charset="-122"/>
              </a:rPr>
              <a:t>到端时延：指一个报文或分组从一个网络的一端传送到另一个端所需要的时间。</a:t>
            </a:r>
            <a:endParaRPr lang="zh-CN" altLang="en-US" sz="2400" b="1" dirty="0">
              <a:latin typeface="Microsoft YaHei" panose="020B0503020204020204" pitchFamily="34" charset="-122"/>
              <a:ea typeface="Microsoft YaHei" panose="020B0503020204020204" pitchFamily="34" charset="-122"/>
            </a:endParaRPr>
          </a:p>
        </p:txBody>
      </p:sp>
      <p:sp>
        <p:nvSpPr>
          <p:cNvPr id="11" name="矩形 10"/>
          <p:cNvSpPr/>
          <p:nvPr/>
        </p:nvSpPr>
        <p:spPr>
          <a:xfrm>
            <a:off x="193305" y="4640924"/>
            <a:ext cx="8255500" cy="646331"/>
          </a:xfrm>
          <a:prstGeom prst="rect">
            <a:avLst/>
          </a:prstGeom>
        </p:spPr>
        <p:txBody>
          <a:bodyPr wrap="square">
            <a:spAutoFit/>
          </a:bodyPr>
          <a:lstStyle/>
          <a:p>
            <a:pPr marL="800100" lvl="1" indent="-342900">
              <a:lnSpc>
                <a:spcPct val="150000"/>
              </a:lnSpc>
              <a:buFont typeface="Wingdings" panose="05000000000000000000" pitchFamily="2" charset="2"/>
              <a:buChar char="Ø"/>
            </a:pPr>
            <a:r>
              <a:rPr lang="zh-CN" altLang="en-US" sz="2400" b="1" dirty="0" smtClean="0">
                <a:latin typeface="Microsoft YaHei" panose="020B0503020204020204" pitchFamily="34" charset="-122"/>
                <a:ea typeface="Microsoft YaHei" panose="020B0503020204020204" pitchFamily="34" charset="-122"/>
              </a:rPr>
              <a:t>计算公式：</a:t>
            </a:r>
            <a:r>
              <a:rPr lang="zh-CN" altLang="en-US" sz="2400" b="1" dirty="0">
                <a:latin typeface="Microsoft YaHei" panose="020B0503020204020204" pitchFamily="34" charset="-122"/>
                <a:ea typeface="Microsoft YaHei" panose="020B0503020204020204" pitchFamily="34" charset="-122"/>
              </a:rPr>
              <a:t>设备间平均传输</a:t>
            </a:r>
            <a:r>
              <a:rPr lang="zh-CN" altLang="en-US" sz="2400" b="1" dirty="0" smtClean="0">
                <a:latin typeface="Microsoft YaHei" panose="020B0503020204020204" pitchFamily="34" charset="-122"/>
                <a:ea typeface="Microsoft YaHei" panose="020B0503020204020204" pitchFamily="34" charset="-122"/>
              </a:rPr>
              <a:t>时延：</a:t>
            </a:r>
            <a:endParaRPr lang="zh-CN" altLang="en-US" sz="2400" b="1" dirty="0">
              <a:latin typeface="Microsoft YaHei" panose="020B0503020204020204" pitchFamily="34" charset="-122"/>
              <a:ea typeface="Microsoft YaHei" panose="020B0503020204020204" pitchFamily="34" charset="-122"/>
            </a:endParaRPr>
          </a:p>
        </p:txBody>
      </p:sp>
      <p:pic>
        <p:nvPicPr>
          <p:cNvPr id="4" name="图片 3"/>
          <p:cNvPicPr>
            <a:picLocks noChangeAspect="1"/>
          </p:cNvPicPr>
          <p:nvPr/>
        </p:nvPicPr>
        <p:blipFill>
          <a:blip r:embed="rId3"/>
          <a:stretch>
            <a:fillRect/>
          </a:stretch>
        </p:blipFill>
        <p:spPr>
          <a:xfrm>
            <a:off x="1848966" y="5384562"/>
            <a:ext cx="5333333" cy="504762"/>
          </a:xfrm>
          <a:prstGeom prst="rect">
            <a:avLst/>
          </a:prstGeom>
        </p:spPr>
      </p:pic>
      <p:pic>
        <p:nvPicPr>
          <p:cNvPr id="5" name="图片 4"/>
          <p:cNvPicPr>
            <a:picLocks noChangeAspect="1"/>
          </p:cNvPicPr>
          <p:nvPr/>
        </p:nvPicPr>
        <p:blipFill>
          <a:blip r:embed="rId4"/>
          <a:stretch>
            <a:fillRect/>
          </a:stretch>
        </p:blipFill>
        <p:spPr>
          <a:xfrm>
            <a:off x="3751546" y="1431773"/>
            <a:ext cx="4607852" cy="3007093"/>
          </a:xfrm>
          <a:prstGeom prst="rect">
            <a:avLst/>
          </a:prstGeom>
        </p:spPr>
      </p:pic>
    </p:spTree>
    <p:extLst>
      <p:ext uri="{BB962C8B-B14F-4D97-AF65-F5344CB8AC3E}">
        <p14:creationId xmlns:p14="http://schemas.microsoft.com/office/powerpoint/2010/main" val="617338579"/>
      </p:ext>
    </p:extLst>
  </p:cSld>
  <p:clrMapOvr>
    <a:masterClrMapping/>
  </p:clrMapOvr>
  <p:transition spd="slow" advClick="0"/>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11" descr="program-ciat2020">
            <a:extLst>
              <a:ext uri="{FF2B5EF4-FFF2-40B4-BE49-F238E27FC236}">
                <a16:creationId xmlns:a16="http://schemas.microsoft.com/office/drawing/2014/main" id="{CE91290F-9220-C540-A79E-740F2A1FED7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sp>
        <p:nvSpPr>
          <p:cNvPr id="2" name="标题 1">
            <a:extLst>
              <a:ext uri="{FF2B5EF4-FFF2-40B4-BE49-F238E27FC236}">
                <a16:creationId xmlns:a16="http://schemas.microsoft.com/office/drawing/2014/main" id="{24427792-D495-BB48-B44E-1BC70B08C09A}"/>
              </a:ext>
            </a:extLst>
          </p:cNvPr>
          <p:cNvSpPr txBox="1"/>
          <p:nvPr/>
        </p:nvSpPr>
        <p:spPr>
          <a:xfrm>
            <a:off x="237392" y="191297"/>
            <a:ext cx="9251576" cy="679847"/>
          </a:xfrm>
          <a:prstGeom prst="rect">
            <a:avLst/>
          </a:prstGeom>
        </p:spPr>
        <p:txBody>
          <a:bodyPr vert="horz" lIns="68580" tIns="34290" rIns="68580" bIns="34290" rtlCol="0" anchor="ctr">
            <a:normAutofit/>
          </a:bodyPr>
          <a:lstStyle/>
          <a:p>
            <a:pPr lvl="0">
              <a:spcBef>
                <a:spcPct val="0"/>
              </a:spcBef>
              <a:defRPr/>
            </a:pPr>
            <a:r>
              <a:rPr lang="zh-CN" altLang="en-US" sz="34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智能网</a:t>
            </a:r>
            <a:r>
              <a:rPr lang="zh-CN" altLang="en-US" sz="34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联驾驶无线通信台架实验</a:t>
            </a:r>
            <a:endParaRPr lang="en-US" altLang="zh-CN" sz="34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6" name="文本框 5">
            <a:extLst>
              <a:ext uri="{FF2B5EF4-FFF2-40B4-BE49-F238E27FC236}">
                <a16:creationId xmlns:a16="http://schemas.microsoft.com/office/drawing/2014/main" id="{029AC98F-17F0-6A4A-9280-286D1179B421}"/>
              </a:ext>
            </a:extLst>
          </p:cNvPr>
          <p:cNvSpPr txBox="1"/>
          <p:nvPr/>
        </p:nvSpPr>
        <p:spPr>
          <a:xfrm>
            <a:off x="357968" y="1062441"/>
            <a:ext cx="184731" cy="369332"/>
          </a:xfrm>
          <a:prstGeom prst="rect">
            <a:avLst/>
          </a:prstGeom>
          <a:noFill/>
        </p:spPr>
        <p:txBody>
          <a:bodyPr wrap="none" rtlCol="0">
            <a:spAutoFit/>
          </a:bodyPr>
          <a:lstStyle/>
          <a:p>
            <a:endParaRPr kumimoji="1" lang="zh-CN" altLang="en-US" dirty="0"/>
          </a:p>
        </p:txBody>
      </p:sp>
      <p:sp>
        <p:nvSpPr>
          <p:cNvPr id="8" name="矩形 7"/>
          <p:cNvSpPr/>
          <p:nvPr/>
        </p:nvSpPr>
        <p:spPr>
          <a:xfrm>
            <a:off x="148616" y="1127297"/>
            <a:ext cx="3602930" cy="581057"/>
          </a:xfrm>
          <a:prstGeom prst="rect">
            <a:avLst/>
          </a:prstGeom>
        </p:spPr>
        <p:txBody>
          <a:bodyPr wrap="square">
            <a:spAutoFit/>
          </a:bodyPr>
          <a:lstStyle/>
          <a:p>
            <a:pPr marL="342900" indent="-342900">
              <a:lnSpc>
                <a:spcPct val="150000"/>
              </a:lnSpc>
              <a:buFont typeface="Wingdings" panose="05000000000000000000" pitchFamily="2" charset="2"/>
              <a:buChar char="n"/>
            </a:pPr>
            <a:r>
              <a:rPr lang="zh-CN" altLang="en-US" sz="2400" b="1" dirty="0" smtClean="0">
                <a:latin typeface="Microsoft YaHei" panose="020B0503020204020204" pitchFamily="34" charset="-122"/>
                <a:ea typeface="Microsoft YaHei" panose="020B0503020204020204" pitchFamily="34" charset="-122"/>
              </a:rPr>
              <a:t>实验原理</a:t>
            </a:r>
            <a:r>
              <a:rPr lang="zh-CN" altLang="en-US" sz="2400" b="1" dirty="0" smtClean="0">
                <a:latin typeface="Microsoft YaHei" panose="020B0503020204020204" pitchFamily="34" charset="-122"/>
                <a:ea typeface="Microsoft YaHei" panose="020B0503020204020204" pitchFamily="34" charset="-122"/>
              </a:rPr>
              <a:t>：</a:t>
            </a:r>
            <a:endParaRPr lang="en-US" altLang="zh-CN" sz="2400" b="1" dirty="0" smtClean="0">
              <a:latin typeface="Microsoft YaHei" panose="020B0503020204020204" pitchFamily="34" charset="-122"/>
              <a:ea typeface="Microsoft YaHei" panose="020B0503020204020204" pitchFamily="34" charset="-122"/>
            </a:endParaRPr>
          </a:p>
        </p:txBody>
      </p:sp>
      <p:pic>
        <p:nvPicPr>
          <p:cNvPr id="9" name="图片 8"/>
          <p:cNvPicPr>
            <a:picLocks noChangeAspect="1"/>
          </p:cNvPicPr>
          <p:nvPr/>
        </p:nvPicPr>
        <p:blipFill>
          <a:blip r:embed="rId3"/>
          <a:stretch>
            <a:fillRect/>
          </a:stretch>
        </p:blipFill>
        <p:spPr>
          <a:xfrm>
            <a:off x="1334021" y="1664513"/>
            <a:ext cx="6858001" cy="4798899"/>
          </a:xfrm>
          <a:prstGeom prst="rect">
            <a:avLst/>
          </a:prstGeom>
        </p:spPr>
      </p:pic>
    </p:spTree>
    <p:extLst>
      <p:ext uri="{BB962C8B-B14F-4D97-AF65-F5344CB8AC3E}">
        <p14:creationId xmlns:p14="http://schemas.microsoft.com/office/powerpoint/2010/main" val="67731410"/>
      </p:ext>
    </p:extLst>
  </p:cSld>
  <p:clrMapOvr>
    <a:masterClrMapping/>
  </p:clrMapOvr>
  <p:transition spd="slow" advClick="0"/>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11" descr="program-ciat2020">
            <a:extLst>
              <a:ext uri="{FF2B5EF4-FFF2-40B4-BE49-F238E27FC236}">
                <a16:creationId xmlns:a16="http://schemas.microsoft.com/office/drawing/2014/main" id="{CE91290F-9220-C540-A79E-740F2A1FED7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sp>
        <p:nvSpPr>
          <p:cNvPr id="2" name="标题 1">
            <a:extLst>
              <a:ext uri="{FF2B5EF4-FFF2-40B4-BE49-F238E27FC236}">
                <a16:creationId xmlns:a16="http://schemas.microsoft.com/office/drawing/2014/main" id="{24427792-D495-BB48-B44E-1BC70B08C09A}"/>
              </a:ext>
            </a:extLst>
          </p:cNvPr>
          <p:cNvSpPr txBox="1"/>
          <p:nvPr/>
        </p:nvSpPr>
        <p:spPr>
          <a:xfrm>
            <a:off x="237392" y="191297"/>
            <a:ext cx="9251576" cy="679847"/>
          </a:xfrm>
          <a:prstGeom prst="rect">
            <a:avLst/>
          </a:prstGeom>
        </p:spPr>
        <p:txBody>
          <a:bodyPr vert="horz" lIns="68580" tIns="34290" rIns="68580" bIns="34290" rtlCol="0" anchor="ctr">
            <a:normAutofit/>
          </a:bodyPr>
          <a:lstStyle/>
          <a:p>
            <a:pPr lvl="0">
              <a:spcBef>
                <a:spcPct val="0"/>
              </a:spcBef>
              <a:defRPr/>
            </a:pPr>
            <a:r>
              <a:rPr lang="zh-CN" altLang="en-US" sz="34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智能网</a:t>
            </a:r>
            <a:r>
              <a:rPr lang="zh-CN" altLang="en-US" sz="34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联驾驶无线通信台架实验</a:t>
            </a:r>
            <a:endParaRPr lang="en-US" altLang="zh-CN" sz="34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6" name="文本框 5">
            <a:extLst>
              <a:ext uri="{FF2B5EF4-FFF2-40B4-BE49-F238E27FC236}">
                <a16:creationId xmlns:a16="http://schemas.microsoft.com/office/drawing/2014/main" id="{029AC98F-17F0-6A4A-9280-286D1179B421}"/>
              </a:ext>
            </a:extLst>
          </p:cNvPr>
          <p:cNvSpPr txBox="1"/>
          <p:nvPr/>
        </p:nvSpPr>
        <p:spPr>
          <a:xfrm>
            <a:off x="357968" y="1062441"/>
            <a:ext cx="184731" cy="369332"/>
          </a:xfrm>
          <a:prstGeom prst="rect">
            <a:avLst/>
          </a:prstGeom>
          <a:noFill/>
        </p:spPr>
        <p:txBody>
          <a:bodyPr wrap="none" rtlCol="0">
            <a:spAutoFit/>
          </a:bodyPr>
          <a:lstStyle/>
          <a:p>
            <a:endParaRPr kumimoji="1" lang="zh-CN" altLang="en-US" dirty="0"/>
          </a:p>
        </p:txBody>
      </p:sp>
      <p:sp>
        <p:nvSpPr>
          <p:cNvPr id="8" name="矩形 7"/>
          <p:cNvSpPr/>
          <p:nvPr/>
        </p:nvSpPr>
        <p:spPr>
          <a:xfrm>
            <a:off x="148616" y="944186"/>
            <a:ext cx="3602930" cy="581057"/>
          </a:xfrm>
          <a:prstGeom prst="rect">
            <a:avLst/>
          </a:prstGeom>
        </p:spPr>
        <p:txBody>
          <a:bodyPr wrap="square">
            <a:spAutoFit/>
          </a:bodyPr>
          <a:lstStyle/>
          <a:p>
            <a:pPr marL="342900" indent="-342900">
              <a:lnSpc>
                <a:spcPct val="150000"/>
              </a:lnSpc>
              <a:buFont typeface="Wingdings" panose="05000000000000000000" pitchFamily="2" charset="2"/>
              <a:buChar char="n"/>
            </a:pPr>
            <a:r>
              <a:rPr lang="zh-CN" altLang="en-US" sz="2400" b="1" dirty="0" smtClean="0">
                <a:latin typeface="Microsoft YaHei" panose="020B0503020204020204" pitchFamily="34" charset="-122"/>
                <a:ea typeface="Microsoft YaHei" panose="020B0503020204020204" pitchFamily="34" charset="-122"/>
              </a:rPr>
              <a:t>实验原理</a:t>
            </a:r>
            <a:r>
              <a:rPr lang="zh-CN" altLang="en-US" sz="2400" b="1" dirty="0" smtClean="0">
                <a:latin typeface="Microsoft YaHei" panose="020B0503020204020204" pitchFamily="34" charset="-122"/>
                <a:ea typeface="Microsoft YaHei" panose="020B0503020204020204" pitchFamily="34" charset="-122"/>
              </a:rPr>
              <a:t>：</a:t>
            </a:r>
            <a:endParaRPr lang="en-US" altLang="zh-CN" sz="2400" b="1" dirty="0" smtClean="0">
              <a:latin typeface="Microsoft YaHei" panose="020B0503020204020204" pitchFamily="34" charset="-122"/>
              <a:ea typeface="Microsoft YaHei" panose="020B0503020204020204" pitchFamily="34" charset="-122"/>
            </a:endParaRPr>
          </a:p>
        </p:txBody>
      </p:sp>
      <p:pic>
        <p:nvPicPr>
          <p:cNvPr id="7" name="图片 6"/>
          <p:cNvPicPr>
            <a:picLocks noChangeAspect="1"/>
          </p:cNvPicPr>
          <p:nvPr/>
        </p:nvPicPr>
        <p:blipFill>
          <a:blip r:embed="rId3"/>
          <a:stretch>
            <a:fillRect/>
          </a:stretch>
        </p:blipFill>
        <p:spPr>
          <a:xfrm>
            <a:off x="1709803" y="1431773"/>
            <a:ext cx="5987441" cy="5188231"/>
          </a:xfrm>
          <a:prstGeom prst="rect">
            <a:avLst/>
          </a:prstGeom>
        </p:spPr>
      </p:pic>
    </p:spTree>
    <p:extLst>
      <p:ext uri="{BB962C8B-B14F-4D97-AF65-F5344CB8AC3E}">
        <p14:creationId xmlns:p14="http://schemas.microsoft.com/office/powerpoint/2010/main" val="3501944617"/>
      </p:ext>
    </p:extLst>
  </p:cSld>
  <p:clrMapOvr>
    <a:masterClrMapping/>
  </p:clrMapOvr>
  <p:transition spd="slow" advClick="0"/>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1" descr="program-ciat2020">
            <a:extLst>
              <a:ext uri="{FF2B5EF4-FFF2-40B4-BE49-F238E27FC236}">
                <a16:creationId xmlns:a16="http://schemas.microsoft.com/office/drawing/2014/main" id="{1047F53A-B06B-5E49-A4AE-3B993C125BD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sp>
        <p:nvSpPr>
          <p:cNvPr id="3" name="标题 1">
            <a:extLst>
              <a:ext uri="{FF2B5EF4-FFF2-40B4-BE49-F238E27FC236}">
                <a16:creationId xmlns:a16="http://schemas.microsoft.com/office/drawing/2014/main" id="{53059FBE-CB6A-5143-9D0C-B3409DC247A1}"/>
              </a:ext>
            </a:extLst>
          </p:cNvPr>
          <p:cNvSpPr txBox="1"/>
          <p:nvPr/>
        </p:nvSpPr>
        <p:spPr>
          <a:xfrm>
            <a:off x="237392" y="191297"/>
            <a:ext cx="9251576" cy="679847"/>
          </a:xfrm>
          <a:prstGeom prst="rect">
            <a:avLst/>
          </a:prstGeom>
        </p:spPr>
        <p:txBody>
          <a:bodyPr vert="horz" lIns="68580" tIns="34290" rIns="68580" bIns="34290" rtlCol="0" anchor="ctr">
            <a:normAutofit/>
          </a:bodyPr>
          <a:lstStyle/>
          <a:p>
            <a:pPr lvl="0">
              <a:spcBef>
                <a:spcPct val="0"/>
              </a:spcBef>
              <a:defRPr/>
            </a:pPr>
            <a:r>
              <a:rPr lang="zh-CN" altLang="en-US" sz="36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实验内容</a:t>
            </a:r>
            <a:endParaRPr lang="en-US" altLang="zh-CN" sz="36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6" name="矩形 5"/>
          <p:cNvSpPr/>
          <p:nvPr/>
        </p:nvSpPr>
        <p:spPr>
          <a:xfrm>
            <a:off x="148615" y="1050414"/>
            <a:ext cx="8851336" cy="1938992"/>
          </a:xfrm>
          <a:prstGeom prst="rect">
            <a:avLst/>
          </a:prstGeom>
        </p:spPr>
        <p:txBody>
          <a:bodyPr wrap="square">
            <a:spAutoFit/>
          </a:bodyPr>
          <a:lstStyle/>
          <a:p>
            <a:pPr marL="342900" indent="-342900">
              <a:lnSpc>
                <a:spcPct val="150000"/>
              </a:lnSpc>
              <a:buFont typeface="Wingdings" panose="05000000000000000000" pitchFamily="2" charset="2"/>
              <a:buChar char="n"/>
            </a:pPr>
            <a:r>
              <a:rPr lang="zh-CN" altLang="en-US" sz="2000" b="1" dirty="0" smtClean="0">
                <a:latin typeface="Microsoft YaHei" panose="020B0503020204020204" pitchFamily="34" charset="-122"/>
                <a:ea typeface="Microsoft YaHei" panose="020B0503020204020204" pitchFamily="34" charset="-122"/>
              </a:rPr>
              <a:t>步骤</a:t>
            </a:r>
            <a:r>
              <a:rPr lang="zh-CN" altLang="en-US" sz="2000" b="1" dirty="0">
                <a:latin typeface="Microsoft YaHei" panose="020B0503020204020204" pitchFamily="34" charset="-122"/>
                <a:ea typeface="Microsoft YaHei" panose="020B0503020204020204" pitchFamily="34" charset="-122"/>
              </a:rPr>
              <a:t>一</a:t>
            </a:r>
            <a:r>
              <a:rPr lang="zh-CN" altLang="en-US" sz="2000" b="1" dirty="0" smtClean="0">
                <a:latin typeface="Microsoft YaHei" panose="020B0503020204020204" pitchFamily="34" charset="-122"/>
                <a:ea typeface="Microsoft YaHei" panose="020B0503020204020204" pitchFamily="34" charset="-122"/>
              </a:rPr>
              <a:t>：</a:t>
            </a:r>
            <a:r>
              <a:rPr lang="zh-CN" altLang="en-US" sz="2000" dirty="0">
                <a:latin typeface="Microsoft YaHei" panose="020B0503020204020204" pitchFamily="34" charset="-122"/>
                <a:ea typeface="Microsoft YaHei" panose="020B0503020204020204" pitchFamily="34" charset="-122"/>
              </a:rPr>
              <a:t>主菜单下点击“车路协同通信实验”</a:t>
            </a:r>
            <a:r>
              <a:rPr lang="zh-CN" altLang="en-US" sz="2000" dirty="0" smtClean="0">
                <a:latin typeface="Microsoft YaHei" panose="020B0503020204020204" pitchFamily="34" charset="-122"/>
                <a:ea typeface="Microsoft YaHei" panose="020B0503020204020204" pitchFamily="34" charset="-122"/>
              </a:rPr>
              <a:t>进入实验</a:t>
            </a:r>
            <a:r>
              <a:rPr lang="zh-CN" altLang="en-US" sz="2000" dirty="0">
                <a:latin typeface="Microsoft YaHei" panose="020B0503020204020204" pitchFamily="34" charset="-122"/>
                <a:ea typeface="Microsoft YaHei" panose="020B0503020204020204" pitchFamily="34" charset="-122"/>
              </a:rPr>
              <a:t>，可以看到 </a:t>
            </a:r>
            <a:r>
              <a:rPr lang="en-US" altLang="zh-CN" sz="2000" dirty="0">
                <a:latin typeface="Microsoft YaHei" panose="020B0503020204020204" pitchFamily="34" charset="-122"/>
                <a:ea typeface="Microsoft YaHei" panose="020B0503020204020204" pitchFamily="34" charset="-122"/>
              </a:rPr>
              <a:t>C-V2X </a:t>
            </a:r>
            <a:r>
              <a:rPr lang="zh-CN" altLang="en-US" sz="2000" dirty="0">
                <a:latin typeface="Microsoft YaHei" panose="020B0503020204020204" pitchFamily="34" charset="-122"/>
                <a:ea typeface="Microsoft YaHei" panose="020B0503020204020204" pitchFamily="34" charset="-122"/>
              </a:rPr>
              <a:t>车路协同通信实验的相关原理</a:t>
            </a:r>
            <a:r>
              <a:rPr lang="zh-CN" altLang="en-US" sz="2000" dirty="0" smtClean="0">
                <a:latin typeface="Microsoft YaHei" panose="020B0503020204020204" pitchFamily="34" charset="-122"/>
                <a:ea typeface="Microsoft YaHei" panose="020B0503020204020204" pitchFamily="34" charset="-122"/>
              </a:rPr>
              <a:t>介绍，</a:t>
            </a:r>
            <a:r>
              <a:rPr lang="zh-CN" altLang="en-US" sz="2000" dirty="0">
                <a:latin typeface="Microsoft YaHei" panose="020B0503020204020204" pitchFamily="34" charset="-122"/>
                <a:ea typeface="Microsoft YaHei" panose="020B0503020204020204" pitchFamily="34" charset="-122"/>
              </a:rPr>
              <a:t>包括直连通信原理、</a:t>
            </a:r>
            <a:r>
              <a:rPr lang="en-US" altLang="zh-CN" sz="2000" dirty="0">
                <a:latin typeface="Microsoft YaHei" panose="020B0503020204020204" pitchFamily="34" charset="-122"/>
                <a:ea typeface="Microsoft YaHei" panose="020B0503020204020204" pitchFamily="34" charset="-122"/>
              </a:rPr>
              <a:t>C- V2X </a:t>
            </a:r>
            <a:r>
              <a:rPr lang="zh-CN" altLang="en-US" sz="2000" dirty="0">
                <a:latin typeface="Microsoft YaHei" panose="020B0503020204020204" pitchFamily="34" charset="-122"/>
                <a:ea typeface="Microsoft YaHei" panose="020B0503020204020204" pitchFamily="34" charset="-122"/>
              </a:rPr>
              <a:t>通信网络结构以及通信性能评价指标，充分了解相关原理后，可以通过点击右上角的“通信测试”进入实验选择界面。</a:t>
            </a:r>
            <a:r>
              <a:rPr lang="zh-CN" altLang="en-US" sz="2000" b="1" dirty="0" smtClean="0">
                <a:latin typeface="Microsoft YaHei" panose="020B0503020204020204" pitchFamily="34" charset="-122"/>
                <a:ea typeface="Microsoft YaHei" panose="020B0503020204020204" pitchFamily="34" charset="-122"/>
              </a:rPr>
              <a:t>。</a:t>
            </a:r>
            <a:endParaRPr lang="en-US" altLang="zh-CN" sz="2000" b="1" dirty="0" smtClean="0">
              <a:latin typeface="Microsoft YaHei" panose="020B0503020204020204" pitchFamily="34" charset="-122"/>
              <a:ea typeface="Microsoft YaHei" panose="020B0503020204020204" pitchFamily="34" charset="-122"/>
            </a:endParaRPr>
          </a:p>
        </p:txBody>
      </p:sp>
      <p:pic>
        <p:nvPicPr>
          <p:cNvPr id="8" name="image61.png"/>
          <p:cNvPicPr/>
          <p:nvPr/>
        </p:nvPicPr>
        <p:blipFill>
          <a:blip r:embed="rId3" cstate="print"/>
          <a:stretch>
            <a:fillRect/>
          </a:stretch>
        </p:blipFill>
        <p:spPr>
          <a:xfrm>
            <a:off x="237391" y="3488496"/>
            <a:ext cx="4178033" cy="2367421"/>
          </a:xfrm>
          <a:prstGeom prst="rect">
            <a:avLst/>
          </a:prstGeom>
        </p:spPr>
      </p:pic>
      <p:pic>
        <p:nvPicPr>
          <p:cNvPr id="12" name="image62.png"/>
          <p:cNvPicPr/>
          <p:nvPr/>
        </p:nvPicPr>
        <p:blipFill>
          <a:blip r:embed="rId4" cstate="print"/>
          <a:stretch>
            <a:fillRect/>
          </a:stretch>
        </p:blipFill>
        <p:spPr>
          <a:xfrm>
            <a:off x="4690997" y="3488497"/>
            <a:ext cx="4160192" cy="2367420"/>
          </a:xfrm>
          <a:prstGeom prst="rect">
            <a:avLst/>
          </a:prstGeom>
        </p:spPr>
      </p:pic>
    </p:spTree>
    <p:extLst>
      <p:ext uri="{BB962C8B-B14F-4D97-AF65-F5344CB8AC3E}">
        <p14:creationId xmlns:p14="http://schemas.microsoft.com/office/powerpoint/2010/main" val="2555131395"/>
      </p:ext>
    </p:extLst>
  </p:cSld>
  <p:clrMapOvr>
    <a:masterClrMapping/>
  </p:clrMapOvr>
  <p:transition spd="slow" advClick="0"/>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1" descr="program-ciat2020">
            <a:extLst>
              <a:ext uri="{FF2B5EF4-FFF2-40B4-BE49-F238E27FC236}">
                <a16:creationId xmlns:a16="http://schemas.microsoft.com/office/drawing/2014/main" id="{1047F53A-B06B-5E49-A4AE-3B993C125BD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sp>
        <p:nvSpPr>
          <p:cNvPr id="3" name="标题 1">
            <a:extLst>
              <a:ext uri="{FF2B5EF4-FFF2-40B4-BE49-F238E27FC236}">
                <a16:creationId xmlns:a16="http://schemas.microsoft.com/office/drawing/2014/main" id="{53059FBE-CB6A-5143-9D0C-B3409DC247A1}"/>
              </a:ext>
            </a:extLst>
          </p:cNvPr>
          <p:cNvSpPr txBox="1"/>
          <p:nvPr/>
        </p:nvSpPr>
        <p:spPr>
          <a:xfrm>
            <a:off x="237392" y="191297"/>
            <a:ext cx="9251576" cy="679847"/>
          </a:xfrm>
          <a:prstGeom prst="rect">
            <a:avLst/>
          </a:prstGeom>
        </p:spPr>
        <p:txBody>
          <a:bodyPr vert="horz" lIns="68580" tIns="34290" rIns="68580" bIns="34290" rtlCol="0" anchor="ctr">
            <a:normAutofit/>
          </a:bodyPr>
          <a:lstStyle/>
          <a:p>
            <a:pPr lvl="0">
              <a:spcBef>
                <a:spcPct val="0"/>
              </a:spcBef>
              <a:defRPr/>
            </a:pPr>
            <a:r>
              <a:rPr lang="zh-CN" altLang="en-US" sz="36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实验内容</a:t>
            </a:r>
            <a:endParaRPr lang="en-US" altLang="zh-CN" sz="36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6" name="矩形 5"/>
          <p:cNvSpPr/>
          <p:nvPr/>
        </p:nvSpPr>
        <p:spPr>
          <a:xfrm>
            <a:off x="148615" y="1050414"/>
            <a:ext cx="8800076" cy="1477328"/>
          </a:xfrm>
          <a:prstGeom prst="rect">
            <a:avLst/>
          </a:prstGeom>
        </p:spPr>
        <p:txBody>
          <a:bodyPr wrap="square">
            <a:spAutoFit/>
          </a:bodyPr>
          <a:lstStyle/>
          <a:p>
            <a:pPr marL="342900" indent="-342900">
              <a:lnSpc>
                <a:spcPct val="150000"/>
              </a:lnSpc>
              <a:buFont typeface="Wingdings" panose="05000000000000000000" pitchFamily="2" charset="2"/>
              <a:buChar char="n"/>
            </a:pPr>
            <a:r>
              <a:rPr lang="zh-CN" altLang="en-US" sz="2000" b="1" dirty="0" smtClean="0">
                <a:latin typeface="Microsoft YaHei" panose="020B0503020204020204" pitchFamily="34" charset="-122"/>
                <a:ea typeface="Microsoft YaHei" panose="020B0503020204020204" pitchFamily="34" charset="-122"/>
              </a:rPr>
              <a:t>步骤二</a:t>
            </a:r>
            <a:r>
              <a:rPr lang="en-US" altLang="zh-CN" sz="2000" b="1" dirty="0" smtClean="0">
                <a:latin typeface="Microsoft YaHei" panose="020B0503020204020204" pitchFamily="34" charset="-122"/>
                <a:ea typeface="Microsoft YaHei" panose="020B0503020204020204" pitchFamily="34" charset="-122"/>
              </a:rPr>
              <a:t>——</a:t>
            </a:r>
            <a:r>
              <a:rPr lang="zh-CN" altLang="en-US" sz="2000" b="1" dirty="0" smtClean="0">
                <a:latin typeface="Microsoft YaHei" panose="020B0503020204020204" pitchFamily="34" charset="-122"/>
                <a:ea typeface="Microsoft YaHei" panose="020B0503020204020204" pitchFamily="34" charset="-122"/>
              </a:rPr>
              <a:t>选择实验：</a:t>
            </a:r>
            <a:endParaRPr lang="en-US" altLang="zh-CN" sz="2000" b="1" dirty="0" smtClean="0">
              <a:latin typeface="Microsoft YaHei" panose="020B0503020204020204" pitchFamily="34" charset="-122"/>
              <a:ea typeface="Microsoft YaHei" panose="020B0503020204020204" pitchFamily="34" charset="-122"/>
            </a:endParaRPr>
          </a:p>
          <a:p>
            <a:pPr marL="342900" indent="-342900">
              <a:lnSpc>
                <a:spcPct val="150000"/>
              </a:lnSpc>
              <a:buFont typeface="Wingdings" panose="05000000000000000000" pitchFamily="2" charset="2"/>
              <a:buChar char="n"/>
            </a:pPr>
            <a:endParaRPr lang="en-US" altLang="zh-CN" sz="2000" b="1" dirty="0" smtClean="0">
              <a:latin typeface="Microsoft YaHei" panose="020B0503020204020204" pitchFamily="34" charset="-122"/>
              <a:ea typeface="Microsoft YaHei" panose="020B0503020204020204" pitchFamily="34" charset="-122"/>
            </a:endParaRPr>
          </a:p>
          <a:p>
            <a:pPr marL="342900" indent="-342900">
              <a:lnSpc>
                <a:spcPct val="150000"/>
              </a:lnSpc>
              <a:buFont typeface="Wingdings" panose="05000000000000000000" pitchFamily="2" charset="2"/>
              <a:buChar char="Ø"/>
            </a:pPr>
            <a:r>
              <a:rPr lang="zh-CN" altLang="en-US" sz="2000" dirty="0">
                <a:latin typeface="Microsoft YaHei" panose="020B0503020204020204" pitchFamily="34" charset="-122"/>
                <a:ea typeface="Microsoft YaHei" panose="020B0503020204020204" pitchFamily="34" charset="-122"/>
              </a:rPr>
              <a:t>选择“一发一收”或“两发两收”进入</a:t>
            </a:r>
            <a:r>
              <a:rPr lang="zh-CN" altLang="en-US" sz="2000" dirty="0" smtClean="0">
                <a:latin typeface="Microsoft YaHei" panose="020B0503020204020204" pitchFamily="34" charset="-122"/>
                <a:ea typeface="Microsoft YaHei" panose="020B0503020204020204" pitchFamily="34" charset="-122"/>
              </a:rPr>
              <a:t>实验</a:t>
            </a:r>
            <a:endParaRPr lang="en-US" altLang="zh-CN" sz="2000" dirty="0" smtClean="0">
              <a:latin typeface="Microsoft YaHei" panose="020B0503020204020204" pitchFamily="34" charset="-122"/>
              <a:ea typeface="Microsoft YaHei" panose="020B0503020204020204" pitchFamily="34" charset="-122"/>
            </a:endParaRPr>
          </a:p>
        </p:txBody>
      </p:sp>
      <p:pic>
        <p:nvPicPr>
          <p:cNvPr id="4" name="图片 3"/>
          <p:cNvPicPr>
            <a:picLocks noChangeAspect="1"/>
          </p:cNvPicPr>
          <p:nvPr/>
        </p:nvPicPr>
        <p:blipFill>
          <a:blip r:embed="rId3"/>
          <a:stretch>
            <a:fillRect/>
          </a:stretch>
        </p:blipFill>
        <p:spPr>
          <a:xfrm>
            <a:off x="1773823" y="2762004"/>
            <a:ext cx="5812049" cy="3269278"/>
          </a:xfrm>
          <a:prstGeom prst="rect">
            <a:avLst/>
          </a:prstGeom>
        </p:spPr>
      </p:pic>
    </p:spTree>
    <p:extLst>
      <p:ext uri="{BB962C8B-B14F-4D97-AF65-F5344CB8AC3E}">
        <p14:creationId xmlns:p14="http://schemas.microsoft.com/office/powerpoint/2010/main" val="377199804"/>
      </p:ext>
    </p:extLst>
  </p:cSld>
  <p:clrMapOvr>
    <a:masterClrMapping/>
  </p:clrMapOvr>
  <p:transition spd="slow" advClick="0"/>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1" descr="program-ciat2020">
            <a:extLst>
              <a:ext uri="{FF2B5EF4-FFF2-40B4-BE49-F238E27FC236}">
                <a16:creationId xmlns:a16="http://schemas.microsoft.com/office/drawing/2014/main" id="{1047F53A-B06B-5E49-A4AE-3B993C125BD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sp>
        <p:nvSpPr>
          <p:cNvPr id="3" name="标题 1">
            <a:extLst>
              <a:ext uri="{FF2B5EF4-FFF2-40B4-BE49-F238E27FC236}">
                <a16:creationId xmlns:a16="http://schemas.microsoft.com/office/drawing/2014/main" id="{53059FBE-CB6A-5143-9D0C-B3409DC247A1}"/>
              </a:ext>
            </a:extLst>
          </p:cNvPr>
          <p:cNvSpPr txBox="1"/>
          <p:nvPr/>
        </p:nvSpPr>
        <p:spPr>
          <a:xfrm>
            <a:off x="237392" y="191297"/>
            <a:ext cx="9251576" cy="679847"/>
          </a:xfrm>
          <a:prstGeom prst="rect">
            <a:avLst/>
          </a:prstGeom>
        </p:spPr>
        <p:txBody>
          <a:bodyPr vert="horz" lIns="68580" tIns="34290" rIns="68580" bIns="34290" rtlCol="0" anchor="ctr">
            <a:normAutofit/>
          </a:bodyPr>
          <a:lstStyle/>
          <a:p>
            <a:pPr lvl="0">
              <a:spcBef>
                <a:spcPct val="0"/>
              </a:spcBef>
              <a:defRPr/>
            </a:pPr>
            <a:r>
              <a:rPr lang="zh-CN" altLang="en-US" sz="3600" b="1" dirty="0" smtClean="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实验内容</a:t>
            </a:r>
            <a:endParaRPr lang="en-US" altLang="zh-CN" sz="36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6" name="矩形 5"/>
          <p:cNvSpPr/>
          <p:nvPr/>
        </p:nvSpPr>
        <p:spPr>
          <a:xfrm>
            <a:off x="148615" y="1050414"/>
            <a:ext cx="8800076" cy="2862322"/>
          </a:xfrm>
          <a:prstGeom prst="rect">
            <a:avLst/>
          </a:prstGeom>
        </p:spPr>
        <p:txBody>
          <a:bodyPr wrap="square">
            <a:spAutoFit/>
          </a:bodyPr>
          <a:lstStyle/>
          <a:p>
            <a:pPr marL="342900" indent="-342900">
              <a:lnSpc>
                <a:spcPct val="150000"/>
              </a:lnSpc>
              <a:buFont typeface="Wingdings" panose="05000000000000000000" pitchFamily="2" charset="2"/>
              <a:buChar char="n"/>
            </a:pPr>
            <a:r>
              <a:rPr lang="zh-CN" altLang="en-US" sz="2000" b="1" dirty="0" smtClean="0">
                <a:latin typeface="Microsoft YaHei" panose="020B0503020204020204" pitchFamily="34" charset="-122"/>
                <a:ea typeface="Microsoft YaHei" panose="020B0503020204020204" pitchFamily="34" charset="-122"/>
              </a:rPr>
              <a:t>步骤</a:t>
            </a:r>
            <a:r>
              <a:rPr lang="zh-CN" altLang="en-US" sz="2000" b="1" dirty="0" smtClean="0">
                <a:latin typeface="Microsoft YaHei" panose="020B0503020204020204" pitchFamily="34" charset="-122"/>
                <a:ea typeface="Microsoft YaHei" panose="020B0503020204020204" pitchFamily="34" charset="-122"/>
              </a:rPr>
              <a:t>二：</a:t>
            </a:r>
            <a:endParaRPr lang="en-US" altLang="zh-CN" sz="2000" b="1" dirty="0" smtClean="0">
              <a:latin typeface="Microsoft YaHei" panose="020B0503020204020204" pitchFamily="34" charset="-122"/>
              <a:ea typeface="Microsoft YaHei" panose="020B0503020204020204" pitchFamily="34" charset="-122"/>
            </a:endParaRPr>
          </a:p>
          <a:p>
            <a:pPr>
              <a:lnSpc>
                <a:spcPct val="150000"/>
              </a:lnSpc>
            </a:pPr>
            <a:r>
              <a:rPr lang="en-US" altLang="zh-CN" sz="2000" dirty="0" smtClean="0">
                <a:latin typeface="Microsoft YaHei" panose="020B0503020204020204" pitchFamily="34" charset="-122"/>
                <a:ea typeface="Microsoft YaHei" panose="020B0503020204020204" pitchFamily="34" charset="-122"/>
              </a:rPr>
              <a:t>A )</a:t>
            </a:r>
            <a:r>
              <a:rPr lang="en-US" altLang="zh-CN" sz="2000" dirty="0">
                <a:latin typeface="Microsoft YaHei" panose="020B0503020204020204" pitchFamily="34" charset="-122"/>
                <a:ea typeface="Microsoft YaHei" panose="020B0503020204020204" pitchFamily="34" charset="-122"/>
              </a:rPr>
              <a:t>	</a:t>
            </a:r>
            <a:r>
              <a:rPr lang="zh-CN" altLang="en-US" sz="2000" dirty="0" smtClean="0">
                <a:latin typeface="Microsoft YaHei" panose="020B0503020204020204" pitchFamily="34" charset="-122"/>
                <a:ea typeface="Microsoft YaHei" panose="020B0503020204020204" pitchFamily="34" charset="-122"/>
              </a:rPr>
              <a:t>左侧</a:t>
            </a:r>
            <a:r>
              <a:rPr lang="zh-CN" altLang="en-US" sz="2000" dirty="0">
                <a:latin typeface="Microsoft YaHei" panose="020B0503020204020204" pitchFamily="34" charset="-122"/>
                <a:ea typeface="Microsoft YaHei" panose="020B0503020204020204" pitchFamily="34" charset="-122"/>
              </a:rPr>
              <a:t>进行参数配置，一是通信参数，包括发包大小、发包频率和发包数目，二是环境参数，包括通信距离和场地；</a:t>
            </a:r>
          </a:p>
          <a:p>
            <a:pPr>
              <a:lnSpc>
                <a:spcPct val="150000"/>
              </a:lnSpc>
            </a:pPr>
            <a:r>
              <a:rPr lang="en-US" altLang="zh-CN" sz="2000" dirty="0" smtClean="0">
                <a:latin typeface="Microsoft YaHei" panose="020B0503020204020204" pitchFamily="34" charset="-122"/>
                <a:ea typeface="Microsoft YaHei" panose="020B0503020204020204" pitchFamily="34" charset="-122"/>
              </a:rPr>
              <a:t>B )</a:t>
            </a:r>
            <a:r>
              <a:rPr lang="zh-CN" altLang="en-US" sz="2000" dirty="0" smtClean="0">
                <a:latin typeface="Microsoft YaHei" panose="020B0503020204020204" pitchFamily="34" charset="-122"/>
                <a:ea typeface="Microsoft YaHei" panose="020B0503020204020204" pitchFamily="34" charset="-122"/>
              </a:rPr>
              <a:t>点击</a:t>
            </a:r>
            <a:r>
              <a:rPr lang="zh-CN" altLang="en-US" sz="2000" dirty="0">
                <a:latin typeface="Microsoft YaHei" panose="020B0503020204020204" pitchFamily="34" charset="-122"/>
                <a:ea typeface="Microsoft YaHei" panose="020B0503020204020204" pitchFamily="34" charset="-122"/>
              </a:rPr>
              <a:t>“测试”开始</a:t>
            </a:r>
            <a:r>
              <a:rPr lang="zh-CN" altLang="en-US" sz="2000" dirty="0" smtClean="0">
                <a:latin typeface="Microsoft YaHei" panose="020B0503020204020204" pitchFamily="34" charset="-122"/>
                <a:ea typeface="Microsoft YaHei" panose="020B0503020204020204" pitchFamily="34" charset="-122"/>
              </a:rPr>
              <a:t>实验；</a:t>
            </a:r>
            <a:endParaRPr lang="zh-CN" altLang="en-US" sz="2000" dirty="0">
              <a:latin typeface="Microsoft YaHei" panose="020B0503020204020204" pitchFamily="34" charset="-122"/>
              <a:ea typeface="Microsoft YaHei" panose="020B0503020204020204" pitchFamily="34" charset="-122"/>
            </a:endParaRPr>
          </a:p>
          <a:p>
            <a:pPr>
              <a:lnSpc>
                <a:spcPct val="150000"/>
              </a:lnSpc>
            </a:pPr>
            <a:r>
              <a:rPr lang="en-US" altLang="zh-CN" sz="2000" dirty="0" smtClean="0">
                <a:latin typeface="Microsoft YaHei" panose="020B0503020204020204" pitchFamily="34" charset="-122"/>
                <a:ea typeface="Microsoft YaHei" panose="020B0503020204020204" pitchFamily="34" charset="-122"/>
              </a:rPr>
              <a:t>C )</a:t>
            </a:r>
            <a:r>
              <a:rPr lang="zh-CN" altLang="en-US" sz="2000" dirty="0" smtClean="0">
                <a:latin typeface="Microsoft YaHei" panose="020B0503020204020204" pitchFamily="34" charset="-122"/>
                <a:ea typeface="Microsoft YaHei" panose="020B0503020204020204" pitchFamily="34" charset="-122"/>
              </a:rPr>
              <a:t>右侧</a:t>
            </a:r>
            <a:r>
              <a:rPr lang="zh-CN" altLang="en-US" sz="2000" dirty="0">
                <a:latin typeface="Microsoft YaHei" panose="020B0503020204020204" pitchFamily="34" charset="-122"/>
                <a:ea typeface="Microsoft YaHei" panose="020B0503020204020204" pitchFamily="34" charset="-122"/>
              </a:rPr>
              <a:t>显示相关通信性能指标，包括丢包率、通信时延和吞吐率；</a:t>
            </a:r>
          </a:p>
          <a:p>
            <a:pPr>
              <a:lnSpc>
                <a:spcPct val="150000"/>
              </a:lnSpc>
            </a:pPr>
            <a:r>
              <a:rPr lang="en-US" altLang="zh-CN" sz="2000" dirty="0" smtClean="0">
                <a:latin typeface="Microsoft YaHei" panose="020B0503020204020204" pitchFamily="34" charset="-122"/>
                <a:ea typeface="Microsoft YaHei" panose="020B0503020204020204" pitchFamily="34" charset="-122"/>
              </a:rPr>
              <a:t>D )</a:t>
            </a:r>
            <a:r>
              <a:rPr lang="en-US" altLang="zh-CN" sz="2000" dirty="0">
                <a:latin typeface="Microsoft YaHei" panose="020B0503020204020204" pitchFamily="34" charset="-122"/>
                <a:ea typeface="Microsoft YaHei" panose="020B0503020204020204" pitchFamily="34" charset="-122"/>
              </a:rPr>
              <a:t>	</a:t>
            </a:r>
            <a:r>
              <a:rPr lang="zh-CN" altLang="en-US" sz="2000" dirty="0" smtClean="0">
                <a:latin typeface="Microsoft YaHei" panose="020B0503020204020204" pitchFamily="34" charset="-122"/>
                <a:ea typeface="Microsoft YaHei" panose="020B0503020204020204" pitchFamily="34" charset="-122"/>
              </a:rPr>
              <a:t>配置</a:t>
            </a:r>
            <a:r>
              <a:rPr lang="zh-CN" altLang="en-US" sz="2000" dirty="0">
                <a:latin typeface="Microsoft YaHei" panose="020B0503020204020204" pitchFamily="34" charset="-122"/>
                <a:ea typeface="Microsoft YaHei" panose="020B0503020204020204" pitchFamily="34" charset="-122"/>
              </a:rPr>
              <a:t>不同参数进行多次实验，观察、记录、比较实验结果，得出实验</a:t>
            </a:r>
            <a:r>
              <a:rPr lang="zh-CN" altLang="en-US" sz="2000" dirty="0" smtClean="0">
                <a:latin typeface="Microsoft YaHei" panose="020B0503020204020204" pitchFamily="34" charset="-122"/>
                <a:ea typeface="Microsoft YaHei" panose="020B0503020204020204" pitchFamily="34" charset="-122"/>
              </a:rPr>
              <a:t>结论。</a:t>
            </a:r>
            <a:endParaRPr lang="zh-CN" altLang="en-US" sz="2000" dirty="0">
              <a:latin typeface="Microsoft YaHei" panose="020B0503020204020204" pitchFamily="34" charset="-122"/>
              <a:ea typeface="Microsoft YaHei" panose="020B0503020204020204" pitchFamily="34" charset="-122"/>
            </a:endParaRPr>
          </a:p>
        </p:txBody>
      </p:sp>
      <p:pic>
        <p:nvPicPr>
          <p:cNvPr id="5" name="图片 4"/>
          <p:cNvPicPr>
            <a:picLocks noChangeAspect="1"/>
          </p:cNvPicPr>
          <p:nvPr/>
        </p:nvPicPr>
        <p:blipFill>
          <a:blip r:embed="rId3"/>
          <a:stretch>
            <a:fillRect/>
          </a:stretch>
        </p:blipFill>
        <p:spPr>
          <a:xfrm>
            <a:off x="237392" y="4092006"/>
            <a:ext cx="3890481" cy="2159061"/>
          </a:xfrm>
          <a:prstGeom prst="rect">
            <a:avLst/>
          </a:prstGeom>
        </p:spPr>
      </p:pic>
      <p:pic>
        <p:nvPicPr>
          <p:cNvPr id="7" name="图片 6"/>
          <p:cNvPicPr>
            <a:picLocks noChangeAspect="1"/>
          </p:cNvPicPr>
          <p:nvPr/>
        </p:nvPicPr>
        <p:blipFill>
          <a:blip r:embed="rId4"/>
          <a:stretch>
            <a:fillRect/>
          </a:stretch>
        </p:blipFill>
        <p:spPr>
          <a:xfrm>
            <a:off x="4753627" y="4086963"/>
            <a:ext cx="3983809" cy="2169145"/>
          </a:xfrm>
          <a:prstGeom prst="rect">
            <a:avLst/>
          </a:prstGeom>
        </p:spPr>
      </p:pic>
    </p:spTree>
    <p:extLst>
      <p:ext uri="{BB962C8B-B14F-4D97-AF65-F5344CB8AC3E}">
        <p14:creationId xmlns:p14="http://schemas.microsoft.com/office/powerpoint/2010/main" val="1739854471"/>
      </p:ext>
    </p:extLst>
  </p:cSld>
  <p:clrMapOvr>
    <a:masterClrMapping/>
  </p:clrMapOvr>
  <p:transition spd="slow" advClick="0"/>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1" descr="program-ciat2020">
            <a:extLst>
              <a:ext uri="{FF2B5EF4-FFF2-40B4-BE49-F238E27FC236}">
                <a16:creationId xmlns:a16="http://schemas.microsoft.com/office/drawing/2014/main" id="{1047F53A-B06B-5E49-A4AE-3B993C125BD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sp>
        <p:nvSpPr>
          <p:cNvPr id="3" name="标题 1">
            <a:extLst>
              <a:ext uri="{FF2B5EF4-FFF2-40B4-BE49-F238E27FC236}">
                <a16:creationId xmlns:a16="http://schemas.microsoft.com/office/drawing/2014/main" id="{53059FBE-CB6A-5143-9D0C-B3409DC247A1}"/>
              </a:ext>
            </a:extLst>
          </p:cNvPr>
          <p:cNvSpPr txBox="1"/>
          <p:nvPr/>
        </p:nvSpPr>
        <p:spPr>
          <a:xfrm>
            <a:off x="237392" y="191297"/>
            <a:ext cx="9251576" cy="679847"/>
          </a:xfrm>
          <a:prstGeom prst="rect">
            <a:avLst/>
          </a:prstGeom>
        </p:spPr>
        <p:txBody>
          <a:bodyPr vert="horz" lIns="68580" tIns="34290" rIns="68580" bIns="34290" rtlCol="0" anchor="ctr">
            <a:normAutofit/>
          </a:bodyPr>
          <a:lstStyle/>
          <a:p>
            <a:pPr lvl="0">
              <a:spcBef>
                <a:spcPct val="0"/>
              </a:spcBef>
              <a:defRPr/>
            </a:pPr>
            <a:r>
              <a:rPr lang="zh-CN" altLang="en-US" sz="36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智能网联驾驶无线通信技术</a:t>
            </a:r>
            <a:endParaRPr lang="zh-CN" altLang="en-US" sz="36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6" name="矩形 5"/>
          <p:cNvSpPr/>
          <p:nvPr/>
        </p:nvSpPr>
        <p:spPr>
          <a:xfrm>
            <a:off x="148615" y="1050414"/>
            <a:ext cx="8800076" cy="5170646"/>
          </a:xfrm>
          <a:prstGeom prst="rect">
            <a:avLst/>
          </a:prstGeom>
        </p:spPr>
        <p:txBody>
          <a:bodyPr wrap="square">
            <a:spAutoFit/>
          </a:bodyPr>
          <a:lstStyle/>
          <a:p>
            <a:pPr>
              <a:lnSpc>
                <a:spcPct val="150000"/>
              </a:lnSpc>
            </a:pPr>
            <a:r>
              <a:rPr lang="zh-CN" altLang="en-US" sz="2000" b="1" dirty="0" smtClean="0">
                <a:latin typeface="Microsoft YaHei" panose="020B0503020204020204" pitchFamily="34" charset="-122"/>
                <a:ea typeface="Microsoft YaHei" panose="020B0503020204020204" pitchFamily="34" charset="-122"/>
              </a:rPr>
              <a:t>思考题：</a:t>
            </a:r>
            <a:endParaRPr lang="en-US" altLang="zh-CN" sz="2000" b="1" dirty="0" smtClean="0">
              <a:latin typeface="Microsoft YaHei" panose="020B0503020204020204" pitchFamily="34" charset="-122"/>
              <a:ea typeface="Microsoft YaHei" panose="020B0503020204020204" pitchFamily="34" charset="-122"/>
            </a:endParaRPr>
          </a:p>
          <a:p>
            <a:pPr marL="457200" indent="-457200">
              <a:lnSpc>
                <a:spcPct val="250000"/>
              </a:lnSpc>
              <a:buFont typeface="+mj-lt"/>
              <a:buAutoNum type="arabicPeriod"/>
            </a:pPr>
            <a:r>
              <a:rPr lang="zh-CN" altLang="en-US" sz="2000" dirty="0">
                <a:latin typeface="Microsoft YaHei" panose="020B0503020204020204" pitchFamily="34" charset="-122"/>
                <a:ea typeface="Microsoft YaHei" panose="020B0503020204020204" pitchFamily="34" charset="-122"/>
              </a:rPr>
              <a:t>智能网联驾驶无线通信技术有哪些？阐述为什么我国采用 </a:t>
            </a:r>
            <a:r>
              <a:rPr lang="en-US" altLang="zh-CN" sz="2000" dirty="0">
                <a:latin typeface="Microsoft YaHei" panose="020B0503020204020204" pitchFamily="34" charset="-122"/>
                <a:ea typeface="Microsoft YaHei" panose="020B0503020204020204" pitchFamily="34" charset="-122"/>
              </a:rPr>
              <a:t>C-V2X </a:t>
            </a:r>
            <a:r>
              <a:rPr lang="zh-CN" altLang="en-US" sz="2000" dirty="0">
                <a:latin typeface="Microsoft YaHei" panose="020B0503020204020204" pitchFamily="34" charset="-122"/>
                <a:ea typeface="Microsoft YaHei" panose="020B0503020204020204" pitchFamily="34" charset="-122"/>
              </a:rPr>
              <a:t>作为智能网联驾驶无线通信技术</a:t>
            </a:r>
            <a:r>
              <a:rPr lang="zh-CN" altLang="en-US" sz="2000" dirty="0" smtClean="0">
                <a:latin typeface="Microsoft YaHei" panose="020B0503020204020204" pitchFamily="34" charset="-122"/>
                <a:ea typeface="Microsoft YaHei" panose="020B0503020204020204" pitchFamily="34" charset="-122"/>
              </a:rPr>
              <a:t>？</a:t>
            </a:r>
            <a:endParaRPr lang="en-US" altLang="zh-CN" sz="2000" dirty="0" smtClean="0">
              <a:latin typeface="Microsoft YaHei" panose="020B0503020204020204" pitchFamily="34" charset="-122"/>
              <a:ea typeface="Microsoft YaHei" panose="020B0503020204020204" pitchFamily="34" charset="-122"/>
            </a:endParaRPr>
          </a:p>
          <a:p>
            <a:pPr marL="457200" indent="-457200">
              <a:lnSpc>
                <a:spcPct val="250000"/>
              </a:lnSpc>
              <a:buFont typeface="+mj-lt"/>
              <a:buAutoNum type="arabicPeriod"/>
            </a:pPr>
            <a:r>
              <a:rPr lang="zh-CN" altLang="en-US" sz="2000" dirty="0">
                <a:latin typeface="Microsoft YaHei" panose="020B0503020204020204" pitchFamily="34" charset="-122"/>
                <a:ea typeface="Microsoft YaHei" panose="020B0503020204020204" pitchFamily="34" charset="-122"/>
              </a:rPr>
              <a:t>比较 </a:t>
            </a:r>
            <a:r>
              <a:rPr lang="en-US" altLang="zh-CN" sz="2000" dirty="0">
                <a:latin typeface="Microsoft YaHei" panose="020B0503020204020204" pitchFamily="34" charset="-122"/>
                <a:ea typeface="Microsoft YaHei" panose="020B0503020204020204" pitchFamily="34" charset="-122"/>
              </a:rPr>
              <a:t>DSRC </a:t>
            </a:r>
            <a:r>
              <a:rPr lang="zh-CN" altLang="en-US" sz="2000" dirty="0">
                <a:latin typeface="Microsoft YaHei" panose="020B0503020204020204" pitchFamily="34" charset="-122"/>
                <a:ea typeface="Microsoft YaHei" panose="020B0503020204020204" pitchFamily="34" charset="-122"/>
              </a:rPr>
              <a:t>和 </a:t>
            </a:r>
            <a:r>
              <a:rPr lang="en-US" altLang="zh-CN" sz="2000" dirty="0">
                <a:latin typeface="Microsoft YaHei" panose="020B0503020204020204" pitchFamily="34" charset="-122"/>
                <a:ea typeface="Microsoft YaHei" panose="020B0503020204020204" pitchFamily="34" charset="-122"/>
              </a:rPr>
              <a:t>LTE-V2X </a:t>
            </a:r>
            <a:r>
              <a:rPr lang="zh-CN" altLang="en-US" sz="2000" dirty="0">
                <a:latin typeface="Microsoft YaHei" panose="020B0503020204020204" pitchFamily="34" charset="-122"/>
                <a:ea typeface="Microsoft YaHei" panose="020B0503020204020204" pitchFamily="34" charset="-122"/>
              </a:rPr>
              <a:t>在技术和应用层面的区别</a:t>
            </a:r>
            <a:r>
              <a:rPr lang="zh-CN" altLang="en-US" sz="2000" dirty="0" smtClean="0">
                <a:latin typeface="Microsoft YaHei" panose="020B0503020204020204" pitchFamily="34" charset="-122"/>
                <a:ea typeface="Microsoft YaHei" panose="020B0503020204020204" pitchFamily="34" charset="-122"/>
              </a:rPr>
              <a:t>。</a:t>
            </a:r>
            <a:endParaRPr lang="en-US" altLang="zh-CN" sz="2000" dirty="0" smtClean="0">
              <a:latin typeface="Microsoft YaHei" panose="020B0503020204020204" pitchFamily="34" charset="-122"/>
              <a:ea typeface="Microsoft YaHei" panose="020B0503020204020204" pitchFamily="34" charset="-122"/>
            </a:endParaRPr>
          </a:p>
          <a:p>
            <a:pPr marL="457200" indent="-457200">
              <a:lnSpc>
                <a:spcPct val="250000"/>
              </a:lnSpc>
              <a:buFont typeface="+mj-lt"/>
              <a:buAutoNum type="arabicPeriod"/>
            </a:pPr>
            <a:r>
              <a:rPr lang="en-US" altLang="zh-CN" sz="2000" dirty="0">
                <a:latin typeface="Microsoft YaHei" panose="020B0503020204020204" pitchFamily="34" charset="-122"/>
                <a:ea typeface="Microsoft YaHei" panose="020B0503020204020204" pitchFamily="34" charset="-122"/>
              </a:rPr>
              <a:t>LTE-V2X </a:t>
            </a:r>
            <a:r>
              <a:rPr lang="zh-CN" altLang="en-US" sz="2000" dirty="0">
                <a:latin typeface="Microsoft YaHei" panose="020B0503020204020204" pitchFamily="34" charset="-122"/>
                <a:ea typeface="Microsoft YaHei" panose="020B0503020204020204" pitchFamily="34" charset="-122"/>
              </a:rPr>
              <a:t>和 </a:t>
            </a:r>
            <a:r>
              <a:rPr lang="en-US" altLang="zh-CN" sz="2000" dirty="0">
                <a:latin typeface="Microsoft YaHei" panose="020B0503020204020204" pitchFamily="34" charset="-122"/>
                <a:ea typeface="Microsoft YaHei" panose="020B0503020204020204" pitchFamily="34" charset="-122"/>
              </a:rPr>
              <a:t>5G-V2X </a:t>
            </a:r>
            <a:r>
              <a:rPr lang="zh-CN" altLang="en-US" sz="2000" dirty="0">
                <a:latin typeface="Microsoft YaHei" panose="020B0503020204020204" pitchFamily="34" charset="-122"/>
                <a:ea typeface="Microsoft YaHei" panose="020B0503020204020204" pitchFamily="34" charset="-122"/>
              </a:rPr>
              <a:t>的区别和联系有哪些？各自包含哪些关键</a:t>
            </a:r>
            <a:r>
              <a:rPr lang="zh-CN" altLang="en-US" sz="2000" dirty="0" smtClean="0">
                <a:latin typeface="Microsoft YaHei" panose="020B0503020204020204" pitchFamily="34" charset="-122"/>
                <a:ea typeface="Microsoft YaHei" panose="020B0503020204020204" pitchFamily="34" charset="-122"/>
              </a:rPr>
              <a:t>技术？</a:t>
            </a:r>
            <a:endParaRPr lang="en-US" altLang="zh-CN" sz="2000" dirty="0" smtClean="0">
              <a:latin typeface="Microsoft YaHei" panose="020B0503020204020204" pitchFamily="34" charset="-122"/>
              <a:ea typeface="Microsoft YaHei" panose="020B0503020204020204" pitchFamily="34" charset="-122"/>
            </a:endParaRPr>
          </a:p>
          <a:p>
            <a:pPr marL="457200" indent="-457200">
              <a:lnSpc>
                <a:spcPct val="250000"/>
              </a:lnSpc>
              <a:buFont typeface="+mj-lt"/>
              <a:buAutoNum type="arabicPeriod"/>
            </a:pPr>
            <a:r>
              <a:rPr lang="zh-CN" altLang="en-US" sz="2000" dirty="0">
                <a:latin typeface="Microsoft YaHei" panose="020B0503020204020204" pitchFamily="34" charset="-122"/>
                <a:ea typeface="Microsoft YaHei" panose="020B0503020204020204" pitchFamily="34" charset="-122"/>
              </a:rPr>
              <a:t>比较车载通信设备和路侧通信设备的共同之处和不同之处，试着阐述其不同的原因是什么？</a:t>
            </a:r>
            <a:endParaRPr lang="zh-CN" altLang="en-US" sz="2000"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2756400950"/>
      </p:ext>
    </p:extLst>
  </p:cSld>
  <p:clrMapOvr>
    <a:masterClrMapping/>
  </p:clrMapOvr>
  <p:transition spd="slow" advClick="0"/>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3142</TotalTime>
  <Words>4810</Words>
  <Application>Microsoft Office PowerPoint</Application>
  <PresentationFormat>全屏显示(4:3)</PresentationFormat>
  <Paragraphs>478</Paragraphs>
  <Slides>55</Slides>
  <Notes>1</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55</vt:i4>
      </vt:variant>
    </vt:vector>
  </HeadingPairs>
  <TitlesOfParts>
    <vt:vector size="66" baseType="lpstr">
      <vt:lpstr>等线</vt:lpstr>
      <vt:lpstr>等线 Light</vt:lpstr>
      <vt:lpstr>宋体</vt:lpstr>
      <vt:lpstr>微软雅黑</vt:lpstr>
      <vt:lpstr>微软雅黑</vt:lpstr>
      <vt:lpstr>Arial</vt:lpstr>
      <vt:lpstr>Calibri</vt:lpstr>
      <vt:lpstr>Calibri Light</vt:lpstr>
      <vt:lpstr>Times New Roman</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office</dc:creator>
  <cp:lastModifiedBy>x-j</cp:lastModifiedBy>
  <cp:revision>154</cp:revision>
  <dcterms:created xsi:type="dcterms:W3CDTF">2021-09-23T03:48:02Z</dcterms:created>
  <dcterms:modified xsi:type="dcterms:W3CDTF">2023-09-09T02:37:39Z</dcterms:modified>
</cp:coreProperties>
</file>
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769" r:id="rId2"/>
    <p:sldId id="397" r:id="rId3"/>
    <p:sldId id="350" r:id="rId4"/>
    <p:sldId id="363" r:id="rId5"/>
    <p:sldId id="398" r:id="rId6"/>
    <p:sldId id="364" r:id="rId7"/>
    <p:sldId id="365" r:id="rId8"/>
    <p:sldId id="367" r:id="rId9"/>
    <p:sldId id="368" r:id="rId10"/>
    <p:sldId id="399" r:id="rId11"/>
    <p:sldId id="400" r:id="rId12"/>
    <p:sldId id="371" r:id="rId13"/>
    <p:sldId id="370" r:id="rId14"/>
    <p:sldId id="372" r:id="rId15"/>
    <p:sldId id="374" r:id="rId16"/>
    <p:sldId id="376" r:id="rId17"/>
    <p:sldId id="378" r:id="rId18"/>
    <p:sldId id="379" r:id="rId19"/>
    <p:sldId id="380" r:id="rId20"/>
    <p:sldId id="381" r:id="rId21"/>
    <p:sldId id="383" r:id="rId22"/>
    <p:sldId id="385" r:id="rId23"/>
    <p:sldId id="386" r:id="rId24"/>
    <p:sldId id="387" r:id="rId25"/>
    <p:sldId id="388" r:id="rId26"/>
    <p:sldId id="390" r:id="rId27"/>
    <p:sldId id="392" r:id="rId28"/>
    <p:sldId id="391" r:id="rId29"/>
    <p:sldId id="401" r:id="rId30"/>
    <p:sldId id="402" r:id="rId31"/>
    <p:sldId id="403" r:id="rId32"/>
  </p:sldIdLst>
  <p:sldSz cx="9144000" cy="6858000" type="screen4x3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6" autoAdjust="0"/>
    <p:restoredTop sz="86724" autoAdjust="0"/>
  </p:normalViewPr>
  <p:slideViewPr>
    <p:cSldViewPr snapToGrid="0">
      <p:cViewPr varScale="1">
        <p:scale>
          <a:sx n="91" d="100"/>
          <a:sy n="91" d="100"/>
        </p:scale>
        <p:origin x="228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1998" y="-90"/>
      </p:cViewPr>
      <p:guideLst>
        <p:guide orient="horz" pos="3024"/>
        <p:guide pos="230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0.xml"/><Relationship Id="rId13" Type="http://schemas.openxmlformats.org/officeDocument/2006/relationships/slide" Target="slides/slide15.xml"/><Relationship Id="rId18" Type="http://schemas.openxmlformats.org/officeDocument/2006/relationships/slide" Target="slides/slide20.xml"/><Relationship Id="rId26" Type="http://schemas.openxmlformats.org/officeDocument/2006/relationships/slide" Target="slides/slide28.xml"/><Relationship Id="rId3" Type="http://schemas.openxmlformats.org/officeDocument/2006/relationships/slide" Target="slides/slide5.xml"/><Relationship Id="rId21" Type="http://schemas.openxmlformats.org/officeDocument/2006/relationships/slide" Target="slides/slide23.xml"/><Relationship Id="rId7" Type="http://schemas.openxmlformats.org/officeDocument/2006/relationships/slide" Target="slides/slide9.xml"/><Relationship Id="rId12" Type="http://schemas.openxmlformats.org/officeDocument/2006/relationships/slide" Target="slides/slide14.xml"/><Relationship Id="rId17" Type="http://schemas.openxmlformats.org/officeDocument/2006/relationships/slide" Target="slides/slide19.xml"/><Relationship Id="rId25" Type="http://schemas.openxmlformats.org/officeDocument/2006/relationships/slide" Target="slides/slide27.xml"/><Relationship Id="rId2" Type="http://schemas.openxmlformats.org/officeDocument/2006/relationships/slide" Target="slides/slide4.xml"/><Relationship Id="rId16" Type="http://schemas.openxmlformats.org/officeDocument/2006/relationships/slide" Target="slides/slide18.xml"/><Relationship Id="rId20" Type="http://schemas.openxmlformats.org/officeDocument/2006/relationships/slide" Target="slides/slide22.xml"/><Relationship Id="rId29" Type="http://schemas.openxmlformats.org/officeDocument/2006/relationships/slide" Target="slides/slide31.xml"/><Relationship Id="rId1" Type="http://schemas.openxmlformats.org/officeDocument/2006/relationships/slide" Target="slides/slide3.xml"/><Relationship Id="rId6" Type="http://schemas.openxmlformats.org/officeDocument/2006/relationships/slide" Target="slides/slide8.xml"/><Relationship Id="rId11" Type="http://schemas.openxmlformats.org/officeDocument/2006/relationships/slide" Target="slides/slide13.xml"/><Relationship Id="rId24" Type="http://schemas.openxmlformats.org/officeDocument/2006/relationships/slide" Target="slides/slide26.xml"/><Relationship Id="rId5" Type="http://schemas.openxmlformats.org/officeDocument/2006/relationships/slide" Target="slides/slide7.xml"/><Relationship Id="rId15" Type="http://schemas.openxmlformats.org/officeDocument/2006/relationships/slide" Target="slides/slide17.xml"/><Relationship Id="rId23" Type="http://schemas.openxmlformats.org/officeDocument/2006/relationships/slide" Target="slides/slide25.xml"/><Relationship Id="rId28" Type="http://schemas.openxmlformats.org/officeDocument/2006/relationships/slide" Target="slides/slide30.xml"/><Relationship Id="rId10" Type="http://schemas.openxmlformats.org/officeDocument/2006/relationships/slide" Target="slides/slide12.xml"/><Relationship Id="rId19" Type="http://schemas.openxmlformats.org/officeDocument/2006/relationships/slide" Target="slides/slide21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4" Type="http://schemas.openxmlformats.org/officeDocument/2006/relationships/slide" Target="slides/slide16.xml"/><Relationship Id="rId22" Type="http://schemas.openxmlformats.org/officeDocument/2006/relationships/slide" Target="slides/slide24.xml"/><Relationship Id="rId27" Type="http://schemas.openxmlformats.org/officeDocument/2006/relationships/slide" Target="slides/slide2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D6C67553-9C60-833A-7524-8CD2F2BAD7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0" tIns="48664" rIns="97330" bIns="48664" numCol="1" anchor="t" anchorCtr="0" compatLnSpc="1">
            <a:prstTxWarp prst="textNoShape">
              <a:avLst/>
            </a:prstTxWarp>
          </a:bodyPr>
          <a:lstStyle>
            <a:lvl1pPr defTabSz="971550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C999AB7-8166-B893-2A0B-5E8133E6823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0" tIns="48664" rIns="97330" bIns="48664" numCol="1" anchor="t" anchorCtr="0" compatLnSpc="1">
            <a:prstTxWarp prst="textNoShape">
              <a:avLst/>
            </a:prstTxWarp>
          </a:bodyPr>
          <a:lstStyle>
            <a:lvl1pPr algn="r" defTabSz="971550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15C42DB8-199A-026B-E851-7A3159BABBB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0" tIns="48664" rIns="97330" bIns="48664" numCol="1" anchor="b" anchorCtr="0" compatLnSpc="1">
            <a:prstTxWarp prst="textNoShape">
              <a:avLst/>
            </a:prstTxWarp>
          </a:bodyPr>
          <a:lstStyle>
            <a:lvl1pPr defTabSz="971550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5FDF2CAD-E636-26FD-715C-8791E393262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0" tIns="48664" rIns="97330" bIns="48664" numCol="1" anchor="b" anchorCtr="0" compatLnSpc="1">
            <a:prstTxWarp prst="textNoShape">
              <a:avLst/>
            </a:prstTxWarp>
          </a:bodyPr>
          <a:lstStyle>
            <a:lvl1pPr algn="r" defTabSz="971550" eaLnBrk="1" hangingPunct="1">
              <a:defRPr sz="1300"/>
            </a:lvl1pPr>
          </a:lstStyle>
          <a:p>
            <a:pPr>
              <a:defRPr/>
            </a:pPr>
            <a:fld id="{1927F2F7-731D-1F40-A012-A0CF068E600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711B84A-882F-819D-20E0-3B2371DFCA0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0" tIns="48664" rIns="97330" bIns="48664" numCol="1" anchor="t" anchorCtr="0" compatLnSpc="1">
            <a:prstTxWarp prst="textNoShape">
              <a:avLst/>
            </a:prstTxWarp>
          </a:bodyPr>
          <a:lstStyle>
            <a:lvl1pPr defTabSz="971550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F533B86-F14C-EB74-54FB-FC1B6C1E01F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0" tIns="48664" rIns="97330" bIns="48664" numCol="1" anchor="t" anchorCtr="0" compatLnSpc="1">
            <a:prstTxWarp prst="textNoShape">
              <a:avLst/>
            </a:prstTxWarp>
          </a:bodyPr>
          <a:lstStyle>
            <a:lvl1pPr algn="r" defTabSz="971550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61420FFF-0EE6-89F1-A773-89D04C1579E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C33AA2D9-778A-ADA6-EFA3-678640576DF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8" y="4559300"/>
            <a:ext cx="717550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0" tIns="48664" rIns="97330" bIns="4866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1261D55E-71A3-9DA2-C6AA-7CAA510D304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0" tIns="48664" rIns="97330" bIns="48664" numCol="1" anchor="b" anchorCtr="0" compatLnSpc="1">
            <a:prstTxWarp prst="textNoShape">
              <a:avLst/>
            </a:prstTxWarp>
          </a:bodyPr>
          <a:lstStyle>
            <a:lvl1pPr defTabSz="971550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F4AC3FD0-7DC4-7E8E-FABF-3935A4D1EE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30" tIns="48664" rIns="97330" bIns="48664" numCol="1" anchor="b" anchorCtr="0" compatLnSpc="1">
            <a:prstTxWarp prst="textNoShape">
              <a:avLst/>
            </a:prstTxWarp>
          </a:bodyPr>
          <a:lstStyle>
            <a:lvl1pPr algn="r" defTabSz="971550" eaLnBrk="1" hangingPunct="1">
              <a:defRPr sz="1300"/>
            </a:lvl1pPr>
          </a:lstStyle>
          <a:p>
            <a:pPr>
              <a:defRPr/>
            </a:pPr>
            <a:fld id="{C541C96C-94B2-8E49-9309-CFF26A001CC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B317E282-D488-E2A4-113A-B6E1D5B72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248FA2B-F9A5-A440-9F56-AC9FAE5EF30A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C8F5542-AAF1-B893-20CF-BE8D077998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E5F5E74-7E06-40D1-806F-5412973E4F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b="1">
                <a:latin typeface="Arial" panose="020B0604020202020204" pitchFamily="34" charset="0"/>
              </a:rPr>
              <a:t>Analysis Procedure</a:t>
            </a:r>
            <a:r>
              <a:rPr lang="en-GB" altLang="en-US">
                <a:latin typeface="Arial" panose="020B0604020202020204" pitchFamily="34" charset="0"/>
              </a:rPr>
              <a:t>: </a:t>
            </a:r>
            <a:r>
              <a:rPr lang="en-GB" altLang="en-US" i="1">
                <a:latin typeface="Arial" panose="020B0604020202020204" pitchFamily="34" charset="0"/>
              </a:rPr>
              <a:t>Section 7.3</a:t>
            </a:r>
            <a:r>
              <a:rPr lang="en-GB" altLang="en-US">
                <a:latin typeface="Arial" panose="020B0604020202020204" pitchFamily="34" charset="0"/>
              </a:rPr>
              <a:t> of main textbook.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7D55F659-B0F1-30AE-52FE-CA0D3E8D54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FD00A2E-AACE-F84E-9CB4-670F539247B5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61E54F93-2DCF-4B49-9346-1C243C1015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93A6907-EBBE-0035-9105-EC83B2DFD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Generates an output without having an primary input</a:t>
            </a:r>
          </a:p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It has secondary inputs, usually fed back from FF output to FF inputs.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0200F3C4-B975-1F99-4B5D-51EB6D77EF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296F35-7942-F64C-95D0-11A8A79980FF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7AB32E2C-ABB6-742E-1B8D-46DC470E37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35CA611C-6DF4-2322-0A6F-31B0F5F912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Present states could be given or hints are given. First main part is to applying the characteristic eqn, find the inputs of flip-flop. 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**Find the inputs of the flip flop according to the next stages.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Draw the K map for expressions of each inputs of FF.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7721B483-AA11-82A0-40E6-BB8AE683B0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0A9D2E-5E61-8D4D-B6B5-3AE79AB33CCF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3678D4F4-AB91-B361-98E9-1418D729FC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91F80C80-2361-8E85-732F-521EE913B2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CC8D419B-2C50-3D09-87B3-6E5AA933F0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42D39E2-CB68-244D-8089-D7152BAE99C2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45E5D08C-2FD2-DC1F-B2BC-AA13F77DE3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27CCBEB-1A7B-B1F8-2EF7-815032EBA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D inputs </a:t>
            </a:r>
            <a:r>
              <a:rPr lang="en-US" altLang="en-US">
                <a:latin typeface="Arial" panose="020B0604020202020204" pitchFamily="34" charset="0"/>
              </a:rPr>
              <a:t>table part is avoided as it is actually same as Q*. DA=Q*A DB=Q*B DC=Q*C. Good practice is to make it. 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Qc is LSB.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9E23CE6-4A1D-8F52-E203-87BC32E9C5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3D14DB-E7AD-6B4D-BD6D-4E3936A6FD8A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C6438B7A-014E-5C1E-3AD4-3D8391CEE5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82A37CE-4390-016D-1D63-445F53D3BE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Da = Qa*</a:t>
            </a:r>
          </a:p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Group the 1’s and find out the simplest expression for DA DB and DC</a:t>
            </a:r>
          </a:p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B6F9ED06-2750-FD4B-7742-06C98E14F2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4BFF941-8A35-A34B-BE22-FCAD07D48696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B4B4213F-2AE4-E168-15A9-4261EBFE5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B4575DC-16AA-85B2-58B3-B0C4A6A80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459A1BE7-91AB-7CA2-C3A0-C92C5BA0BF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3AD047-532B-B542-9E17-A0816BA29CB5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E1B1D777-DF8F-0B80-AFA0-21354986C5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A7767BC-1423-7E2D-B1E7-C068E544FD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8F703674-52F5-E338-8259-AE6BC2A45E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B210F50-1D2E-4F45-A815-6BF5F9DF1469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6180AA2F-0EBB-6E76-6625-06AF80B3FE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D7E789B-BEBA-8BD9-E4E5-5F0B86AC26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B09F7BC2-6C4F-EDDE-B1BA-3A28581E1B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B8B8EA-D2C3-E343-AAD4-C625AD6D1741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2AEBCF4E-4449-E1C8-78D9-0409FE91D4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C90703D-D7DC-4DC8-7030-DFB6C9996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57C00DE5-B31A-C66F-7A90-327FC09F77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9307EC2-7C3F-1244-8940-A21A5DEDA82F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12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7F85DC98-A3DA-EB98-CCD6-E563EA098C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C8C702D-BD84-490C-CA99-9AF634DA0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051F07FC-A10F-060F-CFA9-34B375BB6C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7830696-8958-A64C-A886-A56D3613BFA8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13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51817B57-F785-8982-FDD9-FACA50CED8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4CFA418-07FA-CB60-6302-CE9A49C8E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B48D12F0-384D-8847-FDA9-C63C9918A1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145187A-9E33-4941-8377-CB728B56D8CD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9A9DBAC0-CBAD-A318-883A-744724C19D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71F2612-A34C-DD4F-3464-69C7F17FB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</a:rPr>
              <a:t>K Map for each FF inputs. 6 here. Ja Ka </a:t>
            </a:r>
            <a:r>
              <a:rPr lang="en-US" altLang="en-US" b="1" dirty="0" err="1">
                <a:latin typeface="Arial" panose="020B0604020202020204" pitchFamily="34" charset="0"/>
              </a:rPr>
              <a:t>Jb</a:t>
            </a:r>
            <a:r>
              <a:rPr lang="en-US" altLang="en-US" b="1" dirty="0">
                <a:latin typeface="Arial" panose="020B0604020202020204" pitchFamily="34" charset="0"/>
              </a:rPr>
              <a:t>……..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E4619C38-1A4B-F5E8-BEE7-EF9E7F2365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3C1F0A3-0AE8-CB45-8DD8-8EFDA0AB1AA2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15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B63D3E8A-1211-9B5F-48E6-61B61ECD5E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C1031DA-2C83-B5E1-0695-AD15009E2F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77BE8C04-83AC-CFF9-6227-B91E321F5C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81A7DB-16ED-1847-ABDA-ADC9698BB000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16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9428A46B-4EAA-F7F1-8A85-95167692B3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24694883-82A2-F200-C9B2-08D96CA832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50052657-5376-2A1D-3ABF-16DE89F7A9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6BB2F3-A322-DA4C-982B-E10DC80DD428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17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34586A2A-CB37-E063-436E-E2E579A440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C1E520A-62B6-2982-1BEF-7CF96FADC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Draw the circuit diagram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20FFDE78-CACE-F3F6-B718-81621994BB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D0B488-B60B-3F4D-84B7-B1FE16870A3D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18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03A7D86E-0138-ABBA-372B-3B9E0A3346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30E7550C-FF43-69AB-8D74-B720B41F4A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50FFA9B5-7420-4614-25CE-D65D8E305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A66BB6-C139-B14A-B739-6B410734FF7F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19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D78BD5E2-BF41-0184-F882-B515780FBA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FEF77F27-C666-C0F3-6B84-3C6B392B9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B1A7DDE0-384F-0D9A-B539-B54FCB1177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BD689DA-18C2-774D-B08A-62B350BD3A5E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20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F1D81201-CDE3-F0E2-C62D-28D5D224BA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C1D9163-53C6-F3CB-A369-4087E7FADD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C1EE7310-823C-6D66-9B39-29A831EFB2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011EF62-2A15-4742-940D-8FE9BB3E9745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21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90CA6759-CE0E-29BE-2704-4C334C3D20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B500248-D03D-FA85-1E97-8E42C1E52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351C2DBD-F4B7-F4D4-76BA-F12E18EBA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C0F8C53-E389-2640-B629-1111E818138B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22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5CA5A6D2-2288-B195-4524-157C245AE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00F3F62-94B1-12BB-657F-691D3863FB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8541F530-838B-91F6-5140-A4CA2F1249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14D0D44-947B-574C-8FFA-6DA86CA1A8CC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23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0B7ED061-50E3-FC5C-6CA1-242FA7DF78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EAA87A96-83EA-5345-46B4-A31AB5BDA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CD30A967-9775-11EF-A9DA-25DF5E7D0E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5E1A3F0-9D2A-104B-A271-C6E085A6357E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24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96E9463B-9078-EBD2-557D-18C0C8AD70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BEC0DBA2-A06A-57F1-DC6B-ED2D8A1F57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5495ADB0-717F-8667-5B52-D95B44F14B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FFE05C8-38C9-3142-938B-9FA328A6A979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25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C15C6A3B-322E-6F21-E159-0B2E8E8F06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F6114B7-3C3B-EEE8-6E41-1D228E3E6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286CE7F4-F660-8662-7459-E97B0867AD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EC00B9-BCA9-A141-A160-DD209CD81533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26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629A087A-8612-27A4-2AFD-7AE30DAFDB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0DC1F55-38DF-11B0-C76A-155C5279F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A477CCFD-C725-FF09-996D-9AAE00CE28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7B52F4-9856-034B-90BE-9269BE9B30F9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27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DC2FCCAC-CAA9-6815-6B72-F6B1C5F491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1756EE5D-003F-CF8E-17F9-635FF7C0E4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6C6EB82D-5051-6B21-6EC9-409E70243F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F612790-663B-7847-9876-572963BD07EE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28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C61569C0-8DF1-6C4C-8867-A206B1F1A8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633EB521-DB08-7CE5-6643-D62EB1DB05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9BD37EF2-9BA2-682D-E5C9-066864609E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118C30-F1E0-9141-A870-3857DB4C2D50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29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CCEDC15D-4DC5-DBF6-B76C-979B8D9E66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9332BA9C-B369-A20E-0A99-C807F8E78F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618D7C41-8577-EC19-7444-1CC5147833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7D4DA4A-EE15-2745-A841-5C7F7ACF70F5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30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BBC17398-E1EA-8491-E494-F6C902E2E0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7CA9F694-C18D-7DB0-1990-B68EE80BE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Arial" panose="020B0604020202020204" pitchFamily="34" charset="0"/>
              </a:rPr>
              <a:t>Analysis</a:t>
            </a:r>
            <a:r>
              <a:rPr lang="en-US" altLang="en-US">
                <a:latin typeface="Arial" panose="020B0604020202020204" pitchFamily="34" charset="0"/>
              </a:rPr>
              <a:t>: </a:t>
            </a:r>
            <a:r>
              <a:rPr lang="en-US" altLang="en-US" i="1">
                <a:latin typeface="Arial" panose="020B0604020202020204" pitchFamily="34" charset="0"/>
              </a:rPr>
              <a:t>circuit diagram</a:t>
            </a:r>
            <a:r>
              <a:rPr lang="en-US" altLang="en-US">
                <a:latin typeface="Arial" panose="020B0604020202020204" pitchFamily="34" charset="0"/>
              </a:rPr>
              <a:t> 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 </a:t>
            </a:r>
            <a:r>
              <a:rPr lang="en-US" altLang="en-US" i="1">
                <a:latin typeface="Arial" panose="020B0604020202020204" pitchFamily="34" charset="0"/>
                <a:sym typeface="Wingdings" pitchFamily="2" charset="2"/>
              </a:rPr>
              <a:t>state diagram</a:t>
            </a:r>
            <a:r>
              <a:rPr lang="en-US" altLang="en-US">
                <a:latin typeface="Arial" panose="020B0604020202020204" pitchFamily="34" charset="0"/>
                <a:sym typeface="Wingdings" pitchFamily="2" charset="2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653D84FD-E14B-61C4-7E2E-204A613C14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71550">
              <a:spcBef>
                <a:spcPct val="30000"/>
              </a:spcBef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71550" eaLnBrk="0" fontAlgn="base" hangingPunct="0">
              <a:spcBef>
                <a:spcPct val="3000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891E6C6-83AC-6C42-ABD1-A2C13B37D212}" type="slidenum">
              <a:rPr lang="en-GB" altLang="en-US" sz="13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31</a:t>
            </a:fld>
            <a:endParaRPr lang="en-GB" altLang="en-US" sz="1300">
              <a:latin typeface="Times New Roman" panose="02020603050405020304" pitchFamily="18" charset="0"/>
            </a:endParaRPr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7D25FA26-F017-EDCB-F92B-941E523371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0725"/>
            <a:ext cx="4799013" cy="3598863"/>
          </a:xfrm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3B863BB-4F84-04F1-DF78-9C7179C56E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 dirty="0">
                <a:latin typeface="Arial" panose="020B0604020202020204" pitchFamily="34" charset="0"/>
              </a:rPr>
              <a:t>Same as before. Put </a:t>
            </a:r>
            <a:r>
              <a:rPr lang="en-US" altLang="en-US" b="1" dirty="0" err="1">
                <a:latin typeface="Arial" panose="020B0604020202020204" pitchFamily="34" charset="0"/>
              </a:rPr>
              <a:t>QaQbQc</a:t>
            </a:r>
            <a:r>
              <a:rPr lang="en-US" altLang="en-US" b="1" dirty="0">
                <a:latin typeface="Arial" panose="020B0604020202020204" pitchFamily="34" charset="0"/>
              </a:rPr>
              <a:t> values in </a:t>
            </a:r>
            <a:r>
              <a:rPr lang="en-US" altLang="en-US" b="1" dirty="0" err="1">
                <a:latin typeface="Arial" panose="020B0604020202020204" pitchFamily="34" charset="0"/>
              </a:rPr>
              <a:t>TaTbTc</a:t>
            </a:r>
            <a:r>
              <a:rPr lang="en-US" altLang="en-US" b="1" dirty="0">
                <a:latin typeface="Arial" panose="020B0604020202020204" pitchFamily="34" charset="0"/>
              </a:rPr>
              <a:t> expressions. </a:t>
            </a:r>
          </a:p>
          <a:p>
            <a:pPr eaLnBrk="1" hangingPunct="1"/>
            <a:endParaRPr lang="en-US" altLang="en-US" b="1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en-US" b="1" dirty="0">
                <a:latin typeface="Arial" panose="020B0604020202020204" pitchFamily="34" charset="0"/>
              </a:rPr>
              <a:t>Extra: </a:t>
            </a:r>
            <a:r>
              <a:rPr lang="en-US" altLang="en-US" dirty="0">
                <a:latin typeface="Arial" panose="020B0604020202020204" pitchFamily="34" charset="0"/>
              </a:rPr>
              <a:t>Can you now design something which will keep displaying 2&gt;0&gt;1&gt;5?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010&gt;000&gt;001&gt;101</a:t>
            </a:r>
          </a:p>
          <a:p>
            <a:pPr eaLnBrk="1" hangingPunct="1"/>
            <a:r>
              <a:rPr lang="en-US" altLang="en-US" dirty="0">
                <a:latin typeface="Arial" panose="020B0604020202020204" pitchFamily="34" charset="0"/>
              </a:rPr>
              <a:t>Can you design  counter which will count 0-25, then repeat? 0000-0001 up to 1101-0000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BF7741CA-CED5-9C65-574C-B543DC50A12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260ED3-148B-7341-B5D4-2CE2BE83FC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2E8C6716-2085-C0A5-3D4D-21B0FCCB6E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626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F088A4EA-13A1-3142-D906-7F2FBC69942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29C0E-B4A4-BD40-A35B-9FF15D4F34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ED0BD749-13E4-596A-188F-077E45095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6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6AFAFA2A-F500-2FA5-EF94-67EE70CE3F5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D14E51-BA57-1747-88A5-434C4E1EB4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CC0F84D-DE0E-4A3F-6EED-299799B965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394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025" y="1484313"/>
            <a:ext cx="44418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7250" y="1484313"/>
            <a:ext cx="44418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BDA782A9-C396-DA69-4212-B9FE2D87624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05CFD0-3D57-DE4B-8686-3BE35E5ECB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CD6D552C-0A4A-5B8F-3D74-1F5882669C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616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61000221-E47C-CAA6-5808-CE9D33D403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B06BF1-676D-8248-B254-E12B21E5A4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28B82DF4-9CC7-C3FF-36BD-74C1F9B9B2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921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F3296335-3D39-2063-4E46-BE1265478AF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7E272-9417-D949-ACB0-7FAD752CF7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A7849568-0AA9-7447-E51C-38F4DB0078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18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33892AB8-D288-FDC0-0AC0-8C9C2276881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D81B3-C0E6-4546-B5D6-0B53F6E6F8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D7EE3E56-65EE-80A5-F03F-BB7017BAB4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783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CADDCD6D-7653-A1AF-3594-34F61974AC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7D931-0375-7845-8F6D-74B06A5504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91DDDAB6-3C4C-25A8-2AD8-2BCA37D55E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729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CFE61292-A705-9E46-B12C-C3E2235107C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8A3A7-710B-7844-BA31-5FECE3D2C2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EAB6DBAC-E8C3-7F02-C56F-4635C71A21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037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5FEEFD8B-0C49-CCAE-CC91-0830C3D3600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EFB36C-EE5A-074C-BB78-AAF6FF1DEC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12A49A23-82B4-D2A0-A9C9-322E2AC25C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736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0063" y="304800"/>
            <a:ext cx="2259012" cy="57515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025" y="304800"/>
            <a:ext cx="6624638" cy="57515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35ED857C-9CAF-179E-049D-F427F04D739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E9A58C-7D45-7B4A-89C1-B8AD30C681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EB3D8469-9CFC-775D-567C-7342476709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874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" y="304800"/>
            <a:ext cx="8856663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3025" y="1484313"/>
            <a:ext cx="4441825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7250" y="1484313"/>
            <a:ext cx="4441825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72851D4C-AC53-FD66-4205-71155FC90E8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A031EC-85E8-9C4E-952F-6FBB32392D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BF2B8826-19AA-C6D4-5DFD-4F0C6D8106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404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&amp;E intro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2EE990-19A0-120E-9A94-FD704F4F0934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733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08E37A-EC75-848F-4C81-A12B545972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5" y="620713"/>
            <a:ext cx="4376738" cy="1982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992982" y="3338513"/>
            <a:ext cx="5274469" cy="612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75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4" indent="0"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7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1012032" y="4229100"/>
            <a:ext cx="4769643" cy="3767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4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428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67D22405-D908-BBDF-B29A-433AD4E6BB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304800"/>
            <a:ext cx="88566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A3E1F7CC-F823-9DF3-3E0A-18D51B6E15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025" y="1484313"/>
            <a:ext cx="903605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0F0C4FC-8E1D-4185-8659-8DBE05C744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3563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8D3F25A-9139-9341-BF51-3AE90BE907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29" name="Group 11">
            <a:extLst>
              <a:ext uri="{FF2B5EF4-FFF2-40B4-BE49-F238E27FC236}">
                <a16:creationId xmlns:a16="http://schemas.microsoft.com/office/drawing/2014/main" id="{7ED2E180-D149-E131-6173-3F05483AEEC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19200"/>
            <a:ext cx="9132888" cy="152400"/>
            <a:chOff x="0" y="900"/>
            <a:chExt cx="6232" cy="96"/>
          </a:xfrm>
        </p:grpSpPr>
        <p:sp>
          <p:nvSpPr>
            <p:cNvPr id="1032" name="Rectangle 12">
              <a:extLst>
                <a:ext uri="{FF2B5EF4-FFF2-40B4-BE49-F238E27FC236}">
                  <a16:creationId xmlns:a16="http://schemas.microsoft.com/office/drawing/2014/main" id="{250CBFC0-0557-C112-908E-0BA037BD3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00"/>
              <a:ext cx="6232" cy="47"/>
            </a:xfrm>
            <a:prstGeom prst="rect">
              <a:avLst/>
            </a:prstGeom>
            <a:gradFill rotWithShape="0">
              <a:gsLst>
                <a:gs pos="0">
                  <a:srgbClr val="006060"/>
                </a:gs>
                <a:gs pos="50000">
                  <a:srgbClr val="00C0C0"/>
                </a:gs>
                <a:gs pos="100000">
                  <a:srgbClr val="006060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3" name="Rectangle 13">
              <a:extLst>
                <a:ext uri="{FF2B5EF4-FFF2-40B4-BE49-F238E27FC236}">
                  <a16:creationId xmlns:a16="http://schemas.microsoft.com/office/drawing/2014/main" id="{1E911983-E042-8AC4-BF75-3D36E2C89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72"/>
              <a:ext cx="6232" cy="24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pic>
        <p:nvPicPr>
          <p:cNvPr id="1030" name="Picture 14" descr="qmwlogo">
            <a:extLst>
              <a:ext uri="{FF2B5EF4-FFF2-40B4-BE49-F238E27FC236}">
                <a16:creationId xmlns:a16="http://schemas.microsoft.com/office/drawing/2014/main" id="{796A0070-DBFD-6639-31F5-69AA430664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6173788"/>
            <a:ext cx="18288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9" name="Rectangle 15">
            <a:extLst>
              <a:ext uri="{FF2B5EF4-FFF2-40B4-BE49-F238E27FC236}">
                <a16:creationId xmlns:a16="http://schemas.microsoft.com/office/drawing/2014/main" id="{21DF96E4-12B9-F50D-8FF2-7623A8423B9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381750"/>
            <a:ext cx="2895600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solidFill>
                  <a:srgbClr val="000099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EBU4202 © 2010/11</a:t>
            </a:r>
            <a:endParaRPr lang="en-US"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130BFF2-2843-44ED-87F5-FEA639DA1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88" y="435770"/>
            <a:ext cx="5157673" cy="238150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2561385"/>
            <a:ext cx="9144000" cy="1443679"/>
          </a:xfrm>
        </p:spPr>
        <p:txBody>
          <a:bodyPr/>
          <a:lstStyle/>
          <a:p>
            <a:pPr algn="ctr"/>
            <a:r>
              <a:rPr lang="en-US" sz="2600" dirty="0"/>
              <a:t>EBU4202: Digital Circuit Design </a:t>
            </a:r>
          </a:p>
          <a:p>
            <a:pPr algn="ctr"/>
            <a:r>
              <a:rPr lang="en-US" altLang="zh-CN" sz="2800" dirty="0"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Autonomous Sequential Circuit Design</a:t>
            </a:r>
          </a:p>
          <a:p>
            <a:pPr algn="ctr"/>
            <a:endParaRPr lang="en-US" altLang="zh-CN" sz="2800" dirty="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ctr"/>
            <a:endParaRPr lang="en-US" altLang="zh-CN" sz="2800" dirty="0"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1E15DC-8940-4A8F-8B1A-AD406E309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639" y="431680"/>
            <a:ext cx="5574727" cy="195477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A8736-CE26-64C8-D72A-D9FF3DF3F1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3933056"/>
            <a:ext cx="9144000" cy="1737000"/>
          </a:xfrm>
        </p:spPr>
        <p:txBody>
          <a:bodyPr/>
          <a:lstStyle/>
          <a:p>
            <a:pPr algn="ctr"/>
            <a:r>
              <a:rPr lang="en-US" sz="1625" dirty="0"/>
              <a:t>Dr. Md Hasanuzzaman Sagor (Hasan)</a:t>
            </a:r>
          </a:p>
          <a:p>
            <a:pPr algn="ctr"/>
            <a:r>
              <a:rPr lang="en-US" sz="1625" dirty="0"/>
              <a:t>Dr. Chao Shu (Chao)</a:t>
            </a:r>
          </a:p>
          <a:p>
            <a:pPr algn="ctr"/>
            <a:r>
              <a:rPr lang="en-US" sz="1625" dirty="0"/>
              <a:t>Dr. Farha Lakhani (Farha)</a:t>
            </a:r>
          </a:p>
          <a:p>
            <a:pPr algn="ctr"/>
            <a:r>
              <a:rPr lang="en-US" sz="1625" dirty="0"/>
              <a:t>Dr. Fatma </a:t>
            </a:r>
            <a:r>
              <a:rPr lang="en-US" sz="1625" dirty="0" err="1"/>
              <a:t>Benkhelifa</a:t>
            </a:r>
            <a:endParaRPr lang="en-US" sz="1625" dirty="0"/>
          </a:p>
          <a:p>
            <a:pPr algn="ctr"/>
            <a:endParaRPr lang="en-US" sz="1625" dirty="0"/>
          </a:p>
          <a:p>
            <a:pPr algn="ctr"/>
            <a:endParaRPr lang="en-US" sz="500" dirty="0"/>
          </a:p>
          <a:p>
            <a:pPr algn="ctr"/>
            <a:r>
              <a:rPr lang="en-US" sz="1625" dirty="0"/>
              <a:t>School of Electronic Engineering and Computer Science,</a:t>
            </a:r>
          </a:p>
          <a:p>
            <a:pPr algn="ctr"/>
            <a:r>
              <a:rPr lang="en-US" sz="1625" dirty="0"/>
              <a:t>Queen Mary University of London,</a:t>
            </a:r>
          </a:p>
          <a:p>
            <a:pPr algn="ctr"/>
            <a:r>
              <a:rPr lang="en-US" sz="1625" dirty="0"/>
              <a:t>London, United Kingdom.</a:t>
            </a:r>
          </a:p>
          <a:p>
            <a:pPr algn="ctr"/>
            <a:endParaRPr lang="en-GB" sz="1539" dirty="0"/>
          </a:p>
        </p:txBody>
      </p:sp>
    </p:spTree>
    <p:extLst>
      <p:ext uri="{BB962C8B-B14F-4D97-AF65-F5344CB8AC3E}">
        <p14:creationId xmlns:p14="http://schemas.microsoft.com/office/powerpoint/2010/main" val="3245115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4">
            <a:extLst>
              <a:ext uri="{FF2B5EF4-FFF2-40B4-BE49-F238E27FC236}">
                <a16:creationId xmlns:a16="http://schemas.microsoft.com/office/drawing/2014/main" id="{2DF9FC9A-505D-E6B2-1AFD-73BF0E2F9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D79F08-FE21-F142-ABF5-C753B412D02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18434" name="Text Box 16">
            <a:extLst>
              <a:ext uri="{FF2B5EF4-FFF2-40B4-BE49-F238E27FC236}">
                <a16:creationId xmlns:a16="http://schemas.microsoft.com/office/drawing/2014/main" id="{7C872C46-6BE6-EC0B-C348-6CB0C5565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4595813"/>
            <a:ext cx="381635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100" b="1">
                <a:solidFill>
                  <a:srgbClr val="990000"/>
                </a:solidFill>
              </a:rPr>
              <a:t>Chapter 7</a:t>
            </a:r>
            <a:r>
              <a:rPr lang="en-GB" altLang="en-US" sz="2100"/>
              <a:t> – “Digital Design: Principles and Practices” book</a:t>
            </a:r>
          </a:p>
        </p:txBody>
      </p:sp>
      <p:pic>
        <p:nvPicPr>
          <p:cNvPr id="18435" name="Picture 17" descr="MCj02804050000[1]">
            <a:extLst>
              <a:ext uri="{FF2B5EF4-FFF2-40B4-BE49-F238E27FC236}">
                <a16:creationId xmlns:a16="http://schemas.microsoft.com/office/drawing/2014/main" id="{64AE9D1B-C039-0AE6-26FF-933AEADED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813" y="4376738"/>
            <a:ext cx="1312862" cy="128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 Box 18">
            <a:extLst>
              <a:ext uri="{FF2B5EF4-FFF2-40B4-BE49-F238E27FC236}">
                <a16:creationId xmlns:a16="http://schemas.microsoft.com/office/drawing/2014/main" id="{68E439CD-30E8-4DDA-E199-A7AD8BD8F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657350"/>
            <a:ext cx="2246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/>
              <a:t>*  Introduction</a:t>
            </a:r>
          </a:p>
        </p:txBody>
      </p:sp>
      <p:sp>
        <p:nvSpPr>
          <p:cNvPr id="18437" name="Text Box 19">
            <a:extLst>
              <a:ext uri="{FF2B5EF4-FFF2-40B4-BE49-F238E27FC236}">
                <a16:creationId xmlns:a16="http://schemas.microsoft.com/office/drawing/2014/main" id="{31FBF5C3-7227-952D-7F58-DD1412F31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233613"/>
            <a:ext cx="309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/>
              <a:t>*  Bistable Elements</a:t>
            </a:r>
          </a:p>
        </p:txBody>
      </p:sp>
      <p:sp>
        <p:nvSpPr>
          <p:cNvPr id="18438" name="Text Box 20">
            <a:extLst>
              <a:ext uri="{FF2B5EF4-FFF2-40B4-BE49-F238E27FC236}">
                <a16:creationId xmlns:a16="http://schemas.microsoft.com/office/drawing/2014/main" id="{57408A39-4DD9-8A01-8B2A-78F6DF8389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809875"/>
            <a:ext cx="3465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/>
              <a:t>*  Latches &amp; Flip-Flops</a:t>
            </a:r>
          </a:p>
        </p:txBody>
      </p:sp>
      <p:sp>
        <p:nvSpPr>
          <p:cNvPr id="18439" name="Text Box 21">
            <a:extLst>
              <a:ext uri="{FF2B5EF4-FFF2-40B4-BE49-F238E27FC236}">
                <a16:creationId xmlns:a16="http://schemas.microsoft.com/office/drawing/2014/main" id="{7EF62DDB-01DB-83ED-3A56-FF7BE184C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386138"/>
            <a:ext cx="331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b="1"/>
              <a:t>*  Analysis Procedure</a:t>
            </a:r>
          </a:p>
        </p:txBody>
      </p:sp>
      <p:sp>
        <p:nvSpPr>
          <p:cNvPr id="4106" name="Text Box 22">
            <a:extLst>
              <a:ext uri="{FF2B5EF4-FFF2-40B4-BE49-F238E27FC236}">
                <a16:creationId xmlns:a16="http://schemas.microsoft.com/office/drawing/2014/main" id="{4B6A10E4-4D4F-65BD-7CB7-EDD0A3699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962400"/>
            <a:ext cx="3317875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en-GB" altLang="en-US" b="1" dirty="0"/>
              <a:t>*  Design Procedure</a:t>
            </a:r>
          </a:p>
        </p:txBody>
      </p:sp>
      <p:sp>
        <p:nvSpPr>
          <p:cNvPr id="18441" name="Rectangle 2">
            <a:extLst>
              <a:ext uri="{FF2B5EF4-FFF2-40B4-BE49-F238E27FC236}">
                <a16:creationId xmlns:a16="http://schemas.microsoft.com/office/drawing/2014/main" id="{5D1F8B72-4D15-53DB-5E92-4AB8BE91E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685800"/>
          </a:xfrm>
        </p:spPr>
        <p:txBody>
          <a:bodyPr/>
          <a:lstStyle/>
          <a:p>
            <a:pPr eaLnBrk="1" hangingPunct="1"/>
            <a:r>
              <a:rPr lang="en-US" altLang="en-US" sz="3200"/>
              <a:t>Overview: Autonomous Sequential Circuit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3">
            <a:extLst>
              <a:ext uri="{FF2B5EF4-FFF2-40B4-BE49-F238E27FC236}">
                <a16:creationId xmlns:a16="http://schemas.microsoft.com/office/drawing/2014/main" id="{7430EEAF-0566-1819-D732-5A4C74AD28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291E50-5411-DC40-B059-122D8366F55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08524719-BDED-F9A9-C193-339961685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Introduction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9D47868-5B40-C025-A8FB-8B7075152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3240087"/>
          </a:xfrm>
        </p:spPr>
        <p:txBody>
          <a:bodyPr/>
          <a:lstStyle/>
          <a:p>
            <a:pPr marL="533400" indent="-533400" eaLnBrk="1" hangingPunct="1"/>
            <a:r>
              <a:rPr lang="en-US" altLang="en-US" sz="2300"/>
              <a:t>Autonomous circuits do not have primary inputs, they have only secondaries (plus a clock signal).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r>
              <a:rPr lang="en-US" altLang="en-US" sz="2300"/>
              <a:t>Secondaries, form input circuits, and consist of combinational logic that feeds back from flip-flop outputs to  flip-flop inputs. 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r>
              <a:rPr lang="en-US" altLang="en-US" sz="2300"/>
              <a:t>There may also be output logic.</a:t>
            </a:r>
            <a:endParaRPr lang="en-GB" altLang="en-US"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3">
            <a:extLst>
              <a:ext uri="{FF2B5EF4-FFF2-40B4-BE49-F238E27FC236}">
                <a16:creationId xmlns:a16="http://schemas.microsoft.com/office/drawing/2014/main" id="{928ECAD5-5D73-9570-2C08-49DF369258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C0F0BF-5BFB-444A-B3CF-6A4C0A43C08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0731E06A-A554-E048-9D11-5D0568CF50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Introduction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50A85A5-D016-689B-8C21-F5E8EA054F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9036050" cy="4746625"/>
          </a:xfrm>
        </p:spPr>
        <p:txBody>
          <a:bodyPr/>
          <a:lstStyle/>
          <a:p>
            <a:pPr marL="0" indent="0" eaLnBrk="1" hangingPunct="1">
              <a:spcAft>
                <a:spcPts val="1000"/>
              </a:spcAft>
              <a:buFontTx/>
              <a:buNone/>
              <a:defRPr/>
            </a:pPr>
            <a:r>
              <a:rPr lang="en-US" altLang="en-US" sz="2300" b="1" dirty="0"/>
              <a:t>Method</a:t>
            </a:r>
          </a:p>
          <a:p>
            <a:pPr marL="457200" indent="-457200" eaLnBrk="1" hangingPunct="1">
              <a:spcAft>
                <a:spcPts val="1000"/>
              </a:spcAft>
              <a:buFontTx/>
              <a:buAutoNum type="arabicPeriod"/>
              <a:defRPr/>
            </a:pPr>
            <a:r>
              <a:rPr lang="en-US" altLang="en-US" sz="2300" dirty="0"/>
              <a:t>Draw-up a table of present and next states.**Need to take account of the characteristic equation of the flip-flop</a:t>
            </a:r>
          </a:p>
          <a:p>
            <a:pPr marL="457200" indent="-457200" eaLnBrk="1" hangingPunct="1">
              <a:spcAft>
                <a:spcPts val="1000"/>
              </a:spcAft>
              <a:buFontTx/>
              <a:buAutoNum type="arabicPeriod"/>
              <a:defRPr/>
            </a:pPr>
            <a:r>
              <a:rPr lang="en-US" altLang="en-US" sz="2300" dirty="0"/>
              <a:t>Draw a Karnaugh map for each next state output in terms of the present state.</a:t>
            </a:r>
          </a:p>
          <a:p>
            <a:pPr marL="457200" indent="-457200" eaLnBrk="1" hangingPunct="1">
              <a:spcAft>
                <a:spcPts val="1000"/>
              </a:spcAft>
              <a:buFontTx/>
              <a:buAutoNum type="arabicPeriod"/>
              <a:defRPr/>
            </a:pPr>
            <a:r>
              <a:rPr lang="en-US" altLang="en-US" sz="2300" dirty="0" err="1"/>
              <a:t>Minimise</a:t>
            </a:r>
            <a:r>
              <a:rPr lang="en-US" altLang="en-US" sz="2300" dirty="0"/>
              <a:t> the logic using Karnaugh map simplification techniques.</a:t>
            </a:r>
          </a:p>
          <a:p>
            <a:pPr marL="457200" indent="-457200" eaLnBrk="1" hangingPunct="1">
              <a:spcAft>
                <a:spcPts val="1000"/>
              </a:spcAft>
              <a:buFontTx/>
              <a:buAutoNum type="arabicPeriod"/>
              <a:defRPr/>
            </a:pPr>
            <a:r>
              <a:rPr lang="en-US" altLang="en-US" sz="2300" dirty="0"/>
              <a:t>Draw-up the corresponding circuit diagram for the FSM.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3">
            <a:extLst>
              <a:ext uri="{FF2B5EF4-FFF2-40B4-BE49-F238E27FC236}">
                <a16:creationId xmlns:a16="http://schemas.microsoft.com/office/drawing/2014/main" id="{39FF845F-F0B4-1506-CC4F-A3B378C80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A501CF-4E07-1F4D-8127-8581E49DA8B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7CEECFDD-C008-0BB9-115E-6BAB4903D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1: D-type flip-flop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529E414-E721-3F4A-1BF6-9E3346A4C1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743450"/>
          </a:xfrm>
        </p:spPr>
        <p:txBody>
          <a:bodyPr/>
          <a:lstStyle/>
          <a:p>
            <a:pPr marL="533400" indent="-533400" eaLnBrk="1" hangingPunct="1"/>
            <a:r>
              <a:rPr lang="en-US" altLang="en-US" sz="2300"/>
              <a:t>Design an autonomous sequential circuit using D-type flip-flops to generate the following sequence of states: 001, 100, 010, 101, 110, 111, 011.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r>
              <a:rPr lang="en-US" altLang="en-US" sz="2300"/>
              <a:t>Step 1 – Complete a table of present and next states.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r>
              <a:rPr lang="en-US" altLang="en-US" sz="2300"/>
              <a:t>To complete this task we need to consider the functional operation (i.e. the characteristic equation) of the flip-flop used.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r>
              <a:rPr lang="en-US" altLang="en-US" sz="2300"/>
              <a:t>D-type flip-flops have been used. So, input to A flip-flop, i.e. D</a:t>
            </a:r>
            <a:r>
              <a:rPr lang="en-US" altLang="en-US" sz="2300" baseline="-25000"/>
              <a:t>A</a:t>
            </a:r>
            <a:r>
              <a:rPr lang="en-US" altLang="en-US" sz="2300"/>
              <a:t>, is equal to next state of A flip-flop Q</a:t>
            </a:r>
            <a:r>
              <a:rPr lang="en-US" altLang="en-US" sz="2300" baseline="-25000"/>
              <a:t>A</a:t>
            </a:r>
            <a:r>
              <a:rPr lang="en-US" altLang="en-US" sz="2300"/>
              <a:t>* i.e.: D</a:t>
            </a:r>
            <a:r>
              <a:rPr lang="en-US" altLang="en-US" sz="2300" baseline="-25000"/>
              <a:t>A</a:t>
            </a:r>
            <a:r>
              <a:rPr lang="en-US" altLang="en-US" sz="2300"/>
              <a:t> = Q</a:t>
            </a:r>
            <a:r>
              <a:rPr lang="en-US" altLang="en-US" sz="2300" baseline="-25000"/>
              <a:t>A</a:t>
            </a:r>
            <a:r>
              <a:rPr lang="en-US" altLang="en-US" sz="2300"/>
              <a:t>*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GB" altLang="en-US"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3">
            <a:extLst>
              <a:ext uri="{FF2B5EF4-FFF2-40B4-BE49-F238E27FC236}">
                <a16:creationId xmlns:a16="http://schemas.microsoft.com/office/drawing/2014/main" id="{99CD2F62-410D-C96C-3D35-073A95F61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035638-7F74-2744-A726-E3CED02F579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D74A493C-C3F0-CE34-0ED8-21BFC4571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1: D-type flip-flop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26E79D8-2486-659D-0876-430BE40F39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141787"/>
          </a:xfrm>
        </p:spPr>
        <p:txBody>
          <a:bodyPr/>
          <a:lstStyle/>
          <a:p>
            <a:pPr marL="533400" indent="-533400" eaLnBrk="1" hangingPunct="1"/>
            <a:r>
              <a:rPr lang="en-US" altLang="en-US" sz="2300"/>
              <a:t>The table of present and next states is given below.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r>
              <a:rPr lang="en-US" altLang="en-US" sz="2300"/>
              <a:t>Step 2 – Draw a Karnaugh map for each next output state in terms of the present state.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GB" altLang="en-US" sz="2300"/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BF6EDF0B-67C3-4CBF-DF98-5AC22A5519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2157413"/>
            <a:ext cx="596265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A9507D0-8FE6-EAC5-EF23-667B5D4D8A82}"/>
              </a:ext>
            </a:extLst>
          </p:cNvPr>
          <p:cNvGrpSpPr>
            <a:grpSpLocks/>
          </p:cNvGrpSpPr>
          <p:nvPr/>
        </p:nvGrpSpPr>
        <p:grpSpPr bwMode="auto">
          <a:xfrm>
            <a:off x="6149975" y="2095500"/>
            <a:ext cx="3011488" cy="2405063"/>
            <a:chOff x="6150279" y="2095305"/>
            <a:chExt cx="3010629" cy="2405780"/>
          </a:xfrm>
        </p:grpSpPr>
        <p:pic>
          <p:nvPicPr>
            <p:cNvPr id="26630" name="Picture 3">
              <a:extLst>
                <a:ext uri="{FF2B5EF4-FFF2-40B4-BE49-F238E27FC236}">
                  <a16:creationId xmlns:a16="http://schemas.microsoft.com/office/drawing/2014/main" id="{E89E9008-0E68-B78D-7DFC-B995B62A96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509"/>
            <a:stretch>
              <a:fillRect/>
            </a:stretch>
          </p:blipFill>
          <p:spPr bwMode="auto">
            <a:xfrm>
              <a:off x="6150279" y="2157935"/>
              <a:ext cx="3010629" cy="2343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1F524E0-91D0-1A28-0555-42CE2A860502}"/>
                </a:ext>
              </a:extLst>
            </p:cNvPr>
            <p:cNvSpPr/>
            <p:nvPr/>
          </p:nvSpPr>
          <p:spPr>
            <a:xfrm>
              <a:off x="6777163" y="2233459"/>
              <a:ext cx="1641007" cy="1619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GB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059A30-CAC6-D34D-7EFA-AE9FABCA55BA}"/>
                </a:ext>
              </a:extLst>
            </p:cNvPr>
            <p:cNvSpPr/>
            <p:nvPr/>
          </p:nvSpPr>
          <p:spPr>
            <a:xfrm>
              <a:off x="6418490" y="2473243"/>
              <a:ext cx="2412312" cy="208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GB" dirty="0"/>
            </a:p>
          </p:txBody>
        </p:sp>
        <p:sp>
          <p:nvSpPr>
            <p:cNvPr id="26633" name="TextBox 3">
              <a:extLst>
                <a:ext uri="{FF2B5EF4-FFF2-40B4-BE49-F238E27FC236}">
                  <a16:creationId xmlns:a16="http://schemas.microsoft.com/office/drawing/2014/main" id="{4FCE3C4C-FB38-864C-D825-EE662E673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5670" y="2095305"/>
              <a:ext cx="2772906" cy="661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D inputs</a:t>
              </a:r>
              <a:br>
                <a:rPr lang="en-US" altLang="en-US" sz="2000">
                  <a:latin typeface="Times New Roman" panose="02020603050405020304" pitchFamily="18" charset="0"/>
                </a:rPr>
              </a:br>
              <a:r>
                <a:rPr lang="en-US" altLang="en-US" sz="1700">
                  <a:latin typeface="Times New Roman" panose="02020603050405020304" pitchFamily="18" charset="0"/>
                </a:rPr>
                <a:t>D</a:t>
              </a:r>
              <a:r>
                <a:rPr lang="en-US" altLang="en-US" sz="1700" baseline="-25000">
                  <a:latin typeface="Times New Roman" panose="02020603050405020304" pitchFamily="18" charset="0"/>
                </a:rPr>
                <a:t>A</a:t>
              </a:r>
              <a:r>
                <a:rPr lang="en-US" altLang="en-US" sz="1700">
                  <a:latin typeface="Times New Roman" panose="02020603050405020304" pitchFamily="18" charset="0"/>
                </a:rPr>
                <a:t>              D</a:t>
              </a:r>
              <a:r>
                <a:rPr lang="en-US" altLang="en-US" sz="1700" baseline="-25000">
                  <a:latin typeface="Times New Roman" panose="02020603050405020304" pitchFamily="18" charset="0"/>
                </a:rPr>
                <a:t>B</a:t>
              </a:r>
              <a:r>
                <a:rPr lang="en-US" altLang="en-US" sz="1700">
                  <a:latin typeface="Times New Roman" panose="02020603050405020304" pitchFamily="18" charset="0"/>
                </a:rPr>
                <a:t>              D</a:t>
              </a:r>
              <a:r>
                <a:rPr lang="en-US" altLang="en-US" sz="1700" baseline="-25000">
                  <a:latin typeface="Times New Roman" panose="02020603050405020304" pitchFamily="18" charset="0"/>
                </a:rPr>
                <a:t>C</a:t>
              </a:r>
              <a:endParaRPr lang="en-GB" altLang="en-US" sz="1700" baseline="-25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8">
            <a:extLst>
              <a:ext uri="{FF2B5EF4-FFF2-40B4-BE49-F238E27FC236}">
                <a16:creationId xmlns:a16="http://schemas.microsoft.com/office/drawing/2014/main" id="{095E2702-FB7D-A042-F005-D22E61DC1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4060825"/>
            <a:ext cx="6221412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4" name="Picture 5">
            <a:extLst>
              <a:ext uri="{FF2B5EF4-FFF2-40B4-BE49-F238E27FC236}">
                <a16:creationId xmlns:a16="http://schemas.microsoft.com/office/drawing/2014/main" id="{8F2AAFCB-8F67-30F5-F38D-AC055A6491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1570038"/>
            <a:ext cx="6221412" cy="162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A98339-B809-8BBC-8913-F9D6CA5CE3C5}"/>
              </a:ext>
            </a:extLst>
          </p:cNvPr>
          <p:cNvSpPr/>
          <p:nvPr/>
        </p:nvSpPr>
        <p:spPr>
          <a:xfrm>
            <a:off x="419100" y="3098800"/>
            <a:ext cx="1409700" cy="4968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23EAD161-E150-D149-B0F3-781A543EB3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148478-9658-3747-9A93-B4B3B145FB6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D0607CB3-C192-FF58-4421-738D12A88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1: D-type flip-flop</a:t>
            </a:r>
          </a:p>
        </p:txBody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E1783BA6-E8AD-E728-2598-F7C6BC7FE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3" y="3071813"/>
            <a:ext cx="8856662" cy="3070225"/>
          </a:xfrm>
        </p:spPr>
        <p:txBody>
          <a:bodyPr/>
          <a:lstStyle/>
          <a:p>
            <a:pPr marL="533400" indent="-533400" eaLnBrk="1" hangingPunct="1"/>
            <a:r>
              <a:rPr lang="en-US" altLang="en-US" sz="2300"/>
              <a:t>Q</a:t>
            </a:r>
            <a:r>
              <a:rPr lang="en-US" altLang="en-US" sz="2300" baseline="-25000"/>
              <a:t>A</a:t>
            </a:r>
            <a:r>
              <a:rPr lang="en-US" altLang="en-US" sz="2300"/>
              <a:t>* = D</a:t>
            </a:r>
            <a:r>
              <a:rPr lang="en-US" altLang="en-US" sz="2300" baseline="-25000"/>
              <a:t>A</a:t>
            </a:r>
            <a:r>
              <a:rPr lang="en-US" altLang="en-US" sz="2300"/>
              <a:t> = Q</a:t>
            </a:r>
            <a:r>
              <a:rPr lang="en-US" altLang="en-US" sz="2300" baseline="-25000"/>
              <a:t>B</a:t>
            </a:r>
            <a:r>
              <a:rPr lang="en-US" altLang="en-US" sz="2300"/>
              <a:t>Q</a:t>
            </a:r>
            <a:r>
              <a:rPr lang="en-US" altLang="en-US" sz="2300" baseline="-25000"/>
              <a:t>C</a:t>
            </a:r>
            <a:r>
              <a:rPr lang="en-US" altLang="en-US" sz="2300"/>
              <a:t>’ + Q</a:t>
            </a:r>
            <a:r>
              <a:rPr lang="en-US" altLang="en-US" sz="2300" baseline="-25000"/>
              <a:t>B</a:t>
            </a:r>
            <a:r>
              <a:rPr lang="en-US" altLang="en-US" sz="2300"/>
              <a:t>’Q</a:t>
            </a:r>
            <a:r>
              <a:rPr lang="en-US" altLang="en-US" sz="2300" baseline="-25000"/>
              <a:t>C</a:t>
            </a:r>
            <a:r>
              <a:rPr lang="en-US" altLang="en-US" sz="2300" baseline="30000"/>
              <a:t> </a:t>
            </a:r>
            <a:r>
              <a:rPr lang="en-US" altLang="en-US" sz="2300"/>
              <a:t>= Q</a:t>
            </a:r>
            <a:r>
              <a:rPr lang="en-US" altLang="en-US" sz="2300" baseline="-25000"/>
              <a:t>B</a:t>
            </a:r>
            <a:r>
              <a:rPr lang="en-US" altLang="en-US" sz="2300"/>
              <a:t> </a:t>
            </a:r>
            <a:r>
              <a:rPr lang="en-US" altLang="en-US" sz="2300">
                <a:sym typeface="Symbol" pitchFamily="2" charset="2"/>
              </a:rPr>
              <a:t> Q</a:t>
            </a:r>
            <a:r>
              <a:rPr lang="en-US" altLang="en-US" sz="2300" baseline="-25000"/>
              <a:t>C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r>
              <a:rPr lang="en-US" altLang="en-US" sz="2300"/>
              <a:t>Q</a:t>
            </a:r>
            <a:r>
              <a:rPr lang="en-US" altLang="en-US" sz="2300" baseline="-25000"/>
              <a:t>B</a:t>
            </a:r>
            <a:r>
              <a:rPr lang="en-US" altLang="en-US" sz="2300"/>
              <a:t>*</a:t>
            </a:r>
            <a:r>
              <a:rPr lang="en-GB" altLang="en-US" sz="2300"/>
              <a:t> = D</a:t>
            </a:r>
            <a:r>
              <a:rPr lang="en-GB" altLang="en-US" sz="2300" baseline="-25000"/>
              <a:t>B </a:t>
            </a:r>
            <a:r>
              <a:rPr lang="en-GB" altLang="en-US" sz="2300"/>
              <a:t>= </a:t>
            </a:r>
            <a:r>
              <a:rPr lang="en-US" altLang="en-US" sz="2300"/>
              <a:t>Q</a:t>
            </a:r>
            <a:r>
              <a:rPr lang="en-US" altLang="en-US" sz="2300" baseline="-25000"/>
              <a:t>A</a:t>
            </a:r>
            <a:endParaRPr lang="en-GB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</p:txBody>
      </p:sp>
      <p:sp>
        <p:nvSpPr>
          <p:cNvPr id="4" name="Line Callout 2 3">
            <a:extLst>
              <a:ext uri="{FF2B5EF4-FFF2-40B4-BE49-F238E27FC236}">
                <a16:creationId xmlns:a16="http://schemas.microsoft.com/office/drawing/2014/main" id="{7557663E-F44A-B98B-FCF2-2510799A8312}"/>
              </a:ext>
            </a:extLst>
          </p:cNvPr>
          <p:cNvSpPr/>
          <p:nvPr/>
        </p:nvSpPr>
        <p:spPr>
          <a:xfrm>
            <a:off x="2914650" y="3514725"/>
            <a:ext cx="3346450" cy="468313"/>
          </a:xfrm>
          <a:prstGeom prst="borderCallout2">
            <a:avLst>
              <a:gd name="adj1" fmla="val 22068"/>
              <a:gd name="adj2" fmla="val 548"/>
              <a:gd name="adj3" fmla="val 18750"/>
              <a:gd name="adj4" fmla="val -16667"/>
              <a:gd name="adj5" fmla="val -15678"/>
              <a:gd name="adj6" fmla="val -315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33400" indent="-533400" eaLnBrk="1" hangingPunct="1">
              <a:defRPr/>
            </a:pPr>
            <a:r>
              <a:rPr lang="en-US" altLang="en-US" dirty="0"/>
              <a:t>Characteristic equation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AAFB13B-30DF-6C9C-33D6-BF32E1676683}"/>
              </a:ext>
            </a:extLst>
          </p:cNvPr>
          <p:cNvSpPr/>
          <p:nvPr/>
        </p:nvSpPr>
        <p:spPr>
          <a:xfrm>
            <a:off x="3819525" y="2247900"/>
            <a:ext cx="2047875" cy="40005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27FA86D9-0A82-B39A-4501-3A67C63A7F3C}"/>
              </a:ext>
            </a:extLst>
          </p:cNvPr>
          <p:cNvSpPr/>
          <p:nvPr/>
        </p:nvSpPr>
        <p:spPr>
          <a:xfrm>
            <a:off x="2570163" y="2611438"/>
            <a:ext cx="1038225" cy="409575"/>
          </a:xfrm>
          <a:prstGeom prst="arc">
            <a:avLst>
              <a:gd name="adj1" fmla="val 16200000"/>
              <a:gd name="adj2" fmla="val 5768055"/>
            </a:avLst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5C8E18AB-EC63-BC67-BF39-DB6EED2AE35E}"/>
              </a:ext>
            </a:extLst>
          </p:cNvPr>
          <p:cNvSpPr/>
          <p:nvPr/>
        </p:nvSpPr>
        <p:spPr>
          <a:xfrm flipH="1">
            <a:off x="6067425" y="2609850"/>
            <a:ext cx="1038225" cy="409575"/>
          </a:xfrm>
          <a:prstGeom prst="arc">
            <a:avLst>
              <a:gd name="adj1" fmla="val 16200000"/>
              <a:gd name="adj2" fmla="val 5768055"/>
            </a:avLst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AB8C00-F319-4A76-6130-39E45790AD34}"/>
              </a:ext>
            </a:extLst>
          </p:cNvPr>
          <p:cNvSpPr/>
          <p:nvPr/>
        </p:nvSpPr>
        <p:spPr>
          <a:xfrm>
            <a:off x="4843463" y="4770438"/>
            <a:ext cx="2047875" cy="68897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3" grpId="0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3">
            <a:extLst>
              <a:ext uri="{FF2B5EF4-FFF2-40B4-BE49-F238E27FC236}">
                <a16:creationId xmlns:a16="http://schemas.microsoft.com/office/drawing/2014/main" id="{BEC45B2E-7E63-2912-FAB1-F718D99286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2C35E2-C28E-5A4A-91E7-B68CDC3CD8E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47E5D228-7792-EB82-B080-30EAECED6B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1: D-type flip-flop</a:t>
            </a:r>
          </a:p>
        </p:txBody>
      </p:sp>
      <p:pic>
        <p:nvPicPr>
          <p:cNvPr id="30723" name="Picture 1">
            <a:extLst>
              <a:ext uri="{FF2B5EF4-FFF2-40B4-BE49-F238E27FC236}">
                <a16:creationId xmlns:a16="http://schemas.microsoft.com/office/drawing/2014/main" id="{BC137A36-4846-7FDA-390B-54B7668CA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5" y="1554163"/>
            <a:ext cx="6213475" cy="162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731E2EF-E2C1-147C-21C2-5696133AE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098800"/>
            <a:ext cx="8856663" cy="612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533400" indent="-533400" eaLnBrk="1" hangingPunct="1">
              <a:defRPr/>
            </a:pPr>
            <a:r>
              <a:rPr lang="en-US" altLang="en-US" sz="2300" dirty="0"/>
              <a:t>Q</a:t>
            </a:r>
            <a:r>
              <a:rPr lang="en-US" altLang="en-US" sz="2300" baseline="-25000" dirty="0"/>
              <a:t>C</a:t>
            </a:r>
            <a:r>
              <a:rPr lang="en-US" altLang="en-US" sz="2300" dirty="0"/>
              <a:t>*</a:t>
            </a:r>
            <a:r>
              <a:rPr lang="en-GB" altLang="en-US" sz="2300" dirty="0"/>
              <a:t> = D</a:t>
            </a:r>
            <a:r>
              <a:rPr lang="en-GB" altLang="en-US" sz="2300" baseline="-25000" dirty="0"/>
              <a:t>C </a:t>
            </a:r>
            <a:r>
              <a:rPr lang="en-GB" altLang="en-US" sz="2300" dirty="0"/>
              <a:t>= </a:t>
            </a:r>
            <a:r>
              <a:rPr lang="en-US" altLang="en-US" sz="2300" dirty="0"/>
              <a:t>Q</a:t>
            </a:r>
            <a:r>
              <a:rPr lang="en-US" altLang="en-US" sz="2300" baseline="-25000" dirty="0"/>
              <a:t>B</a:t>
            </a:r>
            <a:endParaRPr lang="en-GB" altLang="en-US" sz="2300" dirty="0"/>
          </a:p>
          <a:p>
            <a:pPr marL="533400" indent="-533400" eaLnBrk="1" hangingPunct="1">
              <a:defRPr/>
            </a:pPr>
            <a:endParaRPr lang="en-US" altLang="en-US" sz="2300" kern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3B7B7B-C58E-8F0D-4AFE-2BCE18D01798}"/>
              </a:ext>
            </a:extLst>
          </p:cNvPr>
          <p:cNvSpPr/>
          <p:nvPr/>
        </p:nvSpPr>
        <p:spPr>
          <a:xfrm>
            <a:off x="3827463" y="2241550"/>
            <a:ext cx="2046287" cy="68897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3">
            <a:extLst>
              <a:ext uri="{FF2B5EF4-FFF2-40B4-BE49-F238E27FC236}">
                <a16:creationId xmlns:a16="http://schemas.microsoft.com/office/drawing/2014/main" id="{8462F444-4D76-060A-1B8F-8DB1EE9CA4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024688" y="64008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264620-F43A-AA45-BFE0-3AB95C44F8C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191FD7A-CAC2-9671-CE46-09473C376D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1: D-type flip-flop</a:t>
            </a:r>
          </a:p>
        </p:txBody>
      </p:sp>
      <p:pic>
        <p:nvPicPr>
          <p:cNvPr id="32771" name="Picture 4">
            <a:extLst>
              <a:ext uri="{FF2B5EF4-FFF2-40B4-BE49-F238E27FC236}">
                <a16:creationId xmlns:a16="http://schemas.microsoft.com/office/drawing/2014/main" id="{F6DC6C1E-20B9-96A6-8067-C41471621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8" y="2092325"/>
            <a:ext cx="7415212" cy="354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TextBox 1">
            <a:extLst>
              <a:ext uri="{FF2B5EF4-FFF2-40B4-BE49-F238E27FC236}">
                <a16:creationId xmlns:a16="http://schemas.microsoft.com/office/drawing/2014/main" id="{EA9C65C8-9AD9-8670-F925-77121CE13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6525" y="3663950"/>
            <a:ext cx="333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773" name="TextBox 6">
            <a:extLst>
              <a:ext uri="{FF2B5EF4-FFF2-40B4-BE49-F238E27FC236}">
                <a16:creationId xmlns:a16="http://schemas.microsoft.com/office/drawing/2014/main" id="{BE099B95-9451-A5D9-6872-87F562D46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450" y="3703638"/>
            <a:ext cx="333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32774" name="TextBox 7">
            <a:extLst>
              <a:ext uri="{FF2B5EF4-FFF2-40B4-BE49-F238E27FC236}">
                <a16:creationId xmlns:a16="http://schemas.microsoft.com/office/drawing/2014/main" id="{5C717633-EF17-D9BF-F8C2-306274669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1288" y="3703638"/>
            <a:ext cx="333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775" name="TextBox 8">
            <a:extLst>
              <a:ext uri="{FF2B5EF4-FFF2-40B4-BE49-F238E27FC236}">
                <a16:creationId xmlns:a16="http://schemas.microsoft.com/office/drawing/2014/main" id="{5C2E3B3F-FBAB-9751-5F0B-F1DDBFEAA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0213" y="3703638"/>
            <a:ext cx="333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32776" name="TextBox 9">
            <a:extLst>
              <a:ext uri="{FF2B5EF4-FFF2-40B4-BE49-F238E27FC236}">
                <a16:creationId xmlns:a16="http://schemas.microsoft.com/office/drawing/2014/main" id="{72D31313-FEC2-E3FD-9175-AA042B543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1463" y="3703638"/>
            <a:ext cx="333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32777" name="TextBox 10">
            <a:extLst>
              <a:ext uri="{FF2B5EF4-FFF2-40B4-BE49-F238E27FC236}">
                <a16:creationId xmlns:a16="http://schemas.microsoft.com/office/drawing/2014/main" id="{64660CA0-B5AF-D98A-3F77-27B041853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8450" y="3703638"/>
            <a:ext cx="333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2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5C3A10D-81F0-7F90-A0D7-B7DAB71B2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484313"/>
            <a:ext cx="8856663" cy="6064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GB" kern="0" dirty="0"/>
              <a:t>Step 4 – W</a:t>
            </a:r>
            <a:r>
              <a:rPr lang="en-US" kern="0" dirty="0"/>
              <a:t>e can now draw the circuit diagram for the FSM.</a:t>
            </a:r>
            <a:endParaRPr lang="en-GB" altLang="en-US" sz="2300" kern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3">
            <a:extLst>
              <a:ext uri="{FF2B5EF4-FFF2-40B4-BE49-F238E27FC236}">
                <a16:creationId xmlns:a16="http://schemas.microsoft.com/office/drawing/2014/main" id="{EA1CB4BB-78BE-49ED-078D-38182A440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3C8395-F75F-504C-AFD9-485C4B73629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8379AE22-F960-D1BC-A9CE-B441FFCA4B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2: JK flip-flop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03367FF-B1DB-4A44-A1BA-7C7FA054E0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2517775"/>
          </a:xfrm>
        </p:spPr>
        <p:txBody>
          <a:bodyPr/>
          <a:lstStyle/>
          <a:p>
            <a:pPr marL="533400" indent="-533400" eaLnBrk="1" hangingPunct="1"/>
            <a:r>
              <a:rPr lang="en-US" altLang="en-US" sz="2300"/>
              <a:t>Design a 3 bit binary counter using JK flip-flops.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r>
              <a:rPr lang="en-US" altLang="en-US" sz="2300"/>
              <a:t>We need 3 flip-flops, one for each bit.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r>
              <a:rPr lang="en-US" altLang="en-US" sz="2300"/>
              <a:t>Let’s recap. the steps in the method</a:t>
            </a:r>
            <a:endParaRPr lang="en-GB" altLang="en-US"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3">
            <a:extLst>
              <a:ext uri="{FF2B5EF4-FFF2-40B4-BE49-F238E27FC236}">
                <a16:creationId xmlns:a16="http://schemas.microsoft.com/office/drawing/2014/main" id="{44046952-6EB0-5979-BBA8-C8086AD2D7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BF806E-753E-B54B-AF44-E6A6D34766C4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DCFAC6D-646C-6A14-A57D-0303B09F5B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2: JK flip-flop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9FA164F-BAB2-6EB4-BE9E-0EA71F958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746625"/>
          </a:xfrm>
        </p:spPr>
        <p:txBody>
          <a:bodyPr/>
          <a:lstStyle/>
          <a:p>
            <a:pPr marL="0" indent="0" eaLnBrk="1" hangingPunct="1">
              <a:spcAft>
                <a:spcPts val="1000"/>
              </a:spcAft>
              <a:buFontTx/>
              <a:buNone/>
            </a:pPr>
            <a:r>
              <a:rPr lang="en-US" altLang="en-US" sz="2300" b="1"/>
              <a:t>Method</a:t>
            </a:r>
          </a:p>
          <a:p>
            <a:pPr marL="0" indent="0" eaLnBrk="1" hangingPunct="1">
              <a:spcAft>
                <a:spcPts val="1000"/>
              </a:spcAft>
              <a:buFontTx/>
              <a:buAutoNum type="arabicPeriod"/>
            </a:pPr>
            <a:r>
              <a:rPr lang="en-US" altLang="en-US" sz="2300"/>
              <a:t>Draw-up a table of present and next states. Need to take account of the characteristic equation of the flip-flop</a:t>
            </a:r>
          </a:p>
          <a:p>
            <a:pPr marL="0" indent="0" eaLnBrk="1" hangingPunct="1">
              <a:spcAft>
                <a:spcPts val="1000"/>
              </a:spcAft>
              <a:buFontTx/>
              <a:buAutoNum type="arabicPeriod"/>
            </a:pPr>
            <a:r>
              <a:rPr lang="en-US" altLang="en-US" sz="2300"/>
              <a:t>Draw a Karnaugh map for each next state output in terms of the present state.</a:t>
            </a:r>
          </a:p>
          <a:p>
            <a:pPr marL="0" indent="0" eaLnBrk="1" hangingPunct="1">
              <a:spcAft>
                <a:spcPts val="1000"/>
              </a:spcAft>
              <a:buFontTx/>
              <a:buAutoNum type="arabicPeriod"/>
            </a:pPr>
            <a:r>
              <a:rPr lang="en-US" altLang="en-US" sz="2300"/>
              <a:t>Minimise the logic using Karnaugh map simplification techniques.</a:t>
            </a:r>
          </a:p>
          <a:p>
            <a:pPr marL="0" indent="0" eaLnBrk="1" hangingPunct="1">
              <a:spcAft>
                <a:spcPts val="1000"/>
              </a:spcAft>
              <a:buFontTx/>
              <a:buAutoNum type="arabicPeriod"/>
            </a:pPr>
            <a:r>
              <a:rPr lang="en-US" altLang="en-US" sz="2300"/>
              <a:t>Draw-up the corresponding circuit diagram for the FSM.</a:t>
            </a:r>
          </a:p>
          <a:p>
            <a:pPr marL="933450" lvl="1" indent="-533400" eaLnBrk="1" hangingPunct="1">
              <a:spcAft>
                <a:spcPts val="1000"/>
              </a:spcAft>
            </a:pPr>
            <a:endParaRPr lang="en-US" altLang="en-US" sz="2300"/>
          </a:p>
          <a:p>
            <a:pPr marL="933450" lvl="1" indent="-533400" eaLnBrk="1" hangingPunct="1">
              <a:spcAft>
                <a:spcPts val="1000"/>
              </a:spcAft>
            </a:pPr>
            <a:endParaRPr lang="en-US" altLang="en-US" sz="2300"/>
          </a:p>
          <a:p>
            <a:pPr marL="0" indent="0" eaLnBrk="1" hangingPunct="1">
              <a:spcAft>
                <a:spcPts val="1000"/>
              </a:spcAft>
            </a:pPr>
            <a:endParaRPr lang="en-GB" altLang="en-US" sz="2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3">
            <a:extLst>
              <a:ext uri="{FF2B5EF4-FFF2-40B4-BE49-F238E27FC236}">
                <a16:creationId xmlns:a16="http://schemas.microsoft.com/office/drawing/2014/main" id="{6CF2FD71-2CF4-9333-AD8C-6EBF7AFC1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82AC51-44D4-F941-89B9-73F49799D04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397C4636-3F43-A111-F4B7-55438D7B2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2: JK flip-flop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C86287A-7BD7-060B-394C-87676121CF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1703387"/>
          </a:xfrm>
        </p:spPr>
        <p:txBody>
          <a:bodyPr/>
          <a:lstStyle/>
          <a:p>
            <a:pPr marL="533400" indent="-533400" eaLnBrk="1" hangingPunct="1"/>
            <a:r>
              <a:rPr lang="en-US" altLang="en-US" sz="2300"/>
              <a:t>Step 1 – Complete the table of present and next states.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r>
              <a:rPr lang="en-US" altLang="en-US" sz="2300"/>
              <a:t>Use the JK transition table to complete entries in the table corresponding to the inputs to J and K. </a:t>
            </a:r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GB" altLang="en-US" sz="2300"/>
          </a:p>
        </p:txBody>
      </p:sp>
      <p:pic>
        <p:nvPicPr>
          <p:cNvPr id="38916" name="Picture 4" descr="C:\Users\andyw\Pictures\JK table.png">
            <a:extLst>
              <a:ext uri="{FF2B5EF4-FFF2-40B4-BE49-F238E27FC236}">
                <a16:creationId xmlns:a16="http://schemas.microsoft.com/office/drawing/2014/main" id="{9DAC53EA-BF39-17AD-04C5-24368BC4B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3352800"/>
            <a:ext cx="2139950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5">
            <a:extLst>
              <a:ext uri="{FF2B5EF4-FFF2-40B4-BE49-F238E27FC236}">
                <a16:creationId xmlns:a16="http://schemas.microsoft.com/office/drawing/2014/main" id="{9CD586B5-C9D2-8622-58E6-9089C8677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963" y="3352800"/>
            <a:ext cx="2970212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3">
            <a:extLst>
              <a:ext uri="{FF2B5EF4-FFF2-40B4-BE49-F238E27FC236}">
                <a16:creationId xmlns:a16="http://schemas.microsoft.com/office/drawing/2014/main" id="{A96BC062-9B8B-F6C7-1771-AE413057A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75" y="3530600"/>
            <a:ext cx="2528888" cy="160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10DD2F16-065C-67B4-9C53-A1B3796F7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587500"/>
            <a:ext cx="9036050" cy="4456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533400" indent="-533400" eaLnBrk="1" hangingPunct="1">
              <a:defRPr/>
            </a:pPr>
            <a:r>
              <a:rPr lang="en-US" altLang="en-US" sz="2300" dirty="0"/>
              <a:t>The table of present and next states is given below.</a:t>
            </a:r>
          </a:p>
          <a:p>
            <a:pPr marL="533400" indent="-533400" eaLnBrk="1" hangingPunct="1">
              <a:defRPr/>
            </a:pPr>
            <a:endParaRPr lang="en-US" altLang="en-US" sz="2300" kern="0" dirty="0"/>
          </a:p>
          <a:p>
            <a:pPr marL="533400" indent="-533400" eaLnBrk="1" hangingPunct="1">
              <a:defRPr/>
            </a:pPr>
            <a:endParaRPr lang="en-US" altLang="en-US" sz="2300" kern="0" dirty="0"/>
          </a:p>
          <a:p>
            <a:pPr marL="533400" indent="-533400" eaLnBrk="1" hangingPunct="1">
              <a:defRPr/>
            </a:pPr>
            <a:endParaRPr lang="en-US" altLang="en-US" sz="2300" kern="0" dirty="0"/>
          </a:p>
          <a:p>
            <a:pPr marL="533400" indent="-533400" eaLnBrk="1" hangingPunct="1">
              <a:defRPr/>
            </a:pPr>
            <a:endParaRPr lang="en-US" altLang="en-US" sz="2300" kern="0" dirty="0"/>
          </a:p>
          <a:p>
            <a:pPr marL="533400" indent="-533400" eaLnBrk="1" hangingPunct="1">
              <a:defRPr/>
            </a:pPr>
            <a:endParaRPr lang="en-US" altLang="en-US" sz="2300" kern="0" dirty="0"/>
          </a:p>
          <a:p>
            <a:pPr marL="533400" indent="-533400" eaLnBrk="1" hangingPunct="1">
              <a:defRPr/>
            </a:pPr>
            <a:endParaRPr lang="en-US" altLang="en-US" sz="2300" kern="0" dirty="0"/>
          </a:p>
          <a:p>
            <a:pPr marL="533400" indent="-533400" eaLnBrk="1" hangingPunct="1">
              <a:defRPr/>
            </a:pPr>
            <a:endParaRPr lang="en-US" altLang="en-US" sz="2300" kern="0" dirty="0"/>
          </a:p>
          <a:p>
            <a:pPr marL="533400" indent="-533400" eaLnBrk="1" hangingPunct="1">
              <a:defRPr/>
            </a:pPr>
            <a:r>
              <a:rPr lang="en-US" altLang="en-US" sz="2300" kern="0" dirty="0"/>
              <a:t>Steps 2 &amp; 3 – Now draw 6 </a:t>
            </a:r>
            <a:r>
              <a:rPr lang="en-US" altLang="en-US" sz="2300" kern="0" dirty="0" err="1"/>
              <a:t>Karnaugh</a:t>
            </a:r>
            <a:r>
              <a:rPr lang="en-US" altLang="en-US" sz="2300" kern="0" dirty="0"/>
              <a:t> maps, one for each of the J and K inputs, in terms of the present states</a:t>
            </a:r>
            <a:endParaRPr lang="en-GB" altLang="en-US" sz="2300" kern="0" dirty="0"/>
          </a:p>
        </p:txBody>
      </p:sp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3573B331-BAF7-A2AF-DD6C-D7B874AFE6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EE7160-73D5-9F4D-A143-6FCC1A014118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04C14F0-0C0C-3F1B-E8AB-1329C519F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2: JK flip-flop</a:t>
            </a:r>
          </a:p>
        </p:txBody>
      </p:sp>
      <p:pic>
        <p:nvPicPr>
          <p:cNvPr id="40964" name="Picture 4">
            <a:extLst>
              <a:ext uri="{FF2B5EF4-FFF2-40B4-BE49-F238E27FC236}">
                <a16:creationId xmlns:a16="http://schemas.microsoft.com/office/drawing/2014/main" id="{FA1FC16F-95F0-F35F-849B-2AE2D6BD6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2281238"/>
            <a:ext cx="7981950" cy="241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6">
            <a:extLst>
              <a:ext uri="{FF2B5EF4-FFF2-40B4-BE49-F238E27FC236}">
                <a16:creationId xmlns:a16="http://schemas.microsoft.com/office/drawing/2014/main" id="{27603D8A-4BC0-3017-C893-9E68A4698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5338763"/>
            <a:ext cx="1962150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Picture 1">
            <a:extLst>
              <a:ext uri="{FF2B5EF4-FFF2-40B4-BE49-F238E27FC236}">
                <a16:creationId xmlns:a16="http://schemas.microsoft.com/office/drawing/2014/main" id="{2FCDEA42-3523-D7E1-AA3E-387CB3BC2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3867150"/>
            <a:ext cx="6208712" cy="161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76EC4179-4D9A-E987-D9F5-A52A048581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964650-95FA-8741-B884-812A046B6897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21FDDCC6-0FDB-D207-0A85-FD9152531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2: JK flip-flop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246F748A-7CE5-83F6-A917-5E1DEC7DA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263" y="1482725"/>
            <a:ext cx="8856662" cy="4559300"/>
          </a:xfrm>
        </p:spPr>
        <p:txBody>
          <a:bodyPr/>
          <a:lstStyle/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endParaRPr lang="en-US" altLang="en-US" sz="2300"/>
          </a:p>
          <a:p>
            <a:pPr marL="533400" indent="-533400" eaLnBrk="1" hangingPunct="1"/>
            <a:r>
              <a:rPr lang="en-GB" altLang="en-US"/>
              <a:t>J</a:t>
            </a:r>
            <a:r>
              <a:rPr lang="en-GB" altLang="en-US" baseline="-25000"/>
              <a:t>A </a:t>
            </a:r>
            <a:r>
              <a:rPr lang="en-GB" altLang="en-US"/>
              <a:t>= Q</a:t>
            </a:r>
            <a:r>
              <a:rPr lang="en-GB" altLang="en-US" baseline="-25000"/>
              <a:t>B</a:t>
            </a:r>
            <a:r>
              <a:rPr lang="en-GB" altLang="en-US"/>
              <a:t>.Q</a:t>
            </a:r>
            <a:r>
              <a:rPr lang="en-GB" altLang="en-US" baseline="-25000"/>
              <a:t>C</a:t>
            </a:r>
          </a:p>
          <a:p>
            <a:pPr marL="533400" indent="-533400" eaLnBrk="1" hangingPunct="1"/>
            <a:endParaRPr lang="en-GB" altLang="en-US" baseline="-25000"/>
          </a:p>
          <a:p>
            <a:pPr marL="533400" indent="-533400" eaLnBrk="1" hangingPunct="1"/>
            <a:endParaRPr lang="en-GB" altLang="en-US" baseline="-25000"/>
          </a:p>
          <a:p>
            <a:pPr marL="533400" indent="-533400" eaLnBrk="1" hangingPunct="1"/>
            <a:endParaRPr lang="en-GB" altLang="en-US" baseline="-25000"/>
          </a:p>
          <a:p>
            <a:pPr marL="533400" indent="-533400" eaLnBrk="1" hangingPunct="1"/>
            <a:endParaRPr lang="en-GB" altLang="en-US" baseline="-25000"/>
          </a:p>
          <a:p>
            <a:pPr marL="533400" indent="-533400" eaLnBrk="1" hangingPunct="1"/>
            <a:endParaRPr lang="en-GB" altLang="en-US" baseline="-25000"/>
          </a:p>
          <a:p>
            <a:pPr marL="533400" indent="-533400" eaLnBrk="1" hangingPunct="1"/>
            <a:endParaRPr lang="en-GB" altLang="en-US" baseline="-25000"/>
          </a:p>
          <a:p>
            <a:pPr marL="533400" indent="-533400" eaLnBrk="1" hangingPunct="1"/>
            <a:r>
              <a:rPr lang="en-GB" altLang="en-US"/>
              <a:t>K</a:t>
            </a:r>
            <a:r>
              <a:rPr lang="en-GB" altLang="en-US" baseline="-25000"/>
              <a:t>A </a:t>
            </a:r>
            <a:r>
              <a:rPr lang="en-GB" altLang="en-US"/>
              <a:t>= Q</a:t>
            </a:r>
            <a:r>
              <a:rPr lang="en-GB" altLang="en-US" baseline="-25000"/>
              <a:t>B.</a:t>
            </a:r>
            <a:r>
              <a:rPr lang="en-GB" altLang="en-US"/>
              <a:t>Q</a:t>
            </a:r>
            <a:r>
              <a:rPr lang="en-GB" altLang="en-US" baseline="-25000"/>
              <a:t>C</a:t>
            </a:r>
            <a:endParaRPr lang="en-GB" altLang="en-US"/>
          </a:p>
          <a:p>
            <a:pPr marL="533400" indent="-533400" eaLnBrk="1" hangingPunct="1"/>
            <a:endParaRPr lang="en-GB" altLang="en-US"/>
          </a:p>
          <a:p>
            <a:pPr marL="533400" indent="-533400" eaLnBrk="1" hangingPunct="1"/>
            <a:endParaRPr lang="en-GB" altLang="en-US" sz="2300"/>
          </a:p>
        </p:txBody>
      </p:sp>
      <p:pic>
        <p:nvPicPr>
          <p:cNvPr id="43013" name="Picture 5">
            <a:extLst>
              <a:ext uri="{FF2B5EF4-FFF2-40B4-BE49-F238E27FC236}">
                <a16:creationId xmlns:a16="http://schemas.microsoft.com/office/drawing/2014/main" id="{4B21C770-E23A-EF6F-6647-41F051027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1589088"/>
            <a:ext cx="6200775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811C801-C147-1EFC-74FC-2CF55237BDC0}"/>
              </a:ext>
            </a:extLst>
          </p:cNvPr>
          <p:cNvSpPr/>
          <p:nvPr/>
        </p:nvSpPr>
        <p:spPr>
          <a:xfrm>
            <a:off x="3827463" y="2628900"/>
            <a:ext cx="2046287" cy="301625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42D728-561A-33E3-C7CA-9283D91F22CA}"/>
              </a:ext>
            </a:extLst>
          </p:cNvPr>
          <p:cNvSpPr/>
          <p:nvPr/>
        </p:nvSpPr>
        <p:spPr>
          <a:xfrm>
            <a:off x="3827463" y="4964113"/>
            <a:ext cx="2046287" cy="30321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73827672-142B-D47A-2D0B-33837E643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875" y="1487488"/>
            <a:ext cx="8856663" cy="4559300"/>
          </a:xfrm>
        </p:spPr>
        <p:txBody>
          <a:bodyPr/>
          <a:lstStyle/>
          <a:p>
            <a:pPr marL="533400" indent="-533400" eaLnBrk="1" hangingPunct="1">
              <a:defRPr/>
            </a:pPr>
            <a:endParaRPr lang="en-US" altLang="en-US" sz="2300" dirty="0"/>
          </a:p>
          <a:p>
            <a:pPr marL="533400" indent="-533400" eaLnBrk="1" hangingPunct="1">
              <a:defRPr/>
            </a:pPr>
            <a:endParaRPr lang="en-US" altLang="en-US" sz="2300" dirty="0"/>
          </a:p>
          <a:p>
            <a:pPr marL="533400" indent="-533400" eaLnBrk="1" hangingPunct="1">
              <a:defRPr/>
            </a:pPr>
            <a:endParaRPr lang="en-US" altLang="en-US" sz="2300" dirty="0"/>
          </a:p>
          <a:p>
            <a:pPr marL="533400" indent="-533400" eaLnBrk="1" hangingPunct="1">
              <a:defRPr/>
            </a:pPr>
            <a:endParaRPr lang="en-US" altLang="en-US" sz="2300" dirty="0"/>
          </a:p>
          <a:p>
            <a:pPr>
              <a:defRPr/>
            </a:pPr>
            <a:r>
              <a:rPr lang="en-GB" dirty="0"/>
              <a:t>J</a:t>
            </a:r>
            <a:r>
              <a:rPr lang="en-GB" baseline="-25000" dirty="0"/>
              <a:t>B</a:t>
            </a:r>
            <a:r>
              <a:rPr lang="en-GB" dirty="0"/>
              <a:t>=Q</a:t>
            </a:r>
            <a:r>
              <a:rPr lang="en-GB" baseline="-25000" dirty="0"/>
              <a:t>C</a:t>
            </a:r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r>
              <a:rPr lang="en-GB" dirty="0"/>
              <a:t>K</a:t>
            </a:r>
            <a:r>
              <a:rPr lang="en-GB" baseline="-25000" dirty="0"/>
              <a:t>B</a:t>
            </a:r>
            <a:r>
              <a:rPr lang="en-GB" dirty="0"/>
              <a:t>=Q</a:t>
            </a:r>
            <a:r>
              <a:rPr lang="en-GB" baseline="-25000" dirty="0"/>
              <a:t>C</a:t>
            </a:r>
            <a:endParaRPr lang="en-GB" dirty="0"/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pic>
        <p:nvPicPr>
          <p:cNvPr id="45058" name="Picture 2">
            <a:extLst>
              <a:ext uri="{FF2B5EF4-FFF2-40B4-BE49-F238E27FC236}">
                <a16:creationId xmlns:a16="http://schemas.microsoft.com/office/drawing/2014/main" id="{C7D7880B-3E04-F9D8-8778-A868209FBB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577975"/>
            <a:ext cx="62134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Slide Number Placeholder 3">
            <a:extLst>
              <a:ext uri="{FF2B5EF4-FFF2-40B4-BE49-F238E27FC236}">
                <a16:creationId xmlns:a16="http://schemas.microsoft.com/office/drawing/2014/main" id="{97AFAD43-24AD-4D2C-910D-60FB100A9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A4D25D-73DD-9E45-A5D2-5D06D64224B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5BE5D760-1AB0-31BE-86D8-87BBFBBA68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2: JK flip-flop</a:t>
            </a:r>
          </a:p>
        </p:txBody>
      </p:sp>
      <p:pic>
        <p:nvPicPr>
          <p:cNvPr id="45061" name="Picture 3">
            <a:extLst>
              <a:ext uri="{FF2B5EF4-FFF2-40B4-BE49-F238E27FC236}">
                <a16:creationId xmlns:a16="http://schemas.microsoft.com/office/drawing/2014/main" id="{217283F9-1F0B-C9E2-1A74-11B4078C83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313" y="3784600"/>
            <a:ext cx="6207125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13AD779-7F0E-4325-35CE-F6D7A87C6E21}"/>
              </a:ext>
            </a:extLst>
          </p:cNvPr>
          <p:cNvSpPr/>
          <p:nvPr/>
        </p:nvSpPr>
        <p:spPr>
          <a:xfrm>
            <a:off x="2794000" y="2628900"/>
            <a:ext cx="4124325" cy="330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DC4439-0792-6395-B1FB-A6B1240DF48D}"/>
              </a:ext>
            </a:extLst>
          </p:cNvPr>
          <p:cNvSpPr/>
          <p:nvPr/>
        </p:nvSpPr>
        <p:spPr>
          <a:xfrm>
            <a:off x="2794000" y="4826000"/>
            <a:ext cx="4124325" cy="330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31651C80-7E05-8FB4-1A5F-F7BD9D15C8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408487"/>
          </a:xfrm>
        </p:spPr>
        <p:txBody>
          <a:bodyPr/>
          <a:lstStyle/>
          <a:p>
            <a:pPr marL="533400" indent="-533400" eaLnBrk="1" hangingPunct="1">
              <a:defRPr/>
            </a:pPr>
            <a:endParaRPr lang="en-US" altLang="en-US" sz="2300" dirty="0"/>
          </a:p>
          <a:p>
            <a:pPr marL="533400" indent="-533400" eaLnBrk="1" hangingPunct="1">
              <a:defRPr/>
            </a:pPr>
            <a:endParaRPr lang="en-US" altLang="en-US" sz="2300" dirty="0"/>
          </a:p>
          <a:p>
            <a:pPr marL="533400" indent="-533400" eaLnBrk="1" hangingPunct="1">
              <a:defRPr/>
            </a:pPr>
            <a:endParaRPr lang="en-US" altLang="en-US" sz="2300" dirty="0"/>
          </a:p>
          <a:p>
            <a:pPr marL="533400" indent="-533400" eaLnBrk="1" hangingPunct="1">
              <a:defRPr/>
            </a:pPr>
            <a:endParaRPr lang="en-US" altLang="en-US" sz="2300" dirty="0"/>
          </a:p>
          <a:p>
            <a:pPr>
              <a:defRPr/>
            </a:pPr>
            <a:r>
              <a:rPr lang="en-GB" dirty="0"/>
              <a:t>J</a:t>
            </a:r>
            <a:r>
              <a:rPr lang="en-GB" baseline="-25000" dirty="0"/>
              <a:t>C</a:t>
            </a:r>
            <a:r>
              <a:rPr lang="en-GB" dirty="0"/>
              <a:t>=1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K</a:t>
            </a:r>
            <a:r>
              <a:rPr lang="en-GB" baseline="-25000" dirty="0"/>
              <a:t>C</a:t>
            </a:r>
            <a:r>
              <a:rPr lang="en-GB" dirty="0"/>
              <a:t>=1</a:t>
            </a:r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2F029886-713B-082A-3AD9-1396C9643D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8C4F965-4668-734E-904C-64CBD8D1385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C48CFB03-180A-5F17-57D5-D3A8F9ABC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2: JK flip-flop</a:t>
            </a:r>
          </a:p>
        </p:txBody>
      </p:sp>
      <p:pic>
        <p:nvPicPr>
          <p:cNvPr id="47108" name="Picture 1">
            <a:extLst>
              <a:ext uri="{FF2B5EF4-FFF2-40B4-BE49-F238E27FC236}">
                <a16:creationId xmlns:a16="http://schemas.microsoft.com/office/drawing/2014/main" id="{E4747A53-8BA2-9422-18C0-B8AE25D808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1558925"/>
            <a:ext cx="6200775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2">
            <a:extLst>
              <a:ext uri="{FF2B5EF4-FFF2-40B4-BE49-F238E27FC236}">
                <a16:creationId xmlns:a16="http://schemas.microsoft.com/office/drawing/2014/main" id="{3A1AC7F4-A1F2-28E1-3F1A-9AA7CE7DE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3748088"/>
            <a:ext cx="62007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473409D-4E00-AAD0-54B3-AE07A2BDED2B}"/>
              </a:ext>
            </a:extLst>
          </p:cNvPr>
          <p:cNvSpPr/>
          <p:nvPr/>
        </p:nvSpPr>
        <p:spPr>
          <a:xfrm>
            <a:off x="2794000" y="2209800"/>
            <a:ext cx="4124325" cy="838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4B65652-F2DA-248D-3C97-3486C4149345}"/>
              </a:ext>
            </a:extLst>
          </p:cNvPr>
          <p:cNvSpPr/>
          <p:nvPr/>
        </p:nvSpPr>
        <p:spPr>
          <a:xfrm>
            <a:off x="2794000" y="4395788"/>
            <a:ext cx="4124325" cy="838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3">
            <a:extLst>
              <a:ext uri="{FF2B5EF4-FFF2-40B4-BE49-F238E27FC236}">
                <a16:creationId xmlns:a16="http://schemas.microsoft.com/office/drawing/2014/main" id="{D032459E-3435-15EC-4E3B-41A4A7189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79B09D-40E3-694F-8E46-6F44A40D1AA3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9AD61D04-E40C-4C6D-9F97-17EF70890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2: JK flip-flop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3DE22DD-52E0-211A-FE7C-8D3B4DD94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484313"/>
            <a:ext cx="8856663" cy="6064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GB" kern="0" dirty="0"/>
              <a:t>Step 4 – W</a:t>
            </a:r>
            <a:r>
              <a:rPr lang="en-US" kern="0" dirty="0"/>
              <a:t>e can now draw the circuit diagram for the FSM.</a:t>
            </a:r>
            <a:endParaRPr lang="en-GB" altLang="en-US" sz="2300" kern="0" dirty="0"/>
          </a:p>
        </p:txBody>
      </p:sp>
      <p:pic>
        <p:nvPicPr>
          <p:cNvPr id="49156" name="Picture 1">
            <a:extLst>
              <a:ext uri="{FF2B5EF4-FFF2-40B4-BE49-F238E27FC236}">
                <a16:creationId xmlns:a16="http://schemas.microsoft.com/office/drawing/2014/main" id="{C0BAB3DA-FDAA-0E94-FB8F-2CAD7BA0E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2090738"/>
            <a:ext cx="7772400" cy="387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C2381D72-A410-08C9-91E2-5E1211353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559300"/>
          </a:xfrm>
        </p:spPr>
        <p:txBody>
          <a:bodyPr/>
          <a:lstStyle/>
          <a:p>
            <a:pPr>
              <a:defRPr/>
            </a:pPr>
            <a:r>
              <a:rPr lang="en-US" dirty="0"/>
              <a:t>Design a 6-state counter using the first six binary numbers. Use JK flip-flops.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What is the result if either of the cannot happen input states (marked – in the maps) does happen?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Step 1 – Complete the table of present and next states.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Use the JK transition table to complete the table for the inputs to J and K. 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sp>
        <p:nvSpPr>
          <p:cNvPr id="51202" name="Slide Number Placeholder 3">
            <a:extLst>
              <a:ext uri="{FF2B5EF4-FFF2-40B4-BE49-F238E27FC236}">
                <a16:creationId xmlns:a16="http://schemas.microsoft.com/office/drawing/2014/main" id="{4291EC2B-C89A-5D0C-3AFE-8752BBD0E9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99F88E-0474-C847-94B8-E49C84977DB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A328A58-DC78-6736-9F0A-94A6C3027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3: JK flip-flop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3">
            <a:extLst>
              <a:ext uri="{FF2B5EF4-FFF2-40B4-BE49-F238E27FC236}">
                <a16:creationId xmlns:a16="http://schemas.microsoft.com/office/drawing/2014/main" id="{091F0F42-0B61-A830-F710-8951D36DA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2025650"/>
            <a:ext cx="7997825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0" name="Slide Number Placeholder 3">
            <a:extLst>
              <a:ext uri="{FF2B5EF4-FFF2-40B4-BE49-F238E27FC236}">
                <a16:creationId xmlns:a16="http://schemas.microsoft.com/office/drawing/2014/main" id="{5316C34B-732F-FC99-B7CF-63E3C869DC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21CE23-577A-7841-B22E-83DFB77A929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A8CF1FE-599A-417C-511E-CBD229D0E1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3: JK flip-flop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7EB617A-B66F-546C-641E-D38DA396D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670425"/>
            <a:ext cx="5637213" cy="8159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533400" indent="-533400" eaLnBrk="1" hangingPunct="1">
              <a:defRPr/>
            </a:pPr>
            <a:r>
              <a:rPr lang="en-GB" kern="0" dirty="0"/>
              <a:t>Steps 2 &amp; 3 – Now draw the 6 K-maps for the J and K inputs.</a:t>
            </a:r>
          </a:p>
          <a:p>
            <a:pPr>
              <a:defRPr/>
            </a:pPr>
            <a:endParaRPr lang="en-GB" kern="0" dirty="0"/>
          </a:p>
          <a:p>
            <a:pPr>
              <a:defRPr/>
            </a:pPr>
            <a:endParaRPr lang="en-GB" kern="0" dirty="0"/>
          </a:p>
          <a:p>
            <a:pPr>
              <a:defRPr/>
            </a:pPr>
            <a:endParaRPr lang="en-GB" kern="0" dirty="0"/>
          </a:p>
          <a:p>
            <a:pPr marL="533400" indent="-533400" eaLnBrk="1" hangingPunct="1">
              <a:defRPr/>
            </a:pPr>
            <a:endParaRPr lang="en-GB" altLang="en-US" sz="2300" kern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E6FF326-463B-458A-AA98-38D0DB273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484313"/>
            <a:ext cx="8856663" cy="4206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533400" indent="-533400" eaLnBrk="1" hangingPunct="1">
              <a:defRPr/>
            </a:pPr>
            <a:r>
              <a:rPr lang="en-US" altLang="en-US" sz="2300" kern="0" dirty="0"/>
              <a:t>The table of present and next states is given below</a:t>
            </a:r>
          </a:p>
          <a:p>
            <a:pPr marL="533400" indent="-533400" eaLnBrk="1" hangingPunct="1">
              <a:defRPr/>
            </a:pPr>
            <a:endParaRPr lang="en-US" altLang="en-US" sz="2300" kern="0" dirty="0"/>
          </a:p>
          <a:p>
            <a:pPr marL="533400" indent="-533400" eaLnBrk="1" hangingPunct="1">
              <a:defRPr/>
            </a:pPr>
            <a:endParaRPr lang="en-GB" altLang="en-US" sz="2300" kern="0" dirty="0"/>
          </a:p>
        </p:txBody>
      </p:sp>
      <p:pic>
        <p:nvPicPr>
          <p:cNvPr id="53254" name="Picture 9">
            <a:extLst>
              <a:ext uri="{FF2B5EF4-FFF2-40B4-BE49-F238E27FC236}">
                <a16:creationId xmlns:a16="http://schemas.microsoft.com/office/drawing/2014/main" id="{315BF5ED-8B15-1B1E-9DDF-CBC667D99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575" y="5035550"/>
            <a:ext cx="243840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B4506AD9-3AED-D3D5-3BD7-563DE720E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559300"/>
          </a:xfrm>
        </p:spPr>
        <p:txBody>
          <a:bodyPr/>
          <a:lstStyle/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J</a:t>
            </a:r>
            <a:r>
              <a:rPr lang="en-GB" baseline="-25000" dirty="0"/>
              <a:t>A</a:t>
            </a:r>
            <a:r>
              <a:rPr lang="en-GB" dirty="0"/>
              <a:t>=Q</a:t>
            </a:r>
            <a:r>
              <a:rPr lang="en-GB" baseline="-25000" dirty="0"/>
              <a:t>B</a:t>
            </a:r>
            <a:r>
              <a:rPr lang="en-GB" dirty="0"/>
              <a:t>.Q</a:t>
            </a:r>
            <a:r>
              <a:rPr lang="en-GB" baseline="-25000" dirty="0"/>
              <a:t>C</a:t>
            </a:r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r>
              <a:rPr lang="en-GB" dirty="0"/>
              <a:t>K</a:t>
            </a:r>
            <a:r>
              <a:rPr lang="en-GB" baseline="-25000" dirty="0"/>
              <a:t>A</a:t>
            </a:r>
            <a:r>
              <a:rPr lang="en-GB" dirty="0"/>
              <a:t>=Q</a:t>
            </a:r>
            <a:r>
              <a:rPr lang="en-GB" baseline="-25000" dirty="0"/>
              <a:t>C</a:t>
            </a: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pic>
        <p:nvPicPr>
          <p:cNvPr id="55298" name="Picture 2">
            <a:extLst>
              <a:ext uri="{FF2B5EF4-FFF2-40B4-BE49-F238E27FC236}">
                <a16:creationId xmlns:a16="http://schemas.microsoft.com/office/drawing/2014/main" id="{BA02276F-6A7F-F4F6-94E1-632C2B956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3763963"/>
            <a:ext cx="62214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299" name="Picture 1">
            <a:extLst>
              <a:ext uri="{FF2B5EF4-FFF2-40B4-BE49-F238E27FC236}">
                <a16:creationId xmlns:a16="http://schemas.microsoft.com/office/drawing/2014/main" id="{0D99A8E8-26DA-5C5E-FCA9-A0624D88F0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570038"/>
            <a:ext cx="6221413" cy="162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2A59E3A7-35CB-2098-D63E-1287AC326D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2DA924-4A1F-1642-9F21-A0DA6D6F51E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55301" name="Rectangle 2">
            <a:extLst>
              <a:ext uri="{FF2B5EF4-FFF2-40B4-BE49-F238E27FC236}">
                <a16:creationId xmlns:a16="http://schemas.microsoft.com/office/drawing/2014/main" id="{3C096CBF-3836-492D-50B2-0A5526F34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3: JK flip-flop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4595AF-7F32-73C7-4CFC-AB69463B7252}"/>
              </a:ext>
            </a:extLst>
          </p:cNvPr>
          <p:cNvSpPr/>
          <p:nvPr/>
        </p:nvSpPr>
        <p:spPr>
          <a:xfrm>
            <a:off x="3822700" y="2628900"/>
            <a:ext cx="2070100" cy="330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53A997-B1A0-6963-3F06-DA1F975183D6}"/>
              </a:ext>
            </a:extLst>
          </p:cNvPr>
          <p:cNvSpPr/>
          <p:nvPr/>
        </p:nvSpPr>
        <p:spPr>
          <a:xfrm>
            <a:off x="2779713" y="4813300"/>
            <a:ext cx="4146550" cy="330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88E611AB-1EE6-A38D-51C9-EFF9D3612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559300"/>
          </a:xfrm>
        </p:spPr>
        <p:txBody>
          <a:bodyPr/>
          <a:lstStyle/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J</a:t>
            </a:r>
            <a:r>
              <a:rPr lang="en-GB" baseline="-25000" dirty="0"/>
              <a:t>B</a:t>
            </a:r>
            <a:r>
              <a:rPr lang="en-GB" dirty="0"/>
              <a:t>=Q</a:t>
            </a:r>
            <a:r>
              <a:rPr lang="en-GB" baseline="-25000" dirty="0"/>
              <a:t>A</a:t>
            </a:r>
            <a:r>
              <a:rPr lang="en-GB" dirty="0"/>
              <a:t>′.Q</a:t>
            </a:r>
            <a:r>
              <a:rPr lang="en-GB" baseline="-25000" dirty="0"/>
              <a:t>C</a:t>
            </a:r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endParaRPr lang="en-GB" baseline="-25000" dirty="0"/>
          </a:p>
          <a:p>
            <a:pPr>
              <a:defRPr/>
            </a:pPr>
            <a:r>
              <a:rPr lang="en-GB" dirty="0"/>
              <a:t>K</a:t>
            </a:r>
            <a:r>
              <a:rPr lang="en-GB" baseline="-25000" dirty="0"/>
              <a:t>B</a:t>
            </a:r>
            <a:r>
              <a:rPr lang="en-GB" dirty="0"/>
              <a:t>=Q</a:t>
            </a:r>
            <a:r>
              <a:rPr lang="en-GB" baseline="-25000" dirty="0"/>
              <a:t>C</a:t>
            </a: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pic>
        <p:nvPicPr>
          <p:cNvPr id="57346" name="Picture 2">
            <a:extLst>
              <a:ext uri="{FF2B5EF4-FFF2-40B4-BE49-F238E27FC236}">
                <a16:creationId xmlns:a16="http://schemas.microsoft.com/office/drawing/2014/main" id="{47B48505-7BDF-0479-9157-F543EC4D9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3797300"/>
            <a:ext cx="6200775" cy="160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7" name="Picture 1">
            <a:extLst>
              <a:ext uri="{FF2B5EF4-FFF2-40B4-BE49-F238E27FC236}">
                <a16:creationId xmlns:a16="http://schemas.microsoft.com/office/drawing/2014/main" id="{4988C855-E865-6C83-CADB-A67F763C4F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563688"/>
            <a:ext cx="6200775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8212390B-E82E-8C66-BB4B-44BF24AE6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772D7F-13FD-8148-B24B-250C391FA4C0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57349" name="Rectangle 2">
            <a:extLst>
              <a:ext uri="{FF2B5EF4-FFF2-40B4-BE49-F238E27FC236}">
                <a16:creationId xmlns:a16="http://schemas.microsoft.com/office/drawing/2014/main" id="{D762C928-63F0-6761-27BD-F32AF5E80C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3: JK flip-flop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2D6201-0C2A-C814-3993-A41432D24311}"/>
              </a:ext>
            </a:extLst>
          </p:cNvPr>
          <p:cNvSpPr/>
          <p:nvPr/>
        </p:nvSpPr>
        <p:spPr>
          <a:xfrm>
            <a:off x="2781300" y="2628900"/>
            <a:ext cx="2070100" cy="330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500928-DFDD-96C3-AD40-F17872DEEBE6}"/>
              </a:ext>
            </a:extLst>
          </p:cNvPr>
          <p:cNvSpPr/>
          <p:nvPr/>
        </p:nvSpPr>
        <p:spPr>
          <a:xfrm>
            <a:off x="2770188" y="4851400"/>
            <a:ext cx="4135437" cy="330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2B004AD6-C7DE-48FA-CC65-89DA3BAE5F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559300"/>
          </a:xfrm>
        </p:spPr>
        <p:txBody>
          <a:bodyPr/>
          <a:lstStyle/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J</a:t>
            </a:r>
            <a:r>
              <a:rPr lang="en-GB" baseline="-25000" dirty="0"/>
              <a:t>C</a:t>
            </a:r>
            <a:r>
              <a:rPr lang="en-GB" dirty="0"/>
              <a:t>=1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K</a:t>
            </a:r>
            <a:r>
              <a:rPr lang="en-GB" baseline="-25000" dirty="0"/>
              <a:t>C</a:t>
            </a:r>
            <a:r>
              <a:rPr lang="en-GB" dirty="0"/>
              <a:t>=1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pic>
        <p:nvPicPr>
          <p:cNvPr id="59394" name="Picture 2">
            <a:extLst>
              <a:ext uri="{FF2B5EF4-FFF2-40B4-BE49-F238E27FC236}">
                <a16:creationId xmlns:a16="http://schemas.microsoft.com/office/drawing/2014/main" id="{A4BB3BD5-CAD1-7A73-0052-2EA093CAA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3805238"/>
            <a:ext cx="62071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Slide Number Placeholder 3">
            <a:extLst>
              <a:ext uri="{FF2B5EF4-FFF2-40B4-BE49-F238E27FC236}">
                <a16:creationId xmlns:a16="http://schemas.microsoft.com/office/drawing/2014/main" id="{4B844B7D-8638-4161-6739-DAE1A40933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374A41-2496-8544-B004-A6365C9EEC81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id="{7F388DD4-FB17-1AAA-C983-0AC4A8415A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3: JK flip-flop</a:t>
            </a:r>
          </a:p>
        </p:txBody>
      </p:sp>
      <p:pic>
        <p:nvPicPr>
          <p:cNvPr id="59397" name="Picture 1">
            <a:extLst>
              <a:ext uri="{FF2B5EF4-FFF2-40B4-BE49-F238E27FC236}">
                <a16:creationId xmlns:a16="http://schemas.microsoft.com/office/drawing/2014/main" id="{F8FC936A-E7DC-423F-816A-2F51EC999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585913"/>
            <a:ext cx="62214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9BF0390-E4DE-F0A0-4F4A-F554797ED524}"/>
              </a:ext>
            </a:extLst>
          </p:cNvPr>
          <p:cNvSpPr/>
          <p:nvPr/>
        </p:nvSpPr>
        <p:spPr>
          <a:xfrm>
            <a:off x="2794000" y="2260600"/>
            <a:ext cx="4124325" cy="838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D3C536-3935-DFF0-5091-1C2592AB17ED}"/>
              </a:ext>
            </a:extLst>
          </p:cNvPr>
          <p:cNvSpPr/>
          <p:nvPr/>
        </p:nvSpPr>
        <p:spPr>
          <a:xfrm>
            <a:off x="2794000" y="4484688"/>
            <a:ext cx="4124325" cy="838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250911B8-02E6-479E-EBF5-59C68AB6C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559300"/>
          </a:xfrm>
        </p:spPr>
        <p:txBody>
          <a:bodyPr/>
          <a:lstStyle/>
          <a:p>
            <a:pPr>
              <a:defRPr/>
            </a:pPr>
            <a:r>
              <a:rPr lang="en-GB" dirty="0"/>
              <a:t>Step 4 – Then we can draw the circuit diagram………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sp>
        <p:nvSpPr>
          <p:cNvPr id="61442" name="Slide Number Placeholder 3">
            <a:extLst>
              <a:ext uri="{FF2B5EF4-FFF2-40B4-BE49-F238E27FC236}">
                <a16:creationId xmlns:a16="http://schemas.microsoft.com/office/drawing/2014/main" id="{4F95DF7A-A5BE-A093-85EF-FECF3A58BD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8CEE2F-1FD4-AE49-868A-E0BF5E88071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18FA9D43-D48E-AFB3-3C92-89CAEFD341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3: JK flip-flop</a:t>
            </a: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id="{C9EC757A-D951-2F62-BA3E-6B29C959A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95488"/>
            <a:ext cx="7772400" cy="405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34FAAC13-2453-AD2F-0DB1-D9AC9B65D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559300"/>
          </a:xfrm>
        </p:spPr>
        <p:txBody>
          <a:bodyPr/>
          <a:lstStyle/>
          <a:p>
            <a:pPr>
              <a:defRPr/>
            </a:pPr>
            <a:r>
              <a:rPr lang="en-GB" dirty="0"/>
              <a:t>To think about the “cannot happen” input states……… Because we have minimised the logic circuits by grouping “1s” with “cannot happens” and “don’t cares”, we are forcing the next states of a cannot happen.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We can look at our K-maps and make the following table: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sp>
        <p:nvSpPr>
          <p:cNvPr id="63490" name="Slide Number Placeholder 3">
            <a:extLst>
              <a:ext uri="{FF2B5EF4-FFF2-40B4-BE49-F238E27FC236}">
                <a16:creationId xmlns:a16="http://schemas.microsoft.com/office/drawing/2014/main" id="{00F7228F-4F1F-F1BA-1B89-74A687B2F4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E1B372-17DC-8B4B-B0E8-79EA52D2800B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E3639D10-ECC0-A9F2-887D-E688AA72E0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3: JK flip-flop</a:t>
            </a:r>
          </a:p>
        </p:txBody>
      </p:sp>
      <p:pic>
        <p:nvPicPr>
          <p:cNvPr id="63492" name="Picture 1">
            <a:extLst>
              <a:ext uri="{FF2B5EF4-FFF2-40B4-BE49-F238E27FC236}">
                <a16:creationId xmlns:a16="http://schemas.microsoft.com/office/drawing/2014/main" id="{DEE55F53-C7D7-8535-3F53-AE8A64D1F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4210050"/>
            <a:ext cx="7988300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EE2E8C30-A47A-FD70-7892-735B25B53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559300"/>
          </a:xfrm>
        </p:spPr>
        <p:txBody>
          <a:bodyPr/>
          <a:lstStyle/>
          <a:p>
            <a:pPr>
              <a:defRPr/>
            </a:pPr>
            <a:r>
              <a:rPr lang="en-GB" dirty="0"/>
              <a:t>So, if state 6 is entered the next state is state 7, and if state 7 is entered the next state is state 0.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So the state diagram is: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sp>
        <p:nvSpPr>
          <p:cNvPr id="65538" name="Slide Number Placeholder 3">
            <a:extLst>
              <a:ext uri="{FF2B5EF4-FFF2-40B4-BE49-F238E27FC236}">
                <a16:creationId xmlns:a16="http://schemas.microsoft.com/office/drawing/2014/main" id="{4A62C98C-FE87-815A-F10F-50C6D52F7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C42C4F-0B1C-ED47-9D4A-CB171AAA7909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271F7E48-1BEC-4033-B21F-F026981962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3: JK flip-flop</a:t>
            </a:r>
          </a:p>
        </p:txBody>
      </p:sp>
      <p:pic>
        <p:nvPicPr>
          <p:cNvPr id="65540" name="Picture 2">
            <a:extLst>
              <a:ext uri="{FF2B5EF4-FFF2-40B4-BE49-F238E27FC236}">
                <a16:creationId xmlns:a16="http://schemas.microsoft.com/office/drawing/2014/main" id="{C30A58AF-AA13-354F-19E7-261101E70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508250"/>
            <a:ext cx="403860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56D0634E-7E55-0D9C-A7E2-75B0C4ADB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559300"/>
          </a:xfrm>
        </p:spPr>
        <p:txBody>
          <a:bodyPr/>
          <a:lstStyle/>
          <a:p>
            <a:pPr>
              <a:defRPr/>
            </a:pPr>
            <a:r>
              <a:rPr lang="en-GB" dirty="0"/>
              <a:t>Repeat example 3 this time using T-flip-flops (i.e. 6 state counter using the first 6 binary numbers).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Step 1 – Complete the present state and next state table, adding the toggle input (T) of each flip-flop. Put a 1 for the T input if the bit needs to change state.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sp>
        <p:nvSpPr>
          <p:cNvPr id="67586" name="Slide Number Placeholder 3">
            <a:extLst>
              <a:ext uri="{FF2B5EF4-FFF2-40B4-BE49-F238E27FC236}">
                <a16:creationId xmlns:a16="http://schemas.microsoft.com/office/drawing/2014/main" id="{A3A8CD25-CD73-A341-89A5-4D5971AFD0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184F4B-1A67-1441-B43E-B263793EFD8E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FAB8E5E5-9113-2382-BB5D-F40F1D6F9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4: T flip-flop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Number Placeholder 3">
            <a:extLst>
              <a:ext uri="{FF2B5EF4-FFF2-40B4-BE49-F238E27FC236}">
                <a16:creationId xmlns:a16="http://schemas.microsoft.com/office/drawing/2014/main" id="{D9C6F320-4118-3252-9F6C-A4D3390E7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EF75D8-ECE9-4340-AB60-43334957EF25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7DA45CF6-E740-42E2-4552-8D0A1A1027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4: T flip-flop</a:t>
            </a:r>
          </a:p>
        </p:txBody>
      </p:sp>
      <p:pic>
        <p:nvPicPr>
          <p:cNvPr id="69635" name="Picture 2">
            <a:extLst>
              <a:ext uri="{FF2B5EF4-FFF2-40B4-BE49-F238E27FC236}">
                <a16:creationId xmlns:a16="http://schemas.microsoft.com/office/drawing/2014/main" id="{9DD651E2-ED16-4918-AD42-10DFDCBFA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2087563"/>
            <a:ext cx="7972425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FBC6424F-092A-717E-4194-C75BD2679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621213"/>
            <a:ext cx="8856663" cy="8270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GB" kern="0" dirty="0"/>
              <a:t>Steps 2 &amp; 3 – Now draw the 3 K-maps, one for each flip-flop input.</a:t>
            </a:r>
            <a:endParaRPr lang="en-GB" altLang="en-US" sz="2300" kern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3C8BBF3-0FBC-BCC3-F839-1168AD9AE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484313"/>
            <a:ext cx="8856663" cy="4206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533400" indent="-533400" eaLnBrk="1" hangingPunct="1">
              <a:defRPr/>
            </a:pPr>
            <a:r>
              <a:rPr lang="en-US" altLang="en-US" sz="2300" kern="0" dirty="0"/>
              <a:t>The table of present and next states is given below</a:t>
            </a:r>
          </a:p>
          <a:p>
            <a:pPr marL="533400" indent="-533400" eaLnBrk="1" hangingPunct="1">
              <a:defRPr/>
            </a:pPr>
            <a:endParaRPr lang="en-US" altLang="en-US" sz="2300" kern="0" dirty="0"/>
          </a:p>
          <a:p>
            <a:pPr marL="533400" indent="-533400" eaLnBrk="1" hangingPunct="1">
              <a:defRPr/>
            </a:pPr>
            <a:endParaRPr lang="en-GB" altLang="en-US" sz="2300" kern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88712704-5E3B-C12B-3D12-90AFF6C9A7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559300"/>
          </a:xfrm>
        </p:spPr>
        <p:txBody>
          <a:bodyPr/>
          <a:lstStyle/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T</a:t>
            </a:r>
            <a:r>
              <a:rPr lang="en-GB" baseline="-25000" dirty="0"/>
              <a:t>A</a:t>
            </a:r>
            <a:r>
              <a:rPr lang="en-GB" baseline="30000" dirty="0"/>
              <a:t> </a:t>
            </a:r>
            <a:r>
              <a:rPr lang="en-GB" dirty="0"/>
              <a:t>= Q</a:t>
            </a:r>
            <a:r>
              <a:rPr lang="en-GB" baseline="-25000" dirty="0"/>
              <a:t>A</a:t>
            </a:r>
            <a:r>
              <a:rPr lang="en-GB" dirty="0"/>
              <a:t>.Q</a:t>
            </a:r>
            <a:r>
              <a:rPr lang="en-GB" baseline="-25000" dirty="0"/>
              <a:t>C </a:t>
            </a:r>
            <a:r>
              <a:rPr lang="en-GB" dirty="0"/>
              <a:t>+ Q</a:t>
            </a:r>
            <a:r>
              <a:rPr lang="en-GB" baseline="-25000" dirty="0"/>
              <a:t>B.</a:t>
            </a:r>
            <a:r>
              <a:rPr lang="en-GB" dirty="0"/>
              <a:t>Q</a:t>
            </a:r>
            <a:r>
              <a:rPr lang="en-GB" baseline="-25000" dirty="0"/>
              <a:t>C</a:t>
            </a: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T</a:t>
            </a:r>
            <a:r>
              <a:rPr lang="en-GB" baseline="-25000" dirty="0"/>
              <a:t>B</a:t>
            </a:r>
            <a:r>
              <a:rPr lang="en-GB" dirty="0"/>
              <a:t>=Q</a:t>
            </a:r>
            <a:r>
              <a:rPr lang="en-GB" baseline="-25000" dirty="0"/>
              <a:t>A</a:t>
            </a:r>
            <a:r>
              <a:rPr lang="en-GB" dirty="0"/>
              <a:t>′.Q</a:t>
            </a:r>
            <a:r>
              <a:rPr lang="en-GB" baseline="-25000" dirty="0"/>
              <a:t>C</a:t>
            </a:r>
            <a:r>
              <a:rPr lang="en-GB" dirty="0"/>
              <a:t> </a:t>
            </a:r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pic>
        <p:nvPicPr>
          <p:cNvPr id="71682" name="Picture 1">
            <a:extLst>
              <a:ext uri="{FF2B5EF4-FFF2-40B4-BE49-F238E27FC236}">
                <a16:creationId xmlns:a16="http://schemas.microsoft.com/office/drawing/2014/main" id="{80654D36-62CF-A11A-D891-157217C36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38" y="3806825"/>
            <a:ext cx="62007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3" name="Slide Number Placeholder 3">
            <a:extLst>
              <a:ext uri="{FF2B5EF4-FFF2-40B4-BE49-F238E27FC236}">
                <a16:creationId xmlns:a16="http://schemas.microsoft.com/office/drawing/2014/main" id="{CBF67C92-245B-C7B9-8ACF-09297BF24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ADFD85-93B7-424B-94EC-5BB2D189D58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/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32187B5B-5BA4-438E-D902-A87256ED1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4: T flip-flop</a:t>
            </a:r>
          </a:p>
        </p:txBody>
      </p:sp>
      <p:pic>
        <p:nvPicPr>
          <p:cNvPr id="71685" name="Picture 4">
            <a:extLst>
              <a:ext uri="{FF2B5EF4-FFF2-40B4-BE49-F238E27FC236}">
                <a16:creationId xmlns:a16="http://schemas.microsoft.com/office/drawing/2014/main" id="{62575578-AAD3-F464-2E54-5A50B4A46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570038"/>
            <a:ext cx="61880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B691B6F-5047-4F2D-95B0-97A979E1EF45}"/>
              </a:ext>
            </a:extLst>
          </p:cNvPr>
          <p:cNvSpPr/>
          <p:nvPr/>
        </p:nvSpPr>
        <p:spPr>
          <a:xfrm>
            <a:off x="3806825" y="2616200"/>
            <a:ext cx="2070100" cy="330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5DDADDE-25BE-0C0C-DF0A-C4A3188F1389}"/>
              </a:ext>
            </a:extLst>
          </p:cNvPr>
          <p:cNvSpPr/>
          <p:nvPr/>
        </p:nvSpPr>
        <p:spPr>
          <a:xfrm>
            <a:off x="4833938" y="2616200"/>
            <a:ext cx="2070100" cy="33020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0BE54B9-D76D-C488-E52D-963829EA2982}"/>
              </a:ext>
            </a:extLst>
          </p:cNvPr>
          <p:cNvSpPr/>
          <p:nvPr/>
        </p:nvSpPr>
        <p:spPr>
          <a:xfrm>
            <a:off x="2763838" y="4872038"/>
            <a:ext cx="2070100" cy="3302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BB7E3182-420B-AC75-597A-AE7CA330D3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559300"/>
          </a:xfrm>
        </p:spPr>
        <p:txBody>
          <a:bodyPr/>
          <a:lstStyle/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T</a:t>
            </a:r>
            <a:r>
              <a:rPr lang="en-GB" baseline="-25000" dirty="0"/>
              <a:t>C</a:t>
            </a:r>
            <a:r>
              <a:rPr lang="en-GB" dirty="0"/>
              <a:t>=1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Step 4 – Now we can draw the circuit diagram…….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sp>
        <p:nvSpPr>
          <p:cNvPr id="73730" name="Slide Number Placeholder 3">
            <a:extLst>
              <a:ext uri="{FF2B5EF4-FFF2-40B4-BE49-F238E27FC236}">
                <a16:creationId xmlns:a16="http://schemas.microsoft.com/office/drawing/2014/main" id="{8AB3FFC9-49EE-3279-FCFE-99F961D643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FDB805-0051-DA42-955D-ACA8F5A8C38A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D36F458B-BFA7-0890-CBB4-CB47555BA6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4: T flip-flop</a:t>
            </a:r>
          </a:p>
        </p:txBody>
      </p:sp>
      <p:pic>
        <p:nvPicPr>
          <p:cNvPr id="73732" name="Picture 2">
            <a:extLst>
              <a:ext uri="{FF2B5EF4-FFF2-40B4-BE49-F238E27FC236}">
                <a16:creationId xmlns:a16="http://schemas.microsoft.com/office/drawing/2014/main" id="{D97440FF-C294-53AF-705B-8BB8D628B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568450"/>
            <a:ext cx="62007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541A0D7-A255-E371-CE08-E919176ED44A}"/>
              </a:ext>
            </a:extLst>
          </p:cNvPr>
          <p:cNvSpPr/>
          <p:nvPr/>
        </p:nvSpPr>
        <p:spPr>
          <a:xfrm>
            <a:off x="2794000" y="2260600"/>
            <a:ext cx="4111625" cy="6858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Number Placeholder 3">
            <a:extLst>
              <a:ext uri="{FF2B5EF4-FFF2-40B4-BE49-F238E27FC236}">
                <a16:creationId xmlns:a16="http://schemas.microsoft.com/office/drawing/2014/main" id="{0A84260F-FAB8-3EEA-831A-84123F4BC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1DCBF1-C1EB-A142-A7CA-D8D4F5D619ED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6AAA86B8-7DB0-0CBC-9D76-2F90FBBD7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4: T flip-flop</a:t>
            </a:r>
          </a:p>
        </p:txBody>
      </p:sp>
      <p:pic>
        <p:nvPicPr>
          <p:cNvPr id="75779" name="Picture 2">
            <a:extLst>
              <a:ext uri="{FF2B5EF4-FFF2-40B4-BE49-F238E27FC236}">
                <a16:creationId xmlns:a16="http://schemas.microsoft.com/office/drawing/2014/main" id="{DA44ACA8-16B7-EF39-D55A-159BB5C77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5" t="24323" r="1814" b="11226"/>
          <a:stretch>
            <a:fillRect/>
          </a:stretch>
        </p:blipFill>
        <p:spPr bwMode="auto">
          <a:xfrm>
            <a:off x="1244600" y="2709863"/>
            <a:ext cx="6654800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3D929D6-90A9-69BD-8A8C-450056207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501775"/>
            <a:ext cx="8856663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GB" kern="0" dirty="0"/>
              <a:t>Circuit Diagram: </a:t>
            </a:r>
          </a:p>
          <a:p>
            <a:pPr marL="0" indent="0">
              <a:buFontTx/>
              <a:buNone/>
              <a:defRPr/>
            </a:pPr>
            <a:r>
              <a:rPr lang="en-GB" sz="1600" dirty="0"/>
              <a:t>T</a:t>
            </a:r>
            <a:r>
              <a:rPr lang="en-GB" sz="1600" baseline="-25000" dirty="0"/>
              <a:t>A</a:t>
            </a:r>
            <a:r>
              <a:rPr lang="en-GB" sz="1600" baseline="30000" dirty="0"/>
              <a:t> </a:t>
            </a:r>
            <a:r>
              <a:rPr lang="en-GB" sz="1600" dirty="0"/>
              <a:t>= </a:t>
            </a:r>
            <a:r>
              <a:rPr lang="en-GB" sz="1600" kern="0" dirty="0"/>
              <a:t>Q</a:t>
            </a:r>
            <a:r>
              <a:rPr lang="en-GB" sz="1600" kern="0" baseline="-25000" dirty="0"/>
              <a:t>A</a:t>
            </a:r>
            <a:r>
              <a:rPr lang="en-GB" sz="1600" kern="0" dirty="0"/>
              <a:t>.Q</a:t>
            </a:r>
            <a:r>
              <a:rPr lang="en-GB" sz="1600" kern="0" baseline="-25000" dirty="0"/>
              <a:t>C </a:t>
            </a:r>
            <a:r>
              <a:rPr lang="en-GB" sz="1600" kern="0" dirty="0"/>
              <a:t>+ Q</a:t>
            </a:r>
            <a:r>
              <a:rPr lang="en-GB" sz="1600" kern="0" baseline="-25000" dirty="0"/>
              <a:t>B.</a:t>
            </a:r>
            <a:r>
              <a:rPr lang="en-GB" sz="1600" kern="0" dirty="0"/>
              <a:t>Q</a:t>
            </a:r>
            <a:r>
              <a:rPr lang="en-GB" sz="1600" kern="0" baseline="-25000" dirty="0"/>
              <a:t>C </a:t>
            </a:r>
            <a:r>
              <a:rPr lang="en-GB" sz="1600" kern="0" dirty="0"/>
              <a:t>= Q</a:t>
            </a:r>
            <a:r>
              <a:rPr lang="en-GB" sz="1600" kern="0" baseline="-25000" dirty="0"/>
              <a:t>C</a:t>
            </a:r>
            <a:r>
              <a:rPr lang="en-GB" sz="1600" kern="0" dirty="0"/>
              <a:t>.(Q</a:t>
            </a:r>
            <a:r>
              <a:rPr lang="en-GB" sz="1600" kern="0" baseline="-25000" dirty="0"/>
              <a:t>A</a:t>
            </a:r>
            <a:r>
              <a:rPr lang="en-GB" sz="1600" kern="0" dirty="0"/>
              <a:t> + Q</a:t>
            </a:r>
            <a:r>
              <a:rPr lang="en-GB" sz="1600" kern="0" baseline="-25000" dirty="0"/>
              <a:t>B</a:t>
            </a:r>
            <a:r>
              <a:rPr lang="en-GB" sz="1600" kern="0" dirty="0"/>
              <a:t>)</a:t>
            </a:r>
            <a:br>
              <a:rPr lang="en-GB" sz="1600" kern="0" dirty="0"/>
            </a:br>
            <a:r>
              <a:rPr lang="en-GB" sz="1600" dirty="0"/>
              <a:t>T</a:t>
            </a:r>
            <a:r>
              <a:rPr lang="en-GB" sz="1600" baseline="-25000" dirty="0"/>
              <a:t>B</a:t>
            </a:r>
            <a:r>
              <a:rPr lang="en-GB" sz="1600" dirty="0"/>
              <a:t>=Q</a:t>
            </a:r>
            <a:r>
              <a:rPr lang="en-GB" sz="1600" baseline="-25000" dirty="0"/>
              <a:t>A</a:t>
            </a:r>
            <a:r>
              <a:rPr lang="en-GB" sz="1600" dirty="0"/>
              <a:t>′.Q</a:t>
            </a:r>
            <a:r>
              <a:rPr lang="en-GB" sz="1600" baseline="-25000" dirty="0"/>
              <a:t>C      ,</a:t>
            </a:r>
            <a:r>
              <a:rPr lang="en-GB" sz="1600" dirty="0"/>
              <a:t>     T</a:t>
            </a:r>
            <a:r>
              <a:rPr lang="en-GB" sz="1600" baseline="-25000" dirty="0"/>
              <a:t>C</a:t>
            </a:r>
            <a:r>
              <a:rPr lang="en-GB" sz="1600" dirty="0"/>
              <a:t>=1</a:t>
            </a:r>
          </a:p>
          <a:p>
            <a:pPr marL="0" indent="0">
              <a:buFontTx/>
              <a:buNone/>
              <a:defRPr/>
            </a:pPr>
            <a:endParaRPr lang="en-GB" sz="1800" kern="0" dirty="0"/>
          </a:p>
          <a:p>
            <a:pPr>
              <a:defRPr/>
            </a:pPr>
            <a:endParaRPr lang="en-GB" kern="0" dirty="0"/>
          </a:p>
          <a:p>
            <a:pPr marL="533400" indent="-533400" eaLnBrk="1" hangingPunct="1">
              <a:defRPr/>
            </a:pPr>
            <a:endParaRPr lang="en-GB" altLang="en-US" sz="2300" kern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>
            <a:extLst>
              <a:ext uri="{FF2B5EF4-FFF2-40B4-BE49-F238E27FC236}">
                <a16:creationId xmlns:a16="http://schemas.microsoft.com/office/drawing/2014/main" id="{32EFC42F-2002-8866-391A-8B0F506448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1484313"/>
            <a:ext cx="8856663" cy="4559300"/>
          </a:xfrm>
        </p:spPr>
        <p:txBody>
          <a:bodyPr/>
          <a:lstStyle/>
          <a:p>
            <a:pPr>
              <a:defRPr/>
            </a:pPr>
            <a:r>
              <a:rPr lang="en-GB" sz="2000" dirty="0"/>
              <a:t>For the two cannot happen states based on our groupings for the T inputs a “1” in the T input means “change state”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 marL="0" indent="0">
              <a:buFontTx/>
              <a:buNone/>
              <a:defRPr/>
            </a:pPr>
            <a:endParaRPr lang="en-GB" sz="2000" dirty="0"/>
          </a:p>
          <a:p>
            <a:pPr>
              <a:defRPr/>
            </a:pPr>
            <a:r>
              <a:rPr lang="en-GB" sz="2000" dirty="0"/>
              <a:t>So, if state 6 is entered the next state is state7. If state 7 is entered the next state is state 2.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  <a:p>
            <a:pPr marL="533400" indent="-533400" eaLnBrk="1" hangingPunct="1">
              <a:defRPr/>
            </a:pPr>
            <a:endParaRPr lang="en-GB" altLang="en-US" sz="2300" dirty="0"/>
          </a:p>
        </p:txBody>
      </p:sp>
      <p:sp>
        <p:nvSpPr>
          <p:cNvPr id="77826" name="Slide Number Placeholder 3">
            <a:extLst>
              <a:ext uri="{FF2B5EF4-FFF2-40B4-BE49-F238E27FC236}">
                <a16:creationId xmlns:a16="http://schemas.microsoft.com/office/drawing/2014/main" id="{7E5C36A1-7A58-9A74-DFE7-6E2FE9B00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D1EF28-38A4-2A44-9F36-5FE92073B13F}" type="slidenum">
              <a:rPr lang="en-US" altLang="en-US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9EACBC32-AFD6-017E-A2DC-605E567E78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/>
              <a:t>Example 4: T flip-flop</a:t>
            </a:r>
          </a:p>
        </p:txBody>
      </p:sp>
      <p:pic>
        <p:nvPicPr>
          <p:cNvPr id="77828" name="Picture 1">
            <a:extLst>
              <a:ext uri="{FF2B5EF4-FFF2-40B4-BE49-F238E27FC236}">
                <a16:creationId xmlns:a16="http://schemas.microsoft.com/office/drawing/2014/main" id="{DDA126BA-56E1-C92D-C51E-D0F1BD6D9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2259013"/>
            <a:ext cx="79724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9" name="Picture 2">
            <a:extLst>
              <a:ext uri="{FF2B5EF4-FFF2-40B4-BE49-F238E27FC236}">
                <a16:creationId xmlns:a16="http://schemas.microsoft.com/office/drawing/2014/main" id="{C6115939-C8EE-1964-C9AA-6D2364E8D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0" y="4154488"/>
            <a:ext cx="3332163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1488</Words>
  <Application>Microsoft Macintosh PowerPoint</Application>
  <PresentationFormat>On-screen Show (4:3)</PresentationFormat>
  <Paragraphs>367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Times New Roman</vt:lpstr>
      <vt:lpstr>Default Design</vt:lpstr>
      <vt:lpstr>PowerPoint Presentation</vt:lpstr>
      <vt:lpstr>Overview: Autonomous Sequential Circuit Design</vt:lpstr>
      <vt:lpstr>Introduction</vt:lpstr>
      <vt:lpstr>Introduction</vt:lpstr>
      <vt:lpstr>Example 1: D-type flip-flop</vt:lpstr>
      <vt:lpstr>Example 1: D-type flip-flop</vt:lpstr>
      <vt:lpstr>Example 1: D-type flip-flop</vt:lpstr>
      <vt:lpstr>Example 1: D-type flip-flop</vt:lpstr>
      <vt:lpstr>Example 1: D-type flip-flop</vt:lpstr>
      <vt:lpstr>Example 2: JK flip-flop</vt:lpstr>
      <vt:lpstr>Example 2: JK flip-flop</vt:lpstr>
      <vt:lpstr>Example 2: JK flip-flop</vt:lpstr>
      <vt:lpstr>Example 2: JK flip-flop</vt:lpstr>
      <vt:lpstr>Example 2: JK flip-flop</vt:lpstr>
      <vt:lpstr>Example 2: JK flip-flop</vt:lpstr>
      <vt:lpstr>Example 2: JK flip-flop</vt:lpstr>
      <vt:lpstr>Example 2: JK flip-flop</vt:lpstr>
      <vt:lpstr>Example 3: JK flip-flop</vt:lpstr>
      <vt:lpstr>Example 3: JK flip-flop</vt:lpstr>
      <vt:lpstr>Example 3: JK flip-flop</vt:lpstr>
      <vt:lpstr>Example 3: JK flip-flop</vt:lpstr>
      <vt:lpstr>Example 3: JK flip-flop</vt:lpstr>
      <vt:lpstr>Example 3: JK flip-flop</vt:lpstr>
      <vt:lpstr>Example 3: JK flip-flop</vt:lpstr>
      <vt:lpstr>Example 3: JK flip-flop</vt:lpstr>
      <vt:lpstr>Example 4: T flip-flop</vt:lpstr>
      <vt:lpstr>Example 4: T flip-flop</vt:lpstr>
      <vt:lpstr>Example 4: T flip-flop</vt:lpstr>
      <vt:lpstr>Example 4: T flip-flop</vt:lpstr>
      <vt:lpstr>Example 4: T flip-flop</vt:lpstr>
      <vt:lpstr>Example 4: T flip-flop</vt:lpstr>
    </vt:vector>
  </TitlesOfParts>
  <Company>QMWC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ELE202: Digital Circuit Design</dc:title>
  <dc:creator>Laurissa Tokarchuk</dc:creator>
  <cp:lastModifiedBy>Md Hasanuzzaman Sagor</cp:lastModifiedBy>
  <cp:revision>248</cp:revision>
  <dcterms:created xsi:type="dcterms:W3CDTF">2001-01-23T15:57:49Z</dcterms:created>
  <dcterms:modified xsi:type="dcterms:W3CDTF">2025-04-04T20:11:25Z</dcterms:modified>
</cp:coreProperties>
</file>